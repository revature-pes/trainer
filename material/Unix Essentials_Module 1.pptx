
<file path=[Content_Types].xml><?xml version="1.0" encoding="utf-8"?>
<Types xmlns="http://schemas.openxmlformats.org/package/2006/content-types">
  <Override PartName="/ppt/slides/slide47.xml" ContentType="application/vnd.openxmlformats-officedocument.presentationml.slide+xml"/>
  <Override PartName="/ppt/slides/slide58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s/slide54.xml" ContentType="application/vnd.openxmlformats-officedocument.presentationml.slide+xml"/>
  <Override PartName="/ppt/slides/slide65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notesSlides/notesSlide3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67.xml" ContentType="application/vnd.openxmlformats-officedocument.presentationml.notesSlide+xml"/>
  <Override PartName="/customXml/itemProps1.xml" ContentType="application/vnd.openxmlformats-officedocument.customXmlProperties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slides/slide7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27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74.xml" ContentType="application/vnd.openxmlformats-officedocument.presentationml.notesSlide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notesSlides/notesSlide16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63.xml" ContentType="application/vnd.openxmlformats-officedocument.presentationml.notesSlide+xml"/>
  <Override PartName="/ppt/slides/slide1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notesSlides/notesSlide23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ustom.xml" ContentType="application/vnd.openxmlformats-officedocument.custom-properties+xml"/>
  <Override PartName="/ppt/notesSlides/notesSlide12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7.xml" ContentType="application/vnd.openxmlformats-officedocument.presentationml.notesSlide+xml"/>
  <Override PartName="/ppt/slides/slide9.xml" ContentType="application/vnd.openxmlformats-officedocument.presentationml.slide+xml"/>
  <Override PartName="/ppt/slides/slide59.xml" ContentType="application/vnd.openxmlformats-officedocument.presentationml.slide+xml"/>
  <Override PartName="/ppt/viewProps.xml" ContentType="application/vnd.openxmlformats-officedocument.presentationml.viewProps+xml"/>
  <Default Extension="png" ContentType="image/png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48.xml" ContentType="application/vnd.openxmlformats-officedocument.presentationml.slide+xml"/>
  <Override PartName="/ppt/slides/slide66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3.xml" ContentType="application/vnd.openxmlformats-officedocument.presentationml.notesSlide+xml"/>
  <Override PartName="/ppt/notesSlides/notesSlide68.xml" ContentType="application/vnd.openxmlformats-officedocument.presentationml.notesSlide+xml"/>
  <Override PartName="/customXml/itemProps2.xml" ContentType="application/vnd.openxmlformats-officedocument.customXmlProperties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55.xml" ContentType="application/vnd.openxmlformats-officedocument.presentationml.slide+xml"/>
  <Override PartName="/ppt/slides/slide73.xml" ContentType="application/vnd.openxmlformats-officedocument.presentationml.slide+xml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39.xml" ContentType="application/vnd.openxmlformats-officedocument.presentationml.notesSlide+xml"/>
  <Override PartName="/ppt/notesSlides/notesSlide57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33.xml" ContentType="application/vnd.openxmlformats-officedocument.presentationml.slide+xml"/>
  <Override PartName="/ppt/slides/slide44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75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2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4.xml" ContentType="application/vnd.openxmlformats-officedocument.presentationml.slideLayout+xml"/>
  <Override PartName="/ppt/notesSlides/notesSlide2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71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40.xml" ContentType="application/vnd.openxmlformats-officedocument.presentationml.slide+xml"/>
  <Override PartName="/ppt/slideLayouts/slideLayout2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60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1.xml" ContentType="application/vnd.openxmlformats-officedocument.presentationml.notesSlide+xml"/>
  <Override PartName="/ppt/slides/slide49.xml" ContentType="application/vnd.openxmlformats-officedocument.presentationml.slide+xml"/>
  <Override PartName="/ppt/handoutMasters/handoutMaster1.xml" ContentType="application/vnd.openxmlformats-officedocument.presentationml.handoutMaster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s/slide56.xml" ContentType="application/vnd.openxmlformats-officedocument.presentationml.slide+xml"/>
  <Override PartName="/ppt/slides/slide67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69.xml" ContentType="application/vnd.openxmlformats-officedocument.presentationml.notesSlide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s/slide74.xml" ContentType="application/vnd.openxmlformats-officedocument.presentationml.slide+xml"/>
  <Override PartName="/ppt/slideLayouts/slideLayout4.xml" ContentType="application/vnd.openxmlformats-officedocument.presentationml.slideLayout+xml"/>
  <Override PartName="/ppt/theme/theme3.xml" ContentType="application/vnd.openxmlformats-officedocument.theme+xml"/>
  <Override PartName="/ppt/notesSlides/notesSlide29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58.xml" ContentType="application/vnd.openxmlformats-officedocument.presentationml.notesSlide+xml"/>
  <Default Extension="rels" ContentType="application/vnd.openxmlformats-package.relationships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s/slide52.xml" ContentType="application/vnd.openxmlformats-officedocument.presentationml.slide+xml"/>
  <Override PartName="/ppt/slides/slide63.xml" ContentType="application/vnd.openxmlformats-officedocument.presentationml.slide+xml"/>
  <Override PartName="/ppt/slideLayouts/slideLayout15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65.xml" ContentType="application/vnd.openxmlformats-officedocument.presentationml.notesSlide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slides/slide70.xml" ContentType="application/vnd.openxmlformats-officedocument.presentationml.slide+xml"/>
  <Override PartName="/ppt/slideLayouts/slideLayout22.xml" ContentType="application/vnd.openxmlformats-officedocument.presentationml.slideLayout+xml"/>
  <Override PartName="/ppt/notesSlides/notesSlide25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72.xml" ContentType="application/vnd.openxmlformats-officedocument.presentationml.notesSlide+xml"/>
  <Override PartName="/ppt/slides/slide12.xml" ContentType="application/vnd.openxmlformats-officedocument.presentationml.slide+xml"/>
  <Override PartName="/ppt/slides/slide30.xml" ContentType="application/vnd.openxmlformats-officedocument.presentationml.slide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68.xml" ContentType="application/vnd.openxmlformats-officedocument.presentationml.slide+xml"/>
  <Override PartName="/ppt/slideLayouts/slideLayout9.xml" ContentType="application/vnd.openxmlformats-officedocument.presentationml.slideLayout+xml"/>
  <Override PartName="/ppt/notesSlides/notesSlide5.xml" ContentType="application/vnd.openxmlformats-officedocument.presentationml.notes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57.xml" ContentType="application/vnd.openxmlformats-officedocument.presentationml.slide+xml"/>
  <Override PartName="/ppt/slides/slide7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59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46.xml" ContentType="application/vnd.openxmlformats-officedocument.presentationml.slide+xml"/>
  <Override PartName="/ppt/slides/slide64.xml" ContentType="application/vnd.openxmlformats-officedocument.presentationml.slide+xml"/>
  <Override PartName="/ppt/slideLayouts/slideLayout5.xml" ContentType="application/vnd.openxmlformats-officedocument.presentationml.slideLayout+xml"/>
  <Override PartName="/ppt/notesSlides/notesSlide19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66.xml" ContentType="application/vnd.openxmlformats-officedocument.presentationml.notesSlide+xml"/>
  <Default Extension="jpeg" ContentType="image/jpeg"/>
  <Override PartName="/ppt/slides/slide24.xml" ContentType="application/vnd.openxmlformats-officedocument.presentationml.slide+xml"/>
  <Override PartName="/ppt/slides/slide35.xml" ContentType="application/vnd.openxmlformats-officedocument.presentationml.slide+xml"/>
  <Override PartName="/ppt/slides/slide53.xml" ContentType="application/vnd.openxmlformats-officedocument.presentationml.slide+xml"/>
  <Override PartName="/ppt/slides/slide71.xml" ContentType="application/vnd.openxmlformats-officedocument.presentationml.slide+xml"/>
  <Override PartName="/ppt/slideLayouts/slideLayout16.xml" ContentType="application/vnd.openxmlformats-officedocument.presentationml.slideLayout+xml"/>
  <Override PartName="/ppt/notesSlides/notesSlide37.xml" ContentType="application/vnd.openxmlformats-officedocument.presentationml.notesSlide+xml"/>
  <Override PartName="/ppt/notesSlides/notesSlide55.xml" ContentType="application/vnd.openxmlformats-officedocument.presentationml.notesSlide+xml"/>
  <Override PartName="/ppt/slides/slide13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73.xml" ContentType="application/vnd.openxmlformats-officedocument.presentationml.notes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notesSlides/notesSlide2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6.xml" ContentType="application/vnd.openxmlformats-officedocument.presentationml.notesSlide+xml"/>
  <Override PartName="/ppt/slides/slide8.xml" ContentType="application/vnd.openxmlformats-officedocument.presentationml.slide+xml"/>
  <Override PartName="/ppt/slides/slide69.xml" ContentType="application/vnd.openxmlformats-officedocument.presentationml.slide+xml"/>
  <Override PartName="/ppt/slides/slide29.xml" ContentType="application/vnd.openxmlformats-officedocument.presentationml.slide+xml"/>
  <Override PartName="/ppt/slides/slide7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78"/>
  </p:notesMasterIdLst>
  <p:handoutMasterIdLst>
    <p:handoutMasterId r:id="rId79"/>
  </p:handoutMasterIdLst>
  <p:sldIdLst>
    <p:sldId id="296" r:id="rId2"/>
    <p:sldId id="297" r:id="rId3"/>
    <p:sldId id="409" r:id="rId4"/>
    <p:sldId id="330" r:id="rId5"/>
    <p:sldId id="468" r:id="rId6"/>
    <p:sldId id="579" r:id="rId7"/>
    <p:sldId id="580" r:id="rId8"/>
    <p:sldId id="467" r:id="rId9"/>
    <p:sldId id="354" r:id="rId10"/>
    <p:sldId id="587" r:id="rId11"/>
    <p:sldId id="588" r:id="rId12"/>
    <p:sldId id="589" r:id="rId13"/>
    <p:sldId id="590" r:id="rId14"/>
    <p:sldId id="611" r:id="rId15"/>
    <p:sldId id="469" r:id="rId16"/>
    <p:sldId id="470" r:id="rId17"/>
    <p:sldId id="582" r:id="rId18"/>
    <p:sldId id="584" r:id="rId19"/>
    <p:sldId id="583" r:id="rId20"/>
    <p:sldId id="641" r:id="rId21"/>
    <p:sldId id="529" r:id="rId22"/>
    <p:sldId id="630" r:id="rId23"/>
    <p:sldId id="528" r:id="rId24"/>
    <p:sldId id="535" r:id="rId25"/>
    <p:sldId id="532" r:id="rId26"/>
    <p:sldId id="534" r:id="rId27"/>
    <p:sldId id="586" r:id="rId28"/>
    <p:sldId id="599" r:id="rId29"/>
    <p:sldId id="541" r:id="rId30"/>
    <p:sldId id="591" r:id="rId31"/>
    <p:sldId id="593" r:id="rId32"/>
    <p:sldId id="600" r:id="rId33"/>
    <p:sldId id="616" r:id="rId34"/>
    <p:sldId id="622" r:id="rId35"/>
    <p:sldId id="623" r:id="rId36"/>
    <p:sldId id="621" r:id="rId37"/>
    <p:sldId id="602" r:id="rId38"/>
    <p:sldId id="603" r:id="rId39"/>
    <p:sldId id="604" r:id="rId40"/>
    <p:sldId id="595" r:id="rId41"/>
    <p:sldId id="605" r:id="rId42"/>
    <p:sldId id="606" r:id="rId43"/>
    <p:sldId id="614" r:id="rId44"/>
    <p:sldId id="610" r:id="rId45"/>
    <p:sldId id="613" r:id="rId46"/>
    <p:sldId id="612" r:id="rId47"/>
    <p:sldId id="597" r:id="rId48"/>
    <p:sldId id="615" r:id="rId49"/>
    <p:sldId id="617" r:id="rId50"/>
    <p:sldId id="618" r:id="rId51"/>
    <p:sldId id="598" r:id="rId52"/>
    <p:sldId id="620" r:id="rId53"/>
    <p:sldId id="619" r:id="rId54"/>
    <p:sldId id="592" r:id="rId55"/>
    <p:sldId id="596" r:id="rId56"/>
    <p:sldId id="633" r:id="rId57"/>
    <p:sldId id="632" r:id="rId58"/>
    <p:sldId id="634" r:id="rId59"/>
    <p:sldId id="635" r:id="rId60"/>
    <p:sldId id="471" r:id="rId61"/>
    <p:sldId id="472" r:id="rId62"/>
    <p:sldId id="482" r:id="rId63"/>
    <p:sldId id="483" r:id="rId64"/>
    <p:sldId id="485" r:id="rId65"/>
    <p:sldId id="486" r:id="rId66"/>
    <p:sldId id="487" r:id="rId67"/>
    <p:sldId id="488" r:id="rId68"/>
    <p:sldId id="489" r:id="rId69"/>
    <p:sldId id="426" r:id="rId70"/>
    <p:sldId id="422" r:id="rId71"/>
    <p:sldId id="640" r:id="rId72"/>
    <p:sldId id="636" r:id="rId73"/>
    <p:sldId id="631" r:id="rId74"/>
    <p:sldId id="433" r:id="rId75"/>
    <p:sldId id="642" r:id="rId76"/>
    <p:sldId id="329" r:id="rId7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CC"/>
    <a:srgbClr val="D2D2D2"/>
    <a:srgbClr val="580BF3"/>
    <a:srgbClr val="FFFFFF"/>
    <a:srgbClr val="FE0000"/>
    <a:srgbClr val="0000FF"/>
    <a:srgbClr val="595959"/>
    <a:srgbClr val="1965A7"/>
    <a:srgbClr val="FECA22"/>
    <a:srgbClr val="97E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4757" autoAdjust="0"/>
    <p:restoredTop sz="99833" autoAdjust="0"/>
  </p:normalViewPr>
  <p:slideViewPr>
    <p:cSldViewPr snapToGrid="0">
      <p:cViewPr>
        <p:scale>
          <a:sx n="69" d="100"/>
          <a:sy n="69" d="100"/>
        </p:scale>
        <p:origin x="-930" y="-96"/>
      </p:cViewPr>
      <p:guideLst>
        <p:guide orient="horz" pos="3940"/>
        <p:guide orient="horz" pos="495"/>
        <p:guide pos="5474"/>
        <p:guide pos="290"/>
        <p:guide pos="3259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-2670" y="-96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customXml" Target="../customXml/item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theme" Target="theme/theme1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presProps" Target="presProps.xml"/><Relationship Id="rId85" Type="http://schemas.openxmlformats.org/officeDocument/2006/relationships/customXml" Target="../customXml/item2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notesMaster" Target="notesMasters/notesMaster1.xml"/><Relationship Id="rId81" Type="http://schemas.openxmlformats.org/officeDocument/2006/relationships/viewProps" Target="viewProps.xml"/><Relationship Id="rId86" Type="http://schemas.openxmlformats.org/officeDocument/2006/relationships/customXml" Target="../customXml/item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A58A402-E630-46ED-87D1-A51FF2D77B8A}" type="datetimeFigureOut">
              <a:rPr lang="en-US" smtClean="0"/>
              <a:pPr/>
              <a:t>6/5/2012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36F43C-4BC5-4140-89F5-C89E66D4E19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5280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A5A60B-6956-964B-91B0-61DE2403173E}" type="datetimeFigureOut">
              <a:rPr lang="en-US" smtClean="0"/>
              <a:pPr/>
              <a:t>6/5/2012</a:t>
            </a:fld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04AA71-C613-6B42-8773-688627DE331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906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2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4</a:t>
            </a:fld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5</a:t>
            </a:fld>
            <a:endParaRPr 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6</a:t>
            </a:fld>
            <a:endParaRPr 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7</a:t>
            </a:fld>
            <a:endParaRPr 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8</a:t>
            </a:fld>
            <a:endParaRPr 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9</a:t>
            </a:fld>
            <a:endParaRPr 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10</a:t>
            </a:fld>
            <a:endParaRPr 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11</a:t>
            </a:fld>
            <a:endParaRPr 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12</a:t>
            </a:fld>
            <a:endParaRPr 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13</a:t>
            </a:fld>
            <a:endParaRPr 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14</a:t>
            </a:fld>
            <a:endParaRPr lang="en-US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15</a:t>
            </a:fld>
            <a:endParaRPr lang="en-US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16</a:t>
            </a:fld>
            <a:endParaRPr lang="en-US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17</a:t>
            </a:fld>
            <a:endParaRPr lang="en-US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18</a:t>
            </a:fld>
            <a:endParaRPr lang="en-US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19</a:t>
            </a:fld>
            <a:endParaRPr lang="en-US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20</a:t>
            </a:fld>
            <a:endParaRPr lang="en-US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21</a:t>
            </a:fld>
            <a:endParaRPr lang="en-US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22</a:t>
            </a:fld>
            <a:endParaRPr lang="en-US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23</a:t>
            </a:fld>
            <a:endParaRPr lang="en-US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24</a:t>
            </a:fld>
            <a:endParaRPr lang="en-US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25</a:t>
            </a:fld>
            <a:endParaRPr lang="en-US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26</a:t>
            </a:fld>
            <a:endParaRPr lang="en-US" dirty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27</a:t>
            </a:fld>
            <a:endParaRPr lang="en-US" dirty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28</a:t>
            </a:fld>
            <a:endParaRPr lang="en-US"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29</a:t>
            </a:fld>
            <a:endParaRPr lang="en-US" dirty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30</a:t>
            </a:fld>
            <a:endParaRPr lang="en-US" dirty="0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31</a:t>
            </a:fld>
            <a:endParaRPr lang="en-US"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32</a:t>
            </a:fld>
            <a:endParaRPr lang="en-US"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33</a:t>
            </a:fld>
            <a:endParaRPr lang="en-US" dirty="0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34</a:t>
            </a:fld>
            <a:endParaRPr lang="en-US" dirty="0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35</a:t>
            </a:fld>
            <a:endParaRPr lang="en-US" dirty="0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36</a:t>
            </a:fld>
            <a:endParaRPr lang="en-US" dirty="0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37</a:t>
            </a:fld>
            <a:endParaRPr lang="en-US" dirty="0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38</a:t>
            </a:fld>
            <a:endParaRPr lang="en-US" dirty="0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39</a:t>
            </a:fld>
            <a:endParaRPr lang="en-US" dirty="0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40</a:t>
            </a:fld>
            <a:endParaRPr lang="en-US" dirty="0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41</a:t>
            </a:fld>
            <a:endParaRPr lang="en-US" dirty="0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42</a:t>
            </a:fld>
            <a:endParaRPr lang="en-US" dirty="0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43</a:t>
            </a:fld>
            <a:endParaRPr lang="en-US" dirty="0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44</a:t>
            </a:fld>
            <a:endParaRPr lang="en-US" dirty="0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45</a:t>
            </a:fld>
            <a:endParaRPr lang="en-US" dirty="0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46</a:t>
            </a:fld>
            <a:endParaRPr lang="en-US" dirty="0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47</a:t>
            </a:fld>
            <a:endParaRPr lang="en-US" dirty="0"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48</a:t>
            </a:fld>
            <a:endParaRPr lang="en-US" dirty="0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49</a:t>
            </a:fld>
            <a:endParaRPr lang="en-US" dirty="0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50</a:t>
            </a:fld>
            <a:endParaRPr lang="en-US" dirty="0"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51</a:t>
            </a:fld>
            <a:endParaRPr lang="en-US" dirty="0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52</a:t>
            </a:fld>
            <a:endParaRPr lang="en-US" dirty="0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53</a:t>
            </a:fld>
            <a:endParaRPr lang="en-US" dirty="0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54</a:t>
            </a:fld>
            <a:endParaRPr lang="en-US" dirty="0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55</a:t>
            </a:fld>
            <a:endParaRPr lang="en-US" dirty="0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56</a:t>
            </a:fld>
            <a:endParaRPr lang="en-US" dirty="0"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57</a:t>
            </a:fld>
            <a:endParaRPr lang="en-US" dirty="0"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58</a:t>
            </a:fld>
            <a:endParaRPr lang="en-US" dirty="0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59</a:t>
            </a:fld>
            <a:endParaRPr lang="en-US" dirty="0"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60</a:t>
            </a:fld>
            <a:endParaRPr lang="en-US" dirty="0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61</a:t>
            </a:fld>
            <a:endParaRPr lang="en-US" dirty="0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62</a:t>
            </a:fld>
            <a:endParaRPr lang="en-US" dirty="0"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63</a:t>
            </a:fld>
            <a:endParaRPr lang="en-US" dirty="0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64</a:t>
            </a:fld>
            <a:endParaRPr lang="en-US" dirty="0"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65</a:t>
            </a:fld>
            <a:endParaRPr lang="en-US" dirty="0"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66</a:t>
            </a:fld>
            <a:endParaRPr lang="en-US" dirty="0"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67</a:t>
            </a:fld>
            <a:endParaRPr lang="en-US" dirty="0"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68</a:t>
            </a:fld>
            <a:endParaRPr lang="en-US" dirty="0"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69</a:t>
            </a:fld>
            <a:endParaRPr lang="en-US"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70</a:t>
            </a:fld>
            <a:endParaRPr lang="en-US"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71</a:t>
            </a:fld>
            <a:endParaRPr lang="en-US"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72</a:t>
            </a:fld>
            <a:endParaRPr lang="en-US"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73</a:t>
            </a:fld>
            <a:endParaRPr lang="en-US"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74</a:t>
            </a:fld>
            <a:endParaRPr lang="en-US"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704AA71-C613-6B42-8773-688627DE3311}" type="slidenum">
              <a:rPr lang="en-US" smtClean="0"/>
              <a:pPr/>
              <a:t>76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WIPRO PPT Design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21" y="4471039"/>
            <a:ext cx="9133758" cy="217106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547710" y="1480457"/>
            <a:ext cx="4142266" cy="1547161"/>
          </a:xfrm>
          <a:noFill/>
        </p:spPr>
        <p:txBody>
          <a:bodyPr wrap="square" rtlCol="0" anchor="ctr">
            <a:normAutofit/>
          </a:bodyPr>
          <a:lstStyle>
            <a:lvl1pPr marL="0" algn="l">
              <a:defRPr lang="en-US" sz="3400" dirty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</a:lstStyle>
          <a:p>
            <a:pPr marL="0" lvl="0" algn="l"/>
            <a:r>
              <a:rPr lang="en-US" dirty="0" smtClean="0"/>
              <a:t>Insert Title</a:t>
            </a:r>
            <a:br>
              <a:rPr lang="en-US" dirty="0" smtClean="0"/>
            </a:br>
            <a:r>
              <a:rPr lang="en-US" dirty="0" smtClean="0"/>
              <a:t>Here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547710" y="3318659"/>
            <a:ext cx="4142266" cy="338554"/>
          </a:xfrm>
          <a:noFill/>
        </p:spPr>
        <p:txBody>
          <a:bodyPr wrap="square" rtlCol="0">
            <a:norm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16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Your Name</a:t>
            </a:r>
          </a:p>
        </p:txBody>
      </p:sp>
      <p:pic>
        <p:nvPicPr>
          <p:cNvPr id="7" name="Picture 6" descr="Slides Master - 51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2057402" y="1664833"/>
            <a:ext cx="1872342" cy="2084305"/>
          </a:xfrm>
          <a:prstGeom prst="rect">
            <a:avLst/>
          </a:prstGeom>
        </p:spPr>
      </p:pic>
      <p:cxnSp>
        <p:nvCxnSpPr>
          <p:cNvPr id="9" name="Straight Connector 8"/>
          <p:cNvCxnSpPr/>
          <p:nvPr userDrawn="1"/>
        </p:nvCxnSpPr>
        <p:spPr>
          <a:xfrm rot="5400000">
            <a:off x="2814000" y="2781258"/>
            <a:ext cx="2754000" cy="1588"/>
          </a:xfrm>
          <a:prstGeom prst="line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 hasCustomPrompt="1"/>
          </p:nvPr>
        </p:nvSpPr>
        <p:spPr>
          <a:xfrm>
            <a:off x="4549775" y="3766911"/>
            <a:ext cx="4148138" cy="347889"/>
          </a:xfrm>
        </p:spPr>
        <p:txBody>
          <a:bodyPr>
            <a:normAutofit/>
          </a:bodyPr>
          <a:lstStyle>
            <a:lvl1pPr>
              <a:buNone/>
              <a:def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dirty="0" smtClean="0"/>
              <a:t>Designation</a:t>
            </a:r>
          </a:p>
        </p:txBody>
      </p:sp>
    </p:spTree>
    <p:extLst>
      <p:ext uri="{BB962C8B-B14F-4D97-AF65-F5344CB8AC3E}">
        <p14:creationId xmlns:p14="http://schemas.microsoft.com/office/powerpoint/2010/main" val="10468823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5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itle 1"/>
          <p:cNvSpPr>
            <a:spLocks noGrp="1"/>
          </p:cNvSpPr>
          <p:nvPr userDrawn="1">
            <p:ph type="ctrTitle" hasCustomPrompt="1"/>
          </p:nvPr>
        </p:nvSpPr>
        <p:spPr>
          <a:xfrm>
            <a:off x="460375" y="145522"/>
            <a:ext cx="8189776" cy="5544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Agenda</a:t>
            </a:r>
            <a:endParaRPr lang="en-IN" dirty="0"/>
          </a:p>
        </p:txBody>
      </p:sp>
      <p:sp>
        <p:nvSpPr>
          <p:cNvPr id="39" name="Text Placeholder 38"/>
          <p:cNvSpPr>
            <a:spLocks noGrp="1"/>
          </p:cNvSpPr>
          <p:nvPr>
            <p:ph type="body" sz="quarter" idx="10" hasCustomPrompt="1"/>
          </p:nvPr>
        </p:nvSpPr>
        <p:spPr>
          <a:xfrm>
            <a:off x="1005339" y="1350509"/>
            <a:ext cx="7010400" cy="652462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Insert text here</a:t>
            </a:r>
          </a:p>
        </p:txBody>
      </p:sp>
      <p:sp>
        <p:nvSpPr>
          <p:cNvPr id="40" name="Text Placeholder 38"/>
          <p:cNvSpPr>
            <a:spLocks noGrp="1"/>
          </p:cNvSpPr>
          <p:nvPr>
            <p:ph type="body" sz="quarter" idx="11" hasCustomPrompt="1"/>
          </p:nvPr>
        </p:nvSpPr>
        <p:spPr>
          <a:xfrm>
            <a:off x="1005339" y="2380789"/>
            <a:ext cx="7010400" cy="652462"/>
          </a:xfrm>
        </p:spPr>
        <p:txBody>
          <a:bodyPr>
            <a:normAutofit/>
          </a:bodyPr>
          <a:lstStyle>
            <a:lvl1pPr marL="0" indent="0">
              <a:buNone/>
              <a:tabLst/>
              <a:defRPr sz="2800" b="1">
                <a:solidFill>
                  <a:schemeClr val="tx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Insert text here</a:t>
            </a:r>
          </a:p>
        </p:txBody>
      </p:sp>
      <p:sp>
        <p:nvSpPr>
          <p:cNvPr id="41" name="Text Placeholder 38"/>
          <p:cNvSpPr>
            <a:spLocks noGrp="1"/>
          </p:cNvSpPr>
          <p:nvPr>
            <p:ph type="body" sz="quarter" idx="12" hasCustomPrompt="1"/>
          </p:nvPr>
        </p:nvSpPr>
        <p:spPr>
          <a:xfrm>
            <a:off x="1005339" y="3403153"/>
            <a:ext cx="7010400" cy="652462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Insert text here</a:t>
            </a:r>
          </a:p>
        </p:txBody>
      </p:sp>
      <p:sp>
        <p:nvSpPr>
          <p:cNvPr id="42" name="Text Placeholder 38"/>
          <p:cNvSpPr>
            <a:spLocks noGrp="1"/>
          </p:cNvSpPr>
          <p:nvPr>
            <p:ph type="body" sz="quarter" idx="13" hasCustomPrompt="1"/>
          </p:nvPr>
        </p:nvSpPr>
        <p:spPr>
          <a:xfrm>
            <a:off x="1005339" y="4462030"/>
            <a:ext cx="7010400" cy="652462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Insert text here</a:t>
            </a:r>
          </a:p>
        </p:txBody>
      </p:sp>
      <p:sp>
        <p:nvSpPr>
          <p:cNvPr id="31" name="Text Placeholder 38"/>
          <p:cNvSpPr>
            <a:spLocks noGrp="1"/>
          </p:cNvSpPr>
          <p:nvPr>
            <p:ph type="body" sz="quarter" idx="14" hasCustomPrompt="1"/>
          </p:nvPr>
        </p:nvSpPr>
        <p:spPr>
          <a:xfrm>
            <a:off x="1005339" y="5504120"/>
            <a:ext cx="7010400" cy="652462"/>
          </a:xfrm>
        </p:spPr>
        <p:txBody>
          <a:bodyPr>
            <a:normAutofit/>
          </a:bodyPr>
          <a:lstStyle>
            <a:lvl1pPr marL="0" indent="0">
              <a:buNone/>
              <a:defRPr sz="2800" b="1">
                <a:solidFill>
                  <a:schemeClr val="tx1"/>
                </a:solidFill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en-US" dirty="0" smtClean="0"/>
              <a:t>Insert text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Name Her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 Placeholder 3"/>
          <p:cNvSpPr>
            <a:spLocks noGrp="1"/>
          </p:cNvSpPr>
          <p:nvPr>
            <p:ph type="body" sz="quarter" idx="11" hasCustomPrompt="1"/>
          </p:nvPr>
        </p:nvSpPr>
        <p:spPr>
          <a:xfrm>
            <a:off x="469901" y="2612799"/>
            <a:ext cx="8220074" cy="623887"/>
          </a:xfrm>
        </p:spPr>
        <p:txBody>
          <a:bodyPr>
            <a:normAutofit/>
          </a:bodyPr>
          <a:lstStyle>
            <a:lvl1pPr algn="ctr">
              <a:buNone/>
              <a:defRPr kumimoji="0" lang="en-US" sz="34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Section Name Here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2" hasCustomPrompt="1"/>
          </p:nvPr>
        </p:nvSpPr>
        <p:spPr>
          <a:xfrm>
            <a:off x="469901" y="3290677"/>
            <a:ext cx="8220074" cy="439496"/>
          </a:xfrm>
        </p:spPr>
        <p:txBody>
          <a:bodyPr>
            <a:normAutofit/>
          </a:bodyPr>
          <a:lstStyle>
            <a:lvl1pPr algn="ctr">
              <a:buNone/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n-lt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Who what when where</a:t>
            </a:r>
          </a:p>
        </p:txBody>
      </p:sp>
      <p:pic>
        <p:nvPicPr>
          <p:cNvPr id="7" name="Picture 6" descr="WIPRO PPT Design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21" y="4471039"/>
            <a:ext cx="9133758" cy="2171061"/>
          </a:xfrm>
          <a:prstGeom prst="rect">
            <a:avLst/>
          </a:prstGeom>
        </p:spPr>
      </p:pic>
      <p:pic>
        <p:nvPicPr>
          <p:cNvPr id="10" name="Picture 9" descr="Slides Master - 51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7981685" y="105908"/>
            <a:ext cx="1044840" cy="116312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with 2 lis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 userDrawn="1"/>
        </p:nvSpPr>
        <p:spPr>
          <a:xfrm>
            <a:off x="751112" y="2394858"/>
            <a:ext cx="3624943" cy="631371"/>
          </a:xfrm>
          <a:prstGeom prst="rect">
            <a:avLst/>
          </a:prstGeom>
          <a:solidFill>
            <a:srgbClr val="0070C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indent="0" algn="l" defTabSz="457200" rtl="0" eaLnBrk="1" latinLnBrk="0" hangingPunct="1">
              <a:spcBef>
                <a:spcPts val="0"/>
              </a:spcBef>
              <a:buFont typeface="Arial"/>
              <a:buNone/>
            </a:pPr>
            <a:endParaRPr kumimoji="0" lang="en-IN" sz="26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21" hasCustomPrompt="1"/>
          </p:nvPr>
        </p:nvSpPr>
        <p:spPr>
          <a:xfrm>
            <a:off x="751339" y="3178402"/>
            <a:ext cx="3635375" cy="2344093"/>
          </a:xfrm>
          <a:ln w="12700">
            <a:solidFill>
              <a:srgbClr val="D2D2D2"/>
            </a:solidFill>
          </a:ln>
        </p:spPr>
        <p:txBody>
          <a:bodyPr>
            <a:normAutofit/>
          </a:bodyPr>
          <a:lstStyle>
            <a:lvl1pPr marL="231775" marR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Insert Text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Insert Text</a:t>
            </a:r>
          </a:p>
          <a:p>
            <a:pPr lvl="0"/>
            <a:endParaRPr lang="en-US" dirty="0" smtClean="0"/>
          </a:p>
        </p:txBody>
      </p:sp>
      <p:sp>
        <p:nvSpPr>
          <p:cNvPr id="21" name="Text Placeholder 15"/>
          <p:cNvSpPr>
            <a:spLocks noGrp="1"/>
          </p:cNvSpPr>
          <p:nvPr>
            <p:ph type="body" sz="quarter" idx="22" hasCustomPrompt="1"/>
          </p:nvPr>
        </p:nvSpPr>
        <p:spPr>
          <a:xfrm>
            <a:off x="729340" y="2384652"/>
            <a:ext cx="3679372" cy="663575"/>
          </a:xfrm>
        </p:spPr>
        <p:txBody>
          <a:bodyPr anchor="ctr">
            <a:normAutofit/>
          </a:bodyPr>
          <a:lstStyle>
            <a:lvl1pPr>
              <a:buNone/>
              <a:def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2pPr>
            <a:lvl3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3pPr>
            <a:lvl4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4pPr>
          </a:lstStyle>
          <a:p>
            <a:pPr lvl="0"/>
            <a:r>
              <a:rPr lang="en-US" dirty="0" smtClean="0"/>
              <a:t>Column 1</a:t>
            </a:r>
            <a:endParaRPr lang="en-IN" dirty="0"/>
          </a:p>
        </p:txBody>
      </p:sp>
      <p:sp>
        <p:nvSpPr>
          <p:cNvPr id="25" name="Rectangle 24"/>
          <p:cNvSpPr/>
          <p:nvPr userDrawn="1"/>
        </p:nvSpPr>
        <p:spPr>
          <a:xfrm>
            <a:off x="4751389" y="2394858"/>
            <a:ext cx="3624943" cy="631371"/>
          </a:xfrm>
          <a:prstGeom prst="rect">
            <a:avLst/>
          </a:prstGeom>
          <a:solidFill>
            <a:srgbClr val="0070C0"/>
          </a:solidFill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lvl="1" indent="0" algn="l" defTabSz="457200" rtl="0" eaLnBrk="1" latinLnBrk="0" hangingPunct="1">
              <a:spcBef>
                <a:spcPts val="0"/>
              </a:spcBef>
              <a:buFont typeface="Arial"/>
              <a:buNone/>
            </a:pPr>
            <a:endParaRPr kumimoji="0" lang="en-IN" sz="2600" b="0" i="0" u="none" strike="noStrike" kern="1200" cap="none" spc="0" normalizeH="0" baseline="0" noProof="0" dirty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</p:txBody>
      </p:sp>
      <p:sp>
        <p:nvSpPr>
          <p:cNvPr id="26" name="Text Placeholder 17"/>
          <p:cNvSpPr>
            <a:spLocks noGrp="1"/>
          </p:cNvSpPr>
          <p:nvPr>
            <p:ph type="body" sz="quarter" idx="23" hasCustomPrompt="1"/>
          </p:nvPr>
        </p:nvSpPr>
        <p:spPr>
          <a:xfrm>
            <a:off x="4751616" y="3178402"/>
            <a:ext cx="3635375" cy="2344093"/>
          </a:xfrm>
          <a:ln w="12700">
            <a:solidFill>
              <a:srgbClr val="D2D2D2"/>
            </a:solidFill>
          </a:ln>
        </p:spPr>
        <p:txBody>
          <a:bodyPr>
            <a:normAutofit/>
          </a:bodyPr>
          <a:lstStyle>
            <a:lvl1pPr marL="231775" marR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 kumimoji="0" 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lvl="0"/>
            <a:r>
              <a:rPr lang="en-US" dirty="0" smtClean="0"/>
              <a:t>Insert Text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Insert Text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US" dirty="0" smtClean="0"/>
              <a:t>Insert Text</a:t>
            </a:r>
          </a:p>
          <a:p>
            <a:pPr lvl="0"/>
            <a:endParaRPr lang="en-US" dirty="0" smtClean="0"/>
          </a:p>
        </p:txBody>
      </p:sp>
      <p:sp>
        <p:nvSpPr>
          <p:cNvPr id="27" name="Text Placeholder 15"/>
          <p:cNvSpPr>
            <a:spLocks noGrp="1"/>
          </p:cNvSpPr>
          <p:nvPr>
            <p:ph type="body" sz="quarter" idx="24" hasCustomPrompt="1"/>
          </p:nvPr>
        </p:nvSpPr>
        <p:spPr>
          <a:xfrm>
            <a:off x="4729617" y="2384652"/>
            <a:ext cx="3679372" cy="663575"/>
          </a:xfrm>
        </p:spPr>
        <p:txBody>
          <a:bodyPr anchor="ctr">
            <a:normAutofit/>
          </a:bodyPr>
          <a:lstStyle>
            <a:lvl1pPr>
              <a:buNone/>
              <a:defRPr kumimoji="0" lang="en-US" sz="3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1pPr>
            <a:lvl2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2pPr>
            <a:lvl3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3pPr>
            <a:lvl4pPr>
              <a:defRPr kumimoji="0" lang="en-US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+mn-ea"/>
                <a:cs typeface="+mn-cs"/>
              </a:defRPr>
            </a:lvl4pPr>
          </a:lstStyle>
          <a:p>
            <a:pPr lvl="0"/>
            <a:r>
              <a:rPr lang="en-US" dirty="0" smtClean="0"/>
              <a:t>Column 2</a:t>
            </a:r>
            <a:endParaRPr lang="en-IN" dirty="0"/>
          </a:p>
        </p:txBody>
      </p:sp>
      <p:sp>
        <p:nvSpPr>
          <p:cNvPr id="10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60376" y="145140"/>
            <a:ext cx="8229600" cy="55399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000" b="1" kern="1200" baseline="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j-lt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Slide with two columns and a title</a:t>
            </a:r>
          </a:p>
        </p:txBody>
      </p:sp>
      <p:sp>
        <p:nvSpPr>
          <p:cNvPr id="7" name="Text Placeholder 18"/>
          <p:cNvSpPr>
            <a:spLocks noGrp="1"/>
          </p:cNvSpPr>
          <p:nvPr>
            <p:ph type="body" sz="quarter" idx="14" hasCustomPrompt="1"/>
          </p:nvPr>
        </p:nvSpPr>
        <p:spPr>
          <a:xfrm>
            <a:off x="451301" y="1465489"/>
            <a:ext cx="8238674" cy="360000"/>
          </a:xfrm>
        </p:spPr>
        <p:txBody>
          <a:bodyPr>
            <a:noAutofit/>
          </a:bodyPr>
          <a:lstStyle>
            <a:lvl1pPr marL="231775" indent="-231775" algn="ctr" defTabSz="457200" rtl="0" eaLnBrk="1" latinLnBrk="0" hangingPunct="1">
              <a:spcBef>
                <a:spcPct val="20000"/>
              </a:spcBef>
              <a:buFont typeface="Arial"/>
              <a:buNone/>
              <a:defRPr kumimoji="0" lang="en-IN" sz="2200" b="1" i="0" u="none" strike="noStrike" kern="1200" cap="none" spc="8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INSERT COLUMN HEADING HERE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14"/>
          <p:cNvSpPr>
            <a:spLocks noGrp="1"/>
          </p:cNvSpPr>
          <p:nvPr>
            <p:ph type="body" sz="quarter" idx="11" hasCustomPrompt="1"/>
          </p:nvPr>
        </p:nvSpPr>
        <p:spPr>
          <a:xfrm>
            <a:off x="460376" y="145140"/>
            <a:ext cx="8229600" cy="55399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lang="en-US" sz="3000" b="1" kern="1200" baseline="0" dirty="0" smtClean="0">
                <a:solidFill>
                  <a:schemeClr val="tx1"/>
                </a:solidFill>
                <a:latin typeface="+mj-lt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Insert Title Here</a:t>
            </a:r>
          </a:p>
        </p:txBody>
      </p:sp>
      <p:sp>
        <p:nvSpPr>
          <p:cNvPr id="7" name="Text Placeholder 5"/>
          <p:cNvSpPr>
            <a:spLocks noGrp="1"/>
          </p:cNvSpPr>
          <p:nvPr>
            <p:ph type="body" sz="quarter" idx="16" hasCustomPrompt="1"/>
          </p:nvPr>
        </p:nvSpPr>
        <p:spPr>
          <a:xfrm>
            <a:off x="457200" y="1360488"/>
            <a:ext cx="8240713" cy="4473575"/>
          </a:xfrm>
        </p:spPr>
        <p:txBody>
          <a:bodyPr/>
          <a:lstStyle>
            <a:lvl1pPr>
              <a:buClr>
                <a:srgbClr val="0070C0"/>
              </a:buClr>
              <a:defRPr sz="2200">
                <a:solidFill>
                  <a:schemeClr val="tx1"/>
                </a:solidFill>
              </a:defRPr>
            </a:lvl1pPr>
            <a:lvl2pPr>
              <a:buClr>
                <a:srgbClr val="0070C0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</a:defRPr>
            </a:lvl2pPr>
            <a:lvl3pPr>
              <a:buClr>
                <a:srgbClr val="0070C0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</a:defRPr>
            </a:lvl3pPr>
            <a:lvl4pPr>
              <a:buClr>
                <a:srgbClr val="0070C0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</a:defRPr>
            </a:lvl4pPr>
            <a:lvl5pPr>
              <a:buClr>
                <a:srgbClr val="0070C0"/>
              </a:buClr>
              <a:buFont typeface="Arial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IN" dirty="0" smtClean="0"/>
              <a:t>Please use bullet points on this slide when the content is heavy break it up into highlights, don’t use paragraphs of text</a:t>
            </a:r>
            <a:endParaRPr lang="en-US" dirty="0" smtClean="0"/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/>
          <p:cNvSpPr>
            <a:spLocks noGrp="1"/>
          </p:cNvSpPr>
          <p:nvPr>
            <p:ph type="pic" sz="quarter" idx="10" hasCustomPrompt="1"/>
          </p:nvPr>
        </p:nvSpPr>
        <p:spPr>
          <a:xfrm>
            <a:off x="0" y="957943"/>
            <a:ext cx="9144000" cy="5442858"/>
          </a:xfrm>
        </p:spPr>
        <p:txBody>
          <a:bodyPr anchor="ctr">
            <a:normAutofit/>
          </a:bodyPr>
          <a:lstStyle>
            <a:lvl1pPr algn="ctr">
              <a:buNone/>
              <a:defRPr sz="5400" baseline="0"/>
            </a:lvl1pPr>
          </a:lstStyle>
          <a:p>
            <a:r>
              <a:rPr lang="en-US" dirty="0" smtClean="0"/>
              <a:t>Click Icon to Add Picture</a:t>
            </a:r>
            <a:endParaRPr lang="en-IN" dirty="0"/>
          </a:p>
        </p:txBody>
      </p:sp>
      <p:sp>
        <p:nvSpPr>
          <p:cNvPr id="8" name="Text Placeholder 5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4517571"/>
            <a:ext cx="9144000" cy="1110343"/>
          </a:xfrm>
          <a:solidFill>
            <a:schemeClr val="accent6">
              <a:lumMod val="40000"/>
              <a:lumOff val="60000"/>
              <a:alpha val="75000"/>
            </a:schemeClr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anchor="ctr">
            <a:normAutofit/>
          </a:bodyPr>
          <a:lstStyle>
            <a:lvl1pPr algn="ctr">
              <a:buNone/>
              <a:defRPr lang="en-US" sz="2000" b="1" kern="120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Insert Text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Paragarph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48140" y="140511"/>
            <a:ext cx="822960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Vertical image with paragraph text</a:t>
            </a:r>
            <a:endParaRPr lang="en-IN" dirty="0"/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48140" y="1208314"/>
            <a:ext cx="4417774" cy="5046436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IN" dirty="0"/>
          </a:p>
        </p:txBody>
      </p:sp>
      <p:sp>
        <p:nvSpPr>
          <p:cNvPr id="13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5159829" y="2331357"/>
            <a:ext cx="3530146" cy="2800350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  <a:lvl2pPr>
              <a:buNone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2pPr>
            <a:lvl3pPr>
              <a:buNone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3pPr>
            <a:lvl4pPr>
              <a:buNone/>
              <a:defRPr lang="en-US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4pPr>
            <a:lvl5pPr>
              <a:buNone/>
              <a:defRPr lang="en-IN" sz="20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5pPr>
          </a:lstStyle>
          <a:p>
            <a:pPr marL="0" indent="0">
              <a:buNone/>
            </a:pP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cs typeface="Arial"/>
              </a:rPr>
              <a:t>This vertical image should be aligned left and centered vertically on the slide. Paragraph text should be centered vertically to 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>the image. Insert Text </a:t>
            </a:r>
            <a:r>
              <a:rPr lang="en-US" dirty="0" err="1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>Here.</a:t>
            </a: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> Keep text as minimal as possible.</a:t>
            </a:r>
            <a:endParaRPr lang="en-US" dirty="0" smtClean="0">
              <a:solidFill>
                <a:schemeClr val="tx1">
                  <a:lumMod val="65000"/>
                  <a:lumOff val="35000"/>
                </a:schemeClr>
              </a:solidFill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5173663" y="2204017"/>
            <a:ext cx="3516312" cy="3055030"/>
          </a:xfrm>
        </p:spPr>
        <p:txBody>
          <a:bodyPr/>
          <a:lstStyle>
            <a:lvl1pPr>
              <a:buClr>
                <a:srgbClr val="0070C0"/>
              </a:buClr>
              <a:buFont typeface="Arial" pitchFamily="34" charset="0"/>
              <a:buChar char="•"/>
              <a:defRPr/>
            </a:lvl1pPr>
          </a:lstStyle>
          <a:p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>This vertical image should be aligned left and centered vertically on the slide. </a:t>
            </a:r>
            <a:b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</a:b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/>
            </a:r>
            <a:b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</a:br>
            <a:r>
              <a:rPr lang="en-US" dirty="0" smtClean="0">
                <a:solidFill>
                  <a:schemeClr val="tx1">
                    <a:lumMod val="65000"/>
                    <a:lumOff val="35000"/>
                  </a:schemeClr>
                </a:solidFill>
                <a:cs typeface="Arial"/>
              </a:rPr>
              <a:t>This vertical image should be aligned left and centered vertically on the slide. </a:t>
            </a:r>
          </a:p>
        </p:txBody>
      </p:sp>
      <p:sp>
        <p:nvSpPr>
          <p:cNvPr id="5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48140" y="1208314"/>
            <a:ext cx="4417774" cy="5046436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IN" dirty="0"/>
          </a:p>
        </p:txBody>
      </p:sp>
      <p:sp>
        <p:nvSpPr>
          <p:cNvPr id="8" name="Title 1"/>
          <p:cNvSpPr>
            <a:spLocks noGrp="1"/>
          </p:cNvSpPr>
          <p:nvPr>
            <p:ph type="title" hasCustomPrompt="1"/>
          </p:nvPr>
        </p:nvSpPr>
        <p:spPr>
          <a:xfrm>
            <a:off x="448140" y="140511"/>
            <a:ext cx="822960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Vertical image with bullet points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atal image with p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405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kumimoji="0" 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Horizontal image with paragraph text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60376" y="1103313"/>
            <a:ext cx="8229600" cy="3149600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IN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146289" y="4498975"/>
            <a:ext cx="6851423" cy="1495425"/>
          </a:xfrm>
        </p:spPr>
        <p:txBody>
          <a:bodyPr>
            <a:normAutofit/>
          </a:bodyPr>
          <a:lstStyle>
            <a:lvl1pPr marL="0" indent="0">
              <a:buFont typeface="Arial" pitchFamily="34" charset="0"/>
              <a:buNone/>
              <a:defRPr lang="en-US" sz="2000" kern="1200" dirty="0" smtClean="0">
                <a:solidFill>
                  <a:srgbClr val="595959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IN" dirty="0" smtClean="0"/>
              <a:t>Paragraph text should be left aligned. Adjust the height of this text box when needed. Make sure this box is </a:t>
            </a:r>
            <a:r>
              <a:rPr lang="en-IN" dirty="0" err="1" smtClean="0"/>
              <a:t>centered</a:t>
            </a:r>
            <a:r>
              <a:rPr lang="en-IN" dirty="0" smtClean="0"/>
              <a:t> horizontally on the page and to the image. 20 </a:t>
            </a:r>
            <a:r>
              <a:rPr lang="en-IN" dirty="0" err="1" smtClean="0"/>
              <a:t>pt</a:t>
            </a:r>
            <a:r>
              <a:rPr lang="en-IN" dirty="0" smtClean="0"/>
              <a:t> text should be used. Keep text as minimal as possible.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atal image with Bullet 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60374" y="140511"/>
            <a:ext cx="8229601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kumimoji="0" lang="en-US" sz="30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+mj-lt"/>
                <a:ea typeface="+mn-ea"/>
                <a:cs typeface="Arial"/>
              </a:rPr>
              <a:t>Horizontal image with bullet points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10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460376" y="1103313"/>
            <a:ext cx="8229600" cy="2699430"/>
          </a:xfrm>
        </p:spPr>
        <p:txBody>
          <a:bodyPr/>
          <a:lstStyle>
            <a:lvl1pPr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Text Placeholder 14"/>
          <p:cNvSpPr>
            <a:spLocks noGrp="1"/>
          </p:cNvSpPr>
          <p:nvPr>
            <p:ph type="body" sz="quarter" idx="14" hasCustomPrompt="1"/>
          </p:nvPr>
        </p:nvSpPr>
        <p:spPr>
          <a:xfrm>
            <a:off x="1130300" y="4508500"/>
            <a:ext cx="6883400" cy="1498600"/>
          </a:xfrm>
        </p:spPr>
        <p:txBody>
          <a:bodyPr>
            <a:normAutofit/>
          </a:bodyPr>
          <a:lstStyle>
            <a:lvl1pPr>
              <a:buClr>
                <a:srgbClr val="0070C0"/>
              </a:buClr>
              <a:buFont typeface="Arial" pitchFamily="34" charset="0"/>
              <a:buChar char="•"/>
              <a:defRPr sz="2000" baseline="0"/>
            </a:lvl1pPr>
          </a:lstStyle>
          <a:p>
            <a:pPr lvl="0"/>
            <a:r>
              <a:rPr lang="en-US" dirty="0" smtClean="0"/>
              <a:t>The horizontal image should be center aligned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se in poi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 1"/>
          <p:cNvSpPr>
            <a:spLocks noChangeArrowheads="1"/>
          </p:cNvSpPr>
          <p:nvPr userDrawn="1"/>
        </p:nvSpPr>
        <p:spPr bwMode="auto">
          <a:xfrm>
            <a:off x="-4825" y="5486400"/>
            <a:ext cx="8542400" cy="685800"/>
          </a:xfrm>
          <a:prstGeom prst="rect">
            <a:avLst/>
          </a:prstGeom>
          <a:gradFill rotWithShape="1">
            <a:gsLst>
              <a:gs pos="0">
                <a:srgbClr val="77787D"/>
              </a:gs>
              <a:gs pos="50000">
                <a:srgbClr val="ADAEB5"/>
              </a:gs>
              <a:gs pos="100000">
                <a:srgbClr val="CED0D8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7" name="Rectangle 2"/>
          <p:cNvSpPr>
            <a:spLocks noChangeArrowheads="1"/>
          </p:cNvSpPr>
          <p:nvPr userDrawn="1"/>
        </p:nvSpPr>
        <p:spPr bwMode="auto">
          <a:xfrm>
            <a:off x="-4825" y="5611813"/>
            <a:ext cx="8542400" cy="407987"/>
          </a:xfrm>
          <a:prstGeom prst="rect">
            <a:avLst/>
          </a:prstGeom>
          <a:gradFill rotWithShape="1">
            <a:gsLst>
              <a:gs pos="0">
                <a:srgbClr val="494A58"/>
              </a:gs>
              <a:gs pos="50000">
                <a:srgbClr val="6C6E81"/>
              </a:gs>
              <a:gs pos="100000">
                <a:srgbClr val="81849B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5" name="Right Arrow 14"/>
          <p:cNvSpPr/>
          <p:nvPr userDrawn="1"/>
        </p:nvSpPr>
        <p:spPr>
          <a:xfrm>
            <a:off x="5037466" y="772886"/>
            <a:ext cx="160131" cy="315459"/>
          </a:xfrm>
          <a:prstGeom prst="rightArrow">
            <a:avLst>
              <a:gd name="adj1" fmla="val 50000"/>
              <a:gd name="adj2" fmla="val 201887"/>
            </a:avLst>
          </a:prstGeom>
          <a:solidFill>
            <a:srgbClr val="03A3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10" hasCustomPrompt="1"/>
          </p:nvPr>
        </p:nvSpPr>
        <p:spPr>
          <a:xfrm>
            <a:off x="1023713" y="1164317"/>
            <a:ext cx="3929063" cy="479424"/>
          </a:xfrm>
        </p:spPr>
        <p:txBody>
          <a:bodyPr>
            <a:noAutofit/>
          </a:bodyPr>
          <a:lstStyle>
            <a:lvl1pPr marL="231775" marR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2800" b="1" kern="1200" baseline="0" dirty="0" smtClean="0">
                <a:solidFill>
                  <a:srgbClr val="3C3D48"/>
                </a:solidFill>
                <a:latin typeface="+mj-lt"/>
                <a:ea typeface="+mj-ea"/>
                <a:cs typeface="+mj-cs"/>
              </a:defRPr>
            </a:lvl1pPr>
            <a:lvl2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2pPr>
            <a:lvl3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3pPr>
            <a:lvl4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4pPr>
            <a:lvl5pPr>
              <a:defRPr lang="en-IN" sz="2800" b="1" kern="1200" dirty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5pPr>
          </a:lstStyle>
          <a:p>
            <a:pPr marL="231775" marR="0" lvl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Click to Add Title</a:t>
            </a:r>
          </a:p>
        </p:txBody>
      </p:sp>
      <p:sp>
        <p:nvSpPr>
          <p:cNvPr id="24" name="Text Placeholder 11"/>
          <p:cNvSpPr>
            <a:spLocks noGrp="1"/>
          </p:cNvSpPr>
          <p:nvPr>
            <p:ph type="body" sz="quarter" idx="11" hasCustomPrompt="1"/>
          </p:nvPr>
        </p:nvSpPr>
        <p:spPr>
          <a:xfrm>
            <a:off x="1023713" y="758593"/>
            <a:ext cx="3929063" cy="286438"/>
          </a:xfrm>
        </p:spPr>
        <p:txBody>
          <a:bodyPr>
            <a:noAutofit/>
          </a:bodyPr>
          <a:lstStyle>
            <a:lvl1pPr marL="231775" marR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US" sz="1600" b="1" kern="1200" dirty="0" smtClean="0">
                <a:solidFill>
                  <a:srgbClr val="A1A2B1"/>
                </a:solidFill>
                <a:latin typeface="+mj-lt"/>
                <a:ea typeface="+mj-ea"/>
                <a:cs typeface="+mj-cs"/>
              </a:defRPr>
            </a:lvl1pPr>
            <a:lvl2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2pPr>
            <a:lvl3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3pPr>
            <a:lvl4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4pPr>
            <a:lvl5pPr>
              <a:defRPr lang="en-IN" sz="2800" b="1" kern="1200" dirty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5pPr>
          </a:lstStyle>
          <a:p>
            <a:pPr marL="231775" marR="0" lvl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HIGHLIGHTS</a:t>
            </a:r>
          </a:p>
        </p:txBody>
      </p:sp>
      <p:sp>
        <p:nvSpPr>
          <p:cNvPr id="27" name="Text Placeholder 11"/>
          <p:cNvSpPr>
            <a:spLocks noGrp="1"/>
          </p:cNvSpPr>
          <p:nvPr>
            <p:ph type="body" sz="quarter" idx="12" hasCustomPrompt="1"/>
          </p:nvPr>
        </p:nvSpPr>
        <p:spPr>
          <a:xfrm>
            <a:off x="903515" y="2104328"/>
            <a:ext cx="4049262" cy="1596815"/>
          </a:xfrm>
        </p:spPr>
        <p:txBody>
          <a:bodyPr>
            <a:normAutofit/>
          </a:bodyPr>
          <a:lstStyle>
            <a:lvl1pPr marL="231775" marR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IN" sz="1600" kern="1200" baseline="0">
                <a:solidFill>
                  <a:schemeClr val="accent6">
                    <a:lumMod val="75000"/>
                  </a:schemeClr>
                </a:solidFill>
                <a:latin typeface="+mj-lt"/>
                <a:ea typeface="+mn-ea"/>
                <a:cs typeface="+mn-cs"/>
              </a:defRPr>
            </a:lvl1pPr>
            <a:lvl2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2pPr>
            <a:lvl3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3pPr>
            <a:lvl4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4pPr>
            <a:lvl5pPr>
              <a:defRPr lang="en-IN" sz="2800" b="1" kern="1200" dirty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5pPr>
          </a:lstStyle>
          <a:p>
            <a:pPr marL="231775" marR="0" lvl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IN" dirty="0" smtClean="0"/>
              <a:t>Add a small brief of the case study / point of view / Define a concept / theme / topic. You may add up to 6 lines of text. Beyond 6 lines will not be readable.</a:t>
            </a:r>
          </a:p>
        </p:txBody>
      </p:sp>
      <p:sp>
        <p:nvSpPr>
          <p:cNvPr id="40" name="Picture Placeholder 38"/>
          <p:cNvSpPr>
            <a:spLocks noGrp="1"/>
          </p:cNvSpPr>
          <p:nvPr>
            <p:ph type="pic" sz="quarter" idx="14"/>
          </p:nvPr>
        </p:nvSpPr>
        <p:spPr>
          <a:xfrm>
            <a:off x="5690960" y="490538"/>
            <a:ext cx="2874963" cy="5692775"/>
          </a:xfrm>
          <a:ln>
            <a:noFill/>
          </a:ln>
          <a:effectLst/>
        </p:spPr>
        <p:txBody>
          <a:bodyPr>
            <a:flatTx/>
          </a:bodyPr>
          <a:lstStyle>
            <a:lvl1pPr>
              <a:buNone/>
              <a:defRPr>
                <a:effectLst/>
              </a:defRPr>
            </a:lvl1pPr>
          </a:lstStyle>
          <a:p>
            <a:endParaRPr lang="en-IN" dirty="0"/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903515" y="3864429"/>
            <a:ext cx="4049262" cy="1545771"/>
          </a:xfrm>
        </p:spPr>
        <p:txBody>
          <a:bodyPr>
            <a:normAutofit/>
          </a:bodyPr>
          <a:lstStyle>
            <a:lvl1pPr marL="231775" marR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lang="en-IN" sz="1400" kern="1200" baseline="0">
                <a:solidFill>
                  <a:srgbClr val="0070C0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2pPr>
            <a:lvl3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3pPr>
            <a:lvl4pPr>
              <a:defRPr lang="en-US" sz="2800" b="1" kern="1200" dirty="0" smtClean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4pPr>
            <a:lvl5pPr>
              <a:defRPr lang="en-IN" sz="2800" b="1" kern="1200" dirty="0">
                <a:solidFill>
                  <a:srgbClr val="3C3D48"/>
                </a:solidFill>
                <a:latin typeface="Gill Sans MT" pitchFamily="34" charset="0"/>
                <a:ea typeface="+mj-ea"/>
                <a:cs typeface="+mj-cs"/>
              </a:defRPr>
            </a:lvl5pPr>
          </a:lstStyle>
          <a:p>
            <a:pPr marL="231775" marR="0" lvl="0" indent="-231775" algn="r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lang="en-US" dirty="0" smtClean="0"/>
              <a:t>Add Highlights of the topic and only </a:t>
            </a:r>
            <a:br>
              <a:rPr lang="en-US" dirty="0" smtClean="0"/>
            </a:br>
            <a:r>
              <a:rPr lang="en-US" dirty="0" smtClean="0"/>
              <a:t>5 lines of text is allowed, beyond </a:t>
            </a:r>
            <a:br>
              <a:rPr lang="en-US" dirty="0" smtClean="0"/>
            </a:br>
            <a:r>
              <a:rPr lang="en-US" dirty="0" smtClean="0"/>
              <a:t>that it will not be readable.</a:t>
            </a:r>
            <a:endParaRPr lang="en-I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se in point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icture Placeholder 25"/>
          <p:cNvSpPr>
            <a:spLocks noGrp="1"/>
          </p:cNvSpPr>
          <p:nvPr>
            <p:ph type="pic" sz="quarter" idx="10"/>
          </p:nvPr>
        </p:nvSpPr>
        <p:spPr>
          <a:xfrm>
            <a:off x="451756" y="1668732"/>
            <a:ext cx="2590800" cy="3873500"/>
          </a:xfrm>
        </p:spPr>
        <p:txBody>
          <a:bodyPr/>
          <a:lstStyle/>
          <a:p>
            <a:endParaRPr lang="en-IN"/>
          </a:p>
        </p:txBody>
      </p:sp>
      <p:sp>
        <p:nvSpPr>
          <p:cNvPr id="37" name="Text Placeholder 34"/>
          <p:cNvSpPr>
            <a:spLocks noGrp="1"/>
          </p:cNvSpPr>
          <p:nvPr>
            <p:ph type="body" sz="quarter" idx="12" hasCustomPrompt="1"/>
          </p:nvPr>
        </p:nvSpPr>
        <p:spPr>
          <a:xfrm>
            <a:off x="3990974" y="1565729"/>
            <a:ext cx="4686301" cy="1152071"/>
          </a:xfrm>
        </p:spPr>
        <p:txBody>
          <a:bodyPr>
            <a:normAutofit/>
          </a:bodyPr>
          <a:lstStyle>
            <a:lvl1pPr marL="0" indent="0">
              <a:buClr>
                <a:srgbClr val="0070C0"/>
              </a:buClr>
              <a:buFont typeface="Webdings" pitchFamily="18" charset="2"/>
              <a:buNone/>
              <a:tabLst/>
              <a:defRPr lang="en-US" sz="1200" kern="1200" baseline="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>
              <a:buNone/>
              <a:defRPr lang="en-IN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 smtClean="0"/>
              <a:t>Up to 5 lines of text is allowed beyond which it will not be readable.</a:t>
            </a:r>
          </a:p>
        </p:txBody>
      </p:sp>
      <p:sp>
        <p:nvSpPr>
          <p:cNvPr id="15" name="Text Placeholder 31"/>
          <p:cNvSpPr>
            <a:spLocks noGrp="1"/>
          </p:cNvSpPr>
          <p:nvPr>
            <p:ph type="body" sz="quarter" idx="14" hasCustomPrompt="1"/>
          </p:nvPr>
        </p:nvSpPr>
        <p:spPr>
          <a:xfrm>
            <a:off x="3990974" y="1162957"/>
            <a:ext cx="4673600" cy="261258"/>
          </a:xfrm>
        </p:spPr>
        <p:txBody>
          <a:bodyPr anchor="ctr">
            <a:noAutofit/>
          </a:bodyPr>
          <a:lstStyle>
            <a:lvl1pPr>
              <a:buNone/>
              <a:defRPr lang="en-US" sz="1400" b="1" kern="1200" dirty="0" smtClean="0">
                <a:solidFill>
                  <a:srgbClr val="3C3D48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 smtClean="0"/>
              <a:t>Opportunity</a:t>
            </a:r>
          </a:p>
        </p:txBody>
      </p:sp>
      <p:sp>
        <p:nvSpPr>
          <p:cNvPr id="19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40511"/>
            <a:ext cx="8229600" cy="532589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dirty="0" smtClean="0"/>
              <a:t>Case Study Heading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32" name="Text Placeholder 34"/>
          <p:cNvSpPr>
            <a:spLocks noGrp="1"/>
          </p:cNvSpPr>
          <p:nvPr>
            <p:ph type="body" sz="quarter" idx="19" hasCustomPrompt="1"/>
          </p:nvPr>
        </p:nvSpPr>
        <p:spPr>
          <a:xfrm>
            <a:off x="3990974" y="3246435"/>
            <a:ext cx="4686301" cy="1152071"/>
          </a:xfrm>
        </p:spPr>
        <p:txBody>
          <a:bodyPr>
            <a:normAutofit/>
          </a:bodyPr>
          <a:lstStyle>
            <a:lvl1pPr marL="0" indent="0">
              <a:buClr>
                <a:srgbClr val="0070C0"/>
              </a:buClr>
              <a:buFont typeface="Webdings" pitchFamily="18" charset="2"/>
              <a:buNone/>
              <a:tabLst/>
              <a:defRPr lang="en-US" sz="1200" kern="1200" baseline="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>
              <a:buNone/>
              <a:defRPr lang="en-IN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 smtClean="0"/>
              <a:t>Up to 5 lines of text is allowed beyond which it will not be readable.</a:t>
            </a:r>
          </a:p>
        </p:txBody>
      </p:sp>
      <p:sp>
        <p:nvSpPr>
          <p:cNvPr id="33" name="Text Placeholder 31"/>
          <p:cNvSpPr>
            <a:spLocks noGrp="1"/>
          </p:cNvSpPr>
          <p:nvPr>
            <p:ph type="body" sz="quarter" idx="20" hasCustomPrompt="1"/>
          </p:nvPr>
        </p:nvSpPr>
        <p:spPr>
          <a:xfrm>
            <a:off x="3990974" y="2843663"/>
            <a:ext cx="4673600" cy="261258"/>
          </a:xfrm>
        </p:spPr>
        <p:txBody>
          <a:bodyPr anchor="ctr">
            <a:noAutofit/>
          </a:bodyPr>
          <a:lstStyle>
            <a:lvl1pPr>
              <a:buNone/>
              <a:defRPr lang="en-US" sz="1400" b="1" kern="1200" baseline="0" dirty="0" smtClean="0">
                <a:solidFill>
                  <a:srgbClr val="3C3D48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 smtClean="0"/>
              <a:t>Challenges </a:t>
            </a:r>
          </a:p>
        </p:txBody>
      </p:sp>
      <p:sp>
        <p:nvSpPr>
          <p:cNvPr id="35" name="Text Placeholder 34"/>
          <p:cNvSpPr>
            <a:spLocks noGrp="1"/>
          </p:cNvSpPr>
          <p:nvPr>
            <p:ph type="body" sz="quarter" idx="21" hasCustomPrompt="1"/>
          </p:nvPr>
        </p:nvSpPr>
        <p:spPr>
          <a:xfrm>
            <a:off x="3990974" y="4962546"/>
            <a:ext cx="4686301" cy="1152071"/>
          </a:xfrm>
        </p:spPr>
        <p:txBody>
          <a:bodyPr>
            <a:normAutofit/>
          </a:bodyPr>
          <a:lstStyle>
            <a:lvl1pPr marL="0" indent="0">
              <a:buClr>
                <a:srgbClr val="0070C0"/>
              </a:buClr>
              <a:buFont typeface="Webdings" pitchFamily="18" charset="2"/>
              <a:buNone/>
              <a:tabLst/>
              <a:defRPr lang="en-US" sz="1200" kern="1200" baseline="0" dirty="0" smtClean="0">
                <a:solidFill>
                  <a:schemeClr val="tx2">
                    <a:lumMod val="60000"/>
                    <a:lumOff val="40000"/>
                  </a:schemeClr>
                </a:solidFill>
                <a:latin typeface="+mn-lt"/>
                <a:ea typeface="+mn-ea"/>
                <a:cs typeface="+mn-cs"/>
              </a:defRPr>
            </a:lvl1pPr>
            <a:lvl2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2pPr>
            <a:lvl3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3pPr>
            <a:lvl4pPr>
              <a:buNone/>
              <a:defRPr lang="en-US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4pPr>
            <a:lvl5pPr>
              <a:buNone/>
              <a:defRPr lang="en-IN" sz="1600" kern="1200" dirty="0" smtClean="0">
                <a:solidFill>
                  <a:srgbClr val="404040"/>
                </a:solidFill>
                <a:latin typeface="+mn-lt"/>
                <a:ea typeface="+mn-ea"/>
                <a:cs typeface="+mn-cs"/>
              </a:defRPr>
            </a:lvl5pPr>
          </a:lstStyle>
          <a:p>
            <a:pPr lvl="0"/>
            <a:r>
              <a:rPr lang="en-US" dirty="0" smtClean="0"/>
              <a:t>Up to 5 lines of text is allowed beyond which it will not be readable.</a:t>
            </a:r>
          </a:p>
        </p:txBody>
      </p:sp>
      <p:sp>
        <p:nvSpPr>
          <p:cNvPr id="36" name="Text Placeholder 31"/>
          <p:cNvSpPr>
            <a:spLocks noGrp="1"/>
          </p:cNvSpPr>
          <p:nvPr>
            <p:ph type="body" sz="quarter" idx="22" hasCustomPrompt="1"/>
          </p:nvPr>
        </p:nvSpPr>
        <p:spPr>
          <a:xfrm>
            <a:off x="3990974" y="4559774"/>
            <a:ext cx="4673600" cy="261258"/>
          </a:xfrm>
        </p:spPr>
        <p:txBody>
          <a:bodyPr anchor="ctr">
            <a:noAutofit/>
          </a:bodyPr>
          <a:lstStyle>
            <a:lvl1pPr>
              <a:buNone/>
              <a:defRPr lang="en-US" sz="1400" b="1" kern="1200" dirty="0" smtClean="0">
                <a:solidFill>
                  <a:srgbClr val="3C3D48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 dirty="0" smtClean="0"/>
              <a:t>Impact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f Coloumn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32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dirty="0" smtClean="0"/>
              <a:t>Title of Column Graph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14" name="Chart Placeholder 13"/>
          <p:cNvSpPr>
            <a:spLocks noGrp="1"/>
          </p:cNvSpPr>
          <p:nvPr>
            <p:ph type="chart" sz="quarter" idx="10"/>
          </p:nvPr>
        </p:nvSpPr>
        <p:spPr>
          <a:xfrm>
            <a:off x="460375" y="1509713"/>
            <a:ext cx="8229600" cy="4716462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f Bar 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32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dirty="0" smtClean="0"/>
              <a:t>Title of Bar Graph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14" name="Chart Placeholder 13"/>
          <p:cNvSpPr>
            <a:spLocks noGrp="1"/>
          </p:cNvSpPr>
          <p:nvPr>
            <p:ph type="chart" sz="quarter" idx="10"/>
          </p:nvPr>
        </p:nvSpPr>
        <p:spPr>
          <a:xfrm>
            <a:off x="460375" y="1509713"/>
            <a:ext cx="8229600" cy="4716462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f 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32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dirty="0" smtClean="0"/>
              <a:t>Title of Pie Chart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4" name="Chart Placeholder 13"/>
          <p:cNvSpPr>
            <a:spLocks noGrp="1"/>
          </p:cNvSpPr>
          <p:nvPr>
            <p:ph type="chart" sz="quarter" idx="10"/>
          </p:nvPr>
        </p:nvSpPr>
        <p:spPr>
          <a:xfrm>
            <a:off x="460375" y="1509713"/>
            <a:ext cx="8229600" cy="4716462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f Pie 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32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marL="0" marR="0" lvl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/>
            </a:pPr>
            <a:r>
              <a:rPr lang="en-US" dirty="0" smtClean="0"/>
              <a:t>Title of Pie Chart</a:t>
            </a:r>
            <a:endParaRPr kumimoji="0" lang="en-US" sz="3000" b="1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65000"/>
                  <a:lumOff val="35000"/>
                </a:schemeClr>
              </a:solidFill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  <p:sp>
        <p:nvSpPr>
          <p:cNvPr id="4" name="Chart Placeholder 13"/>
          <p:cNvSpPr>
            <a:spLocks noGrp="1"/>
          </p:cNvSpPr>
          <p:nvPr>
            <p:ph type="chart" sz="quarter" idx="10"/>
          </p:nvPr>
        </p:nvSpPr>
        <p:spPr>
          <a:xfrm>
            <a:off x="460375" y="1509713"/>
            <a:ext cx="8229600" cy="4716462"/>
          </a:xfr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f Pie 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57200" y="153211"/>
            <a:ext cx="8229600" cy="553998"/>
          </a:xfrm>
        </p:spPr>
        <p:txBody>
          <a:bodyPr/>
          <a:lstStyle>
            <a:lvl1pPr marL="0" marR="0" indent="0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tabLst/>
              <a:defRPr baseline="0"/>
            </a:lvl1pPr>
          </a:lstStyle>
          <a:p>
            <a:pPr lvl="0"/>
            <a:r>
              <a:rPr lang="en-US" dirty="0" smtClean="0"/>
              <a:t>Insert Title Here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Oval 6"/>
          <p:cNvSpPr>
            <a:spLocks noChangeArrowheads="1"/>
          </p:cNvSpPr>
          <p:nvPr userDrawn="1"/>
        </p:nvSpPr>
        <p:spPr bwMode="gray">
          <a:xfrm>
            <a:off x="355600" y="5858423"/>
            <a:ext cx="8432800" cy="550531"/>
          </a:xfrm>
          <a:prstGeom prst="ellipse">
            <a:avLst/>
          </a:prstGeom>
          <a:gradFill rotWithShape="1">
            <a:gsLst>
              <a:gs pos="0">
                <a:srgbClr val="080808">
                  <a:alpha val="30000"/>
                </a:srgbClr>
              </a:gs>
              <a:gs pos="100000">
                <a:srgbClr val="0040A8">
                  <a:alpha val="0"/>
                </a:srgbClr>
              </a:gs>
            </a:gsLst>
            <a:path path="shape">
              <a:fillToRect l="50000" t="50000" r="50000" b="50000"/>
            </a:path>
          </a:gradFill>
          <a:ln w="9525" algn="ctr">
            <a:noFill/>
            <a:miter lim="800000"/>
            <a:headEnd/>
            <a:tailEnd/>
          </a:ln>
          <a:effectLst/>
        </p:spPr>
        <p:txBody>
          <a:bodyPr wrap="square" anchor="ctr">
            <a:no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kern="0" dirty="0">
              <a:solidFill>
                <a:srgbClr val="000000"/>
              </a:solidFill>
            </a:endParaRPr>
          </a:p>
        </p:txBody>
      </p:sp>
      <p:sp>
        <p:nvSpPr>
          <p:cNvPr id="57" name="Text Placeholder 56"/>
          <p:cNvSpPr>
            <a:spLocks noGrp="1"/>
          </p:cNvSpPr>
          <p:nvPr>
            <p:ph type="body" sz="quarter" idx="10" hasCustomPrompt="1"/>
          </p:nvPr>
        </p:nvSpPr>
        <p:spPr>
          <a:xfrm>
            <a:off x="785078" y="4223431"/>
            <a:ext cx="1452108" cy="566737"/>
          </a:xfrm>
        </p:spPr>
        <p:txBody>
          <a:bodyPr>
            <a:normAutofit/>
          </a:bodyPr>
          <a:lstStyle>
            <a:lvl1pPr algn="ctr">
              <a:buNone/>
              <a:defRPr lang="en-IN" sz="18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1</a:t>
            </a:r>
            <a:endParaRPr lang="en-IN" dirty="0"/>
          </a:p>
        </p:txBody>
      </p:sp>
      <p:sp>
        <p:nvSpPr>
          <p:cNvPr id="60" name="Text Placeholder 56"/>
          <p:cNvSpPr>
            <a:spLocks noGrp="1"/>
          </p:cNvSpPr>
          <p:nvPr>
            <p:ph type="body" sz="quarter" idx="12" hasCustomPrompt="1"/>
          </p:nvPr>
        </p:nvSpPr>
        <p:spPr>
          <a:xfrm>
            <a:off x="2832365" y="4223431"/>
            <a:ext cx="1452108" cy="566737"/>
          </a:xfrm>
        </p:spPr>
        <p:txBody>
          <a:bodyPr>
            <a:normAutofit/>
          </a:bodyPr>
          <a:lstStyle>
            <a:lvl1pPr algn="ctr">
              <a:buNone/>
              <a:defRPr lang="en-IN" sz="18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2</a:t>
            </a:r>
            <a:endParaRPr lang="en-IN" dirty="0"/>
          </a:p>
        </p:txBody>
      </p:sp>
      <p:sp>
        <p:nvSpPr>
          <p:cNvPr id="63" name="Text Placeholder 56"/>
          <p:cNvSpPr>
            <a:spLocks noGrp="1"/>
          </p:cNvSpPr>
          <p:nvPr>
            <p:ph type="body" sz="quarter" idx="14" hasCustomPrompt="1"/>
          </p:nvPr>
        </p:nvSpPr>
        <p:spPr>
          <a:xfrm>
            <a:off x="4905665" y="4223431"/>
            <a:ext cx="1452108" cy="566737"/>
          </a:xfrm>
        </p:spPr>
        <p:txBody>
          <a:bodyPr>
            <a:normAutofit/>
          </a:bodyPr>
          <a:lstStyle>
            <a:lvl1pPr algn="ctr">
              <a:buNone/>
              <a:defRPr lang="en-IN" sz="18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3</a:t>
            </a:r>
          </a:p>
        </p:txBody>
      </p:sp>
      <p:sp>
        <p:nvSpPr>
          <p:cNvPr id="66" name="Text Placeholder 56"/>
          <p:cNvSpPr>
            <a:spLocks noGrp="1"/>
          </p:cNvSpPr>
          <p:nvPr>
            <p:ph type="body" sz="quarter" idx="16" hasCustomPrompt="1"/>
          </p:nvPr>
        </p:nvSpPr>
        <p:spPr>
          <a:xfrm>
            <a:off x="6884396" y="4223431"/>
            <a:ext cx="1452108" cy="566737"/>
          </a:xfrm>
        </p:spPr>
        <p:txBody>
          <a:bodyPr>
            <a:normAutofit/>
          </a:bodyPr>
          <a:lstStyle>
            <a:lvl1pPr algn="ctr">
              <a:buNone/>
              <a:defRPr lang="en-IN" sz="18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4</a:t>
            </a:r>
            <a:endParaRPr lang="en-IN" dirty="0"/>
          </a:p>
        </p:txBody>
      </p:sp>
      <p:sp>
        <p:nvSpPr>
          <p:cNvPr id="12" name="Title 4"/>
          <p:cNvSpPr>
            <a:spLocks noGrp="1"/>
          </p:cNvSpPr>
          <p:nvPr>
            <p:ph type="title" hasCustomPrompt="1"/>
          </p:nvPr>
        </p:nvSpPr>
        <p:spPr>
          <a:xfrm>
            <a:off x="460375" y="140024"/>
            <a:ext cx="822960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Add Title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s in Circ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/>
          <p:cNvSpPr/>
          <p:nvPr userDrawn="1"/>
        </p:nvSpPr>
        <p:spPr>
          <a:xfrm>
            <a:off x="2643450" y="1730903"/>
            <a:ext cx="3857101" cy="3857101"/>
          </a:xfrm>
          <a:prstGeom prst="ellipse">
            <a:avLst/>
          </a:prstGeom>
          <a:noFill/>
          <a:ln w="12700" cap="rnd">
            <a:solidFill>
              <a:schemeClr val="accent6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itle 4"/>
          <p:cNvSpPr>
            <a:spLocks noGrp="1"/>
          </p:cNvSpPr>
          <p:nvPr userDrawn="1">
            <p:ph type="title" hasCustomPrompt="1"/>
          </p:nvPr>
        </p:nvSpPr>
        <p:spPr>
          <a:xfrm>
            <a:off x="460375" y="140024"/>
            <a:ext cx="8229600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Click to Add Title</a:t>
            </a:r>
            <a:endParaRPr lang="en-US" dirty="0"/>
          </a:p>
        </p:txBody>
      </p:sp>
      <p:sp>
        <p:nvSpPr>
          <p:cNvPr id="22" name="Oval 21"/>
          <p:cNvSpPr/>
          <p:nvPr userDrawn="1"/>
        </p:nvSpPr>
        <p:spPr>
          <a:xfrm>
            <a:off x="2153393" y="2931726"/>
            <a:ext cx="957445" cy="957445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Text Placeholder 56"/>
          <p:cNvSpPr>
            <a:spLocks noGrp="1"/>
          </p:cNvSpPr>
          <p:nvPr>
            <p:ph type="body" sz="quarter" idx="14" hasCustomPrompt="1"/>
          </p:nvPr>
        </p:nvSpPr>
        <p:spPr>
          <a:xfrm>
            <a:off x="3474131" y="3152631"/>
            <a:ext cx="2231528" cy="693655"/>
          </a:xfrm>
        </p:spPr>
        <p:txBody>
          <a:bodyPr>
            <a:noAutofit/>
          </a:bodyPr>
          <a:lstStyle>
            <a:lvl1pPr marL="0" indent="0" algn="ctr">
              <a:buNone/>
              <a:defRPr lang="en-IN" sz="2000" kern="1200" baseline="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INSERT TEXT Subject Matter</a:t>
            </a:r>
            <a:endParaRPr lang="en-IN" dirty="0"/>
          </a:p>
        </p:txBody>
      </p:sp>
      <p:sp>
        <p:nvSpPr>
          <p:cNvPr id="25" name="Oval 24"/>
          <p:cNvSpPr/>
          <p:nvPr userDrawn="1"/>
        </p:nvSpPr>
        <p:spPr>
          <a:xfrm>
            <a:off x="5956137" y="2931726"/>
            <a:ext cx="957445" cy="957445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Oval 25"/>
          <p:cNvSpPr/>
          <p:nvPr userDrawn="1"/>
        </p:nvSpPr>
        <p:spPr>
          <a:xfrm>
            <a:off x="4093278" y="1338103"/>
            <a:ext cx="957445" cy="957445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Oval 30"/>
          <p:cNvSpPr/>
          <p:nvPr userDrawn="1"/>
        </p:nvSpPr>
        <p:spPr>
          <a:xfrm>
            <a:off x="4093278" y="5126298"/>
            <a:ext cx="957445" cy="957445"/>
          </a:xfrm>
          <a:prstGeom prst="ellipse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34" name="Text Placeholder 56"/>
          <p:cNvSpPr>
            <a:spLocks noGrp="1"/>
          </p:cNvSpPr>
          <p:nvPr>
            <p:ph type="body" sz="quarter" idx="13" hasCustomPrompt="1"/>
          </p:nvPr>
        </p:nvSpPr>
        <p:spPr>
          <a:xfrm>
            <a:off x="3863878" y="953610"/>
            <a:ext cx="1416244" cy="329811"/>
          </a:xfrm>
        </p:spPr>
        <p:txBody>
          <a:bodyPr>
            <a:normAutofit/>
          </a:bodyPr>
          <a:lstStyle>
            <a:lvl1pPr algn="ctr">
              <a:buNone/>
              <a:defRPr lang="en-IN" sz="14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Here</a:t>
            </a:r>
            <a:endParaRPr lang="en-IN" dirty="0"/>
          </a:p>
        </p:txBody>
      </p:sp>
      <p:sp>
        <p:nvSpPr>
          <p:cNvPr id="37" name="Text Placeholder 56"/>
          <p:cNvSpPr>
            <a:spLocks noGrp="1"/>
          </p:cNvSpPr>
          <p:nvPr>
            <p:ph type="body" sz="quarter" idx="15" hasCustomPrompt="1"/>
          </p:nvPr>
        </p:nvSpPr>
        <p:spPr>
          <a:xfrm>
            <a:off x="3863878" y="6124845"/>
            <a:ext cx="1416244" cy="329811"/>
          </a:xfrm>
        </p:spPr>
        <p:txBody>
          <a:bodyPr>
            <a:normAutofit/>
          </a:bodyPr>
          <a:lstStyle>
            <a:lvl1pPr algn="ctr">
              <a:buNone/>
              <a:defRPr lang="en-IN" sz="14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Here</a:t>
            </a:r>
            <a:endParaRPr lang="en-IN" dirty="0"/>
          </a:p>
        </p:txBody>
      </p:sp>
      <p:sp>
        <p:nvSpPr>
          <p:cNvPr id="39" name="Text Placeholder 56"/>
          <p:cNvSpPr>
            <a:spLocks noGrp="1"/>
          </p:cNvSpPr>
          <p:nvPr>
            <p:ph type="body" sz="quarter" idx="16" hasCustomPrompt="1"/>
          </p:nvPr>
        </p:nvSpPr>
        <p:spPr>
          <a:xfrm>
            <a:off x="6998963" y="3232353"/>
            <a:ext cx="1416244" cy="329811"/>
          </a:xfrm>
        </p:spPr>
        <p:txBody>
          <a:bodyPr>
            <a:normAutofit/>
          </a:bodyPr>
          <a:lstStyle>
            <a:lvl1pPr algn="ctr">
              <a:buNone/>
              <a:defRPr lang="en-IN" sz="14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Here</a:t>
            </a:r>
            <a:endParaRPr lang="en-IN" dirty="0"/>
          </a:p>
        </p:txBody>
      </p:sp>
      <p:sp>
        <p:nvSpPr>
          <p:cNvPr id="40" name="Text Placeholder 56"/>
          <p:cNvSpPr>
            <a:spLocks noGrp="1"/>
          </p:cNvSpPr>
          <p:nvPr>
            <p:ph type="body" sz="quarter" idx="17" hasCustomPrompt="1"/>
          </p:nvPr>
        </p:nvSpPr>
        <p:spPr>
          <a:xfrm>
            <a:off x="701622" y="3232353"/>
            <a:ext cx="1416244" cy="329811"/>
          </a:xfrm>
        </p:spPr>
        <p:txBody>
          <a:bodyPr>
            <a:normAutofit/>
          </a:bodyPr>
          <a:lstStyle>
            <a:lvl1pPr algn="ctr">
              <a:buNone/>
              <a:defRPr lang="en-IN" sz="1400" kern="1200" dirty="0" smtClean="0">
                <a:gradFill flip="none" rotWithShape="1">
                  <a:gsLst>
                    <a:gs pos="0">
                      <a:schemeClr val="tx1">
                        <a:lumMod val="75000"/>
                        <a:lumOff val="25000"/>
                        <a:shade val="30000"/>
                        <a:satMod val="115000"/>
                      </a:schemeClr>
                    </a:gs>
                    <a:gs pos="50000">
                      <a:schemeClr val="tx1">
                        <a:lumMod val="75000"/>
                        <a:lumOff val="25000"/>
                        <a:shade val="67500"/>
                        <a:satMod val="115000"/>
                      </a:schemeClr>
                    </a:gs>
                    <a:gs pos="100000">
                      <a:schemeClr val="tx1">
                        <a:lumMod val="75000"/>
                        <a:lumOff val="25000"/>
                        <a:shade val="100000"/>
                        <a:satMod val="115000"/>
                      </a:schemeClr>
                    </a:gs>
                  </a:gsLst>
                  <a:lin ang="16200000" scaled="1"/>
                  <a:tileRect/>
                </a:gradFill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 lvl="0"/>
            <a:r>
              <a:rPr lang="en-US" dirty="0" smtClean="0"/>
              <a:t>Text Here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/>
          <p:cNvSpPr>
            <a:spLocks noGrp="1"/>
          </p:cNvSpPr>
          <p:nvPr userDrawn="1">
            <p:ph type="ctrTitle" hasCustomPrompt="1"/>
          </p:nvPr>
        </p:nvSpPr>
        <p:spPr>
          <a:xfrm>
            <a:off x="4547710" y="1767649"/>
            <a:ext cx="4203553" cy="55399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  <p:sp>
        <p:nvSpPr>
          <p:cNvPr id="10" name="Text Placeholder 56"/>
          <p:cNvSpPr>
            <a:spLocks noGrp="1"/>
          </p:cNvSpPr>
          <p:nvPr>
            <p:ph type="body" sz="quarter" idx="19" hasCustomPrompt="1"/>
          </p:nvPr>
        </p:nvSpPr>
        <p:spPr>
          <a:xfrm>
            <a:off x="4547710" y="2589326"/>
            <a:ext cx="4158442" cy="707231"/>
          </a:xfrm>
        </p:spPr>
        <p:txBody>
          <a:bodyPr>
            <a:noAutofit/>
          </a:bodyPr>
          <a:lstStyle>
            <a:lvl1pPr marL="0" indent="0"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Your Name, </a:t>
            </a:r>
            <a:br>
              <a:rPr lang="en-US" dirty="0" smtClean="0"/>
            </a:br>
            <a:r>
              <a:rPr lang="en-US" dirty="0" smtClean="0"/>
              <a:t>Designation</a:t>
            </a:r>
            <a:endParaRPr lang="en-IN" dirty="0"/>
          </a:p>
        </p:txBody>
      </p:sp>
      <p:sp>
        <p:nvSpPr>
          <p:cNvPr id="11" name="Text Placeholder 56"/>
          <p:cNvSpPr>
            <a:spLocks noGrp="1"/>
          </p:cNvSpPr>
          <p:nvPr>
            <p:ph type="body" sz="quarter" idx="20" hasCustomPrompt="1"/>
          </p:nvPr>
        </p:nvSpPr>
        <p:spPr>
          <a:xfrm>
            <a:off x="4547710" y="3446236"/>
            <a:ext cx="4158442" cy="314777"/>
          </a:xfrm>
        </p:spPr>
        <p:txBody>
          <a:bodyPr>
            <a:noAutofit/>
          </a:bodyPr>
          <a:lstStyle>
            <a:lvl1pPr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Email ID</a:t>
            </a:r>
            <a:endParaRPr lang="en-IN" dirty="0"/>
          </a:p>
        </p:txBody>
      </p:sp>
      <p:sp>
        <p:nvSpPr>
          <p:cNvPr id="8" name="Rectangle 7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9" name="Picture 8" descr="WIPRO PPT Design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5121" y="4471039"/>
            <a:ext cx="9133758" cy="2171061"/>
          </a:xfrm>
          <a:prstGeom prst="rect">
            <a:avLst/>
          </a:prstGeom>
        </p:spPr>
      </p:pic>
      <p:pic>
        <p:nvPicPr>
          <p:cNvPr id="13" name="Picture 12" descr="Slides Master - 51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2057402" y="1664833"/>
            <a:ext cx="1872342" cy="2084305"/>
          </a:xfrm>
          <a:prstGeom prst="rect">
            <a:avLst/>
          </a:prstGeom>
        </p:spPr>
      </p:pic>
      <p:cxnSp>
        <p:nvCxnSpPr>
          <p:cNvPr id="14" name="Straight Connector 13"/>
          <p:cNvCxnSpPr/>
          <p:nvPr userDrawn="1"/>
        </p:nvCxnSpPr>
        <p:spPr>
          <a:xfrm rot="5400000">
            <a:off x="2814000" y="2781258"/>
            <a:ext cx="2754000" cy="1588"/>
          </a:xfrm>
          <a:prstGeom prst="line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logo_title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2612799" y="1970769"/>
            <a:ext cx="1447572" cy="1643288"/>
          </a:xfrm>
        </p:spPr>
        <p:txBody>
          <a:bodyPr>
            <a:noAutofit/>
          </a:bodyPr>
          <a:lstStyle>
            <a:lvl1pPr marL="0" indent="0" algn="ctr">
              <a:buNone/>
              <a:defRPr sz="1100" baseline="0"/>
            </a:lvl1pPr>
          </a:lstStyle>
          <a:p>
            <a:r>
              <a:rPr lang="en-US" dirty="0" smtClean="0"/>
              <a:t>Click here to add Customer / Partner Logo</a:t>
            </a:r>
            <a:endParaRPr lang="en-IN" dirty="0"/>
          </a:p>
        </p:txBody>
      </p:sp>
      <p:pic>
        <p:nvPicPr>
          <p:cNvPr id="9" name="Picture 8" descr="Slides Master - 5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04802" y="1664833"/>
            <a:ext cx="1872342" cy="2084305"/>
          </a:xfrm>
          <a:prstGeom prst="rect">
            <a:avLst/>
          </a:prstGeom>
        </p:spPr>
      </p:pic>
      <p:cxnSp>
        <p:nvCxnSpPr>
          <p:cNvPr id="10" name="Straight Connector 9"/>
          <p:cNvCxnSpPr/>
          <p:nvPr userDrawn="1"/>
        </p:nvCxnSpPr>
        <p:spPr>
          <a:xfrm rot="5400000">
            <a:off x="3017200" y="2781258"/>
            <a:ext cx="2754000" cy="1588"/>
          </a:xfrm>
          <a:prstGeom prst="line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5" name="Picture 14" descr="WIPRO PPT Design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121" y="4471039"/>
            <a:ext cx="9133758" cy="2171061"/>
          </a:xfrm>
          <a:prstGeom prst="rect">
            <a:avLst/>
          </a:prstGeom>
        </p:spPr>
      </p:pic>
      <p:sp>
        <p:nvSpPr>
          <p:cNvPr id="11" name="Text Placeholder 56"/>
          <p:cNvSpPr>
            <a:spLocks noGrp="1"/>
          </p:cNvSpPr>
          <p:nvPr>
            <p:ph type="body" sz="quarter" idx="20" hasCustomPrompt="1"/>
          </p:nvPr>
        </p:nvSpPr>
        <p:spPr>
          <a:xfrm>
            <a:off x="4559968" y="3114100"/>
            <a:ext cx="4158442" cy="387090"/>
          </a:xfrm>
        </p:spPr>
        <p:txBody>
          <a:bodyPr>
            <a:noAutofit/>
          </a:bodyPr>
          <a:lstStyle>
            <a:lvl1pPr marL="0" indent="0"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Your Name</a:t>
            </a:r>
            <a:endParaRPr lang="en-IN" dirty="0"/>
          </a:p>
        </p:txBody>
      </p:sp>
      <p:sp>
        <p:nvSpPr>
          <p:cNvPr id="13" name="Title 1"/>
          <p:cNvSpPr>
            <a:spLocks noGrp="1"/>
          </p:cNvSpPr>
          <p:nvPr>
            <p:ph type="ctrTitle" hasCustomPrompt="1"/>
          </p:nvPr>
        </p:nvSpPr>
        <p:spPr>
          <a:xfrm>
            <a:off x="4559742" y="1480457"/>
            <a:ext cx="4142266" cy="1547161"/>
          </a:xfrm>
          <a:noFill/>
        </p:spPr>
        <p:txBody>
          <a:bodyPr wrap="square" rtlCol="0" anchor="ctr">
            <a:normAutofit/>
          </a:bodyPr>
          <a:lstStyle>
            <a:lvl1pPr marL="0" algn="l">
              <a:defRPr lang="en-US" sz="3400" dirty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+mn-ea"/>
                <a:cs typeface="Arial"/>
              </a:defRPr>
            </a:lvl1pPr>
          </a:lstStyle>
          <a:p>
            <a:pPr marL="0" lvl="0" algn="l"/>
            <a:r>
              <a:rPr lang="en-US" dirty="0" smtClean="0"/>
              <a:t>Insert Title</a:t>
            </a:r>
            <a:br>
              <a:rPr lang="en-US" dirty="0" smtClean="0"/>
            </a:br>
            <a:r>
              <a:rPr lang="en-US" dirty="0" smtClean="0"/>
              <a:t>Here</a:t>
            </a:r>
            <a:endParaRPr lang="en-US" dirty="0"/>
          </a:p>
        </p:txBody>
      </p:sp>
      <p:sp>
        <p:nvSpPr>
          <p:cNvPr id="25" name="Text Placeholder 56"/>
          <p:cNvSpPr>
            <a:spLocks noGrp="1"/>
          </p:cNvSpPr>
          <p:nvPr>
            <p:ph type="body" sz="quarter" idx="21" hasCustomPrompt="1"/>
          </p:nvPr>
        </p:nvSpPr>
        <p:spPr>
          <a:xfrm>
            <a:off x="4572000" y="3599045"/>
            <a:ext cx="4158442" cy="409914"/>
          </a:xfrm>
        </p:spPr>
        <p:txBody>
          <a:bodyPr>
            <a:noAutofit/>
          </a:bodyPr>
          <a:lstStyle>
            <a:lvl1pPr marL="0" indent="0"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Designation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946867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erlogo_Thank you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9"/>
          <p:cNvSpPr>
            <a:spLocks noGrp="1"/>
          </p:cNvSpPr>
          <p:nvPr>
            <p:ph type="pic" sz="quarter" idx="10" hasCustomPrompt="1"/>
          </p:nvPr>
        </p:nvSpPr>
        <p:spPr>
          <a:xfrm>
            <a:off x="2612799" y="1970769"/>
            <a:ext cx="1447572" cy="1643288"/>
          </a:xfrm>
        </p:spPr>
        <p:txBody>
          <a:bodyPr>
            <a:noAutofit/>
          </a:bodyPr>
          <a:lstStyle>
            <a:lvl1pPr marL="0" indent="0" algn="ctr">
              <a:buNone/>
              <a:defRPr sz="1100" baseline="0"/>
            </a:lvl1pPr>
          </a:lstStyle>
          <a:p>
            <a:r>
              <a:rPr lang="en-US" dirty="0" smtClean="0"/>
              <a:t>Click here to add Customer / Partner Logo</a:t>
            </a:r>
            <a:endParaRPr lang="en-IN" dirty="0"/>
          </a:p>
        </p:txBody>
      </p:sp>
      <p:pic>
        <p:nvPicPr>
          <p:cNvPr id="14" name="Picture 13" descr="Slides Master - 51.jpg"/>
          <p:cNvPicPr>
            <a:picLocks noChangeAspect="1"/>
          </p:cNvPicPr>
          <p:nvPr userDrawn="1"/>
        </p:nvPicPr>
        <p:blipFill>
          <a:blip r:embed="rId2" cstate="print"/>
          <a:stretch>
            <a:fillRect/>
          </a:stretch>
        </p:blipFill>
        <p:spPr>
          <a:xfrm>
            <a:off x="304802" y="1664833"/>
            <a:ext cx="1872342" cy="2084305"/>
          </a:xfrm>
          <a:prstGeom prst="rect">
            <a:avLst/>
          </a:prstGeom>
        </p:spPr>
      </p:pic>
      <p:cxnSp>
        <p:nvCxnSpPr>
          <p:cNvPr id="15" name="Straight Connector 14"/>
          <p:cNvCxnSpPr/>
          <p:nvPr userDrawn="1"/>
        </p:nvCxnSpPr>
        <p:spPr>
          <a:xfrm rot="5400000">
            <a:off x="3017200" y="2781258"/>
            <a:ext cx="2754000" cy="1588"/>
          </a:xfrm>
          <a:prstGeom prst="line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 userDrawn="1"/>
        </p:nvSpPr>
        <p:spPr>
          <a:xfrm>
            <a:off x="0" y="647700"/>
            <a:ext cx="9144000" cy="3048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7" name="Picture 16" descr="WIPRO PPT Design.jpg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5121" y="4471039"/>
            <a:ext cx="9133758" cy="2171061"/>
          </a:xfrm>
          <a:prstGeom prst="rect">
            <a:avLst/>
          </a:prstGeom>
        </p:spPr>
      </p:pic>
      <p:sp>
        <p:nvSpPr>
          <p:cNvPr id="23" name="Text Placeholder 56"/>
          <p:cNvSpPr>
            <a:spLocks noGrp="1"/>
          </p:cNvSpPr>
          <p:nvPr>
            <p:ph type="body" sz="quarter" idx="20" hasCustomPrompt="1"/>
          </p:nvPr>
        </p:nvSpPr>
        <p:spPr>
          <a:xfrm>
            <a:off x="4700110" y="2589326"/>
            <a:ext cx="4158442" cy="707231"/>
          </a:xfrm>
        </p:spPr>
        <p:txBody>
          <a:bodyPr>
            <a:noAutofit/>
          </a:bodyPr>
          <a:lstStyle>
            <a:lvl1pPr marL="0" indent="0"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Your Name, </a:t>
            </a:r>
            <a:br>
              <a:rPr lang="en-US" dirty="0" smtClean="0"/>
            </a:br>
            <a:r>
              <a:rPr lang="en-US" dirty="0" smtClean="0"/>
              <a:t>Designation</a:t>
            </a:r>
            <a:endParaRPr lang="en-IN" dirty="0"/>
          </a:p>
        </p:txBody>
      </p:sp>
      <p:sp>
        <p:nvSpPr>
          <p:cNvPr id="24" name="Text Placeholder 56"/>
          <p:cNvSpPr>
            <a:spLocks noGrp="1"/>
          </p:cNvSpPr>
          <p:nvPr>
            <p:ph type="body" sz="quarter" idx="21" hasCustomPrompt="1"/>
          </p:nvPr>
        </p:nvSpPr>
        <p:spPr>
          <a:xfrm>
            <a:off x="4700110" y="3446236"/>
            <a:ext cx="4158442" cy="314777"/>
          </a:xfrm>
        </p:spPr>
        <p:txBody>
          <a:bodyPr>
            <a:noAutofit/>
          </a:bodyPr>
          <a:lstStyle>
            <a:lvl1pPr algn="l">
              <a:buNone/>
              <a:defRPr kumimoji="0" lang="en-IN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>
                    <a:lumMod val="65000"/>
                    <a:lumOff val="35000"/>
                  </a:schemeClr>
                </a:solidFill>
                <a:effectLst/>
                <a:uLnTx/>
                <a:uFillTx/>
                <a:latin typeface="Arial"/>
                <a:ea typeface="+mn-ea"/>
                <a:cs typeface="Arial"/>
              </a:defRPr>
            </a:lvl1pPr>
          </a:lstStyle>
          <a:p>
            <a:pPr lvl="0"/>
            <a:r>
              <a:rPr lang="en-US" dirty="0" smtClean="0"/>
              <a:t>Email ID</a:t>
            </a:r>
            <a:endParaRPr lang="en-IN" dirty="0"/>
          </a:p>
        </p:txBody>
      </p:sp>
      <p:sp>
        <p:nvSpPr>
          <p:cNvPr id="10" name="Title 3"/>
          <p:cNvSpPr>
            <a:spLocks noGrp="1"/>
          </p:cNvSpPr>
          <p:nvPr>
            <p:ph type="ctrTitle" hasCustomPrompt="1"/>
          </p:nvPr>
        </p:nvSpPr>
        <p:spPr>
          <a:xfrm>
            <a:off x="4700110" y="1767649"/>
            <a:ext cx="4203553" cy="553998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smtClean="0"/>
              <a:t>Thank you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6469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980524"/>
            <a:ext cx="82296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lvl="0" eaLnBrk="0" hangingPunct="0">
              <a:spcBef>
                <a:spcPct val="20000"/>
              </a:spcBef>
            </a:pPr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25877"/>
            <a:ext cx="8229600" cy="452596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 txBox="1">
            <a:spLocks/>
          </p:cNvSpPr>
          <p:nvPr userDrawn="1"/>
        </p:nvSpPr>
        <p:spPr>
          <a:xfrm>
            <a:off x="3124200" y="6673207"/>
            <a:ext cx="2895600" cy="14896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dirty="0" smtClean="0"/>
              <a:t>© 2012 WIPRO LTD | WWW.WIPRO.COM</a:t>
            </a:r>
            <a:endParaRPr lang="en-US" dirty="0"/>
          </a:p>
        </p:txBody>
      </p:sp>
      <p:sp>
        <p:nvSpPr>
          <p:cNvPr id="6" name="Footer Placeholder 4"/>
          <p:cNvSpPr txBox="1">
            <a:spLocks/>
          </p:cNvSpPr>
          <p:nvPr userDrawn="1"/>
        </p:nvSpPr>
        <p:spPr>
          <a:xfrm>
            <a:off x="10884" y="6647351"/>
            <a:ext cx="360000" cy="148963"/>
          </a:xfrm>
          <a:prstGeom prst="rect">
            <a:avLst/>
          </a:prstGeom>
          <a:noFill/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800" kern="120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fld id="{5D61087F-CA7B-4F6C-AD54-FCE24029CF22}" type="slidenum">
              <a:rPr lang="en-US" sz="100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pPr algn="l"/>
              <a:t>‹#›</a:t>
            </a:fld>
            <a:endParaRPr lang="en-US" sz="10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63" name="Group 62"/>
          <p:cNvGrpSpPr/>
          <p:nvPr userDrawn="1"/>
        </p:nvGrpSpPr>
        <p:grpSpPr>
          <a:xfrm>
            <a:off x="0" y="760413"/>
            <a:ext cx="9145588" cy="25200"/>
            <a:chOff x="0" y="3408363"/>
            <a:chExt cx="9145588" cy="41275"/>
          </a:xfrm>
        </p:grpSpPr>
        <p:sp>
          <p:nvSpPr>
            <p:cNvPr id="64" name="AutoShape 3"/>
            <p:cNvSpPr>
              <a:spLocks noChangeAspect="1" noChangeArrowheads="1" noTextEdit="1"/>
            </p:cNvSpPr>
            <p:nvPr userDrawn="1"/>
          </p:nvSpPr>
          <p:spPr bwMode="auto">
            <a:xfrm>
              <a:off x="0" y="3408363"/>
              <a:ext cx="9144000" cy="412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" name="Rectangle 5"/>
            <p:cNvSpPr>
              <a:spLocks noChangeArrowheads="1"/>
            </p:cNvSpPr>
            <p:nvPr userDrawn="1"/>
          </p:nvSpPr>
          <p:spPr bwMode="auto">
            <a:xfrm>
              <a:off x="0" y="3408363"/>
              <a:ext cx="182563" cy="41275"/>
            </a:xfrm>
            <a:prstGeom prst="rect">
              <a:avLst/>
            </a:prstGeom>
            <a:solidFill>
              <a:srgbClr val="E31E2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" name="Rectangle 6"/>
            <p:cNvSpPr>
              <a:spLocks noChangeArrowheads="1"/>
            </p:cNvSpPr>
            <p:nvPr userDrawn="1"/>
          </p:nvSpPr>
          <p:spPr bwMode="auto">
            <a:xfrm>
              <a:off x="0" y="3408363"/>
              <a:ext cx="365125" cy="41275"/>
            </a:xfrm>
            <a:prstGeom prst="rect">
              <a:avLst/>
            </a:prstGeom>
            <a:solidFill>
              <a:srgbClr val="E31E2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" name="Rectangle 7"/>
            <p:cNvSpPr>
              <a:spLocks noChangeArrowheads="1"/>
            </p:cNvSpPr>
            <p:nvPr userDrawn="1"/>
          </p:nvSpPr>
          <p:spPr bwMode="auto">
            <a:xfrm>
              <a:off x="182563" y="3408363"/>
              <a:ext cx="366713" cy="41275"/>
            </a:xfrm>
            <a:prstGeom prst="rect">
              <a:avLst/>
            </a:prstGeom>
            <a:solidFill>
              <a:srgbClr val="E42C2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" name="Rectangle 8"/>
            <p:cNvSpPr>
              <a:spLocks noChangeArrowheads="1"/>
            </p:cNvSpPr>
            <p:nvPr userDrawn="1"/>
          </p:nvSpPr>
          <p:spPr bwMode="auto">
            <a:xfrm>
              <a:off x="365125" y="3408363"/>
              <a:ext cx="366713" cy="41275"/>
            </a:xfrm>
            <a:prstGeom prst="rect">
              <a:avLst/>
            </a:prstGeom>
            <a:solidFill>
              <a:srgbClr val="E53A2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" name="Rectangle 9"/>
            <p:cNvSpPr>
              <a:spLocks noChangeArrowheads="1"/>
            </p:cNvSpPr>
            <p:nvPr userDrawn="1"/>
          </p:nvSpPr>
          <p:spPr bwMode="auto">
            <a:xfrm>
              <a:off x="549275" y="3408363"/>
              <a:ext cx="365125" cy="41275"/>
            </a:xfrm>
            <a:prstGeom prst="rect">
              <a:avLst/>
            </a:prstGeom>
            <a:solidFill>
              <a:srgbClr val="E7462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" name="Rectangle 10"/>
            <p:cNvSpPr>
              <a:spLocks noChangeArrowheads="1"/>
            </p:cNvSpPr>
            <p:nvPr userDrawn="1"/>
          </p:nvSpPr>
          <p:spPr bwMode="auto">
            <a:xfrm>
              <a:off x="731838" y="3408363"/>
              <a:ext cx="365125" cy="41275"/>
            </a:xfrm>
            <a:prstGeom prst="rect">
              <a:avLst/>
            </a:prstGeom>
            <a:solidFill>
              <a:srgbClr val="E8512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" name="Rectangle 11"/>
            <p:cNvSpPr>
              <a:spLocks noChangeArrowheads="1"/>
            </p:cNvSpPr>
            <p:nvPr userDrawn="1"/>
          </p:nvSpPr>
          <p:spPr bwMode="auto">
            <a:xfrm>
              <a:off x="914400" y="3408363"/>
              <a:ext cx="365125" cy="41275"/>
            </a:xfrm>
            <a:prstGeom prst="rect">
              <a:avLst/>
            </a:prstGeom>
            <a:solidFill>
              <a:srgbClr val="EA5D2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" name="Rectangle 12"/>
            <p:cNvSpPr>
              <a:spLocks noChangeArrowheads="1"/>
            </p:cNvSpPr>
            <p:nvPr userDrawn="1"/>
          </p:nvSpPr>
          <p:spPr bwMode="auto">
            <a:xfrm>
              <a:off x="1096963" y="3408363"/>
              <a:ext cx="366713" cy="41275"/>
            </a:xfrm>
            <a:prstGeom prst="rect">
              <a:avLst/>
            </a:prstGeom>
            <a:solidFill>
              <a:srgbClr val="EC691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" name="Rectangle 13"/>
            <p:cNvSpPr>
              <a:spLocks noChangeArrowheads="1"/>
            </p:cNvSpPr>
            <p:nvPr userDrawn="1"/>
          </p:nvSpPr>
          <p:spPr bwMode="auto">
            <a:xfrm>
              <a:off x="1279525" y="3408363"/>
              <a:ext cx="366713" cy="41275"/>
            </a:xfrm>
            <a:prstGeom prst="rect">
              <a:avLst/>
            </a:prstGeom>
            <a:solidFill>
              <a:srgbClr val="EE741D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" name="Rectangle 14"/>
            <p:cNvSpPr>
              <a:spLocks noChangeArrowheads="1"/>
            </p:cNvSpPr>
            <p:nvPr userDrawn="1"/>
          </p:nvSpPr>
          <p:spPr bwMode="auto">
            <a:xfrm>
              <a:off x="1463675" y="3408363"/>
              <a:ext cx="365125" cy="41275"/>
            </a:xfrm>
            <a:prstGeom prst="rect">
              <a:avLst/>
            </a:prstGeom>
            <a:solidFill>
              <a:srgbClr val="EF7E1A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" name="Rectangle 15"/>
            <p:cNvSpPr>
              <a:spLocks noChangeArrowheads="1"/>
            </p:cNvSpPr>
            <p:nvPr userDrawn="1"/>
          </p:nvSpPr>
          <p:spPr bwMode="auto">
            <a:xfrm>
              <a:off x="1646238" y="3408363"/>
              <a:ext cx="365125" cy="41275"/>
            </a:xfrm>
            <a:prstGeom prst="rect">
              <a:avLst/>
            </a:prstGeom>
            <a:solidFill>
              <a:srgbClr val="F18817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" name="Rectangle 16"/>
            <p:cNvSpPr>
              <a:spLocks noChangeArrowheads="1"/>
            </p:cNvSpPr>
            <p:nvPr userDrawn="1"/>
          </p:nvSpPr>
          <p:spPr bwMode="auto">
            <a:xfrm>
              <a:off x="1828800" y="3408363"/>
              <a:ext cx="365125" cy="41275"/>
            </a:xfrm>
            <a:prstGeom prst="rect">
              <a:avLst/>
            </a:prstGeom>
            <a:solidFill>
              <a:srgbClr val="F3931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" name="Rectangle 17"/>
            <p:cNvSpPr>
              <a:spLocks noChangeArrowheads="1"/>
            </p:cNvSpPr>
            <p:nvPr userDrawn="1"/>
          </p:nvSpPr>
          <p:spPr bwMode="auto">
            <a:xfrm>
              <a:off x="2011363" y="3408363"/>
              <a:ext cx="366713" cy="41275"/>
            </a:xfrm>
            <a:prstGeom prst="rect">
              <a:avLst/>
            </a:prstGeom>
            <a:solidFill>
              <a:srgbClr val="F49C0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8" name="Rectangle 18"/>
            <p:cNvSpPr>
              <a:spLocks noChangeArrowheads="1"/>
            </p:cNvSpPr>
            <p:nvPr userDrawn="1"/>
          </p:nvSpPr>
          <p:spPr bwMode="auto">
            <a:xfrm>
              <a:off x="2193925" y="3408363"/>
              <a:ext cx="366713" cy="41275"/>
            </a:xfrm>
            <a:prstGeom prst="rect">
              <a:avLst/>
            </a:prstGeom>
            <a:solidFill>
              <a:srgbClr val="F6A607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9" name="Rectangle 19"/>
            <p:cNvSpPr>
              <a:spLocks noChangeArrowheads="1"/>
            </p:cNvSpPr>
            <p:nvPr userDrawn="1"/>
          </p:nvSpPr>
          <p:spPr bwMode="auto">
            <a:xfrm>
              <a:off x="2378075" y="3408363"/>
              <a:ext cx="365125" cy="41275"/>
            </a:xfrm>
            <a:prstGeom prst="rect">
              <a:avLst/>
            </a:prstGeom>
            <a:solidFill>
              <a:srgbClr val="F8B00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0" name="Rectangle 20"/>
            <p:cNvSpPr>
              <a:spLocks noChangeArrowheads="1"/>
            </p:cNvSpPr>
            <p:nvPr userDrawn="1"/>
          </p:nvSpPr>
          <p:spPr bwMode="auto">
            <a:xfrm>
              <a:off x="2560638" y="3408363"/>
              <a:ext cx="365125" cy="41275"/>
            </a:xfrm>
            <a:prstGeom prst="rect">
              <a:avLst/>
            </a:prstGeom>
            <a:solidFill>
              <a:srgbClr val="FBBA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1" name="Rectangle 21"/>
            <p:cNvSpPr>
              <a:spLocks noChangeArrowheads="1"/>
            </p:cNvSpPr>
            <p:nvPr userDrawn="1"/>
          </p:nvSpPr>
          <p:spPr bwMode="auto">
            <a:xfrm>
              <a:off x="2743200" y="3408363"/>
              <a:ext cx="365125" cy="41275"/>
            </a:xfrm>
            <a:prstGeom prst="rect">
              <a:avLst/>
            </a:prstGeom>
            <a:solidFill>
              <a:srgbClr val="FBBB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2" name="Rectangle 22"/>
            <p:cNvSpPr>
              <a:spLocks noChangeArrowheads="1"/>
            </p:cNvSpPr>
            <p:nvPr userDrawn="1"/>
          </p:nvSpPr>
          <p:spPr bwMode="auto">
            <a:xfrm>
              <a:off x="2925763" y="3408363"/>
              <a:ext cx="366713" cy="41275"/>
            </a:xfrm>
            <a:prstGeom prst="rect">
              <a:avLst/>
            </a:prstGeom>
            <a:solidFill>
              <a:srgbClr val="FBBD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3" name="Rectangle 23"/>
            <p:cNvSpPr>
              <a:spLocks noChangeArrowheads="1"/>
            </p:cNvSpPr>
            <p:nvPr userDrawn="1"/>
          </p:nvSpPr>
          <p:spPr bwMode="auto">
            <a:xfrm>
              <a:off x="3108325" y="3408363"/>
              <a:ext cx="366713" cy="41275"/>
            </a:xfrm>
            <a:prstGeom prst="rect">
              <a:avLst/>
            </a:prstGeom>
            <a:solidFill>
              <a:srgbClr val="FCBF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4" name="Rectangle 24"/>
            <p:cNvSpPr>
              <a:spLocks noChangeArrowheads="1"/>
            </p:cNvSpPr>
            <p:nvPr userDrawn="1"/>
          </p:nvSpPr>
          <p:spPr bwMode="auto">
            <a:xfrm>
              <a:off x="3292475" y="3408363"/>
              <a:ext cx="365125" cy="41275"/>
            </a:xfrm>
            <a:prstGeom prst="rect">
              <a:avLst/>
            </a:prstGeom>
            <a:solidFill>
              <a:srgbClr val="FCC0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5" name="Rectangle 25"/>
            <p:cNvSpPr>
              <a:spLocks noChangeArrowheads="1"/>
            </p:cNvSpPr>
            <p:nvPr userDrawn="1"/>
          </p:nvSpPr>
          <p:spPr bwMode="auto">
            <a:xfrm>
              <a:off x="3475038" y="3408363"/>
              <a:ext cx="365125" cy="41275"/>
            </a:xfrm>
            <a:prstGeom prst="rect">
              <a:avLst/>
            </a:prstGeom>
            <a:solidFill>
              <a:srgbClr val="FCC2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6" name="Rectangle 26"/>
            <p:cNvSpPr>
              <a:spLocks noChangeArrowheads="1"/>
            </p:cNvSpPr>
            <p:nvPr userDrawn="1"/>
          </p:nvSpPr>
          <p:spPr bwMode="auto">
            <a:xfrm>
              <a:off x="3657600" y="3408363"/>
              <a:ext cx="365125" cy="41275"/>
            </a:xfrm>
            <a:prstGeom prst="rect">
              <a:avLst/>
            </a:prstGeom>
            <a:solidFill>
              <a:srgbClr val="FDC4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7" name="Rectangle 27"/>
            <p:cNvSpPr>
              <a:spLocks noChangeArrowheads="1"/>
            </p:cNvSpPr>
            <p:nvPr userDrawn="1"/>
          </p:nvSpPr>
          <p:spPr bwMode="auto">
            <a:xfrm>
              <a:off x="3840163" y="3408363"/>
              <a:ext cx="366713" cy="41275"/>
            </a:xfrm>
            <a:prstGeom prst="rect">
              <a:avLst/>
            </a:prstGeom>
            <a:solidFill>
              <a:srgbClr val="FDC6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8" name="Rectangle 28"/>
            <p:cNvSpPr>
              <a:spLocks noChangeArrowheads="1"/>
            </p:cNvSpPr>
            <p:nvPr userDrawn="1"/>
          </p:nvSpPr>
          <p:spPr bwMode="auto">
            <a:xfrm>
              <a:off x="4022725" y="3408363"/>
              <a:ext cx="366713" cy="41275"/>
            </a:xfrm>
            <a:prstGeom prst="rect">
              <a:avLst/>
            </a:prstGeom>
            <a:solidFill>
              <a:srgbClr val="FDC7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89" name="Rectangle 29"/>
            <p:cNvSpPr>
              <a:spLocks noChangeArrowheads="1"/>
            </p:cNvSpPr>
            <p:nvPr userDrawn="1"/>
          </p:nvSpPr>
          <p:spPr bwMode="auto">
            <a:xfrm>
              <a:off x="4206875" y="3408363"/>
              <a:ext cx="365125" cy="41275"/>
            </a:xfrm>
            <a:prstGeom prst="rect">
              <a:avLst/>
            </a:prstGeom>
            <a:solidFill>
              <a:srgbClr val="FEC9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0" name="Rectangle 30"/>
            <p:cNvSpPr>
              <a:spLocks noChangeArrowheads="1"/>
            </p:cNvSpPr>
            <p:nvPr userDrawn="1"/>
          </p:nvSpPr>
          <p:spPr bwMode="auto">
            <a:xfrm>
              <a:off x="4389438" y="3408363"/>
              <a:ext cx="365125" cy="41275"/>
            </a:xfrm>
            <a:prstGeom prst="rect">
              <a:avLst/>
            </a:prstGeom>
            <a:solidFill>
              <a:srgbClr val="FECB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1" name="Rectangle 31"/>
            <p:cNvSpPr>
              <a:spLocks noChangeArrowheads="1"/>
            </p:cNvSpPr>
            <p:nvPr userDrawn="1"/>
          </p:nvSpPr>
          <p:spPr bwMode="auto">
            <a:xfrm>
              <a:off x="4572000" y="3408363"/>
              <a:ext cx="365125" cy="41275"/>
            </a:xfrm>
            <a:prstGeom prst="rect">
              <a:avLst/>
            </a:prstGeom>
            <a:solidFill>
              <a:srgbClr val="FBCB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2" name="Rectangle 32"/>
            <p:cNvSpPr>
              <a:spLocks noChangeArrowheads="1"/>
            </p:cNvSpPr>
            <p:nvPr userDrawn="1"/>
          </p:nvSpPr>
          <p:spPr bwMode="auto">
            <a:xfrm>
              <a:off x="4754563" y="3408363"/>
              <a:ext cx="366713" cy="41275"/>
            </a:xfrm>
            <a:prstGeom prst="rect">
              <a:avLst/>
            </a:prstGeom>
            <a:solidFill>
              <a:srgbClr val="F3CA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3" name="Rectangle 33"/>
            <p:cNvSpPr>
              <a:spLocks noChangeArrowheads="1"/>
            </p:cNvSpPr>
            <p:nvPr userDrawn="1"/>
          </p:nvSpPr>
          <p:spPr bwMode="auto">
            <a:xfrm>
              <a:off x="4937125" y="3408363"/>
              <a:ext cx="366713" cy="41275"/>
            </a:xfrm>
            <a:prstGeom prst="rect">
              <a:avLst/>
            </a:prstGeom>
            <a:solidFill>
              <a:srgbClr val="ECC80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4" name="Rectangle 34"/>
            <p:cNvSpPr>
              <a:spLocks noChangeArrowheads="1"/>
            </p:cNvSpPr>
            <p:nvPr userDrawn="1"/>
          </p:nvSpPr>
          <p:spPr bwMode="auto">
            <a:xfrm>
              <a:off x="5121275" y="3408363"/>
              <a:ext cx="365125" cy="41275"/>
            </a:xfrm>
            <a:prstGeom prst="rect">
              <a:avLst/>
            </a:prstGeom>
            <a:solidFill>
              <a:srgbClr val="E4C60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5" name="Rectangle 35"/>
            <p:cNvSpPr>
              <a:spLocks noChangeArrowheads="1"/>
            </p:cNvSpPr>
            <p:nvPr userDrawn="1"/>
          </p:nvSpPr>
          <p:spPr bwMode="auto">
            <a:xfrm>
              <a:off x="5303838" y="3408363"/>
              <a:ext cx="365125" cy="41275"/>
            </a:xfrm>
            <a:prstGeom prst="rect">
              <a:avLst/>
            </a:prstGeom>
            <a:solidFill>
              <a:srgbClr val="DCC50A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6" name="Rectangle 36"/>
            <p:cNvSpPr>
              <a:spLocks noChangeArrowheads="1"/>
            </p:cNvSpPr>
            <p:nvPr userDrawn="1"/>
          </p:nvSpPr>
          <p:spPr bwMode="auto">
            <a:xfrm>
              <a:off x="5486400" y="3408363"/>
              <a:ext cx="365125" cy="41275"/>
            </a:xfrm>
            <a:prstGeom prst="rect">
              <a:avLst/>
            </a:prstGeom>
            <a:solidFill>
              <a:srgbClr val="D5C30E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7" name="Rectangle 37"/>
            <p:cNvSpPr>
              <a:spLocks noChangeArrowheads="1"/>
            </p:cNvSpPr>
            <p:nvPr userDrawn="1"/>
          </p:nvSpPr>
          <p:spPr bwMode="auto">
            <a:xfrm>
              <a:off x="5668963" y="3408363"/>
              <a:ext cx="366713" cy="41275"/>
            </a:xfrm>
            <a:prstGeom prst="rect">
              <a:avLst/>
            </a:prstGeom>
            <a:solidFill>
              <a:srgbClr val="CCC117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8" name="Rectangle 38"/>
            <p:cNvSpPr>
              <a:spLocks noChangeArrowheads="1"/>
            </p:cNvSpPr>
            <p:nvPr userDrawn="1"/>
          </p:nvSpPr>
          <p:spPr bwMode="auto">
            <a:xfrm>
              <a:off x="5851525" y="3408363"/>
              <a:ext cx="366713" cy="41275"/>
            </a:xfrm>
            <a:prstGeom prst="rect">
              <a:avLst/>
            </a:prstGeom>
            <a:solidFill>
              <a:srgbClr val="B8BC21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9" name="Rectangle 39"/>
            <p:cNvSpPr>
              <a:spLocks noChangeArrowheads="1"/>
            </p:cNvSpPr>
            <p:nvPr userDrawn="1"/>
          </p:nvSpPr>
          <p:spPr bwMode="auto">
            <a:xfrm>
              <a:off x="6035675" y="3408363"/>
              <a:ext cx="365125" cy="41275"/>
            </a:xfrm>
            <a:prstGeom prst="rect">
              <a:avLst/>
            </a:prstGeom>
            <a:solidFill>
              <a:srgbClr val="A3B829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0" name="Rectangle 40"/>
            <p:cNvSpPr>
              <a:spLocks noChangeArrowheads="1"/>
            </p:cNvSpPr>
            <p:nvPr userDrawn="1"/>
          </p:nvSpPr>
          <p:spPr bwMode="auto">
            <a:xfrm>
              <a:off x="6218238" y="3408363"/>
              <a:ext cx="365125" cy="41275"/>
            </a:xfrm>
            <a:prstGeom prst="rect">
              <a:avLst/>
            </a:prstGeom>
            <a:solidFill>
              <a:srgbClr val="8CB23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1" name="Rectangle 41"/>
            <p:cNvSpPr>
              <a:spLocks noChangeArrowheads="1"/>
            </p:cNvSpPr>
            <p:nvPr userDrawn="1"/>
          </p:nvSpPr>
          <p:spPr bwMode="auto">
            <a:xfrm>
              <a:off x="6400800" y="3408363"/>
              <a:ext cx="365125" cy="41275"/>
            </a:xfrm>
            <a:prstGeom prst="rect">
              <a:avLst/>
            </a:prstGeom>
            <a:solidFill>
              <a:srgbClr val="71AD36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2" name="Rectangle 42"/>
            <p:cNvSpPr>
              <a:spLocks noChangeArrowheads="1"/>
            </p:cNvSpPr>
            <p:nvPr userDrawn="1"/>
          </p:nvSpPr>
          <p:spPr bwMode="auto">
            <a:xfrm>
              <a:off x="6583363" y="3408363"/>
              <a:ext cx="366713" cy="41275"/>
            </a:xfrm>
            <a:prstGeom prst="rect">
              <a:avLst/>
            </a:prstGeom>
            <a:solidFill>
              <a:srgbClr val="51A73B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3" name="Rectangle 43"/>
            <p:cNvSpPr>
              <a:spLocks noChangeArrowheads="1"/>
            </p:cNvSpPr>
            <p:nvPr userDrawn="1"/>
          </p:nvSpPr>
          <p:spPr bwMode="auto">
            <a:xfrm>
              <a:off x="6765925" y="3408363"/>
              <a:ext cx="366713" cy="41275"/>
            </a:xfrm>
            <a:prstGeom prst="rect">
              <a:avLst/>
            </a:prstGeom>
            <a:solidFill>
              <a:srgbClr val="1DA240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4" name="Rectangle 44"/>
            <p:cNvSpPr>
              <a:spLocks noChangeArrowheads="1"/>
            </p:cNvSpPr>
            <p:nvPr userDrawn="1"/>
          </p:nvSpPr>
          <p:spPr bwMode="auto">
            <a:xfrm>
              <a:off x="6950075" y="3408363"/>
              <a:ext cx="365125" cy="41275"/>
            </a:xfrm>
            <a:prstGeom prst="rect">
              <a:avLst/>
            </a:prstGeom>
            <a:solidFill>
              <a:srgbClr val="009D4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5" name="Rectangle 45"/>
            <p:cNvSpPr>
              <a:spLocks noChangeArrowheads="1"/>
            </p:cNvSpPr>
            <p:nvPr userDrawn="1"/>
          </p:nvSpPr>
          <p:spPr bwMode="auto">
            <a:xfrm>
              <a:off x="7132638" y="3408363"/>
              <a:ext cx="365125" cy="41275"/>
            </a:xfrm>
            <a:prstGeom prst="rect">
              <a:avLst/>
            </a:prstGeom>
            <a:solidFill>
              <a:srgbClr val="009846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6" name="Rectangle 46"/>
            <p:cNvSpPr>
              <a:spLocks noChangeArrowheads="1"/>
            </p:cNvSpPr>
            <p:nvPr userDrawn="1"/>
          </p:nvSpPr>
          <p:spPr bwMode="auto">
            <a:xfrm>
              <a:off x="7315200" y="3408363"/>
              <a:ext cx="365125" cy="41275"/>
            </a:xfrm>
            <a:prstGeom prst="rect">
              <a:avLst/>
            </a:prstGeom>
            <a:solidFill>
              <a:srgbClr val="008C57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7" name="Rectangle 47"/>
            <p:cNvSpPr>
              <a:spLocks noChangeArrowheads="1"/>
            </p:cNvSpPr>
            <p:nvPr userDrawn="1"/>
          </p:nvSpPr>
          <p:spPr bwMode="auto">
            <a:xfrm>
              <a:off x="7497763" y="3408363"/>
              <a:ext cx="366713" cy="41275"/>
            </a:xfrm>
            <a:prstGeom prst="rect">
              <a:avLst/>
            </a:prstGeom>
            <a:solidFill>
              <a:srgbClr val="008068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8" name="Rectangle 48"/>
            <p:cNvSpPr>
              <a:spLocks noChangeArrowheads="1"/>
            </p:cNvSpPr>
            <p:nvPr userDrawn="1"/>
          </p:nvSpPr>
          <p:spPr bwMode="auto">
            <a:xfrm>
              <a:off x="7680325" y="3408363"/>
              <a:ext cx="366713" cy="41275"/>
            </a:xfrm>
            <a:prstGeom prst="rect">
              <a:avLst/>
            </a:prstGeom>
            <a:solidFill>
              <a:srgbClr val="00727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9" name="Rectangle 49"/>
            <p:cNvSpPr>
              <a:spLocks noChangeArrowheads="1"/>
            </p:cNvSpPr>
            <p:nvPr userDrawn="1"/>
          </p:nvSpPr>
          <p:spPr bwMode="auto">
            <a:xfrm>
              <a:off x="7864475" y="3408363"/>
              <a:ext cx="365125" cy="41275"/>
            </a:xfrm>
            <a:prstGeom prst="rect">
              <a:avLst/>
            </a:prstGeom>
            <a:solidFill>
              <a:srgbClr val="00637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0" name="Rectangle 50"/>
            <p:cNvSpPr>
              <a:spLocks noChangeArrowheads="1"/>
            </p:cNvSpPr>
            <p:nvPr userDrawn="1"/>
          </p:nvSpPr>
          <p:spPr bwMode="auto">
            <a:xfrm>
              <a:off x="8047038" y="3408363"/>
              <a:ext cx="365125" cy="41275"/>
            </a:xfrm>
            <a:prstGeom prst="rect">
              <a:avLst/>
            </a:prstGeom>
            <a:solidFill>
              <a:srgbClr val="185384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1" name="Rectangle 51"/>
            <p:cNvSpPr>
              <a:spLocks noChangeArrowheads="1"/>
            </p:cNvSpPr>
            <p:nvPr userDrawn="1"/>
          </p:nvSpPr>
          <p:spPr bwMode="auto">
            <a:xfrm>
              <a:off x="8229600" y="3408363"/>
              <a:ext cx="365125" cy="41275"/>
            </a:xfrm>
            <a:prstGeom prst="rect">
              <a:avLst/>
            </a:prstGeom>
            <a:solidFill>
              <a:srgbClr val="2E428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2" name="Rectangle 52"/>
            <p:cNvSpPr>
              <a:spLocks noChangeArrowheads="1"/>
            </p:cNvSpPr>
            <p:nvPr userDrawn="1"/>
          </p:nvSpPr>
          <p:spPr bwMode="auto">
            <a:xfrm>
              <a:off x="8412163" y="3408363"/>
              <a:ext cx="366713" cy="41275"/>
            </a:xfrm>
            <a:prstGeom prst="rect">
              <a:avLst/>
            </a:prstGeom>
            <a:solidFill>
              <a:srgbClr val="313E8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3" name="Rectangle 53"/>
            <p:cNvSpPr>
              <a:spLocks noChangeArrowheads="1"/>
            </p:cNvSpPr>
            <p:nvPr userDrawn="1"/>
          </p:nvSpPr>
          <p:spPr bwMode="auto">
            <a:xfrm>
              <a:off x="8594725" y="3408363"/>
              <a:ext cx="366713" cy="41275"/>
            </a:xfrm>
            <a:prstGeom prst="rect">
              <a:avLst/>
            </a:prstGeom>
            <a:solidFill>
              <a:srgbClr val="333B8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4" name="Rectangle 54"/>
            <p:cNvSpPr>
              <a:spLocks noChangeArrowheads="1"/>
            </p:cNvSpPr>
            <p:nvPr userDrawn="1"/>
          </p:nvSpPr>
          <p:spPr bwMode="auto">
            <a:xfrm>
              <a:off x="8778875" y="3408363"/>
              <a:ext cx="365125" cy="41275"/>
            </a:xfrm>
            <a:prstGeom prst="rect">
              <a:avLst/>
            </a:prstGeom>
            <a:solidFill>
              <a:srgbClr val="35388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5" name="Rectangle 55"/>
            <p:cNvSpPr>
              <a:spLocks noChangeArrowheads="1"/>
            </p:cNvSpPr>
            <p:nvPr userDrawn="1"/>
          </p:nvSpPr>
          <p:spPr bwMode="auto">
            <a:xfrm>
              <a:off x="8961438" y="3408363"/>
              <a:ext cx="182563" cy="41275"/>
            </a:xfrm>
            <a:prstGeom prst="rect">
              <a:avLst/>
            </a:prstGeom>
            <a:solidFill>
              <a:srgbClr val="393185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16" name="Freeform 56"/>
            <p:cNvSpPr>
              <a:spLocks/>
            </p:cNvSpPr>
            <p:nvPr userDrawn="1"/>
          </p:nvSpPr>
          <p:spPr bwMode="auto">
            <a:xfrm>
              <a:off x="9144000" y="3408363"/>
              <a:ext cx="1588" cy="41275"/>
            </a:xfrm>
            <a:custGeom>
              <a:avLst/>
              <a:gdLst/>
              <a:ahLst/>
              <a:cxnLst>
                <a:cxn ang="0">
                  <a:pos x="0" y="78"/>
                </a:cxn>
                <a:cxn ang="0">
                  <a:pos x="0" y="0"/>
                </a:cxn>
                <a:cxn ang="0">
                  <a:pos x="0" y="78"/>
                </a:cxn>
              </a:cxnLst>
              <a:rect l="0" t="0" r="r" b="b"/>
              <a:pathLst>
                <a:path h="78">
                  <a:moveTo>
                    <a:pt x="0" y="78"/>
                  </a:moveTo>
                  <a:lnTo>
                    <a:pt x="0" y="0"/>
                  </a:lnTo>
                  <a:lnTo>
                    <a:pt x="0" y="78"/>
                  </a:lnTo>
                  <a:close/>
                </a:path>
              </a:pathLst>
            </a:custGeom>
            <a:solidFill>
              <a:srgbClr val="39318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38130369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90" r:id="rId2"/>
    <p:sldLayoutId id="2147483660" r:id="rId3"/>
    <p:sldLayoutId id="2147483663" r:id="rId4"/>
    <p:sldLayoutId id="2147483664" r:id="rId5"/>
    <p:sldLayoutId id="2147483676" r:id="rId6"/>
    <p:sldLayoutId id="2147483677" r:id="rId7"/>
    <p:sldLayoutId id="2147483678" r:id="rId8"/>
    <p:sldLayoutId id="2147483679" r:id="rId9"/>
    <p:sldLayoutId id="2147483681" r:id="rId10"/>
    <p:sldLayoutId id="2147483702" r:id="rId11"/>
    <p:sldLayoutId id="2147483703" r:id="rId12"/>
    <p:sldLayoutId id="2147483686" r:id="rId13"/>
    <p:sldLayoutId id="2147483687" r:id="rId14"/>
    <p:sldLayoutId id="2147483688" r:id="rId15"/>
    <p:sldLayoutId id="2147483691" r:id="rId16"/>
    <p:sldLayoutId id="2147483704" r:id="rId17"/>
    <p:sldLayoutId id="2147483684" r:id="rId18"/>
    <p:sldLayoutId id="2147483694" r:id="rId19"/>
    <p:sldLayoutId id="2147483661" r:id="rId20"/>
    <p:sldLayoutId id="2147483699" r:id="rId21"/>
    <p:sldLayoutId id="2147483700" r:id="rId22"/>
  </p:sldLayoutIdLst>
  <p:timing>
    <p:tnLst>
      <p:par>
        <p:cTn id="1" dur="indefinite" restart="never" nodeType="tmRoot"/>
      </p:par>
    </p:tnLst>
  </p:timing>
  <p:txStyles>
    <p:titleStyle>
      <a:lvl1pPr algn="l" defTabSz="457200" rtl="0" eaLnBrk="1" latinLnBrk="0" hangingPunct="1">
        <a:spcBef>
          <a:spcPct val="0"/>
        </a:spcBef>
        <a:buNone/>
        <a:defRPr lang="en-US" sz="3000" b="1" kern="1200" dirty="0">
          <a:solidFill>
            <a:schemeClr val="tx1"/>
          </a:solidFill>
          <a:latin typeface="+mj-lt"/>
          <a:ea typeface="+mn-ea"/>
          <a:cs typeface="Arial"/>
        </a:defRPr>
      </a:lvl1pPr>
    </p:titleStyle>
    <p:bodyStyle>
      <a:lvl1pPr marL="231775" indent="-231775" algn="l" defTabSz="457200" rtl="0" eaLnBrk="1" latinLnBrk="0" hangingPunct="1">
        <a:spcBef>
          <a:spcPct val="20000"/>
        </a:spcBef>
        <a:buFont typeface="Arial"/>
        <a:buChar char="•"/>
        <a:defRPr kumimoji="0" lang="en-US" sz="2000" b="0" i="0" u="none" strike="noStrike" kern="1200" cap="none" spc="0" normalizeH="0" baseline="0" noProof="0" dirty="0" smtClean="0">
          <a:ln>
            <a:noFill/>
          </a:ln>
          <a:solidFill>
            <a:schemeClr val="tx1"/>
          </a:solidFill>
          <a:effectLst/>
          <a:uLnTx/>
          <a:uFillTx/>
          <a:latin typeface="+mn-lt"/>
          <a:ea typeface="+mn-ea"/>
          <a:cs typeface="Arial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kumimoji="0" lang="en-US" sz="1800" b="0" i="0" u="none" strike="noStrike" kern="1200" cap="none" spc="0" normalizeH="0" baseline="0" noProof="0" dirty="0" smtClean="0">
          <a:ln>
            <a:noFill/>
          </a:ln>
          <a:solidFill>
            <a:schemeClr val="tx1"/>
          </a:solidFill>
          <a:effectLst/>
          <a:uLnTx/>
          <a:uFillTx/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kumimoji="0" lang="en-US" sz="1600" b="0" i="0" u="none" strike="noStrike" kern="1200" cap="none" spc="0" normalizeH="0" baseline="0" noProof="0" dirty="0" smtClean="0">
          <a:ln>
            <a:noFill/>
          </a:ln>
          <a:solidFill>
            <a:schemeClr val="tx1"/>
          </a:solidFill>
          <a:effectLst/>
          <a:uLnTx/>
          <a:uFillTx/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kumimoji="0" lang="en-US" sz="1400" b="0" i="0" u="none" strike="noStrike" kern="1200" cap="none" spc="0" normalizeH="0" baseline="0" noProof="0" dirty="0" smtClean="0">
          <a:ln>
            <a:noFill/>
          </a:ln>
          <a:solidFill>
            <a:schemeClr val="tx1"/>
          </a:solidFill>
          <a:effectLst/>
          <a:uLnTx/>
          <a:uFillTx/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kumimoji="0" lang="en-US" sz="1200" b="0" i="0" u="none" strike="noStrike" kern="1200" cap="none" spc="0" normalizeH="0" baseline="0" noProof="0" dirty="0">
          <a:ln>
            <a:noFill/>
          </a:ln>
          <a:solidFill>
            <a:schemeClr val="tx1"/>
          </a:solidFill>
          <a:effectLst/>
          <a:uLnTx/>
          <a:uFillTx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5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5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5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5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5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5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3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5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5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5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5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5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5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3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5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5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5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5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>
          <a:xfrm>
            <a:off x="4481207" y="1497082"/>
            <a:ext cx="4380159" cy="1547161"/>
          </a:xfrm>
        </p:spPr>
        <p:txBody>
          <a:bodyPr/>
          <a:lstStyle/>
          <a:p>
            <a:pPr algn="r"/>
            <a:r>
              <a:rPr lang="en-US" dirty="0" smtClean="0">
                <a:solidFill>
                  <a:schemeClr val="tx1"/>
                </a:solidFill>
              </a:rPr>
              <a:t>UNIX Essentials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797092" y="2786644"/>
            <a:ext cx="4142266" cy="338554"/>
          </a:xfrm>
        </p:spPr>
        <p:txBody>
          <a:bodyPr/>
          <a:lstStyle/>
          <a:p>
            <a:pPr algn="r"/>
            <a:r>
              <a:rPr lang="en-US" dirty="0" smtClean="0">
                <a:solidFill>
                  <a:schemeClr val="tx1"/>
                </a:solidFill>
              </a:rPr>
              <a:t>UNIX Basics &amp; Shell Programming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/>
          </p:nvPr>
        </p:nvSpPr>
        <p:spPr>
          <a:xfrm>
            <a:off x="4716030" y="3218271"/>
            <a:ext cx="4148138" cy="347889"/>
          </a:xfrm>
        </p:spPr>
        <p:txBody>
          <a:bodyPr/>
          <a:lstStyle/>
          <a:p>
            <a:pPr algn="r"/>
            <a:r>
              <a:rPr lang="en-US" smtClean="0"/>
              <a:t> </a:t>
            </a:r>
            <a:r>
              <a:rPr lang="en-US" smtClean="0">
                <a:solidFill>
                  <a:schemeClr val="tx1"/>
                </a:solidFill>
              </a:rPr>
              <a:t>Module 1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Introduction to Unix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5" name="Text Placeholder 14"/>
          <p:cNvSpPr>
            <a:spLocks noGrp="1"/>
          </p:cNvSpPr>
          <p:nvPr>
            <p:ph type="body" sz="quarter" idx="11"/>
          </p:nvPr>
        </p:nvSpPr>
        <p:spPr/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Kernel Functionality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Unix File System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vi Editor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19" name="Title 18"/>
          <p:cNvSpPr>
            <a:spLocks noGrp="1"/>
          </p:cNvSpPr>
          <p:nvPr>
            <p:ph type="ctrTitle"/>
          </p:nvPr>
        </p:nvSpPr>
        <p:spPr>
          <a:xfrm>
            <a:off x="232756" y="145522"/>
            <a:ext cx="8417395" cy="554400"/>
          </a:xfrm>
        </p:spPr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Agenda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58833" y="2260389"/>
            <a:ext cx="317512" cy="825496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61695" y="2504932"/>
            <a:ext cx="314650" cy="181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8833" y="3304071"/>
            <a:ext cx="317512" cy="830431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61695" y="3526230"/>
            <a:ext cx="314650" cy="181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3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58833" y="1231427"/>
            <a:ext cx="317512" cy="825500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1695" y="1450574"/>
            <a:ext cx="314650" cy="181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1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58833" y="4366624"/>
            <a:ext cx="317512" cy="830431"/>
          </a:xfrm>
          <a:prstGeom prst="rect">
            <a:avLst/>
          </a:prstGeom>
          <a:gradFill flip="none" rotWithShape="1">
            <a:gsLst>
              <a:gs pos="0">
                <a:schemeClr val="accent1">
                  <a:shade val="30000"/>
                  <a:satMod val="115000"/>
                </a:schemeClr>
              </a:gs>
              <a:gs pos="50000">
                <a:schemeClr val="accent1">
                  <a:shade val="67500"/>
                  <a:satMod val="115000"/>
                </a:schemeClr>
              </a:gs>
              <a:gs pos="100000">
                <a:schemeClr val="accent1">
                  <a:shade val="100000"/>
                  <a:satMod val="115000"/>
                </a:schemeClr>
              </a:gs>
            </a:gsLst>
            <a:lin ang="1620000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61695" y="4588783"/>
            <a:ext cx="314650" cy="18163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pPr algn="ctr"/>
            <a:r>
              <a:rPr lang="en-US" sz="2000" b="1" dirty="0" smtClean="0">
                <a:solidFill>
                  <a:schemeClr val="bg1"/>
                </a:solidFill>
              </a:rPr>
              <a:t>4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199505" y="145140"/>
            <a:ext cx="8490471" cy="553998"/>
          </a:xfrm>
        </p:spPr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Objectives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457200" y="897026"/>
            <a:ext cx="8240713" cy="536153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At the end of this module you will be </a:t>
            </a:r>
            <a:r>
              <a:rPr lang="en-US" smtClean="0">
                <a:solidFill>
                  <a:schemeClr val="tx1"/>
                </a:solidFill>
              </a:rPr>
              <a:t>able to:</a:t>
            </a:r>
            <a:endParaRPr lang="en-US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US" sz="1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1"/>
                </a:solidFill>
              </a:rPr>
              <a:t>get an overview of Unix architecture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1"/>
                </a:solidFill>
              </a:rPr>
              <a:t>understand Unix file system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1"/>
                </a:solidFill>
              </a:rPr>
              <a:t>be aware of important files &amp; directories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1"/>
                </a:solidFill>
              </a:rPr>
              <a:t>know the relevance of file permissions 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1"/>
                </a:solidFill>
              </a:rPr>
              <a:t>use file system related commands 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1"/>
                </a:solidFill>
              </a:rPr>
              <a:t>differentiate between soft &amp; hard links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1"/>
                </a:solidFill>
              </a:rPr>
              <a:t>know the significance of </a:t>
            </a:r>
            <a:r>
              <a:rPr lang="en-US" sz="2000" dirty="0" err="1" smtClean="0">
                <a:solidFill>
                  <a:schemeClr val="tx1"/>
                </a:solidFill>
              </a:rPr>
              <a:t>umask</a:t>
            </a:r>
            <a:endParaRPr lang="en-US" sz="20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000" dirty="0" smtClean="0">
                <a:solidFill>
                  <a:schemeClr val="tx1"/>
                </a:solidFill>
              </a:rPr>
              <a:t>create and edit files using vi editor </a:t>
            </a:r>
          </a:p>
          <a:p>
            <a:pPr>
              <a:lnSpc>
                <a:spcPct val="150000"/>
              </a:lnSpc>
            </a:pPr>
            <a:endParaRPr lang="en-US" sz="20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00495" y="2745802"/>
            <a:ext cx="8189231" cy="62388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Introduction to Unix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Introduction to Unix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241070" y="1107502"/>
            <a:ext cx="8728364" cy="5406906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tx1"/>
                </a:solidFill>
              </a:rPr>
              <a:t>Unix is a multiuser, multitasking operating system developed by Ken Thompson at AT&amp;T Bell Labs in 60s.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It supports multiple users to use the operating system simultaneously, by logging in from different terminals.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It allows multiple processes, which can belong to  a single user or different users, to run simultaneously.</a:t>
            </a:r>
          </a:p>
          <a:p>
            <a:endParaRPr lang="en-IN" sz="1200" dirty="0" smtClean="0">
              <a:solidFill>
                <a:schemeClr val="tx1"/>
              </a:solidFill>
            </a:endParaRPr>
          </a:p>
          <a:p>
            <a:r>
              <a:rPr lang="en-IN" dirty="0" smtClean="0">
                <a:solidFill>
                  <a:schemeClr val="tx1"/>
                </a:solidFill>
              </a:rPr>
              <a:t>Important milestones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1972  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 Rewrote the OS in C language.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1982   System III released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1987   System V R3   released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1990   System V R4 released</a:t>
            </a:r>
          </a:p>
          <a:p>
            <a:pPr lvl="1"/>
            <a:endParaRPr lang="en-IN" dirty="0" smtClean="0">
              <a:solidFill>
                <a:schemeClr val="tx1"/>
              </a:solidFill>
              <a:sym typeface="Wingdings" pitchFamily="2" charset="2"/>
            </a:endParaRPr>
          </a:p>
          <a:p>
            <a:pPr lvl="1"/>
            <a:endParaRPr lang="en-IN" sz="800" dirty="0" smtClean="0">
              <a:solidFill>
                <a:schemeClr val="tx1"/>
              </a:solidFill>
              <a:sym typeface="Wingdings" pitchFamily="2" charset="2"/>
            </a:endParaRPr>
          </a:p>
          <a:p>
            <a:r>
              <a:rPr lang="en-IN" dirty="0" smtClean="0">
                <a:solidFill>
                  <a:schemeClr val="tx1"/>
                </a:solidFill>
              </a:rPr>
              <a:t>UNIX was created by programmers for programmers</a:t>
            </a:r>
          </a:p>
          <a:p>
            <a:pPr lvl="1"/>
            <a:endParaRPr lang="en-IN" dirty="0" smtClean="0">
              <a:solidFill>
                <a:schemeClr val="tx1"/>
              </a:solidFill>
              <a:sym typeface="Wingdings" pitchFamily="2" charset="2"/>
            </a:endParaRPr>
          </a:p>
          <a:p>
            <a:pPr lvl="1"/>
            <a:endParaRPr lang="en-IN" dirty="0" smtClean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18655" y="145140"/>
            <a:ext cx="8371321" cy="553998"/>
          </a:xfrm>
        </p:spPr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Unix Philosophy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415636" y="871974"/>
            <a:ext cx="8728364" cy="4473575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IN" dirty="0" smtClean="0">
                <a:solidFill>
                  <a:schemeClr val="tx1"/>
                </a:solidFill>
              </a:rPr>
              <a:t>Small is Beautiful</a:t>
            </a:r>
          </a:p>
          <a:p>
            <a:pPr>
              <a:lnSpc>
                <a:spcPct val="150000"/>
              </a:lnSpc>
            </a:pPr>
            <a:r>
              <a:rPr lang="en-IN" dirty="0" smtClean="0">
                <a:solidFill>
                  <a:schemeClr val="tx1"/>
                </a:solidFill>
              </a:rPr>
              <a:t>Make each program do one thing well</a:t>
            </a:r>
          </a:p>
          <a:p>
            <a:pPr>
              <a:lnSpc>
                <a:spcPct val="150000"/>
              </a:lnSpc>
            </a:pPr>
            <a:r>
              <a:rPr lang="en-IN" dirty="0" smtClean="0">
                <a:solidFill>
                  <a:schemeClr val="tx1"/>
                </a:solidFill>
              </a:rPr>
              <a:t>Make every program a filter</a:t>
            </a:r>
          </a:p>
          <a:p>
            <a:pPr>
              <a:lnSpc>
                <a:spcPct val="150000"/>
              </a:lnSpc>
            </a:pPr>
            <a:r>
              <a:rPr lang="en-IN" dirty="0" smtClean="0">
                <a:solidFill>
                  <a:schemeClr val="tx1"/>
                </a:solidFill>
              </a:rPr>
              <a:t>Programs should work together</a:t>
            </a:r>
          </a:p>
          <a:p>
            <a:pPr>
              <a:lnSpc>
                <a:spcPct val="150000"/>
              </a:lnSpc>
            </a:pPr>
            <a:r>
              <a:rPr lang="en-IN" dirty="0" smtClean="0">
                <a:solidFill>
                  <a:schemeClr val="tx1"/>
                </a:solidFill>
              </a:rPr>
              <a:t>Each program does only one thing and it </a:t>
            </a:r>
            <a:r>
              <a:rPr lang="en-IN" smtClean="0">
                <a:solidFill>
                  <a:schemeClr val="tx1"/>
                </a:solidFill>
              </a:rPr>
              <a:t>does well</a:t>
            </a:r>
            <a:endParaRPr lang="en-IN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IN" dirty="0" smtClean="0">
                <a:solidFill>
                  <a:schemeClr val="tx1"/>
                </a:solidFill>
              </a:rPr>
              <a:t>Choose portability over efficiency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77091" y="145140"/>
            <a:ext cx="8412885" cy="553998"/>
          </a:xfrm>
        </p:spPr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Unix like OS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5447546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tx1"/>
                </a:solidFill>
              </a:rPr>
              <a:t>Success of UNIX brought forth many UNIX variants such as</a:t>
            </a:r>
          </a:p>
          <a:p>
            <a:endParaRPr lang="en-IN" sz="1100" dirty="0" smtClean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BSD			1977	Univ. Of California, Berkley </a:t>
            </a:r>
          </a:p>
          <a:p>
            <a:pPr lvl="1">
              <a:lnSpc>
                <a:spcPct val="150000"/>
              </a:lnSpc>
              <a:buNone/>
            </a:pPr>
            <a:r>
              <a:rPr lang="en-IN" sz="2000" dirty="0" err="1" smtClean="0">
                <a:solidFill>
                  <a:schemeClr val="tx1"/>
                </a:solidFill>
              </a:rPr>
              <a:t>Xenix</a:t>
            </a:r>
            <a:r>
              <a:rPr lang="en-IN" sz="2000" dirty="0" smtClean="0">
                <a:solidFill>
                  <a:schemeClr val="tx1"/>
                </a:solidFill>
              </a:rPr>
              <a:t>			1980	Microsoft, but later discontinued</a:t>
            </a:r>
          </a:p>
          <a:p>
            <a:pPr lvl="1">
              <a:lnSpc>
                <a:spcPct val="150000"/>
              </a:lnSpc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Sun OS			1980	Sun Microsystems</a:t>
            </a:r>
          </a:p>
          <a:p>
            <a:pPr lvl="1">
              <a:lnSpc>
                <a:spcPct val="150000"/>
              </a:lnSpc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AIX				1985	IBM</a:t>
            </a:r>
          </a:p>
          <a:p>
            <a:pPr lvl="1">
              <a:lnSpc>
                <a:spcPct val="150000"/>
              </a:lnSpc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HP/UX			1985	HP</a:t>
            </a:r>
          </a:p>
          <a:p>
            <a:pPr lvl="1">
              <a:lnSpc>
                <a:spcPct val="150000"/>
              </a:lnSpc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SCO Unix		1988	SCO</a:t>
            </a:r>
          </a:p>
          <a:p>
            <a:pPr lvl="1">
              <a:lnSpc>
                <a:spcPct val="150000"/>
              </a:lnSpc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Linux			1991	Open source </a:t>
            </a:r>
          </a:p>
          <a:p>
            <a:pPr lvl="1">
              <a:lnSpc>
                <a:spcPct val="150000"/>
              </a:lnSpc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Mac OS X		1999	Apple Computers</a:t>
            </a:r>
          </a:p>
          <a:p>
            <a:pPr lvl="1"/>
            <a:endParaRPr lang="en-IN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00495" y="2745802"/>
            <a:ext cx="8189231" cy="62388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Kernel Functionality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90945" y="145140"/>
            <a:ext cx="8399031" cy="553998"/>
          </a:xfrm>
        </p:spPr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Unix – High level architecture</a:t>
            </a:r>
            <a:endParaRPr lang="en-IN" dirty="0">
              <a:solidFill>
                <a:schemeClr val="tx1"/>
              </a:solidFill>
            </a:endParaRPr>
          </a:p>
        </p:txBody>
      </p:sp>
      <p:grpSp>
        <p:nvGrpSpPr>
          <p:cNvPr id="74" name="Group 73"/>
          <p:cNvGrpSpPr/>
          <p:nvPr/>
        </p:nvGrpSpPr>
        <p:grpSpPr>
          <a:xfrm>
            <a:off x="450383" y="1146414"/>
            <a:ext cx="3657600" cy="3657600"/>
            <a:chOff x="4217163" y="1050878"/>
            <a:chExt cx="4107977" cy="4135271"/>
          </a:xfrm>
        </p:grpSpPr>
        <p:sp>
          <p:nvSpPr>
            <p:cNvPr id="21" name="Oval 20"/>
            <p:cNvSpPr/>
            <p:nvPr/>
          </p:nvSpPr>
          <p:spPr>
            <a:xfrm>
              <a:off x="4217163" y="1050878"/>
              <a:ext cx="4107977" cy="4135271"/>
            </a:xfrm>
            <a:prstGeom prst="ellipse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Oval 11"/>
            <p:cNvSpPr/>
            <p:nvPr/>
          </p:nvSpPr>
          <p:spPr>
            <a:xfrm>
              <a:off x="4735782" y="1610437"/>
              <a:ext cx="3057098" cy="3084395"/>
            </a:xfrm>
            <a:prstGeom prst="ellipse">
              <a:avLst/>
            </a:prstGeom>
          </p:spPr>
          <p:style>
            <a:lnRef idx="2">
              <a:schemeClr val="accent5"/>
            </a:lnRef>
            <a:fillRef idx="1">
              <a:schemeClr val="lt1"/>
            </a:fillRef>
            <a:effectRef idx="0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Oval 9"/>
            <p:cNvSpPr/>
            <p:nvPr/>
          </p:nvSpPr>
          <p:spPr>
            <a:xfrm>
              <a:off x="5199802" y="2074460"/>
              <a:ext cx="2183642" cy="2129051"/>
            </a:xfrm>
            <a:prstGeom prst="ellipse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hardware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9" name="Oval 8"/>
            <p:cNvSpPr/>
            <p:nvPr/>
          </p:nvSpPr>
          <p:spPr>
            <a:xfrm>
              <a:off x="5732064" y="2579427"/>
              <a:ext cx="1091822" cy="1078173"/>
            </a:xfrm>
            <a:prstGeom prst="ellipse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dirty="0" smtClean="0">
                  <a:solidFill>
                    <a:schemeClr val="tx1"/>
                  </a:solidFill>
                </a:rPr>
                <a:t>hardware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6086904" y="3654030"/>
              <a:ext cx="706112" cy="52195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 smtClean="0"/>
                <a:t>OS</a:t>
              </a:r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6356501" y="1727917"/>
              <a:ext cx="812408" cy="4175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Tools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5232735" y="1827508"/>
              <a:ext cx="797932" cy="4175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Apps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6166095" y="1151148"/>
              <a:ext cx="783529" cy="41756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smtClean="0"/>
                <a:t>Shell</a:t>
              </a: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2606727" y="5390867"/>
            <a:ext cx="409432" cy="600502"/>
            <a:chOff x="1883391" y="1815152"/>
            <a:chExt cx="504967" cy="818866"/>
          </a:xfrm>
        </p:grpSpPr>
        <p:sp>
          <p:nvSpPr>
            <p:cNvPr id="40" name="Oval 39"/>
            <p:cNvSpPr/>
            <p:nvPr/>
          </p:nvSpPr>
          <p:spPr>
            <a:xfrm>
              <a:off x="1883391" y="1815152"/>
              <a:ext cx="504967" cy="245660"/>
            </a:xfrm>
            <a:prstGeom prst="ellipse">
              <a:avLst/>
            </a:prstGeom>
            <a:solidFill>
              <a:schemeClr val="dk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42" name="Straight Connector 41"/>
            <p:cNvCxnSpPr>
              <a:stCxn id="40" idx="4"/>
            </p:cNvCxnSpPr>
            <p:nvPr/>
          </p:nvCxnSpPr>
          <p:spPr>
            <a:xfrm>
              <a:off x="2135875" y="2060812"/>
              <a:ext cx="6824" cy="5732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>
              <a:off x="2006221" y="2292824"/>
              <a:ext cx="30025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Connector 48"/>
            <p:cNvCxnSpPr/>
            <p:nvPr/>
          </p:nvCxnSpPr>
          <p:spPr>
            <a:xfrm flipV="1">
              <a:off x="2306472" y="2238233"/>
              <a:ext cx="68238" cy="545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Straight Connector 50"/>
            <p:cNvCxnSpPr/>
            <p:nvPr/>
          </p:nvCxnSpPr>
          <p:spPr>
            <a:xfrm flipH="1" flipV="1">
              <a:off x="1937982" y="2224585"/>
              <a:ext cx="81887" cy="682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oup 65"/>
          <p:cNvGrpSpPr/>
          <p:nvPr/>
        </p:nvGrpSpPr>
        <p:grpSpPr>
          <a:xfrm>
            <a:off x="452658" y="5065594"/>
            <a:ext cx="409432" cy="600502"/>
            <a:chOff x="1883391" y="1815152"/>
            <a:chExt cx="504967" cy="818866"/>
          </a:xfrm>
        </p:grpSpPr>
        <p:sp>
          <p:nvSpPr>
            <p:cNvPr id="67" name="Oval 66"/>
            <p:cNvSpPr/>
            <p:nvPr/>
          </p:nvSpPr>
          <p:spPr>
            <a:xfrm>
              <a:off x="1883391" y="1815152"/>
              <a:ext cx="504967" cy="245660"/>
            </a:xfrm>
            <a:prstGeom prst="ellipse">
              <a:avLst/>
            </a:prstGeom>
            <a:solidFill>
              <a:schemeClr val="dk1">
                <a:alpha val="5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dk1">
                <a:shade val="50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cxnSp>
          <p:nvCxnSpPr>
            <p:cNvPr id="68" name="Straight Connector 67"/>
            <p:cNvCxnSpPr>
              <a:stCxn id="67" idx="4"/>
            </p:cNvCxnSpPr>
            <p:nvPr/>
          </p:nvCxnSpPr>
          <p:spPr>
            <a:xfrm>
              <a:off x="2135875" y="2060812"/>
              <a:ext cx="6824" cy="5732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>
            <a:xfrm>
              <a:off x="2006221" y="2292824"/>
              <a:ext cx="300251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0" name="Straight Connector 69"/>
            <p:cNvCxnSpPr/>
            <p:nvPr/>
          </p:nvCxnSpPr>
          <p:spPr>
            <a:xfrm flipV="1">
              <a:off x="2306472" y="2238233"/>
              <a:ext cx="68238" cy="5459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>
            <a:xfrm flipH="1" flipV="1">
              <a:off x="1937982" y="2224585"/>
              <a:ext cx="81887" cy="68239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2" name="TextBox 71"/>
          <p:cNvSpPr txBox="1"/>
          <p:nvPr/>
        </p:nvSpPr>
        <p:spPr>
          <a:xfrm>
            <a:off x="1296531" y="5691112"/>
            <a:ext cx="7489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users</a:t>
            </a:r>
          </a:p>
        </p:txBody>
      </p:sp>
      <p:cxnSp>
        <p:nvCxnSpPr>
          <p:cNvPr id="76" name="Straight Arrow Connector 75"/>
          <p:cNvCxnSpPr/>
          <p:nvPr/>
        </p:nvCxnSpPr>
        <p:spPr>
          <a:xfrm flipV="1">
            <a:off x="818866" y="4394579"/>
            <a:ext cx="218365" cy="504967"/>
          </a:xfrm>
          <a:prstGeom prst="straightConnector1">
            <a:avLst/>
          </a:prstGeom>
          <a:ln w="22225"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Straight Arrow Connector 77"/>
          <p:cNvCxnSpPr/>
          <p:nvPr/>
        </p:nvCxnSpPr>
        <p:spPr>
          <a:xfrm flipH="1" flipV="1">
            <a:off x="2620371" y="4804012"/>
            <a:ext cx="122829" cy="423080"/>
          </a:xfrm>
          <a:prstGeom prst="straightConnector1">
            <a:avLst/>
          </a:prstGeom>
          <a:ln w="22225">
            <a:solidFill>
              <a:schemeClr val="tx1"/>
            </a:solidFill>
            <a:prstDash val="dash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5" name="Group 54"/>
          <p:cNvGrpSpPr/>
          <p:nvPr/>
        </p:nvGrpSpPr>
        <p:grpSpPr>
          <a:xfrm>
            <a:off x="4817662" y="1105470"/>
            <a:ext cx="4039738" cy="4749421"/>
            <a:chOff x="341196" y="1146413"/>
            <a:chExt cx="4039738" cy="4749421"/>
          </a:xfrm>
        </p:grpSpPr>
        <p:sp>
          <p:nvSpPr>
            <p:cNvPr id="56" name="Rectangle 55"/>
            <p:cNvSpPr/>
            <p:nvPr/>
          </p:nvSpPr>
          <p:spPr>
            <a:xfrm>
              <a:off x="341196" y="2237799"/>
              <a:ext cx="4037583" cy="3066271"/>
            </a:xfrm>
            <a:prstGeom prst="rect">
              <a:avLst/>
            </a:prstGeom>
            <a:solidFill>
              <a:srgbClr val="D2D2D2">
                <a:alpha val="22000"/>
              </a:srgbClr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57" name="Rectangle 56"/>
            <p:cNvSpPr/>
            <p:nvPr/>
          </p:nvSpPr>
          <p:spPr>
            <a:xfrm>
              <a:off x="368487" y="5418158"/>
              <a:ext cx="3998794" cy="477676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Hardware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8" name="Rectangle 57"/>
            <p:cNvSpPr/>
            <p:nvPr/>
          </p:nvSpPr>
          <p:spPr>
            <a:xfrm>
              <a:off x="550406" y="4706404"/>
              <a:ext cx="3636412" cy="49587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Hardware Abstraction Layer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59" name="Rectangle 58"/>
            <p:cNvSpPr/>
            <p:nvPr/>
          </p:nvSpPr>
          <p:spPr>
            <a:xfrm>
              <a:off x="552560" y="4173707"/>
              <a:ext cx="3636412" cy="4200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Device Drivers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75" name="Rectangle 74"/>
            <p:cNvSpPr/>
            <p:nvPr/>
          </p:nvSpPr>
          <p:spPr>
            <a:xfrm>
              <a:off x="438247" y="2317921"/>
              <a:ext cx="3636412" cy="420065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System call interface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77" name="Rounded Rectangle 76"/>
            <p:cNvSpPr/>
            <p:nvPr/>
          </p:nvSpPr>
          <p:spPr>
            <a:xfrm>
              <a:off x="832952" y="2848455"/>
              <a:ext cx="1190570" cy="597664"/>
            </a:xfrm>
            <a:prstGeom prst="roundRect">
              <a:avLst>
                <a:gd name="adj" fmla="val 23913"/>
              </a:avLst>
            </a:prstGeom>
            <a:ln>
              <a:solidFill>
                <a:schemeClr val="accent1">
                  <a:shade val="95000"/>
                  <a:satMod val="105000"/>
                  <a:alpha val="18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File </a:t>
              </a:r>
              <a:r>
                <a:rPr lang="en-US" sz="1400" dirty="0" smtClean="0">
                  <a:solidFill>
                    <a:schemeClr val="tx1"/>
                  </a:solidFill>
                </a:rPr>
                <a:t>subsystem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79" name="Rounded Rectangle 78"/>
            <p:cNvSpPr/>
            <p:nvPr/>
          </p:nvSpPr>
          <p:spPr>
            <a:xfrm>
              <a:off x="2530375" y="2850620"/>
              <a:ext cx="1216452" cy="597664"/>
            </a:xfrm>
            <a:prstGeom prst="roundRect">
              <a:avLst>
                <a:gd name="adj" fmla="val 23913"/>
              </a:avLst>
            </a:prstGeom>
            <a:ln>
              <a:solidFill>
                <a:schemeClr val="accent1">
                  <a:shade val="95000"/>
                  <a:satMod val="105000"/>
                  <a:alpha val="18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Process </a:t>
              </a:r>
              <a:r>
                <a:rPr lang="en-US" sz="1400" dirty="0" smtClean="0">
                  <a:solidFill>
                    <a:schemeClr val="tx1"/>
                  </a:solidFill>
                </a:rPr>
                <a:t>subsystem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0" name="Rounded Rectangle 79"/>
            <p:cNvSpPr/>
            <p:nvPr/>
          </p:nvSpPr>
          <p:spPr>
            <a:xfrm>
              <a:off x="522361" y="3744949"/>
              <a:ext cx="713911" cy="352966"/>
            </a:xfrm>
            <a:prstGeom prst="roundRect">
              <a:avLst>
                <a:gd name="adj" fmla="val 23913"/>
              </a:avLst>
            </a:prstGeom>
            <a:ln>
              <a:solidFill>
                <a:schemeClr val="accent1">
                  <a:shade val="95000"/>
                  <a:satMod val="105000"/>
                  <a:alpha val="18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IPC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2" name="Rounded Rectangle 81"/>
            <p:cNvSpPr/>
            <p:nvPr/>
          </p:nvSpPr>
          <p:spPr>
            <a:xfrm>
              <a:off x="1585676" y="3718962"/>
              <a:ext cx="1059004" cy="337811"/>
            </a:xfrm>
            <a:prstGeom prst="roundRect">
              <a:avLst>
                <a:gd name="adj" fmla="val 23913"/>
              </a:avLst>
            </a:prstGeom>
            <a:ln>
              <a:solidFill>
                <a:schemeClr val="accent1">
                  <a:shade val="95000"/>
                  <a:satMod val="105000"/>
                  <a:alpha val="18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memory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3" name="Rounded Rectangle 82"/>
            <p:cNvSpPr/>
            <p:nvPr/>
          </p:nvSpPr>
          <p:spPr>
            <a:xfrm>
              <a:off x="2916447" y="3731956"/>
              <a:ext cx="1138805" cy="339974"/>
            </a:xfrm>
            <a:prstGeom prst="roundRect">
              <a:avLst>
                <a:gd name="adj" fmla="val 23913"/>
              </a:avLst>
            </a:prstGeom>
            <a:ln>
              <a:solidFill>
                <a:schemeClr val="accent1">
                  <a:shade val="95000"/>
                  <a:satMod val="105000"/>
                  <a:alpha val="18000"/>
                </a:schemeClr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network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84" name="Rectangle 83"/>
            <p:cNvSpPr/>
            <p:nvPr/>
          </p:nvSpPr>
          <p:spPr>
            <a:xfrm>
              <a:off x="343351" y="1146413"/>
              <a:ext cx="4037583" cy="922481"/>
            </a:xfrm>
            <a:prstGeom prst="rect">
              <a:avLst/>
            </a:prstGeom>
            <a:solidFill>
              <a:srgbClr val="D2D2D2">
                <a:alpha val="22000"/>
              </a:srgbClr>
            </a:solidFill>
            <a:ln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600">
                <a:solidFill>
                  <a:schemeClr val="tx1"/>
                </a:solidFill>
              </a:endParaRPr>
            </a:p>
          </p:txBody>
        </p:sp>
        <p:sp>
          <p:nvSpPr>
            <p:cNvPr id="91" name="Rectangle 90"/>
            <p:cNvSpPr/>
            <p:nvPr/>
          </p:nvSpPr>
          <p:spPr>
            <a:xfrm>
              <a:off x="496486" y="1228702"/>
              <a:ext cx="2847013" cy="34647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Applications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  <p:sp>
          <p:nvSpPr>
            <p:cNvPr id="99" name="Rectangle 98"/>
            <p:cNvSpPr/>
            <p:nvPr/>
          </p:nvSpPr>
          <p:spPr>
            <a:xfrm>
              <a:off x="1443336" y="1646634"/>
              <a:ext cx="2847013" cy="346471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600" dirty="0" smtClean="0">
                  <a:solidFill>
                    <a:schemeClr val="tx1"/>
                  </a:solidFill>
                </a:rPr>
                <a:t>C lib &amp; other libraries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Users &amp; groups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254925" y="1135210"/>
            <a:ext cx="8728364" cy="5220067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tx1"/>
                </a:solidFill>
              </a:rPr>
              <a:t>Each user intended to access a Unix system must have </a:t>
            </a:r>
            <a:r>
              <a:rPr lang="en-IN" smtClean="0">
                <a:solidFill>
                  <a:schemeClr val="tx1"/>
                </a:solidFill>
              </a:rPr>
              <a:t>a login</a:t>
            </a:r>
          </a:p>
          <a:p>
            <a:r>
              <a:rPr lang="en-IN" smtClean="0">
                <a:solidFill>
                  <a:schemeClr val="tx1"/>
                </a:solidFill>
              </a:rPr>
              <a:t>Each user has a unique user id (uid) assigned by the system</a:t>
            </a:r>
          </a:p>
          <a:p>
            <a:pPr lvl="1"/>
            <a:r>
              <a:rPr lang="en-IN" b="1" smtClean="0">
                <a:solidFill>
                  <a:srgbClr val="0000CC"/>
                </a:solidFill>
              </a:rPr>
              <a:t>/</a:t>
            </a:r>
            <a:r>
              <a:rPr lang="en-IN" b="1" dirty="0" smtClean="0">
                <a:solidFill>
                  <a:srgbClr val="0000CC"/>
                </a:solidFill>
              </a:rPr>
              <a:t>etc/</a:t>
            </a:r>
            <a:r>
              <a:rPr lang="en-IN" b="1" dirty="0" err="1" smtClean="0">
                <a:solidFill>
                  <a:srgbClr val="0000CC"/>
                </a:solidFill>
              </a:rPr>
              <a:t>passwd</a:t>
            </a:r>
            <a:r>
              <a:rPr lang="en-IN" dirty="0" smtClean="0">
                <a:solidFill>
                  <a:srgbClr val="0000CC"/>
                </a:solidFill>
              </a:rPr>
              <a:t> </a:t>
            </a:r>
            <a:r>
              <a:rPr lang="en-IN" dirty="0" smtClean="0">
                <a:solidFill>
                  <a:schemeClr val="tx1"/>
                </a:solidFill>
              </a:rPr>
              <a:t>file contains one entry for each user</a:t>
            </a:r>
          </a:p>
          <a:p>
            <a:pPr lvl="1"/>
            <a:endParaRPr lang="en-IN" sz="1200" dirty="0" smtClean="0">
              <a:solidFill>
                <a:schemeClr val="tx1"/>
              </a:solidFill>
            </a:endParaRPr>
          </a:p>
          <a:p>
            <a:r>
              <a:rPr lang="en-IN" dirty="0" smtClean="0">
                <a:solidFill>
                  <a:schemeClr val="tx1"/>
                </a:solidFill>
              </a:rPr>
              <a:t>Users on a Unix system can </a:t>
            </a:r>
            <a:r>
              <a:rPr lang="en-IN" smtClean="0">
                <a:solidFill>
                  <a:schemeClr val="tx1"/>
                </a:solidFill>
              </a:rPr>
              <a:t>be grouped </a:t>
            </a:r>
            <a:endParaRPr lang="en-IN" dirty="0" smtClean="0">
              <a:solidFill>
                <a:schemeClr val="tx1"/>
              </a:solidFill>
            </a:endParaRP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A user can belong to more than one group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Each group has a  name and unique id, called group id (</a:t>
            </a:r>
            <a:r>
              <a:rPr lang="en-IN" dirty="0" err="1" smtClean="0">
                <a:solidFill>
                  <a:schemeClr val="tx1"/>
                </a:solidFill>
              </a:rPr>
              <a:t>gid</a:t>
            </a:r>
            <a:r>
              <a:rPr lang="en-IN" dirty="0" smtClean="0">
                <a:solidFill>
                  <a:schemeClr val="tx1"/>
                </a:solidFill>
              </a:rPr>
              <a:t>)</a:t>
            </a:r>
          </a:p>
          <a:p>
            <a:pPr lvl="1"/>
            <a:r>
              <a:rPr lang="en-IN" b="1" dirty="0" smtClean="0">
                <a:solidFill>
                  <a:srgbClr val="0000CC"/>
                </a:solidFill>
              </a:rPr>
              <a:t>/etc/group</a:t>
            </a:r>
            <a:r>
              <a:rPr lang="en-IN" b="1" dirty="0" smtClean="0">
                <a:solidFill>
                  <a:schemeClr val="tx1"/>
                </a:solidFill>
              </a:rPr>
              <a:t> </a:t>
            </a:r>
            <a:r>
              <a:rPr lang="en-IN" dirty="0" smtClean="0">
                <a:solidFill>
                  <a:schemeClr val="tx1"/>
                </a:solidFill>
              </a:rPr>
              <a:t>file describes the groups and members of respective groups</a:t>
            </a:r>
          </a:p>
          <a:p>
            <a:pPr lvl="1"/>
            <a:endParaRPr lang="en-IN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IN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/etc/</a:t>
            </a:r>
            <a:r>
              <a:rPr lang="en-IN" dirty="0" err="1" smtClean="0">
                <a:solidFill>
                  <a:schemeClr val="tx1"/>
                </a:solidFill>
              </a:rPr>
              <a:t>passwd</a:t>
            </a:r>
            <a:r>
              <a:rPr lang="en-IN" dirty="0" smtClean="0">
                <a:solidFill>
                  <a:schemeClr val="tx1"/>
                </a:solidFill>
              </a:rPr>
              <a:t> &amp; /etc/group files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01600" y="4836900"/>
            <a:ext cx="5222240" cy="849949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structure of </a:t>
            </a:r>
            <a:r>
              <a:rPr lang="en-IN" sz="2400" b="1" dirty="0" smtClean="0">
                <a:solidFill>
                  <a:srgbClr val="0000CC"/>
                </a:solidFill>
              </a:rPr>
              <a:t>/</a:t>
            </a:r>
            <a:r>
              <a:rPr lang="en-IN" sz="2000" b="1" dirty="0" smtClean="0">
                <a:solidFill>
                  <a:srgbClr val="0000CC"/>
                </a:solidFill>
              </a:rPr>
              <a:t>etc/group </a:t>
            </a:r>
            <a:r>
              <a:rPr lang="en-IN" sz="2000" dirty="0" smtClean="0">
                <a:solidFill>
                  <a:schemeClr val="tx1"/>
                </a:solidFill>
              </a:rPr>
              <a:t>file entries</a:t>
            </a:r>
          </a:p>
          <a:p>
            <a:pPr>
              <a:buNone/>
            </a:pPr>
            <a:endParaRPr lang="en-IN" sz="10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IN" sz="2000" dirty="0" err="1" smtClean="0">
                <a:solidFill>
                  <a:schemeClr val="tx1"/>
                </a:solidFill>
              </a:rPr>
              <a:t>group_name:password:group_id:group_list</a:t>
            </a:r>
            <a:endParaRPr lang="en-IN" sz="2000" dirty="0" smtClean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303520" y="3804364"/>
            <a:ext cx="3733605" cy="2631490"/>
          </a:xfrm>
          <a:prstGeom prst="rect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cat /etc/group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root:x:0:root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bin:x:1:root,bin,daemon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daemon:x:2:root,bin,daemon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sys:x:3:root,bin,adm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adm:x:4:root,adm,daemon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lp:x:7:daemon,lp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mem:x:8: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...</a:t>
            </a:r>
          </a:p>
          <a:p>
            <a:endParaRPr lang="en-US" sz="3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6" name="Text Placeholder 7"/>
          <p:cNvSpPr txBox="1">
            <a:spLocks/>
          </p:cNvSpPr>
          <p:nvPr/>
        </p:nvSpPr>
        <p:spPr>
          <a:xfrm>
            <a:off x="5772150" y="1036251"/>
            <a:ext cx="3371850" cy="1146830"/>
          </a:xfrm>
          <a:prstGeom prst="rect">
            <a:avLst/>
          </a:prstGeom>
        </p:spPr>
        <p:txBody>
          <a:bodyPr>
            <a:no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structure of </a:t>
            </a:r>
            <a:r>
              <a:rPr kumimoji="0" lang="en-IN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/etc/</a:t>
            </a:r>
            <a:r>
              <a:rPr kumimoji="0" lang="en-IN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passwd</a:t>
            </a:r>
            <a:r>
              <a:rPr kumimoji="0" lang="en-IN" b="1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 </a:t>
            </a:r>
            <a:r>
              <a:rPr kumimoji="0" lang="en-IN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 </a:t>
            </a:r>
            <a:r>
              <a:rPr kumimoji="0" lang="en-IN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file entries</a:t>
            </a: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kumimoji="0" lang="en-IN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user_name:password:user_id</a:t>
            </a:r>
            <a:r>
              <a:rPr kumimoji="0" lang="en-IN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: </a:t>
            </a:r>
            <a:r>
              <a:rPr kumimoji="0" lang="en-IN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group_id:user_info</a:t>
            </a:r>
            <a:r>
              <a:rPr lang="en-IN" dirty="0" smtClean="0">
                <a:cs typeface="Arial"/>
              </a:rPr>
              <a:t>:</a:t>
            </a:r>
            <a:r>
              <a:rPr lang="en-IN" dirty="0" err="1" smtClean="0">
                <a:cs typeface="Arial"/>
              </a:rPr>
              <a:t>home_dir</a:t>
            </a:r>
            <a:r>
              <a:rPr lang="en-IN" dirty="0" smtClean="0">
                <a:cs typeface="Arial"/>
              </a:rPr>
              <a:t>: </a:t>
            </a:r>
            <a:r>
              <a:rPr lang="en-IN" dirty="0" err="1" smtClean="0">
                <a:cs typeface="Arial"/>
              </a:rPr>
              <a:t>login_shell</a:t>
            </a:r>
            <a:endParaRPr lang="en-IN" dirty="0" smtClean="0"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endParaRPr kumimoji="0" lang="en-IN" sz="6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Arial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None/>
              <a:tabLst/>
              <a:defRPr/>
            </a:pPr>
            <a:r>
              <a:rPr lang="en-IN" dirty="0" smtClean="0">
                <a:cs typeface="Arial"/>
              </a:rPr>
              <a:t>Encrypted password is stored in </a:t>
            </a:r>
            <a:r>
              <a:rPr lang="en-IN" b="1" dirty="0" smtClean="0">
                <a:solidFill>
                  <a:srgbClr val="0000CC"/>
                </a:solidFill>
                <a:cs typeface="Arial"/>
              </a:rPr>
              <a:t>/etc/shadow </a:t>
            </a:r>
            <a:r>
              <a:rPr lang="en-IN" dirty="0" smtClean="0">
                <a:cs typeface="Arial"/>
              </a:rPr>
              <a:t>file</a:t>
            </a:r>
            <a:endParaRPr kumimoji="0" lang="en-IN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356" y="834862"/>
            <a:ext cx="5672507" cy="2908489"/>
          </a:xfrm>
          <a:prstGeom prst="rect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cat /etc/</a:t>
            </a:r>
            <a:r>
              <a:rPr lang="en-US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passwd</a:t>
            </a:r>
            <a:endParaRPr lang="en-US" b="1" dirty="0" smtClean="0">
              <a:solidFill>
                <a:srgbClr val="0000CC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root:x:0:0:root:/root:/bin/bash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bin:x:1:1:bin:/bin:/</a:t>
            </a:r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sbin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nologin</a:t>
            </a:r>
            <a:endParaRPr lang="en-US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daemon:x:2:2:daemon:/</a:t>
            </a:r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sbin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:/</a:t>
            </a:r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sbin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nologin</a:t>
            </a:r>
            <a:endParaRPr lang="en-US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adm:x:3:4:adm:/</a:t>
            </a:r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adm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:/</a:t>
            </a:r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sbin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nologin</a:t>
            </a:r>
            <a:endParaRPr lang="en-US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lp:x:4:7:lp:/</a:t>
            </a:r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var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/spool/</a:t>
            </a:r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lpd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:/</a:t>
            </a:r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sbin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nologin</a:t>
            </a:r>
            <a:endParaRPr lang="en-US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...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wipro1:x:500:500::/home/wipro1:/bin/bash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wipro2:x:501:501::/home/wipro2:/bin/bash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...</a:t>
            </a:r>
          </a:p>
          <a:p>
            <a:endParaRPr lang="en-US" sz="3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63236" y="145140"/>
            <a:ext cx="8426740" cy="553998"/>
          </a:xfrm>
        </p:spPr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Getting help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6058790" cy="4032535"/>
          </a:xfrm>
        </p:spPr>
        <p:txBody>
          <a:bodyPr>
            <a:normAutofit lnSpcReduction="10000"/>
          </a:bodyPr>
          <a:lstStyle/>
          <a:p>
            <a:r>
              <a:rPr lang="en-IN" sz="2000" dirty="0" smtClean="0">
                <a:solidFill>
                  <a:schemeClr val="tx1"/>
                </a:solidFill>
              </a:rPr>
              <a:t>Unix provides documentation  in the form of man pages</a:t>
            </a:r>
          </a:p>
          <a:p>
            <a:r>
              <a:rPr lang="en-IN" sz="2000" dirty="0" smtClean="0">
                <a:solidFill>
                  <a:schemeClr val="tx1"/>
                </a:solidFill>
                <a:sym typeface="Wingdings" pitchFamily="2" charset="2"/>
              </a:rPr>
              <a:t>Man pages are divided into sections.</a:t>
            </a:r>
          </a:p>
          <a:p>
            <a:r>
              <a:rPr lang="en-IN" sz="2000" dirty="0" smtClean="0">
                <a:solidFill>
                  <a:schemeClr val="tx1"/>
                </a:solidFill>
                <a:sym typeface="Wingdings" pitchFamily="2" charset="2"/>
              </a:rPr>
              <a:t>Help on a command/function can be obtained using man  command</a:t>
            </a:r>
          </a:p>
          <a:p>
            <a:pPr>
              <a:buNone/>
            </a:pP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	</a:t>
            </a:r>
            <a:r>
              <a:rPr lang="en-IN" sz="1800" dirty="0" smtClean="0">
                <a:solidFill>
                  <a:srgbClr val="0000CC"/>
                </a:solidFill>
                <a:sym typeface="Wingdings" pitchFamily="2" charset="2"/>
              </a:rPr>
              <a:t>	</a:t>
            </a:r>
            <a:r>
              <a:rPr lang="en-IN" sz="1800" dirty="0" smtClean="0">
                <a:solidFill>
                  <a:schemeClr val="tx1"/>
                </a:solidFill>
                <a:sym typeface="Wingdings" pitchFamily="2" charset="2"/>
              </a:rPr>
              <a:t>$</a:t>
            </a:r>
            <a:r>
              <a:rPr lang="en-IN" sz="1800" dirty="0" smtClean="0">
                <a:solidFill>
                  <a:srgbClr val="0000CC"/>
                </a:solidFill>
                <a:sym typeface="Wingdings" pitchFamily="2" charset="2"/>
              </a:rPr>
              <a:t>  man   </a:t>
            </a:r>
            <a:r>
              <a:rPr lang="en-IN" sz="1800" dirty="0" err="1" smtClean="0">
                <a:solidFill>
                  <a:srgbClr val="0000CC"/>
                </a:solidFill>
                <a:sym typeface="Wingdings" pitchFamily="2" charset="2"/>
              </a:rPr>
              <a:t>passwd</a:t>
            </a:r>
            <a:r>
              <a:rPr lang="en-IN" sz="1800" dirty="0" smtClean="0">
                <a:solidFill>
                  <a:srgbClr val="0000CC"/>
                </a:solidFill>
                <a:sym typeface="Wingdings" pitchFamily="2" charset="2"/>
              </a:rPr>
              <a:t> 		</a:t>
            </a:r>
          </a:p>
          <a:p>
            <a:pPr>
              <a:buNone/>
            </a:pPr>
            <a:r>
              <a:rPr lang="en-IN" sz="1800" dirty="0" smtClean="0">
                <a:solidFill>
                  <a:schemeClr val="tx1"/>
                </a:solidFill>
                <a:sym typeface="Wingdings" pitchFamily="2" charset="2"/>
              </a:rPr>
              <a:t>				 provides help on </a:t>
            </a:r>
            <a:r>
              <a:rPr lang="en-IN" sz="1800" dirty="0" err="1" smtClean="0">
                <a:solidFill>
                  <a:schemeClr val="tx1"/>
                </a:solidFill>
                <a:sym typeface="Wingdings" pitchFamily="2" charset="2"/>
              </a:rPr>
              <a:t>passwd</a:t>
            </a:r>
            <a:r>
              <a:rPr lang="en-IN" sz="1800" dirty="0" smtClean="0">
                <a:solidFill>
                  <a:schemeClr val="tx1"/>
                </a:solidFill>
                <a:sym typeface="Wingdings" pitchFamily="2" charset="2"/>
              </a:rPr>
              <a:t> command</a:t>
            </a:r>
          </a:p>
          <a:p>
            <a:pPr>
              <a:buNone/>
            </a:pPr>
            <a:r>
              <a:rPr lang="en-IN" sz="1800" dirty="0" smtClean="0">
                <a:solidFill>
                  <a:schemeClr val="tx1"/>
                </a:solidFill>
                <a:sym typeface="Wingdings" pitchFamily="2" charset="2"/>
              </a:rPr>
              <a:t>  		$ </a:t>
            </a:r>
            <a:r>
              <a:rPr lang="en-IN" sz="1800" dirty="0" smtClean="0">
                <a:solidFill>
                  <a:srgbClr val="0000CC"/>
                </a:solidFill>
                <a:sym typeface="Wingdings" pitchFamily="2" charset="2"/>
              </a:rPr>
              <a:t> man   5   </a:t>
            </a:r>
            <a:r>
              <a:rPr lang="en-IN" sz="1800" dirty="0" err="1" smtClean="0">
                <a:solidFill>
                  <a:srgbClr val="0000CC"/>
                </a:solidFill>
                <a:sym typeface="Wingdings" pitchFamily="2" charset="2"/>
              </a:rPr>
              <a:t>passwd</a:t>
            </a:r>
            <a:r>
              <a:rPr lang="en-IN" sz="1800" dirty="0" smtClean="0">
                <a:solidFill>
                  <a:srgbClr val="0000CC"/>
                </a:solidFill>
                <a:sym typeface="Wingdings" pitchFamily="2" charset="2"/>
              </a:rPr>
              <a:t> 		</a:t>
            </a:r>
          </a:p>
          <a:p>
            <a:pPr>
              <a:buNone/>
            </a:pPr>
            <a:r>
              <a:rPr lang="en-IN" sz="1800" dirty="0" smtClean="0">
                <a:solidFill>
                  <a:schemeClr val="tx1"/>
                </a:solidFill>
                <a:sym typeface="Wingdings" pitchFamily="2" charset="2"/>
              </a:rPr>
              <a:t>				 provides help on structure of </a:t>
            </a:r>
          </a:p>
          <a:p>
            <a:pPr>
              <a:buNone/>
            </a:pPr>
            <a:r>
              <a:rPr lang="en-IN" sz="1800" dirty="0" smtClean="0">
                <a:solidFill>
                  <a:schemeClr val="tx1"/>
                </a:solidFill>
                <a:sym typeface="Wingdings" pitchFamily="2" charset="2"/>
              </a:rPr>
              <a:t>                           /etc/</a:t>
            </a:r>
            <a:r>
              <a:rPr lang="en-IN" sz="1800" dirty="0" err="1" smtClean="0">
                <a:solidFill>
                  <a:schemeClr val="tx1"/>
                </a:solidFill>
                <a:sym typeface="Wingdings" pitchFamily="2" charset="2"/>
              </a:rPr>
              <a:t>passwd</a:t>
            </a:r>
            <a:r>
              <a:rPr lang="en-IN" sz="1800" dirty="0" smtClean="0">
                <a:solidFill>
                  <a:schemeClr val="tx1"/>
                </a:solidFill>
                <a:sym typeface="Wingdings" pitchFamily="2" charset="2"/>
              </a:rPr>
              <a:t> file</a:t>
            </a:r>
          </a:p>
          <a:p>
            <a:pPr>
              <a:buNone/>
            </a:pPr>
            <a:endParaRPr lang="en-IN" sz="600" dirty="0" smtClean="0">
              <a:solidFill>
                <a:schemeClr val="tx1"/>
              </a:solidFill>
              <a:sym typeface="Wingdings" pitchFamily="2" charset="2"/>
            </a:endParaRPr>
          </a:p>
          <a:p>
            <a:pPr>
              <a:buNone/>
            </a:pPr>
            <a:r>
              <a:rPr lang="en-IN" sz="1800" dirty="0" smtClean="0">
                <a:solidFill>
                  <a:schemeClr val="tx1"/>
                </a:solidFill>
                <a:sym typeface="Wingdings" pitchFamily="2" charset="2"/>
              </a:rPr>
              <a:t>    with </a:t>
            </a:r>
            <a:r>
              <a:rPr lang="en-IN" sz="2000" b="1" dirty="0" smtClean="0">
                <a:solidFill>
                  <a:schemeClr val="tx1"/>
                </a:solidFill>
                <a:sym typeface="Wingdings" pitchFamily="2" charset="2"/>
              </a:rPr>
              <a:t>-k </a:t>
            </a:r>
            <a:r>
              <a:rPr lang="en-IN" sz="1800" dirty="0" smtClean="0">
                <a:solidFill>
                  <a:schemeClr val="tx1"/>
                </a:solidFill>
                <a:sym typeface="Wingdings" pitchFamily="2" charset="2"/>
              </a:rPr>
              <a:t>option it is possible to get man pages related to a keyword, as shown in the example below.</a:t>
            </a:r>
          </a:p>
          <a:p>
            <a:endParaRPr lang="en-IN" dirty="0" smtClean="0">
              <a:sym typeface="Wingdings" pitchFamily="2" charset="2"/>
            </a:endParaRPr>
          </a:p>
          <a:p>
            <a:endParaRPr lang="en-IN" dirty="0" smtClean="0">
              <a:sym typeface="Wingdings" pitchFamily="2" charset="2"/>
            </a:endParaRPr>
          </a:p>
          <a:p>
            <a:endParaRPr lang="en-IN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6697678" y="855060"/>
            <a:ext cx="205442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smtClean="0"/>
              <a:t>Man Page Sections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388925" y="1218905"/>
          <a:ext cx="2636319" cy="36291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0595"/>
                <a:gridCol w="1685724"/>
              </a:tblGrid>
              <a:tr h="569309"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Section</a:t>
                      </a:r>
                    </a:p>
                    <a:p>
                      <a:r>
                        <a:rPr lang="en-US" sz="1400" dirty="0" smtClean="0"/>
                        <a:t>No.</a:t>
                      </a:r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 dirty="0" smtClean="0"/>
                        <a:t>Subject  area</a:t>
                      </a:r>
                      <a:endParaRPr lang="en-US" sz="1400" dirty="0"/>
                    </a:p>
                  </a:txBody>
                  <a:tcPr/>
                </a:tc>
              </a:tr>
              <a:tr h="32960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User commands</a:t>
                      </a:r>
                      <a:endParaRPr lang="en-US" sz="1600" dirty="0"/>
                    </a:p>
                  </a:txBody>
                  <a:tcPr/>
                </a:tc>
              </a:tr>
              <a:tr h="31945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System calls</a:t>
                      </a:r>
                      <a:endParaRPr lang="en-US" sz="1600" dirty="0"/>
                    </a:p>
                  </a:txBody>
                  <a:tcPr/>
                </a:tc>
              </a:tr>
              <a:tr h="32960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3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Library calls</a:t>
                      </a:r>
                      <a:endParaRPr lang="en-US" sz="1600" dirty="0"/>
                    </a:p>
                  </a:txBody>
                  <a:tcPr/>
                </a:tc>
              </a:tr>
              <a:tr h="263045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Special</a:t>
                      </a:r>
                      <a:r>
                        <a:rPr lang="en-US" sz="1600" baseline="0" dirty="0" smtClean="0"/>
                        <a:t> files</a:t>
                      </a:r>
                      <a:endParaRPr lang="en-US" sz="1600" dirty="0"/>
                    </a:p>
                  </a:txBody>
                  <a:tcPr/>
                </a:tc>
              </a:tr>
              <a:tr h="32960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5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File formats</a:t>
                      </a:r>
                      <a:endParaRPr lang="en-US" sz="1600" dirty="0"/>
                    </a:p>
                  </a:txBody>
                  <a:tcPr/>
                </a:tc>
              </a:tr>
              <a:tr h="28852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Games</a:t>
                      </a:r>
                      <a:endParaRPr lang="en-US" sz="1600" dirty="0"/>
                    </a:p>
                  </a:txBody>
                  <a:tcPr/>
                </a:tc>
              </a:tr>
              <a:tr h="32960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7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Miscellaneous </a:t>
                      </a:r>
                      <a:endParaRPr lang="en-US" sz="1600" dirty="0"/>
                    </a:p>
                  </a:txBody>
                  <a:tcPr/>
                </a:tc>
              </a:tr>
              <a:tr h="348278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System Admin</a:t>
                      </a:r>
                      <a:endParaRPr lang="en-US" sz="1600" dirty="0"/>
                    </a:p>
                  </a:txBody>
                  <a:tcPr/>
                </a:tc>
              </a:tr>
              <a:tr h="364558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9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Kernel routines</a:t>
                      </a:r>
                      <a:endParaRPr lang="en-US" sz="1600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56422" y="4881141"/>
            <a:ext cx="7487477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man -k </a:t>
            </a:r>
            <a:r>
              <a:rPr lang="en-US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chown</a:t>
            </a:r>
            <a:endParaRPr lang="en-US" b="1" dirty="0" smtClean="0">
              <a:solidFill>
                <a:srgbClr val="0000CC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chown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(1)  - change file owner and group</a:t>
            </a:r>
          </a:p>
          <a:p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chown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(2)  - change ownership of a file</a:t>
            </a:r>
          </a:p>
          <a:p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fchown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[</a:t>
            </a:r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chown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    (2)  - change ownership of a file</a:t>
            </a:r>
          </a:p>
          <a:p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lchown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[</a:t>
            </a:r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chown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]    (2)  - change ownership of a file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61257" y="145140"/>
            <a:ext cx="8428719" cy="553998"/>
          </a:xfrm>
        </p:spPr>
        <p:txBody>
          <a:bodyPr/>
          <a:lstStyle/>
          <a:p>
            <a:r>
              <a:rPr lang="en-IN" smtClean="0">
                <a:solidFill>
                  <a:schemeClr val="tx1"/>
                </a:solidFill>
              </a:rPr>
              <a:t>Getting help (Contd.).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1257" y="1513588"/>
            <a:ext cx="8645237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PASSWD(1)                 User utilities            PASSWD(1)</a:t>
            </a:r>
          </a:p>
          <a:p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NAME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passwd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- update a user’s authentication tokens(s)</a:t>
            </a:r>
          </a:p>
          <a:p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...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0183" y="3782919"/>
            <a:ext cx="8550234" cy="230832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PASSWD(5)                  File formats             PASSWD(5)</a:t>
            </a:r>
          </a:p>
          <a:p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NAME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passwd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- password file</a:t>
            </a:r>
          </a:p>
          <a:p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DESCRIPTION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Passwd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is  a text file, that contains a list of the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...</a:t>
            </a:r>
            <a:endParaRPr lang="en-US" b="1" dirty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1" name="Oval 10"/>
          <p:cNvSpPr/>
          <p:nvPr/>
        </p:nvSpPr>
        <p:spPr>
          <a:xfrm>
            <a:off x="1188089" y="1494427"/>
            <a:ext cx="427512" cy="415637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1190755" y="3781127"/>
            <a:ext cx="427512" cy="415637"/>
          </a:xfrm>
          <a:prstGeom prst="ellipse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/>
          <p:cNvSpPr/>
          <p:nvPr/>
        </p:nvSpPr>
        <p:spPr>
          <a:xfrm>
            <a:off x="1353786" y="1186772"/>
            <a:ext cx="3004457" cy="407298"/>
          </a:xfrm>
          <a:custGeom>
            <a:avLst/>
            <a:gdLst>
              <a:gd name="connsiteX0" fmla="*/ 0 w 2956956"/>
              <a:gd name="connsiteY0" fmla="*/ 213756 h 332509"/>
              <a:gd name="connsiteX1" fmla="*/ 997527 w 2956956"/>
              <a:gd name="connsiteY1" fmla="*/ 23751 h 332509"/>
              <a:gd name="connsiteX2" fmla="*/ 2161309 w 2956956"/>
              <a:gd name="connsiteY2" fmla="*/ 71252 h 332509"/>
              <a:gd name="connsiteX3" fmla="*/ 2956956 w 2956956"/>
              <a:gd name="connsiteY3" fmla="*/ 332509 h 332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6956" h="332509">
                <a:moveTo>
                  <a:pt x="0" y="213756"/>
                </a:moveTo>
                <a:cubicBezTo>
                  <a:pt x="318654" y="130629"/>
                  <a:pt x="637309" y="47502"/>
                  <a:pt x="997527" y="23751"/>
                </a:cubicBezTo>
                <a:cubicBezTo>
                  <a:pt x="1357745" y="0"/>
                  <a:pt x="1834738" y="19792"/>
                  <a:pt x="2161309" y="71252"/>
                </a:cubicBezTo>
                <a:cubicBezTo>
                  <a:pt x="2487881" y="122712"/>
                  <a:pt x="2956956" y="332509"/>
                  <a:pt x="2956956" y="332509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 14"/>
          <p:cNvSpPr/>
          <p:nvPr/>
        </p:nvSpPr>
        <p:spPr>
          <a:xfrm>
            <a:off x="1400175" y="3385222"/>
            <a:ext cx="2971800" cy="515266"/>
          </a:xfrm>
          <a:custGeom>
            <a:avLst/>
            <a:gdLst>
              <a:gd name="connsiteX0" fmla="*/ 0 w 2956956"/>
              <a:gd name="connsiteY0" fmla="*/ 213756 h 332509"/>
              <a:gd name="connsiteX1" fmla="*/ 997527 w 2956956"/>
              <a:gd name="connsiteY1" fmla="*/ 23751 h 332509"/>
              <a:gd name="connsiteX2" fmla="*/ 2161309 w 2956956"/>
              <a:gd name="connsiteY2" fmla="*/ 71252 h 332509"/>
              <a:gd name="connsiteX3" fmla="*/ 2956956 w 2956956"/>
              <a:gd name="connsiteY3" fmla="*/ 332509 h 332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56956" h="332509">
                <a:moveTo>
                  <a:pt x="0" y="213756"/>
                </a:moveTo>
                <a:cubicBezTo>
                  <a:pt x="318654" y="130629"/>
                  <a:pt x="637309" y="47502"/>
                  <a:pt x="997527" y="23751"/>
                </a:cubicBezTo>
                <a:cubicBezTo>
                  <a:pt x="1357745" y="0"/>
                  <a:pt x="1834738" y="19792"/>
                  <a:pt x="2161309" y="71252"/>
                </a:cubicBezTo>
                <a:cubicBezTo>
                  <a:pt x="2487881" y="122712"/>
                  <a:pt x="2956956" y="332509"/>
                  <a:pt x="2956956" y="332509"/>
                </a:cubicBezTo>
              </a:path>
            </a:pathLst>
          </a:custGeom>
          <a:ln w="19050"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04800" y="145140"/>
            <a:ext cx="8385176" cy="553998"/>
          </a:xfrm>
        </p:spPr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Getting quick help on commands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652664" cy="1147895"/>
          </a:xfrm>
        </p:spPr>
        <p:txBody>
          <a:bodyPr>
            <a:normAutofit/>
          </a:bodyPr>
          <a:lstStyle/>
          <a:p>
            <a:r>
              <a:rPr lang="en-IN" sz="2000" dirty="0" smtClean="0"/>
              <a:t>Most commands provide an option named </a:t>
            </a:r>
            <a:r>
              <a:rPr lang="en-IN" sz="2000" dirty="0" smtClean="0">
                <a:solidFill>
                  <a:srgbClr val="0000CC"/>
                </a:solidFill>
              </a:rPr>
              <a:t>- -help  </a:t>
            </a:r>
            <a:r>
              <a:rPr lang="en-IN" sz="2000" dirty="0" smtClean="0"/>
              <a:t>using which one can get help.</a:t>
            </a:r>
          </a:p>
          <a:p>
            <a:pPr lvl="1">
              <a:buFontTx/>
              <a:buChar char="-"/>
            </a:pPr>
            <a:r>
              <a:rPr lang="en-IN" sz="1600" dirty="0" smtClean="0"/>
              <a:t>This provides a summary of options available for the command.</a:t>
            </a:r>
          </a:p>
          <a:p>
            <a:pPr>
              <a:buNone/>
            </a:pPr>
            <a:endParaRPr lang="en-IN" sz="2000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171450" y="2097826"/>
            <a:ext cx="8972550" cy="313932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cat --help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Usage: cat [OPTION] [FILE]...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Concatenate FILE(s), or standard input, to standard output.</a:t>
            </a:r>
          </a:p>
          <a:p>
            <a:endParaRPr lang="en-US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-A, --show-all           equivalent to -</a:t>
            </a:r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vET</a:t>
            </a:r>
            <a:endParaRPr lang="en-US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-b, --number-nonblank    number nonblank output lines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-e                       equivalent to -</a:t>
            </a:r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vE</a:t>
            </a:r>
            <a:endParaRPr lang="en-US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-E, --show-ends          display $ at end of each line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-n, --number             </a:t>
            </a:r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number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all output lines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-s, --squeeze-blank      never more than one single blank line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00495" y="2745802"/>
            <a:ext cx="8189231" cy="62388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Unix File System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77091" y="145140"/>
            <a:ext cx="8412885" cy="553998"/>
          </a:xfrm>
        </p:spPr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Unix File System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930339"/>
            <a:ext cx="8728364" cy="4473575"/>
          </a:xfrm>
        </p:spPr>
        <p:txBody>
          <a:bodyPr/>
          <a:lstStyle/>
          <a:p>
            <a:r>
              <a:rPr lang="en-IN" dirty="0" smtClean="0"/>
              <a:t>Unix file systems are classified into the following categories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00549" y="1900542"/>
          <a:ext cx="8005707" cy="31189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2824"/>
                <a:gridCol w="1608083"/>
                <a:gridCol w="4114800"/>
              </a:tblGrid>
              <a:tr h="874822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Type of file system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Example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Remarks</a:t>
                      </a:r>
                      <a:endParaRPr lang="en-US" sz="2000" dirty="0"/>
                    </a:p>
                  </a:txBody>
                  <a:tcPr/>
                </a:tc>
              </a:tr>
              <a:tr h="874822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Disk-based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/>
                        <a:t>ufs</a:t>
                      </a:r>
                      <a:r>
                        <a:rPr lang="en-US" sz="2000" dirty="0" smtClean="0"/>
                        <a:t>, ext2, ext3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/>
                        <a:t>ufs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smtClean="0">
                          <a:sym typeface="Wingdings" pitchFamily="2" charset="2"/>
                        </a:rPr>
                        <a:t> Unix</a:t>
                      </a:r>
                      <a:r>
                        <a:rPr lang="en-US" sz="2000" dirty="0" smtClean="0"/>
                        <a:t> file system</a:t>
                      </a:r>
                    </a:p>
                    <a:p>
                      <a:pPr algn="l"/>
                      <a:r>
                        <a:rPr lang="en-US" sz="2000" dirty="0" smtClean="0"/>
                        <a:t>ext </a:t>
                      </a:r>
                      <a:r>
                        <a:rPr lang="en-US" sz="2000" dirty="0" smtClean="0">
                          <a:sym typeface="Wingdings" pitchFamily="2" charset="2"/>
                        </a:rPr>
                        <a:t> extended file system</a:t>
                      </a:r>
                      <a:endParaRPr lang="en-US" sz="2000" dirty="0"/>
                    </a:p>
                  </a:txBody>
                  <a:tcPr/>
                </a:tc>
              </a:tr>
              <a:tr h="494465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Distributed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/>
                        <a:t>nfs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Network file system</a:t>
                      </a:r>
                    </a:p>
                  </a:txBody>
                  <a:tcPr/>
                </a:tc>
              </a:tr>
              <a:tr h="874822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Pseudo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err="1" smtClean="0"/>
                        <a:t>tmpfs</a:t>
                      </a:r>
                      <a:r>
                        <a:rPr lang="en-US" sz="2000" dirty="0" smtClean="0"/>
                        <a:t>, proc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err="1" smtClean="0"/>
                        <a:t>tmpfs</a:t>
                      </a:r>
                      <a:r>
                        <a:rPr lang="en-US" sz="2000" dirty="0" smtClean="0"/>
                        <a:t> </a:t>
                      </a:r>
                      <a:r>
                        <a:rPr lang="en-US" sz="2000" dirty="0" smtClean="0">
                          <a:sym typeface="Wingdings" pitchFamily="2" charset="2"/>
                        </a:rPr>
                        <a:t> t</a:t>
                      </a:r>
                      <a:r>
                        <a:rPr lang="en-US" sz="2000" dirty="0" smtClean="0"/>
                        <a:t>emporary file system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proc </a:t>
                      </a:r>
                      <a:r>
                        <a:rPr lang="en-US" sz="2000" dirty="0" smtClean="0">
                          <a:sym typeface="Wingdings" pitchFamily="2" charset="2"/>
                        </a:rPr>
                        <a:t> </a:t>
                      </a:r>
                      <a:r>
                        <a:rPr lang="en-US" sz="2000" dirty="0" smtClean="0"/>
                        <a:t>Process access file</a:t>
                      </a:r>
                      <a:r>
                        <a:rPr lang="en-US" sz="2000" baseline="0" dirty="0" smtClean="0"/>
                        <a:t> system</a:t>
                      </a:r>
                      <a:endParaRPr lang="en-US" sz="2000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90945" y="145140"/>
            <a:ext cx="8399031" cy="553998"/>
          </a:xfrm>
        </p:spPr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Ext File </a:t>
            </a:r>
            <a:r>
              <a:rPr lang="en-IN" dirty="0">
                <a:solidFill>
                  <a:schemeClr val="tx1"/>
                </a:solidFill>
              </a:rPr>
              <a:t>S</a:t>
            </a:r>
            <a:r>
              <a:rPr lang="en-IN" dirty="0" smtClean="0">
                <a:solidFill>
                  <a:schemeClr val="tx1"/>
                </a:solidFill>
              </a:rPr>
              <a:t>ystem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767640"/>
          </a:xfrm>
        </p:spPr>
        <p:txBody>
          <a:bodyPr>
            <a:normAutofit/>
          </a:bodyPr>
          <a:lstStyle/>
          <a:p>
            <a:r>
              <a:rPr lang="en-IN" sz="2000" dirty="0" smtClean="0">
                <a:solidFill>
                  <a:schemeClr val="tx1"/>
                </a:solidFill>
              </a:rPr>
              <a:t>The ext file system, derived from UNIX file system, has evolved over a period of time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91908" y="1695924"/>
          <a:ext cx="8305251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4644"/>
                <a:gridCol w="1481958"/>
                <a:gridCol w="5738649"/>
              </a:tblGrid>
              <a:tr h="428002">
                <a:tc>
                  <a:txBody>
                    <a:bodyPr/>
                    <a:lstStyle/>
                    <a:p>
                      <a:r>
                        <a:rPr lang="en-US" dirty="0" smtClean="0"/>
                        <a:t>Ext </a:t>
                      </a:r>
                    </a:p>
                    <a:p>
                      <a:r>
                        <a:rPr lang="en-US" dirty="0" smtClean="0"/>
                        <a:t>variant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Year introduced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Remarks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ext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1992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does not support 3 time stamps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Max. file size</a:t>
                      </a:r>
                      <a:r>
                        <a:rPr lang="en-US" baseline="0" dirty="0" smtClean="0"/>
                        <a:t> 2 GB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Max. </a:t>
                      </a:r>
                      <a:r>
                        <a:rPr lang="en-US" baseline="0" dirty="0" err="1" smtClean="0"/>
                        <a:t>filesystem</a:t>
                      </a:r>
                      <a:r>
                        <a:rPr lang="en-US" baseline="0" dirty="0" smtClean="0"/>
                        <a:t> size    2 GB</a:t>
                      </a: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ext2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1993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Default </a:t>
                      </a:r>
                      <a:r>
                        <a:rPr lang="en-US" baseline="0" dirty="0" err="1" smtClean="0"/>
                        <a:t>filesystem</a:t>
                      </a:r>
                      <a:r>
                        <a:rPr lang="en-US" baseline="0" dirty="0" smtClean="0"/>
                        <a:t> in Linux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Max. file size</a:t>
                      </a:r>
                      <a:r>
                        <a:rPr lang="en-US" baseline="0" dirty="0" smtClean="0"/>
                        <a:t> 16 GB to 2 TB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Max. </a:t>
                      </a:r>
                      <a:r>
                        <a:rPr lang="en-US" baseline="0" dirty="0" err="1" smtClean="0"/>
                        <a:t>filesystem</a:t>
                      </a:r>
                      <a:r>
                        <a:rPr lang="en-US" baseline="0" dirty="0" smtClean="0"/>
                        <a:t> size    2 TB – 32 TB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ext3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2001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ext2 + journaling </a:t>
                      </a:r>
                      <a:r>
                        <a:rPr lang="en-IN" dirty="0" smtClean="0"/>
                        <a:t>(a mechanism that helps file system corruption in the event of system crash)</a:t>
                      </a:r>
                      <a:endParaRPr lang="en-US" dirty="0" smtClean="0"/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Max. file size</a:t>
                      </a:r>
                      <a:r>
                        <a:rPr lang="en-US" baseline="0" dirty="0" smtClean="0"/>
                        <a:t> 16 GB to 2 TB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Max. </a:t>
                      </a:r>
                      <a:r>
                        <a:rPr lang="en-US" baseline="0" dirty="0" err="1" smtClean="0"/>
                        <a:t>filesystem</a:t>
                      </a:r>
                      <a:r>
                        <a:rPr lang="en-US" baseline="0" dirty="0" smtClean="0"/>
                        <a:t> size    2 TB – 32 TB</a:t>
                      </a: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ext4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2008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Max. file size</a:t>
                      </a:r>
                      <a:r>
                        <a:rPr lang="en-US" baseline="0" dirty="0" smtClean="0"/>
                        <a:t> 16 GB to 16 TB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Max. </a:t>
                      </a:r>
                      <a:r>
                        <a:rPr lang="en-US" baseline="0" dirty="0" err="1" smtClean="0"/>
                        <a:t>filesystem</a:t>
                      </a:r>
                      <a:r>
                        <a:rPr lang="en-US" baseline="0" dirty="0" smtClean="0"/>
                        <a:t> size    1 EB (</a:t>
                      </a:r>
                      <a:r>
                        <a:rPr lang="en-US" baseline="0" dirty="0" err="1" smtClean="0"/>
                        <a:t>exabyte</a:t>
                      </a:r>
                      <a:r>
                        <a:rPr lang="en-US" baseline="0" dirty="0" smtClean="0"/>
                        <a:t>) = 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                                                     1024 * 1024 TB </a:t>
                      </a:r>
                      <a:endParaRPr lang="en-US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21673" y="145140"/>
            <a:ext cx="8468303" cy="553998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e</a:t>
            </a:r>
            <a:r>
              <a:rPr lang="en-IN" dirty="0" smtClean="0">
                <a:solidFill>
                  <a:schemeClr val="tx1"/>
                </a:solidFill>
              </a:rPr>
              <a:t>xt2 File system Structure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3"/>
            <a:ext cx="8728364" cy="5103157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tx1"/>
                </a:solidFill>
              </a:rPr>
              <a:t>Ext2 file system has the following four logical areas</a:t>
            </a:r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r>
              <a:rPr lang="en-IN" dirty="0" smtClean="0">
                <a:solidFill>
                  <a:srgbClr val="0000CC"/>
                </a:solidFill>
              </a:rPr>
              <a:t>Boot block </a:t>
            </a:r>
            <a:r>
              <a:rPr lang="en-IN" dirty="0" smtClean="0"/>
              <a:t>– </a:t>
            </a:r>
            <a:r>
              <a:rPr lang="en-IN" dirty="0" smtClean="0">
                <a:solidFill>
                  <a:schemeClr val="tx1"/>
                </a:solidFill>
              </a:rPr>
              <a:t>contains the </a:t>
            </a:r>
            <a:r>
              <a:rPr lang="en-IN" smtClean="0">
                <a:solidFill>
                  <a:schemeClr val="tx1"/>
                </a:solidFill>
              </a:rPr>
              <a:t>bootstrap code</a:t>
            </a:r>
            <a:r>
              <a:rPr lang="en-IN" smtClean="0"/>
              <a:t> </a:t>
            </a:r>
            <a:endParaRPr lang="en-IN" dirty="0" smtClean="0"/>
          </a:p>
          <a:p>
            <a:r>
              <a:rPr lang="en-IN" dirty="0" smtClean="0">
                <a:solidFill>
                  <a:srgbClr val="0000CC"/>
                </a:solidFill>
              </a:rPr>
              <a:t>Super block </a:t>
            </a:r>
            <a:r>
              <a:rPr lang="en-IN" dirty="0" smtClean="0">
                <a:solidFill>
                  <a:schemeClr val="tx1"/>
                </a:solidFill>
              </a:rPr>
              <a:t>– contains description about the file system</a:t>
            </a:r>
          </a:p>
          <a:p>
            <a:r>
              <a:rPr lang="en-IN" dirty="0" err="1" smtClean="0">
                <a:solidFill>
                  <a:srgbClr val="0000CC"/>
                </a:solidFill>
              </a:rPr>
              <a:t>Inode</a:t>
            </a:r>
            <a:r>
              <a:rPr lang="en-IN" dirty="0" smtClean="0">
                <a:solidFill>
                  <a:srgbClr val="0000CC"/>
                </a:solidFill>
              </a:rPr>
              <a:t> block </a:t>
            </a:r>
            <a:r>
              <a:rPr lang="en-IN" dirty="0" smtClean="0"/>
              <a:t>– </a:t>
            </a:r>
            <a:r>
              <a:rPr lang="en-IN" dirty="0" smtClean="0">
                <a:solidFill>
                  <a:schemeClr val="tx1"/>
                </a:solidFill>
              </a:rPr>
              <a:t>contains </a:t>
            </a:r>
            <a:r>
              <a:rPr lang="en-IN" dirty="0" err="1" smtClean="0">
                <a:solidFill>
                  <a:schemeClr val="tx1"/>
                </a:solidFill>
              </a:rPr>
              <a:t>inode</a:t>
            </a:r>
            <a:r>
              <a:rPr lang="en-IN" dirty="0" smtClean="0">
                <a:solidFill>
                  <a:schemeClr val="tx1"/>
                </a:solidFill>
              </a:rPr>
              <a:t> entries, which has attributes of files or directories they correspond to </a:t>
            </a:r>
          </a:p>
          <a:p>
            <a:r>
              <a:rPr lang="en-IN" dirty="0" smtClean="0">
                <a:solidFill>
                  <a:srgbClr val="0000CC"/>
                </a:solidFill>
              </a:rPr>
              <a:t>Data block </a:t>
            </a:r>
            <a:r>
              <a:rPr lang="en-IN" dirty="0" smtClean="0"/>
              <a:t>–  </a:t>
            </a:r>
            <a:r>
              <a:rPr lang="en-IN" dirty="0" smtClean="0">
                <a:solidFill>
                  <a:schemeClr val="tx1"/>
                </a:solidFill>
              </a:rPr>
              <a:t>largest  part of the file system where file content is stored.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2661313" y="1665028"/>
            <a:ext cx="1364777" cy="996285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Super block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053385" y="1678675"/>
            <a:ext cx="1637731" cy="982637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chemeClr val="tx1"/>
                </a:solidFill>
              </a:rPr>
              <a:t>Inode</a:t>
            </a:r>
            <a:endParaRPr lang="en-US" dirty="0" smtClean="0">
              <a:solidFill>
                <a:schemeClr val="tx1"/>
              </a:solidFill>
            </a:endParaRP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block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707627" y="1665029"/>
            <a:ext cx="2147992" cy="996284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Data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block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487606" y="1637732"/>
            <a:ext cx="1173707" cy="996286"/>
          </a:xfrm>
          <a:prstGeom prst="rect">
            <a:avLst/>
          </a:prstGeom>
          <a:ln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Boot</a:t>
            </a:r>
          </a:p>
          <a:p>
            <a:pPr algn="ctr"/>
            <a:r>
              <a:rPr lang="en-US" dirty="0" smtClean="0">
                <a:solidFill>
                  <a:schemeClr val="tx1"/>
                </a:solidFill>
              </a:rPr>
              <a:t>block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487606" y="1665027"/>
            <a:ext cx="6359857" cy="1009934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4" name="Straight Connector 13"/>
          <p:cNvCxnSpPr/>
          <p:nvPr/>
        </p:nvCxnSpPr>
        <p:spPr>
          <a:xfrm>
            <a:off x="2661313" y="1665027"/>
            <a:ext cx="0" cy="10099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4055659" y="1653654"/>
            <a:ext cx="0" cy="10099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720686" y="1653654"/>
            <a:ext cx="0" cy="1009934"/>
          </a:xfrm>
          <a:prstGeom prst="line">
            <a:avLst/>
          </a:prstGeom>
          <a:ln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ext2 - Super block &amp; </a:t>
            </a:r>
            <a:r>
              <a:rPr lang="en-IN" dirty="0" err="1" smtClean="0">
                <a:solidFill>
                  <a:schemeClr val="tx1"/>
                </a:solidFill>
              </a:rPr>
              <a:t>inode</a:t>
            </a:r>
            <a:r>
              <a:rPr lang="en-IN" dirty="0" smtClean="0">
                <a:solidFill>
                  <a:schemeClr val="tx1"/>
                </a:solidFill>
              </a:rPr>
              <a:t> block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3"/>
            <a:ext cx="3838104" cy="5103157"/>
          </a:xfrm>
        </p:spPr>
        <p:txBody>
          <a:bodyPr>
            <a:normAutofit/>
          </a:bodyPr>
          <a:lstStyle/>
          <a:p>
            <a:r>
              <a:rPr lang="en-IN" sz="2000" dirty="0" smtClean="0">
                <a:solidFill>
                  <a:schemeClr val="tx1"/>
                </a:solidFill>
              </a:rPr>
              <a:t>Important entries of super block are :-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Block size (e.g., 1024 etc.)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Number of blocks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Number of </a:t>
            </a:r>
            <a:r>
              <a:rPr lang="en-IN" dirty="0" err="1" smtClean="0">
                <a:solidFill>
                  <a:schemeClr val="tx1"/>
                </a:solidFill>
              </a:rPr>
              <a:t>inodes</a:t>
            </a:r>
            <a:endParaRPr lang="en-IN" dirty="0" smtClean="0">
              <a:solidFill>
                <a:schemeClr val="tx1"/>
              </a:solidFill>
            </a:endParaRP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Number of free blocks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Number of free </a:t>
            </a:r>
            <a:r>
              <a:rPr lang="en-IN" dirty="0" err="1" smtClean="0">
                <a:solidFill>
                  <a:schemeClr val="tx1"/>
                </a:solidFill>
              </a:rPr>
              <a:t>inodes</a:t>
            </a:r>
            <a:endParaRPr lang="en-IN" dirty="0" smtClean="0">
              <a:solidFill>
                <a:schemeClr val="tx1"/>
              </a:solidFill>
            </a:endParaRP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File system state</a:t>
            </a:r>
          </a:p>
          <a:p>
            <a:endParaRPr lang="en-IN" dirty="0" smtClean="0">
              <a:solidFill>
                <a:schemeClr val="tx1"/>
              </a:solidFill>
            </a:endParaRPr>
          </a:p>
          <a:p>
            <a:pPr lvl="1"/>
            <a:endParaRPr lang="en-IN" dirty="0" smtClean="0">
              <a:solidFill>
                <a:schemeClr val="tx1"/>
              </a:solidFill>
            </a:endParaRPr>
          </a:p>
        </p:txBody>
      </p:sp>
      <p:sp>
        <p:nvSpPr>
          <p:cNvPr id="18" name="Text Placeholder 7"/>
          <p:cNvSpPr txBox="1">
            <a:spLocks/>
          </p:cNvSpPr>
          <p:nvPr/>
        </p:nvSpPr>
        <p:spPr>
          <a:xfrm>
            <a:off x="4310742" y="858118"/>
            <a:ext cx="4833257" cy="5103157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Char char="•"/>
              <a:tabLst/>
              <a:defRPr/>
            </a:pPr>
            <a:r>
              <a:rPr kumimoji="0" lang="en-IN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Important entries of </a:t>
            </a:r>
            <a:r>
              <a:rPr kumimoji="0" lang="en-IN" sz="2000" b="0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inode</a:t>
            </a:r>
            <a:r>
              <a:rPr kumimoji="0" lang="en-IN" sz="20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Arial"/>
              </a:rPr>
              <a:t> are :-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File mode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IN" dirty="0" smtClean="0"/>
              <a:t>Owner id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IN" dirty="0" smtClean="0"/>
              <a:t>Group id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File size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Access, creation &amp; modification times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IN" dirty="0" smtClean="0"/>
              <a:t>Link count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Block count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lang="en-IN" dirty="0" smtClean="0"/>
              <a:t>File flags</a:t>
            </a: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15 pointers to blocks </a:t>
            </a:r>
          </a:p>
          <a:p>
            <a:pPr marL="1200150" lvl="2" indent="-285750">
              <a:spcBef>
                <a:spcPct val="20000"/>
              </a:spcBef>
              <a:buClr>
                <a:srgbClr val="0070C0"/>
              </a:buClr>
              <a:buFont typeface="Arial" pitchFamily="34" charset="0"/>
              <a:buChar char="•"/>
            </a:pPr>
            <a:r>
              <a:rPr lang="en-IN" dirty="0" smtClean="0"/>
              <a:t>12 direct pointers to data blocks</a:t>
            </a:r>
          </a:p>
          <a:p>
            <a:pPr marL="1200150" lvl="2" indent="-285750">
              <a:spcBef>
                <a:spcPct val="20000"/>
              </a:spcBef>
              <a:buClr>
                <a:srgbClr val="0070C0"/>
              </a:buClr>
              <a:buFont typeface="Arial" pitchFamily="34" charset="0"/>
              <a:buChar char="•"/>
            </a:pPr>
            <a:r>
              <a:rPr kumimoji="0" lang="en-IN" b="0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1</a:t>
            </a:r>
            <a:r>
              <a:rPr kumimoji="0" lang="en-IN" b="0" i="0" u="none" strike="noStrike" kern="1200" cap="none" spc="0" normalizeH="0" noProof="0" dirty="0" smtClean="0">
                <a:ln>
                  <a:noFill/>
                </a:ln>
                <a:effectLst/>
                <a:uLnTx/>
                <a:uFillTx/>
                <a:latin typeface="+mn-lt"/>
                <a:ea typeface="+mn-ea"/>
                <a:cs typeface="+mn-cs"/>
              </a:rPr>
              <a:t> indirect pointer to data block</a:t>
            </a:r>
          </a:p>
          <a:p>
            <a:pPr marL="1200150" lvl="2" indent="-285750">
              <a:spcBef>
                <a:spcPct val="20000"/>
              </a:spcBef>
              <a:buClr>
                <a:srgbClr val="0070C0"/>
              </a:buClr>
              <a:buFont typeface="Arial" pitchFamily="34" charset="0"/>
              <a:buChar char="•"/>
            </a:pPr>
            <a:r>
              <a:rPr lang="en-IN" baseline="0" dirty="0" smtClean="0"/>
              <a:t>1 double indirect pointer to data block</a:t>
            </a:r>
          </a:p>
          <a:p>
            <a:pPr marL="1200150" lvl="2" indent="-285750">
              <a:spcBef>
                <a:spcPct val="20000"/>
              </a:spcBef>
              <a:buClr>
                <a:srgbClr val="0070C0"/>
              </a:buClr>
              <a:buFont typeface="Arial" pitchFamily="34" charset="0"/>
              <a:buChar char="•"/>
            </a:pPr>
            <a:r>
              <a:rPr lang="en-IN" dirty="0" smtClean="0"/>
              <a:t>1  triple indirect pointer to data block</a:t>
            </a:r>
            <a:endParaRPr lang="en-IN" baseline="0" dirty="0" smtClean="0"/>
          </a:p>
          <a:p>
            <a:pPr marL="1200150" lvl="2" indent="-285750">
              <a:spcBef>
                <a:spcPct val="20000"/>
              </a:spcBef>
              <a:buClr>
                <a:srgbClr val="0070C0"/>
              </a:buClr>
              <a:buFont typeface="Arial" pitchFamily="34" charset="0"/>
              <a:buChar char="•"/>
            </a:pPr>
            <a:endParaRPr kumimoji="0" lang="en-IN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Char char="•"/>
              <a:tabLst/>
              <a:defRPr/>
            </a:pPr>
            <a:endParaRPr kumimoji="0" lang="en-IN" sz="22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Arial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 smtClean="0">
              <a:ln>
                <a:noFill/>
              </a:ln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4143983" y="1070043"/>
            <a:ext cx="0" cy="5389123"/>
          </a:xfrm>
          <a:prstGeom prst="line">
            <a:avLst/>
          </a:prstGeom>
          <a:ln w="254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ext2 - </a:t>
            </a:r>
            <a:r>
              <a:rPr lang="en-IN" dirty="0" err="1" smtClean="0"/>
              <a:t>inode</a:t>
            </a:r>
            <a:r>
              <a:rPr lang="en-IN" dirty="0" smtClean="0"/>
              <a:t> pointers to data blocks</a:t>
            </a:r>
            <a:endParaRPr lang="en-IN" dirty="0"/>
          </a:p>
        </p:txBody>
      </p:sp>
      <p:grpSp>
        <p:nvGrpSpPr>
          <p:cNvPr id="2" name="Group 88"/>
          <p:cNvGrpSpPr/>
          <p:nvPr/>
        </p:nvGrpSpPr>
        <p:grpSpPr>
          <a:xfrm>
            <a:off x="506680" y="1059224"/>
            <a:ext cx="8073238" cy="4680850"/>
            <a:chOff x="506680" y="1059224"/>
            <a:chExt cx="8073238" cy="4680850"/>
          </a:xfrm>
        </p:grpSpPr>
        <p:sp>
          <p:nvSpPr>
            <p:cNvPr id="91" name="TextBox 90"/>
            <p:cNvSpPr txBox="1"/>
            <p:nvPr/>
          </p:nvSpPr>
          <p:spPr>
            <a:xfrm>
              <a:off x="985650" y="1795499"/>
              <a:ext cx="581890" cy="46166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r>
                <a:rPr lang="en-US" sz="2400" b="1" dirty="0" smtClean="0">
                  <a:solidFill>
                    <a:schemeClr val="tx1"/>
                  </a:solidFill>
                </a:rPr>
                <a:t>…</a:t>
              </a:r>
            </a:p>
          </p:txBody>
        </p:sp>
        <p:sp>
          <p:nvSpPr>
            <p:cNvPr id="6" name="Rectangle 5"/>
            <p:cNvSpPr/>
            <p:nvPr/>
          </p:nvSpPr>
          <p:spPr>
            <a:xfrm>
              <a:off x="512614" y="1071098"/>
              <a:ext cx="1494312" cy="2968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1</a:t>
              </a:r>
              <a:r>
                <a:rPr lang="en-US" sz="1400" baseline="30000" dirty="0" smtClean="0"/>
                <a:t>st</a:t>
              </a:r>
              <a:r>
                <a:rPr lang="en-US" sz="1400" dirty="0" smtClean="0"/>
                <a:t> direct </a:t>
              </a:r>
              <a:endParaRPr lang="en-US" sz="1400" dirty="0"/>
            </a:p>
          </p:txBody>
        </p:sp>
        <p:sp>
          <p:nvSpPr>
            <p:cNvPr id="9" name="Rectangle 8"/>
            <p:cNvSpPr/>
            <p:nvPr/>
          </p:nvSpPr>
          <p:spPr>
            <a:xfrm>
              <a:off x="510638" y="1366003"/>
              <a:ext cx="1494312" cy="2968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2</a:t>
              </a:r>
              <a:r>
                <a:rPr lang="en-US" sz="1400" baseline="30000" dirty="0" smtClean="0"/>
                <a:t>nd</a:t>
              </a:r>
              <a:r>
                <a:rPr lang="en-US" sz="1400" dirty="0" smtClean="0"/>
                <a:t> direct</a:t>
              </a:r>
              <a:endParaRPr lang="en-US" sz="1400" dirty="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510635" y="1662885"/>
              <a:ext cx="1494312" cy="2968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3</a:t>
              </a:r>
              <a:r>
                <a:rPr lang="en-US" sz="1400" baseline="30000" dirty="0" smtClean="0"/>
                <a:t>rd</a:t>
              </a:r>
              <a:r>
                <a:rPr lang="en-US" sz="1400" dirty="0" smtClean="0"/>
                <a:t> direct</a:t>
              </a:r>
              <a:endParaRPr lang="en-US" sz="1400" dirty="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508656" y="2254680"/>
              <a:ext cx="1494312" cy="2968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11</a:t>
              </a:r>
              <a:r>
                <a:rPr lang="en-US" sz="1400" baseline="30000" dirty="0" smtClean="0"/>
                <a:t>th</a:t>
              </a:r>
              <a:r>
                <a:rPr lang="en-US" sz="1400" dirty="0" smtClean="0"/>
                <a:t> direct</a:t>
              </a:r>
              <a:endParaRPr lang="en-US" sz="1400" dirty="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510635" y="2553542"/>
              <a:ext cx="1494312" cy="2968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12</a:t>
              </a:r>
              <a:r>
                <a:rPr lang="en-US" sz="1400" baseline="30000" dirty="0" smtClean="0"/>
                <a:t>th</a:t>
              </a:r>
              <a:r>
                <a:rPr lang="en-US" sz="1400" dirty="0" smtClean="0"/>
                <a:t> direct</a:t>
              </a:r>
              <a:endParaRPr lang="en-US" sz="1400" dirty="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508659" y="2848447"/>
              <a:ext cx="1494312" cy="2968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13</a:t>
              </a:r>
              <a:r>
                <a:rPr lang="en-US" sz="1400" baseline="30000" dirty="0" smtClean="0"/>
                <a:t>th</a:t>
              </a:r>
              <a:r>
                <a:rPr lang="en-US" sz="1400" dirty="0" smtClean="0"/>
                <a:t> direct</a:t>
              </a:r>
              <a:endParaRPr lang="en-US" sz="1400" dirty="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508656" y="3145329"/>
              <a:ext cx="1494312" cy="2968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Indirect</a:t>
              </a:r>
              <a:endParaRPr lang="en-US" sz="1400" dirty="0"/>
            </a:p>
          </p:txBody>
        </p:sp>
        <p:sp>
          <p:nvSpPr>
            <p:cNvPr id="17" name="Rectangle 16"/>
            <p:cNvSpPr/>
            <p:nvPr/>
          </p:nvSpPr>
          <p:spPr>
            <a:xfrm>
              <a:off x="508656" y="3442212"/>
              <a:ext cx="1494312" cy="2968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Double indirect</a:t>
              </a:r>
              <a:endParaRPr lang="en-US" sz="1400" dirty="0"/>
            </a:p>
          </p:txBody>
        </p:sp>
        <p:sp>
          <p:nvSpPr>
            <p:cNvPr id="19" name="Rectangle 18"/>
            <p:cNvSpPr/>
            <p:nvPr/>
          </p:nvSpPr>
          <p:spPr>
            <a:xfrm>
              <a:off x="506680" y="3737117"/>
              <a:ext cx="1494312" cy="296883"/>
            </a:xfrm>
            <a:prstGeom prst="rect">
              <a:avLst/>
            </a:prstGeom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 smtClean="0"/>
                <a:t>Triple indirect</a:t>
              </a:r>
              <a:endParaRPr lang="en-US" sz="1400" dirty="0"/>
            </a:p>
          </p:txBody>
        </p:sp>
        <p:cxnSp>
          <p:nvCxnSpPr>
            <p:cNvPr id="30" name="Elbow Connector 29"/>
            <p:cNvCxnSpPr/>
            <p:nvPr/>
          </p:nvCxnSpPr>
          <p:spPr>
            <a:xfrm>
              <a:off x="5785259" y="4427852"/>
              <a:ext cx="710540" cy="253340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prstDash val="dash"/>
              <a:tailEnd type="arrow"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Elbow Connector 43"/>
            <p:cNvCxnSpPr>
              <a:endCxn id="23" idx="1"/>
            </p:cNvCxnSpPr>
            <p:nvPr/>
          </p:nvCxnSpPr>
          <p:spPr>
            <a:xfrm>
              <a:off x="1995050" y="3594611"/>
              <a:ext cx="1583381" cy="633338"/>
            </a:xfrm>
            <a:prstGeom prst="bentConnector3">
              <a:avLst>
                <a:gd name="adj1" fmla="val 49250"/>
              </a:avLst>
            </a:prstGeom>
            <a:ln w="19050">
              <a:solidFill>
                <a:schemeClr val="tx1"/>
              </a:solidFill>
              <a:prstDash val="dash"/>
              <a:tailEnd type="arrow"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Elbow Connector 44"/>
            <p:cNvCxnSpPr/>
            <p:nvPr/>
          </p:nvCxnSpPr>
          <p:spPr>
            <a:xfrm>
              <a:off x="4203862" y="4194321"/>
              <a:ext cx="876795" cy="247401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prstDash val="dash"/>
              <a:tailEnd type="arrow"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" name="Group 68"/>
            <p:cNvGrpSpPr/>
            <p:nvPr/>
          </p:nvGrpSpPr>
          <p:grpSpPr>
            <a:xfrm>
              <a:off x="3578431" y="4079507"/>
              <a:ext cx="744186" cy="296883"/>
              <a:chOff x="2569031" y="4991592"/>
              <a:chExt cx="744186" cy="296883"/>
            </a:xfrm>
          </p:grpSpPr>
          <p:sp>
            <p:nvSpPr>
              <p:cNvPr id="23" name="Rectangle 22"/>
              <p:cNvSpPr/>
              <p:nvPr/>
            </p:nvSpPr>
            <p:spPr>
              <a:xfrm>
                <a:off x="2569031" y="4991592"/>
                <a:ext cx="744186" cy="29688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47" name="Straight Connector 46"/>
              <p:cNvCxnSpPr/>
              <p:nvPr/>
            </p:nvCxnSpPr>
            <p:spPr>
              <a:xfrm>
                <a:off x="2576946" y="5035138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/>
              <p:cNvCxnSpPr/>
              <p:nvPr/>
            </p:nvCxnSpPr>
            <p:spPr>
              <a:xfrm>
                <a:off x="2574971" y="5080663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>
              <a:xfrm>
                <a:off x="2574967" y="5128162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/>
              <p:cNvCxnSpPr/>
              <p:nvPr/>
            </p:nvCxnSpPr>
            <p:spPr>
              <a:xfrm>
                <a:off x="2584867" y="5233062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/>
              <p:cNvCxnSpPr/>
              <p:nvPr/>
            </p:nvCxnSpPr>
            <p:spPr>
              <a:xfrm flipV="1">
                <a:off x="2778826" y="5189517"/>
                <a:ext cx="261257" cy="1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69"/>
            <p:cNvGrpSpPr/>
            <p:nvPr/>
          </p:nvGrpSpPr>
          <p:grpSpPr>
            <a:xfrm>
              <a:off x="5072742" y="4315035"/>
              <a:ext cx="744186" cy="296883"/>
              <a:chOff x="2569031" y="4991592"/>
              <a:chExt cx="744186" cy="296883"/>
            </a:xfrm>
          </p:grpSpPr>
          <p:sp>
            <p:nvSpPr>
              <p:cNvPr id="71" name="Rectangle 70"/>
              <p:cNvSpPr/>
              <p:nvPr/>
            </p:nvSpPr>
            <p:spPr>
              <a:xfrm>
                <a:off x="2569031" y="4991592"/>
                <a:ext cx="744186" cy="29688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72" name="Straight Connector 71"/>
              <p:cNvCxnSpPr/>
              <p:nvPr/>
            </p:nvCxnSpPr>
            <p:spPr>
              <a:xfrm>
                <a:off x="2576946" y="5035138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>
              <a:xfrm>
                <a:off x="2574971" y="5080663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>
              <a:xfrm>
                <a:off x="2574967" y="5128162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>
              <a:xfrm>
                <a:off x="2584867" y="5233062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>
              <a:xfrm flipV="1">
                <a:off x="2778826" y="5189517"/>
                <a:ext cx="261257" cy="1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7" name="Elbow Connector 76"/>
            <p:cNvCxnSpPr>
              <a:endCxn id="81" idx="1"/>
            </p:cNvCxnSpPr>
            <p:nvPr/>
          </p:nvCxnSpPr>
          <p:spPr>
            <a:xfrm>
              <a:off x="2004946" y="3307625"/>
              <a:ext cx="1975264" cy="288964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prstDash val="dash"/>
              <a:tailEnd type="arrow"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79"/>
            <p:cNvGrpSpPr/>
            <p:nvPr/>
          </p:nvGrpSpPr>
          <p:grpSpPr>
            <a:xfrm>
              <a:off x="3980210" y="3448147"/>
              <a:ext cx="744186" cy="296883"/>
              <a:chOff x="2569031" y="4991592"/>
              <a:chExt cx="744186" cy="296883"/>
            </a:xfrm>
          </p:grpSpPr>
          <p:sp>
            <p:nvSpPr>
              <p:cNvPr id="81" name="Rectangle 80"/>
              <p:cNvSpPr/>
              <p:nvPr/>
            </p:nvSpPr>
            <p:spPr>
              <a:xfrm>
                <a:off x="2569031" y="4991592"/>
                <a:ext cx="744186" cy="29688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2" name="Straight Connector 81"/>
              <p:cNvCxnSpPr/>
              <p:nvPr/>
            </p:nvCxnSpPr>
            <p:spPr>
              <a:xfrm>
                <a:off x="2576946" y="5035138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/>
              <p:cNvCxnSpPr/>
              <p:nvPr/>
            </p:nvCxnSpPr>
            <p:spPr>
              <a:xfrm>
                <a:off x="2574971" y="5080663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/>
              <p:cNvCxnSpPr/>
              <p:nvPr/>
            </p:nvCxnSpPr>
            <p:spPr>
              <a:xfrm>
                <a:off x="2574967" y="5128162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/>
              <p:cNvCxnSpPr/>
              <p:nvPr/>
            </p:nvCxnSpPr>
            <p:spPr>
              <a:xfrm>
                <a:off x="2584867" y="5233062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/>
              <p:cNvCxnSpPr/>
              <p:nvPr/>
            </p:nvCxnSpPr>
            <p:spPr>
              <a:xfrm flipV="1">
                <a:off x="2778826" y="5189517"/>
                <a:ext cx="261257" cy="1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94" name="Straight Connector 93"/>
            <p:cNvCxnSpPr/>
            <p:nvPr/>
          </p:nvCxnSpPr>
          <p:spPr>
            <a:xfrm>
              <a:off x="2006925" y="1961748"/>
              <a:ext cx="0" cy="3087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Connector 94"/>
            <p:cNvCxnSpPr/>
            <p:nvPr/>
          </p:nvCxnSpPr>
          <p:spPr>
            <a:xfrm>
              <a:off x="508655" y="1936019"/>
              <a:ext cx="0" cy="308758"/>
            </a:xfrm>
            <a:prstGeom prst="line">
              <a:avLst/>
            </a:prstGeom>
            <a:ln>
              <a:solidFill>
                <a:schemeClr val="tx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Elbow Connector 99"/>
            <p:cNvCxnSpPr/>
            <p:nvPr/>
          </p:nvCxnSpPr>
          <p:spPr>
            <a:xfrm>
              <a:off x="4726376" y="3570849"/>
              <a:ext cx="710540" cy="253340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prstDash val="dash"/>
              <a:tailEnd type="arrow"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Elbow Connector 101"/>
            <p:cNvCxnSpPr/>
            <p:nvPr/>
          </p:nvCxnSpPr>
          <p:spPr>
            <a:xfrm>
              <a:off x="6697683" y="5340267"/>
              <a:ext cx="710540" cy="253340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prstDash val="dash"/>
              <a:tailEnd type="arrow"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Elbow Connector 103"/>
            <p:cNvCxnSpPr/>
            <p:nvPr/>
          </p:nvCxnSpPr>
          <p:spPr>
            <a:xfrm>
              <a:off x="1995053" y="3909304"/>
              <a:ext cx="985649" cy="878771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prstDash val="dash"/>
              <a:tailEnd type="arrow"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Elbow Connector 104"/>
            <p:cNvCxnSpPr/>
            <p:nvPr/>
          </p:nvCxnSpPr>
          <p:spPr>
            <a:xfrm>
              <a:off x="5092542" y="5059219"/>
              <a:ext cx="876795" cy="247401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prstDash val="dash"/>
              <a:tailEnd type="arrow"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" name="Group 105"/>
            <p:cNvGrpSpPr/>
            <p:nvPr/>
          </p:nvGrpSpPr>
          <p:grpSpPr>
            <a:xfrm>
              <a:off x="4467111" y="4944405"/>
              <a:ext cx="744186" cy="296883"/>
              <a:chOff x="2569031" y="4991592"/>
              <a:chExt cx="744186" cy="296883"/>
            </a:xfrm>
          </p:grpSpPr>
          <p:sp>
            <p:nvSpPr>
              <p:cNvPr id="107" name="Rectangle 106"/>
              <p:cNvSpPr/>
              <p:nvPr/>
            </p:nvSpPr>
            <p:spPr>
              <a:xfrm>
                <a:off x="2569031" y="4991592"/>
                <a:ext cx="744186" cy="29688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08" name="Straight Connector 107"/>
              <p:cNvCxnSpPr/>
              <p:nvPr/>
            </p:nvCxnSpPr>
            <p:spPr>
              <a:xfrm>
                <a:off x="2576946" y="5035138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/>
              <p:cNvCxnSpPr/>
              <p:nvPr/>
            </p:nvCxnSpPr>
            <p:spPr>
              <a:xfrm>
                <a:off x="2574971" y="5080663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Straight Connector 109"/>
              <p:cNvCxnSpPr/>
              <p:nvPr/>
            </p:nvCxnSpPr>
            <p:spPr>
              <a:xfrm>
                <a:off x="2574967" y="5128162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/>
              <p:cNvCxnSpPr/>
              <p:nvPr/>
            </p:nvCxnSpPr>
            <p:spPr>
              <a:xfrm>
                <a:off x="2584867" y="5233062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/>
              <p:cNvCxnSpPr/>
              <p:nvPr/>
            </p:nvCxnSpPr>
            <p:spPr>
              <a:xfrm flipV="1">
                <a:off x="2778826" y="5189517"/>
                <a:ext cx="261257" cy="1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12"/>
            <p:cNvGrpSpPr/>
            <p:nvPr/>
          </p:nvGrpSpPr>
          <p:grpSpPr>
            <a:xfrm>
              <a:off x="5961422" y="5179933"/>
              <a:ext cx="744186" cy="296883"/>
              <a:chOff x="2569031" y="4991592"/>
              <a:chExt cx="744186" cy="296883"/>
            </a:xfrm>
          </p:grpSpPr>
          <p:sp>
            <p:nvSpPr>
              <p:cNvPr id="114" name="Rectangle 113"/>
              <p:cNvSpPr/>
              <p:nvPr/>
            </p:nvSpPr>
            <p:spPr>
              <a:xfrm>
                <a:off x="2569031" y="4991592"/>
                <a:ext cx="744186" cy="29688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15" name="Straight Connector 114"/>
              <p:cNvCxnSpPr/>
              <p:nvPr/>
            </p:nvCxnSpPr>
            <p:spPr>
              <a:xfrm>
                <a:off x="2576946" y="5035138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/>
              <p:cNvCxnSpPr/>
              <p:nvPr/>
            </p:nvCxnSpPr>
            <p:spPr>
              <a:xfrm>
                <a:off x="2574971" y="5080663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/>
              <p:cNvCxnSpPr/>
              <p:nvPr/>
            </p:nvCxnSpPr>
            <p:spPr>
              <a:xfrm>
                <a:off x="2574967" y="5128162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/>
              <p:cNvCxnSpPr/>
              <p:nvPr/>
            </p:nvCxnSpPr>
            <p:spPr>
              <a:xfrm>
                <a:off x="2584867" y="5233062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9" name="Straight Connector 118"/>
              <p:cNvCxnSpPr/>
              <p:nvPr/>
            </p:nvCxnSpPr>
            <p:spPr>
              <a:xfrm flipV="1">
                <a:off x="2778826" y="5189517"/>
                <a:ext cx="261257" cy="1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30" name="Elbow Connector 129"/>
            <p:cNvCxnSpPr/>
            <p:nvPr/>
          </p:nvCxnSpPr>
          <p:spPr>
            <a:xfrm>
              <a:off x="3619992" y="4797983"/>
              <a:ext cx="876795" cy="247401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tx1"/>
              </a:solidFill>
              <a:prstDash val="dash"/>
              <a:tailEnd type="arrow"/>
            </a:ln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2" name="Group 130"/>
            <p:cNvGrpSpPr/>
            <p:nvPr/>
          </p:nvGrpSpPr>
          <p:grpSpPr>
            <a:xfrm>
              <a:off x="2994561" y="4683169"/>
              <a:ext cx="744186" cy="296883"/>
              <a:chOff x="2569031" y="4991592"/>
              <a:chExt cx="744186" cy="296883"/>
            </a:xfrm>
          </p:grpSpPr>
          <p:sp>
            <p:nvSpPr>
              <p:cNvPr id="132" name="Rectangle 131"/>
              <p:cNvSpPr/>
              <p:nvPr/>
            </p:nvSpPr>
            <p:spPr>
              <a:xfrm>
                <a:off x="2569031" y="4991592"/>
                <a:ext cx="744186" cy="296883"/>
              </a:xfrm>
              <a:prstGeom prst="rect">
                <a:avLst/>
              </a:prstGeom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133" name="Straight Connector 132"/>
              <p:cNvCxnSpPr/>
              <p:nvPr/>
            </p:nvCxnSpPr>
            <p:spPr>
              <a:xfrm>
                <a:off x="2576946" y="5035138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4" name="Straight Connector 133"/>
              <p:cNvCxnSpPr/>
              <p:nvPr/>
            </p:nvCxnSpPr>
            <p:spPr>
              <a:xfrm>
                <a:off x="2574971" y="5080663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5" name="Straight Connector 134"/>
              <p:cNvCxnSpPr/>
              <p:nvPr/>
            </p:nvCxnSpPr>
            <p:spPr>
              <a:xfrm>
                <a:off x="2574967" y="5128162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Straight Connector 135"/>
              <p:cNvCxnSpPr/>
              <p:nvPr/>
            </p:nvCxnSpPr>
            <p:spPr>
              <a:xfrm>
                <a:off x="2584867" y="5233062"/>
                <a:ext cx="71251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Straight Connector 136"/>
              <p:cNvCxnSpPr/>
              <p:nvPr/>
            </p:nvCxnSpPr>
            <p:spPr>
              <a:xfrm flipV="1">
                <a:off x="2778826" y="5189517"/>
                <a:ext cx="261257" cy="1"/>
              </a:xfrm>
              <a:prstGeom prst="line">
                <a:avLst/>
              </a:prstGeom>
              <a:ln w="25400">
                <a:solidFill>
                  <a:schemeClr val="tx1"/>
                </a:solidFill>
                <a:prstDash val="sysDash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143" name="Straight Arrow Connector 142"/>
            <p:cNvCxnSpPr>
              <a:stCxn id="6" idx="3"/>
              <a:endCxn id="144" idx="1"/>
            </p:cNvCxnSpPr>
            <p:nvPr/>
          </p:nvCxnSpPr>
          <p:spPr>
            <a:xfrm flipV="1">
              <a:off x="2006926" y="1217559"/>
              <a:ext cx="765341" cy="1981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4" name="Rectangle 143"/>
            <p:cNvSpPr/>
            <p:nvPr/>
          </p:nvSpPr>
          <p:spPr>
            <a:xfrm>
              <a:off x="2772267" y="1059224"/>
              <a:ext cx="1163780" cy="316669"/>
            </a:xfrm>
            <a:prstGeom prst="rect">
              <a:avLst/>
            </a:prstGeom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/>
                <a:t>File data</a:t>
              </a:r>
              <a:endParaRPr lang="en-US" sz="1200" b="1" dirty="0"/>
            </a:p>
          </p:txBody>
        </p:sp>
        <p:cxnSp>
          <p:nvCxnSpPr>
            <p:cNvPr id="145" name="Straight Arrow Connector 144"/>
            <p:cNvCxnSpPr/>
            <p:nvPr/>
          </p:nvCxnSpPr>
          <p:spPr>
            <a:xfrm flipV="1">
              <a:off x="2040576" y="1805377"/>
              <a:ext cx="748145" cy="5938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Rectangle 146"/>
            <p:cNvSpPr/>
            <p:nvPr/>
          </p:nvSpPr>
          <p:spPr>
            <a:xfrm>
              <a:off x="2776845" y="1662886"/>
              <a:ext cx="1163780" cy="316669"/>
            </a:xfrm>
            <a:prstGeom prst="rect">
              <a:avLst/>
            </a:prstGeom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/>
                <a:t>File data</a:t>
              </a:r>
              <a:endParaRPr lang="en-US" sz="1200" b="1" dirty="0"/>
            </a:p>
          </p:txBody>
        </p:sp>
        <p:cxnSp>
          <p:nvCxnSpPr>
            <p:cNvPr id="148" name="Straight Arrow Connector 147"/>
            <p:cNvCxnSpPr/>
            <p:nvPr/>
          </p:nvCxnSpPr>
          <p:spPr>
            <a:xfrm flipV="1">
              <a:off x="2014846" y="3002806"/>
              <a:ext cx="748145" cy="5938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49" name="Rectangle 148"/>
            <p:cNvSpPr/>
            <p:nvPr/>
          </p:nvSpPr>
          <p:spPr>
            <a:xfrm>
              <a:off x="2751115" y="2860315"/>
              <a:ext cx="1163780" cy="316669"/>
            </a:xfrm>
            <a:prstGeom prst="rect">
              <a:avLst/>
            </a:prstGeom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/>
                <a:t>File data</a:t>
              </a:r>
              <a:endParaRPr lang="en-US" sz="1200" b="1" dirty="0"/>
            </a:p>
          </p:txBody>
        </p:sp>
        <p:cxnSp>
          <p:nvCxnSpPr>
            <p:cNvPr id="150" name="Straight Arrow Connector 149"/>
            <p:cNvCxnSpPr/>
            <p:nvPr/>
          </p:nvCxnSpPr>
          <p:spPr>
            <a:xfrm flipV="1">
              <a:off x="2014846" y="2444666"/>
              <a:ext cx="748145" cy="5938"/>
            </a:xfrm>
            <a:prstGeom prst="straightConnector1">
              <a:avLst/>
            </a:prstGeom>
            <a:ln>
              <a:solidFill>
                <a:schemeClr val="tx1"/>
              </a:solidFill>
              <a:prstDash val="dash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51" name="Rectangle 150"/>
            <p:cNvSpPr/>
            <p:nvPr/>
          </p:nvSpPr>
          <p:spPr>
            <a:xfrm>
              <a:off x="2751115" y="2302175"/>
              <a:ext cx="1163780" cy="316669"/>
            </a:xfrm>
            <a:prstGeom prst="rect">
              <a:avLst/>
            </a:prstGeom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/>
                <a:t>File data</a:t>
              </a:r>
              <a:endParaRPr lang="en-US" sz="1200" b="1" dirty="0"/>
            </a:p>
          </p:txBody>
        </p:sp>
        <p:sp>
          <p:nvSpPr>
            <p:cNvPr id="152" name="Rectangle 151"/>
            <p:cNvSpPr/>
            <p:nvPr/>
          </p:nvSpPr>
          <p:spPr>
            <a:xfrm>
              <a:off x="5444834" y="3665858"/>
              <a:ext cx="1163780" cy="316669"/>
            </a:xfrm>
            <a:prstGeom prst="rect">
              <a:avLst/>
            </a:prstGeom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/>
                <a:t>File data</a:t>
              </a:r>
              <a:endParaRPr lang="en-US" sz="1200" b="1" dirty="0"/>
            </a:p>
          </p:txBody>
        </p:sp>
        <p:sp>
          <p:nvSpPr>
            <p:cNvPr id="153" name="Rectangle 152"/>
            <p:cNvSpPr/>
            <p:nvPr/>
          </p:nvSpPr>
          <p:spPr>
            <a:xfrm>
              <a:off x="6501738" y="4509006"/>
              <a:ext cx="1163780" cy="316669"/>
            </a:xfrm>
            <a:prstGeom prst="rect">
              <a:avLst/>
            </a:prstGeom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/>
                <a:t>File data</a:t>
              </a:r>
              <a:endParaRPr lang="en-US" sz="1200" b="1" dirty="0"/>
            </a:p>
          </p:txBody>
        </p:sp>
        <p:sp>
          <p:nvSpPr>
            <p:cNvPr id="154" name="Rectangle 153"/>
            <p:cNvSpPr/>
            <p:nvPr/>
          </p:nvSpPr>
          <p:spPr>
            <a:xfrm>
              <a:off x="7416138" y="5423405"/>
              <a:ext cx="1163780" cy="316669"/>
            </a:xfrm>
            <a:prstGeom prst="rect">
              <a:avLst/>
            </a:prstGeom>
            <a:effectLst>
              <a:innerShdw blurRad="63500" dist="50800" dir="18900000">
                <a:prstClr val="black">
                  <a:alpha val="50000"/>
                </a:prstClr>
              </a:innerShdw>
            </a:effectLst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b="1" dirty="0" smtClean="0"/>
                <a:t>File data</a:t>
              </a:r>
              <a:endParaRPr lang="en-US" sz="1200" b="1" dirty="0"/>
            </a:p>
          </p:txBody>
        </p:sp>
        <p:sp>
          <p:nvSpPr>
            <p:cNvPr id="156" name="Line Callout 2 (Accent Bar) 155"/>
            <p:cNvSpPr/>
            <p:nvPr/>
          </p:nvSpPr>
          <p:spPr>
            <a:xfrm>
              <a:off x="5679951" y="2681696"/>
              <a:ext cx="1175657" cy="320634"/>
            </a:xfrm>
            <a:prstGeom prst="accentCallout2">
              <a:avLst>
                <a:gd name="adj1" fmla="val 37269"/>
                <a:gd name="adj2" fmla="val 810"/>
                <a:gd name="adj3" fmla="val 74084"/>
                <a:gd name="adj4" fmla="val -50315"/>
                <a:gd name="adj5" fmla="val 218843"/>
                <a:gd name="adj6" fmla="val -88974"/>
              </a:avLst>
            </a:prstGeom>
            <a:ln w="12700">
              <a:solidFill>
                <a:srgbClr val="0000FF"/>
              </a:solidFill>
              <a:tailEnd type="triangle"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200" dirty="0" smtClean="0">
                  <a:solidFill>
                    <a:srgbClr val="0000CC"/>
                  </a:solidFill>
                </a:rPr>
                <a:t>Address block</a:t>
              </a:r>
              <a:endParaRPr lang="en-US" sz="1200" dirty="0">
                <a:solidFill>
                  <a:srgbClr val="0000CC"/>
                </a:solidFill>
              </a:endParaRPr>
            </a:p>
          </p:txBody>
        </p:sp>
        <p:sp>
          <p:nvSpPr>
            <p:cNvPr id="87" name="Line Callout 2 (Accent Bar) 86"/>
            <p:cNvSpPr/>
            <p:nvPr/>
          </p:nvSpPr>
          <p:spPr>
            <a:xfrm>
              <a:off x="7347253" y="3339065"/>
              <a:ext cx="1175657" cy="320634"/>
            </a:xfrm>
            <a:prstGeom prst="accentCallout2">
              <a:avLst>
                <a:gd name="adj1" fmla="val 37269"/>
                <a:gd name="adj2" fmla="val 810"/>
                <a:gd name="adj3" fmla="val 36953"/>
                <a:gd name="adj4" fmla="val -35224"/>
                <a:gd name="adj5" fmla="val 112974"/>
                <a:gd name="adj6" fmla="val -60818"/>
              </a:avLst>
            </a:prstGeom>
            <a:ln w="12700">
              <a:solidFill>
                <a:srgbClr val="0000FF"/>
              </a:solidFill>
              <a:tailEnd type="triangle"/>
            </a:ln>
            <a:effectLst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dirty="0" smtClean="0">
                  <a:solidFill>
                    <a:srgbClr val="0000CC"/>
                  </a:solidFill>
                </a:rPr>
                <a:t>Data block</a:t>
              </a:r>
              <a:endParaRPr lang="en-US" sz="1200" dirty="0">
                <a:solidFill>
                  <a:srgbClr val="0000CC"/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Files System Hierarchy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Oval 4"/>
          <p:cNvSpPr/>
          <p:nvPr/>
        </p:nvSpPr>
        <p:spPr>
          <a:xfrm>
            <a:off x="3373120" y="1889760"/>
            <a:ext cx="1422400" cy="6705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200" b="1" dirty="0" smtClean="0">
                <a:solidFill>
                  <a:schemeClr val="tx1"/>
                </a:solidFill>
              </a:rPr>
              <a:t>/</a:t>
            </a:r>
            <a:endParaRPr lang="en-US" sz="2200" b="1" dirty="0">
              <a:solidFill>
                <a:schemeClr val="tx1"/>
              </a:solidFill>
            </a:endParaRPr>
          </a:p>
        </p:txBody>
      </p:sp>
      <p:sp>
        <p:nvSpPr>
          <p:cNvPr id="7" name="Oval 6"/>
          <p:cNvSpPr/>
          <p:nvPr/>
        </p:nvSpPr>
        <p:spPr>
          <a:xfrm>
            <a:off x="91440" y="3078480"/>
            <a:ext cx="1178560" cy="609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 smtClean="0">
                <a:solidFill>
                  <a:schemeClr val="tx1"/>
                </a:solidFill>
              </a:rPr>
              <a:t>usr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8" name="Oval 7"/>
          <p:cNvSpPr/>
          <p:nvPr/>
        </p:nvSpPr>
        <p:spPr>
          <a:xfrm>
            <a:off x="1483360" y="3088640"/>
            <a:ext cx="1178560" cy="609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etc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1" name="Oval 10"/>
          <p:cNvSpPr/>
          <p:nvPr/>
        </p:nvSpPr>
        <p:spPr>
          <a:xfrm>
            <a:off x="3037840" y="3098800"/>
            <a:ext cx="1178560" cy="609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home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2" name="Oval 11"/>
          <p:cNvSpPr/>
          <p:nvPr/>
        </p:nvSpPr>
        <p:spPr>
          <a:xfrm>
            <a:off x="7457440" y="3088640"/>
            <a:ext cx="1178560" cy="609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etc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4551680" y="3108960"/>
            <a:ext cx="1178560" cy="609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dev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81280" y="4429760"/>
            <a:ext cx="1198880" cy="6705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lib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5" name="Oval 14"/>
          <p:cNvSpPr/>
          <p:nvPr/>
        </p:nvSpPr>
        <p:spPr>
          <a:xfrm>
            <a:off x="1513840" y="4419600"/>
            <a:ext cx="1198880" cy="6705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bin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7" name="Oval 16"/>
          <p:cNvSpPr/>
          <p:nvPr/>
        </p:nvSpPr>
        <p:spPr>
          <a:xfrm>
            <a:off x="4511040" y="4409440"/>
            <a:ext cx="1198880" cy="6705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sys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8" name="Oval 17"/>
          <p:cNvSpPr/>
          <p:nvPr/>
        </p:nvSpPr>
        <p:spPr>
          <a:xfrm>
            <a:off x="7325360" y="4399280"/>
            <a:ext cx="1198880" cy="6705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err="1" smtClean="0">
                <a:solidFill>
                  <a:schemeClr val="tx1"/>
                </a:solidFill>
              </a:rPr>
              <a:t>fs</a:t>
            </a:r>
            <a:endParaRPr lang="en-US" b="1" dirty="0">
              <a:solidFill>
                <a:schemeClr val="tx1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5923280" y="4419600"/>
            <a:ext cx="1198880" cy="67056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i="1" dirty="0" smtClean="0">
                <a:solidFill>
                  <a:schemeClr val="tx1"/>
                </a:solidFill>
              </a:rPr>
              <a:t>&lt;</a:t>
            </a:r>
            <a:r>
              <a:rPr lang="en-US" b="1" i="1" dirty="0" err="1" smtClean="0">
                <a:solidFill>
                  <a:schemeClr val="tx1"/>
                </a:solidFill>
              </a:rPr>
              <a:t>pid</a:t>
            </a:r>
            <a:r>
              <a:rPr lang="en-US" b="1" i="1" dirty="0" smtClean="0">
                <a:solidFill>
                  <a:schemeClr val="tx1"/>
                </a:solidFill>
              </a:rPr>
              <a:t>&gt;</a:t>
            </a:r>
            <a:endParaRPr lang="en-US" b="1" i="1" dirty="0">
              <a:solidFill>
                <a:schemeClr val="tx1"/>
              </a:solidFill>
            </a:endParaRPr>
          </a:p>
        </p:txBody>
      </p:sp>
      <p:cxnSp>
        <p:nvCxnSpPr>
          <p:cNvPr id="21" name="Straight Arrow Connector 20"/>
          <p:cNvCxnSpPr>
            <a:stCxn id="7" idx="0"/>
            <a:endCxn id="5" idx="3"/>
          </p:cNvCxnSpPr>
          <p:nvPr/>
        </p:nvCxnSpPr>
        <p:spPr>
          <a:xfrm flipV="1">
            <a:off x="680720" y="2462119"/>
            <a:ext cx="2900706" cy="61636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>
            <a:stCxn id="8" idx="0"/>
          </p:cNvCxnSpPr>
          <p:nvPr/>
        </p:nvCxnSpPr>
        <p:spPr>
          <a:xfrm flipV="1">
            <a:off x="2072640" y="2540000"/>
            <a:ext cx="1645920" cy="54864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11" idx="0"/>
            <a:endCxn id="5" idx="4"/>
          </p:cNvCxnSpPr>
          <p:nvPr/>
        </p:nvCxnSpPr>
        <p:spPr>
          <a:xfrm flipV="1">
            <a:off x="3627120" y="2560320"/>
            <a:ext cx="457200" cy="53848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/>
          <p:cNvCxnSpPr/>
          <p:nvPr/>
        </p:nvCxnSpPr>
        <p:spPr>
          <a:xfrm flipH="1" flipV="1">
            <a:off x="4450080" y="2540000"/>
            <a:ext cx="386080" cy="62992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>
            <a:stCxn id="12" idx="0"/>
            <a:endCxn id="5" idx="6"/>
          </p:cNvCxnSpPr>
          <p:nvPr/>
        </p:nvCxnSpPr>
        <p:spPr>
          <a:xfrm flipH="1" flipV="1">
            <a:off x="4795520" y="2225040"/>
            <a:ext cx="3251200" cy="86360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15" idx="1"/>
          </p:cNvCxnSpPr>
          <p:nvPr/>
        </p:nvCxnSpPr>
        <p:spPr>
          <a:xfrm flipH="1" flipV="1">
            <a:off x="934720" y="3718560"/>
            <a:ext cx="754692" cy="799241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4" idx="0"/>
          </p:cNvCxnSpPr>
          <p:nvPr/>
        </p:nvCxnSpPr>
        <p:spPr>
          <a:xfrm flipH="1" flipV="1">
            <a:off x="557213" y="3686175"/>
            <a:ext cx="123507" cy="74358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963920" y="3119120"/>
            <a:ext cx="1178560" cy="609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proc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58" name="Straight Arrow Connector 57"/>
          <p:cNvCxnSpPr>
            <a:endCxn id="5" idx="5"/>
          </p:cNvCxnSpPr>
          <p:nvPr/>
        </p:nvCxnSpPr>
        <p:spPr>
          <a:xfrm flipH="1" flipV="1">
            <a:off x="4587214" y="2462119"/>
            <a:ext cx="1691542" cy="725957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Arrow Connector 68"/>
          <p:cNvCxnSpPr>
            <a:stCxn id="17" idx="7"/>
            <a:endCxn id="41" idx="3"/>
          </p:cNvCxnSpPr>
          <p:nvPr/>
        </p:nvCxnSpPr>
        <p:spPr>
          <a:xfrm flipV="1">
            <a:off x="5534348" y="3639446"/>
            <a:ext cx="602168" cy="868195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/>
          <p:cNvCxnSpPr>
            <a:stCxn id="19" idx="0"/>
          </p:cNvCxnSpPr>
          <p:nvPr/>
        </p:nvCxnSpPr>
        <p:spPr>
          <a:xfrm flipH="1" flipV="1">
            <a:off x="6441564" y="3700406"/>
            <a:ext cx="81156" cy="719194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>
            <a:stCxn id="18" idx="0"/>
          </p:cNvCxnSpPr>
          <p:nvPr/>
        </p:nvCxnSpPr>
        <p:spPr>
          <a:xfrm flipH="1" flipV="1">
            <a:off x="6817236" y="3710567"/>
            <a:ext cx="1107564" cy="68871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Oval 75"/>
          <p:cNvSpPr/>
          <p:nvPr/>
        </p:nvSpPr>
        <p:spPr>
          <a:xfrm>
            <a:off x="3677920" y="5417184"/>
            <a:ext cx="1381760" cy="5080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wipro3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82" name="Straight Arrow Connector 81"/>
          <p:cNvCxnSpPr/>
          <p:nvPr/>
        </p:nvCxnSpPr>
        <p:spPr>
          <a:xfrm flipH="1" flipV="1">
            <a:off x="3843338" y="3686174"/>
            <a:ext cx="525462" cy="173101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Oval 83"/>
          <p:cNvSpPr/>
          <p:nvPr/>
        </p:nvSpPr>
        <p:spPr>
          <a:xfrm>
            <a:off x="2133600" y="5405120"/>
            <a:ext cx="1402080" cy="609600"/>
          </a:xfrm>
          <a:prstGeom prst="ellipse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b="1" dirty="0" smtClean="0">
                <a:solidFill>
                  <a:schemeClr val="tx1"/>
                </a:solidFill>
              </a:rPr>
              <a:t>wipro1</a:t>
            </a:r>
            <a:endParaRPr lang="en-US" b="1" dirty="0">
              <a:solidFill>
                <a:schemeClr val="tx1"/>
              </a:solidFill>
            </a:endParaRPr>
          </a:p>
        </p:txBody>
      </p:sp>
      <p:cxnSp>
        <p:nvCxnSpPr>
          <p:cNvPr id="86" name="Straight Arrow Connector 85"/>
          <p:cNvCxnSpPr/>
          <p:nvPr/>
        </p:nvCxnSpPr>
        <p:spPr>
          <a:xfrm flipV="1">
            <a:off x="2834640" y="3657600"/>
            <a:ext cx="637223" cy="1733232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headEnd type="arrow"/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3"/>
            <a:ext cx="8728364" cy="5103157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tx1"/>
                </a:solidFill>
              </a:rPr>
              <a:t>Everything in Unix is a file .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The file system is hierarchical.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52558" y="145140"/>
            <a:ext cx="8229600" cy="553998"/>
          </a:xfrm>
        </p:spPr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Important </a:t>
            </a:r>
            <a:r>
              <a:rPr lang="en-IN" smtClean="0">
                <a:solidFill>
                  <a:schemeClr val="tx1"/>
                </a:solidFill>
              </a:rPr>
              <a:t>files/ directories</a:t>
            </a: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1471772"/>
              </p:ext>
            </p:extLst>
          </p:nvPr>
        </p:nvGraphicFramePr>
        <p:xfrm>
          <a:off x="469537" y="1111061"/>
          <a:ext cx="8397372" cy="431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016"/>
                <a:gridCol w="6778356"/>
              </a:tblGrid>
              <a:tr h="428002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File /</a:t>
                      </a:r>
                    </a:p>
                    <a:p>
                      <a:pPr algn="l"/>
                      <a:r>
                        <a:rPr lang="en-US" dirty="0" smtClean="0"/>
                        <a:t>directory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Description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/bin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Contains commonly used executables such as cat,</a:t>
                      </a:r>
                      <a:r>
                        <a:rPr lang="en-US" baseline="0" dirty="0" smtClean="0"/>
                        <a:t> date, </a:t>
                      </a:r>
                      <a:r>
                        <a:rPr lang="en-US" baseline="0" dirty="0" err="1" smtClean="0"/>
                        <a:t>grep</a:t>
                      </a:r>
                      <a:r>
                        <a:rPr lang="en-US" baseline="0" dirty="0" smtClean="0"/>
                        <a:t> …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/</a:t>
                      </a:r>
                      <a:r>
                        <a:rPr lang="en-US" dirty="0" err="1" smtClean="0"/>
                        <a:t>usr</a:t>
                      </a:r>
                      <a:r>
                        <a:rPr lang="en-US" dirty="0" smtClean="0"/>
                        <a:t>/bin</a:t>
                      </a:r>
                    </a:p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Contains executables related to development tools</a:t>
                      </a:r>
                      <a:r>
                        <a:rPr lang="en-US" baseline="0" dirty="0" smtClean="0"/>
                        <a:t> – compilers, linkers etc. </a:t>
                      </a:r>
                    </a:p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e.g., </a:t>
                      </a:r>
                      <a:r>
                        <a:rPr lang="en-US" baseline="0" dirty="0" err="1" smtClean="0"/>
                        <a:t>gcc</a:t>
                      </a:r>
                      <a:r>
                        <a:rPr lang="en-US" baseline="0" dirty="0" smtClean="0"/>
                        <a:t>, make, man</a:t>
                      </a: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/</a:t>
                      </a:r>
                      <a:r>
                        <a:rPr lang="en-US" dirty="0" err="1" smtClean="0"/>
                        <a:t>sbin</a:t>
                      </a:r>
                      <a:endParaRPr lang="en-US" dirty="0" smtClean="0"/>
                    </a:p>
                    <a:p>
                      <a:pPr algn="l"/>
                      <a:r>
                        <a:rPr lang="en-US" dirty="0" smtClean="0"/>
                        <a:t>/</a:t>
                      </a:r>
                      <a:r>
                        <a:rPr lang="en-US" dirty="0" err="1" smtClean="0"/>
                        <a:t>usr</a:t>
                      </a:r>
                      <a:r>
                        <a:rPr lang="en-US" dirty="0" smtClean="0"/>
                        <a:t>/</a:t>
                      </a:r>
                      <a:r>
                        <a:rPr lang="en-US" dirty="0" err="1" smtClean="0"/>
                        <a:t>sbin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Contains executables that can only be run by super user or administrator.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/etc 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Contains shell-script</a:t>
                      </a:r>
                      <a:r>
                        <a:rPr lang="en-US" baseline="0" dirty="0" smtClean="0"/>
                        <a:t> files and </a:t>
                      </a:r>
                      <a:r>
                        <a:rPr lang="en-US" baseline="0" dirty="0" err="1" smtClean="0"/>
                        <a:t>config</a:t>
                      </a:r>
                      <a:r>
                        <a:rPr lang="en-US" baseline="0" dirty="0" smtClean="0"/>
                        <a:t> files used for system boot 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/</a:t>
                      </a:r>
                      <a:r>
                        <a:rPr lang="en-US" dirty="0" err="1" smtClean="0"/>
                        <a:t>usr</a:t>
                      </a:r>
                      <a:r>
                        <a:rPr lang="en-US" dirty="0" smtClean="0"/>
                        <a:t>/lib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Contains library files </a:t>
                      </a:r>
                      <a:r>
                        <a:rPr lang="en-US" baseline="0" dirty="0" smtClean="0"/>
                        <a:t>used by development tools and other applications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/</a:t>
                      </a:r>
                      <a:r>
                        <a:rPr lang="en-US" dirty="0" err="1" smtClean="0"/>
                        <a:t>var</a:t>
                      </a:r>
                      <a:r>
                        <a:rPr lang="en-US" dirty="0" smtClean="0"/>
                        <a:t>/log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Holds</a:t>
                      </a:r>
                      <a:r>
                        <a:rPr lang="en-US" baseline="0" dirty="0" smtClean="0"/>
                        <a:t> system log files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/dev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Contains</a:t>
                      </a:r>
                      <a:r>
                        <a:rPr lang="en-US" baseline="0" dirty="0" smtClean="0"/>
                        <a:t> device files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304800" y="145140"/>
            <a:ext cx="8385176" cy="553998"/>
          </a:xfrm>
        </p:spPr>
        <p:txBody>
          <a:bodyPr/>
          <a:lstStyle/>
          <a:p>
            <a:r>
              <a:rPr lang="en-IN" smtClean="0">
                <a:solidFill>
                  <a:schemeClr val="tx1"/>
                </a:solidFill>
              </a:rPr>
              <a:t>Important </a:t>
            </a:r>
            <a:r>
              <a:rPr lang="en-IN">
                <a:solidFill>
                  <a:schemeClr val="tx1"/>
                </a:solidFill>
              </a:rPr>
              <a:t>files</a:t>
            </a:r>
            <a:r>
              <a:rPr lang="en-IN" smtClean="0">
                <a:solidFill>
                  <a:schemeClr val="tx1"/>
                </a:solidFill>
              </a:rPr>
              <a:t>/ directories </a:t>
            </a:r>
            <a:r>
              <a:rPr lang="en-IN">
                <a:solidFill>
                  <a:schemeClr val="tx1"/>
                </a:solidFill>
              </a:rPr>
              <a:t>(Contd.).</a:t>
            </a: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68150" y="984459"/>
          <a:ext cx="8199860" cy="27190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19862"/>
                <a:gridCol w="6379998"/>
              </a:tblGrid>
              <a:tr h="428002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File/directory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purpose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/boot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Binary files corresponding to the OS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/proc</a:t>
                      </a:r>
                    </a:p>
                    <a:p>
                      <a:pPr algn="l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Contains files corresponding</a:t>
                      </a:r>
                      <a:r>
                        <a:rPr lang="en-US" baseline="0" dirty="0" smtClean="0"/>
                        <a:t> to the state of system &amp; processes 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/etc/</a:t>
                      </a:r>
                      <a:r>
                        <a:rPr lang="en-US" dirty="0" err="1" smtClean="0"/>
                        <a:t>passwd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Contains attributes of users who have an account on Unix machine.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/</a:t>
                      </a:r>
                      <a:r>
                        <a:rPr lang="en-US" dirty="0" err="1" smtClean="0"/>
                        <a:t>tmp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Holds</a:t>
                      </a:r>
                      <a:r>
                        <a:rPr lang="en-US" baseline="0" dirty="0" smtClean="0"/>
                        <a:t> files created temporarily, by compilers and other tools</a:t>
                      </a:r>
                    </a:p>
                    <a:p>
                      <a:pPr algn="l"/>
                      <a:r>
                        <a:rPr lang="en-US" baseline="0" dirty="0" smtClean="0"/>
                        <a:t>This directory is emptied each time the system boots up.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File types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944494" cy="2685418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tx1"/>
                </a:solidFill>
              </a:rPr>
              <a:t>In Unix files can be broadly classified as </a:t>
            </a:r>
          </a:p>
          <a:p>
            <a:pPr lvl="1"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</a:rPr>
              <a:t>Ordinary or regular files</a:t>
            </a:r>
          </a:p>
          <a:p>
            <a:pPr lvl="1"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</a:rPr>
              <a:t>Special files</a:t>
            </a:r>
          </a:p>
          <a:p>
            <a:r>
              <a:rPr lang="en-IN" b="1" u="sng" dirty="0" smtClean="0">
                <a:solidFill>
                  <a:srgbClr val="0000CC"/>
                </a:solidFill>
              </a:rPr>
              <a:t>Ordinary or regular files</a:t>
            </a:r>
            <a:r>
              <a:rPr lang="en-IN" dirty="0" smtClean="0"/>
              <a:t> are program files, data files, or binary files. </a:t>
            </a:r>
          </a:p>
          <a:p>
            <a:pPr lvl="0"/>
            <a:r>
              <a:rPr lang="en-IN" dirty="0" smtClean="0"/>
              <a:t>The </a:t>
            </a:r>
            <a:r>
              <a:rPr lang="en-IN" b="1" dirty="0" smtClean="0"/>
              <a:t>–l </a:t>
            </a:r>
            <a:r>
              <a:rPr lang="en-IN" dirty="0" smtClean="0"/>
              <a:t>option of </a:t>
            </a:r>
            <a:r>
              <a:rPr lang="en-IN" b="1" dirty="0" err="1" smtClean="0"/>
              <a:t>ls</a:t>
            </a:r>
            <a:r>
              <a:rPr lang="en-IN" b="1" dirty="0" smtClean="0"/>
              <a:t> </a:t>
            </a:r>
            <a:r>
              <a:rPr lang="en-IN" dirty="0" smtClean="0"/>
              <a:t>command displays the file type in the first column of its output.</a:t>
            </a:r>
          </a:p>
          <a:p>
            <a:endParaRPr lang="en-IN" dirty="0" smtClean="0"/>
          </a:p>
          <a:p>
            <a:pPr lvl="1">
              <a:buNone/>
            </a:pPr>
            <a:endParaRPr lang="en-IN" dirty="0" smtClean="0"/>
          </a:p>
          <a:p>
            <a:endParaRPr lang="en-IN" dirty="0" smtClean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467627" y="3379737"/>
          <a:ext cx="3657601" cy="30238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987"/>
                <a:gridCol w="2498614"/>
              </a:tblGrid>
              <a:tr h="42800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Symbol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Meaning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 smtClean="0"/>
                        <a:t>Ordinary file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directory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Character device file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b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Block device file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Link file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Named pipe or FIFO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aseline="0" dirty="0" smtClean="0"/>
                        <a:t>Domain socket file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 Placeholder 7"/>
          <p:cNvSpPr txBox="1">
            <a:spLocks/>
          </p:cNvSpPr>
          <p:nvPr/>
        </p:nvSpPr>
        <p:spPr>
          <a:xfrm>
            <a:off x="201594" y="2752963"/>
            <a:ext cx="8942406" cy="85453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Char char="•"/>
              <a:tabLst/>
              <a:defRPr/>
            </a:pPr>
            <a:endParaRPr kumimoji="0" lang="en-IN" sz="2200" b="0" i="0" u="none" strike="noStrike" kern="1200" cap="none" spc="0" normalizeH="0" baseline="0" noProof="0" dirty="0" smtClean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Tx/>
              <a:buChar char="-"/>
              <a:tabLst/>
              <a:defRPr/>
            </a:pPr>
            <a:endParaRPr kumimoji="0" lang="en-IN" sz="1800" b="0" i="0" u="none" strike="noStrike" kern="1200" cap="none" spc="0" normalizeH="0" baseline="0" noProof="0" dirty="0" smtClean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 smtClean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 pitchFamily="34" charset="0"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 smtClean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Char char="•"/>
              <a:tabLst/>
              <a:defRPr/>
            </a:pPr>
            <a:endParaRPr kumimoji="0" lang="en-IN" sz="2200" b="0" i="0" u="none" strike="noStrike" kern="1200" cap="none" spc="0" normalizeH="0" baseline="0" noProof="0" dirty="0" smtClean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sp>
        <p:nvSpPr>
          <p:cNvPr id="7" name="Right Brace 6"/>
          <p:cNvSpPr/>
          <p:nvPr/>
        </p:nvSpPr>
        <p:spPr>
          <a:xfrm>
            <a:off x="6187857" y="4221271"/>
            <a:ext cx="328185" cy="2149467"/>
          </a:xfrm>
          <a:prstGeom prst="rightBrace">
            <a:avLst/>
          </a:prstGeom>
          <a:ln w="19050">
            <a:solidFill>
              <a:schemeClr val="tx1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6475957" y="5081731"/>
            <a:ext cx="1515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Special files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Special files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501149" cy="5553878"/>
          </a:xfrm>
        </p:spPr>
        <p:txBody>
          <a:bodyPr>
            <a:normAutofit/>
          </a:bodyPr>
          <a:lstStyle/>
          <a:p>
            <a:r>
              <a:rPr lang="en-IN" b="1" u="sng" dirty="0" smtClean="0">
                <a:solidFill>
                  <a:srgbClr val="0000CC"/>
                </a:solidFill>
              </a:rPr>
              <a:t>Directories</a:t>
            </a:r>
            <a:r>
              <a:rPr lang="en-IN" dirty="0" smtClean="0"/>
              <a:t> </a:t>
            </a:r>
            <a:r>
              <a:rPr lang="en-IN" dirty="0" smtClean="0">
                <a:solidFill>
                  <a:schemeClr val="tx1"/>
                </a:solidFill>
              </a:rPr>
              <a:t>which hold files and/or directories</a:t>
            </a:r>
          </a:p>
          <a:p>
            <a:pPr lvl="1"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</a:rPr>
              <a:t>Each directory has two special files  </a:t>
            </a:r>
            <a:r>
              <a:rPr lang="en-IN" sz="2800" b="1" dirty="0" smtClean="0">
                <a:solidFill>
                  <a:schemeClr val="tx1"/>
                </a:solidFill>
              </a:rPr>
              <a:t>.</a:t>
            </a:r>
            <a:r>
              <a:rPr lang="en-IN" sz="2400" b="1" dirty="0" smtClean="0">
                <a:solidFill>
                  <a:schemeClr val="tx1"/>
                </a:solidFill>
              </a:rPr>
              <a:t>  </a:t>
            </a:r>
            <a:r>
              <a:rPr lang="en-IN" dirty="0" smtClean="0">
                <a:solidFill>
                  <a:schemeClr val="tx1"/>
                </a:solidFill>
              </a:rPr>
              <a:t>and </a:t>
            </a:r>
            <a:r>
              <a:rPr lang="en-IN" sz="2400" b="1" dirty="0" smtClean="0">
                <a:solidFill>
                  <a:schemeClr val="tx1"/>
                </a:solidFill>
              </a:rPr>
              <a:t>..</a:t>
            </a:r>
          </a:p>
          <a:p>
            <a:pPr lvl="1">
              <a:buFontTx/>
              <a:buChar char="-"/>
            </a:pPr>
            <a:r>
              <a:rPr lang="en-IN" sz="2400" b="1" dirty="0" smtClean="0">
                <a:solidFill>
                  <a:schemeClr val="tx1"/>
                </a:solidFill>
              </a:rPr>
              <a:t>.  </a:t>
            </a:r>
            <a:r>
              <a:rPr lang="en-IN" dirty="0" smtClean="0">
                <a:solidFill>
                  <a:schemeClr val="tx1"/>
                </a:solidFill>
              </a:rPr>
              <a:t>represent the current directory</a:t>
            </a:r>
          </a:p>
          <a:p>
            <a:pPr lvl="1">
              <a:buFontTx/>
              <a:buChar char="-"/>
            </a:pPr>
            <a:r>
              <a:rPr lang="en-IN" sz="2400" b="1" dirty="0" smtClean="0">
                <a:solidFill>
                  <a:schemeClr val="tx1"/>
                </a:solidFill>
              </a:rPr>
              <a:t>.. </a:t>
            </a:r>
            <a:r>
              <a:rPr lang="en-IN" dirty="0" smtClean="0">
                <a:solidFill>
                  <a:schemeClr val="tx1"/>
                </a:solidFill>
              </a:rPr>
              <a:t>represents parent directory of the current directory</a:t>
            </a:r>
          </a:p>
          <a:p>
            <a:endParaRPr lang="en-IN" sz="1200" dirty="0" smtClean="0"/>
          </a:p>
          <a:p>
            <a:r>
              <a:rPr lang="en-IN" b="1" u="sng" dirty="0" smtClean="0">
                <a:solidFill>
                  <a:srgbClr val="0000CC"/>
                </a:solidFill>
              </a:rPr>
              <a:t>Device files</a:t>
            </a:r>
            <a:r>
              <a:rPr lang="en-IN" dirty="0" smtClean="0">
                <a:solidFill>
                  <a:schemeClr val="tx1"/>
                </a:solidFill>
              </a:rPr>
              <a:t> which represent physical or pseudo devices </a:t>
            </a:r>
          </a:p>
          <a:p>
            <a:pPr lvl="1" algn="just"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</a:rPr>
              <a:t>Unix treats devices as files. </a:t>
            </a:r>
          </a:p>
          <a:p>
            <a:pPr lvl="1" algn="just"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</a:rPr>
              <a:t>Corresponding to each device, a device file exists in /dev directory</a:t>
            </a:r>
          </a:p>
          <a:p>
            <a:pPr lvl="1" algn="just"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</a:rPr>
              <a:t>Operations with a device is performed by performing operations (such as  read, write etc.) to the corresponding device file.</a:t>
            </a:r>
          </a:p>
          <a:p>
            <a:pPr algn="just">
              <a:buFontTx/>
              <a:buChar char="-"/>
            </a:pPr>
            <a:r>
              <a:rPr lang="en-IN" b="1" u="sng" dirty="0" smtClean="0">
                <a:solidFill>
                  <a:srgbClr val="0000CC"/>
                </a:solidFill>
              </a:rPr>
              <a:t>Link files</a:t>
            </a:r>
            <a:r>
              <a:rPr lang="en-IN" b="1" dirty="0" smtClean="0">
                <a:solidFill>
                  <a:srgbClr val="0000CC"/>
                </a:solidFill>
              </a:rPr>
              <a:t> </a:t>
            </a:r>
            <a:r>
              <a:rPr lang="en-IN" dirty="0" smtClean="0">
                <a:solidFill>
                  <a:schemeClr val="tx1"/>
                </a:solidFill>
              </a:rPr>
              <a:t>which are soft links to other files</a:t>
            </a:r>
          </a:p>
          <a:p>
            <a:pPr algn="just">
              <a:buFontTx/>
              <a:buChar char="-"/>
            </a:pPr>
            <a:r>
              <a:rPr lang="en-IN" b="1" u="sng" dirty="0" smtClean="0">
                <a:solidFill>
                  <a:srgbClr val="0000CC"/>
                </a:solidFill>
              </a:rPr>
              <a:t>Named pipe or FIFO</a:t>
            </a:r>
            <a:r>
              <a:rPr lang="en-IN" dirty="0" smtClean="0"/>
              <a:t> </a:t>
            </a:r>
            <a:r>
              <a:rPr lang="en-IN" dirty="0" smtClean="0">
                <a:solidFill>
                  <a:schemeClr val="tx1"/>
                </a:solidFill>
              </a:rPr>
              <a:t>used for inter-process communication</a:t>
            </a:r>
          </a:p>
          <a:p>
            <a:pPr algn="just">
              <a:buFontTx/>
              <a:buChar char="-"/>
            </a:pPr>
            <a:r>
              <a:rPr lang="en-IN" b="1" u="sng" dirty="0" smtClean="0">
                <a:solidFill>
                  <a:srgbClr val="0000CC"/>
                </a:solidFill>
              </a:rPr>
              <a:t>Socket file</a:t>
            </a:r>
            <a:r>
              <a:rPr lang="en-IN" dirty="0" smtClean="0">
                <a:solidFill>
                  <a:schemeClr val="tx1"/>
                </a:solidFill>
              </a:rPr>
              <a:t> which represent a socket for communication over a network.</a:t>
            </a:r>
          </a:p>
          <a:p>
            <a:pPr lvl="1">
              <a:buFontTx/>
              <a:buChar char="-"/>
            </a:pPr>
            <a:endParaRPr lang="en-IN" dirty="0" smtClean="0"/>
          </a:p>
          <a:p>
            <a:pPr lvl="2">
              <a:buFontTx/>
              <a:buChar char="-"/>
            </a:pPr>
            <a:endParaRPr lang="en-IN" dirty="0" smtClean="0"/>
          </a:p>
          <a:p>
            <a:pPr lvl="1"/>
            <a:endParaRPr lang="en-IN" dirty="0" smtClean="0"/>
          </a:p>
          <a:p>
            <a:pPr lvl="1"/>
            <a:endParaRPr lang="en-I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90945" y="145140"/>
            <a:ext cx="8399031" cy="553998"/>
          </a:xfrm>
        </p:spPr>
        <p:txBody>
          <a:bodyPr/>
          <a:lstStyle/>
          <a:p>
            <a:r>
              <a:rPr lang="en-IN" smtClean="0">
                <a:solidFill>
                  <a:schemeClr val="tx1"/>
                </a:solidFill>
              </a:rPr>
              <a:t>Special </a:t>
            </a:r>
            <a:r>
              <a:rPr lang="en-IN">
                <a:solidFill>
                  <a:schemeClr val="tx1"/>
                </a:solidFill>
              </a:rPr>
              <a:t>files (Contd.).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944494" cy="3659386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tx1"/>
                </a:solidFill>
              </a:rPr>
              <a:t>Device files are further classified as </a:t>
            </a:r>
          </a:p>
          <a:p>
            <a:pPr lvl="1">
              <a:buFontTx/>
              <a:buChar char="-"/>
            </a:pPr>
            <a:r>
              <a:rPr lang="en-IN" sz="2000" b="1" u="sng" dirty="0" smtClean="0">
                <a:solidFill>
                  <a:srgbClr val="0000CC"/>
                </a:solidFill>
              </a:rPr>
              <a:t>Block device files</a:t>
            </a:r>
            <a:r>
              <a:rPr lang="en-IN" sz="2000" dirty="0" smtClean="0"/>
              <a:t> </a:t>
            </a:r>
            <a:r>
              <a:rPr lang="en-IN" sz="2000" dirty="0" smtClean="0">
                <a:solidFill>
                  <a:schemeClr val="tx1"/>
                </a:solidFill>
              </a:rPr>
              <a:t>which are capable of performing I/O in blocks (a group of 1K bytes or 2K bytes etc.)</a:t>
            </a:r>
          </a:p>
          <a:p>
            <a:pPr lvl="2">
              <a:buFontTx/>
              <a:buChar char="-"/>
            </a:pPr>
            <a:r>
              <a:rPr lang="en-IN" sz="1800" dirty="0" smtClean="0">
                <a:solidFill>
                  <a:schemeClr val="tx1"/>
                </a:solidFill>
              </a:rPr>
              <a:t>e.g., hard disk, CDROM, memory</a:t>
            </a:r>
          </a:p>
          <a:p>
            <a:pPr lvl="1">
              <a:buFontTx/>
              <a:buChar char="-"/>
            </a:pPr>
            <a:r>
              <a:rPr lang="en-IN" sz="2000" b="1" u="sng" dirty="0" smtClean="0">
                <a:solidFill>
                  <a:srgbClr val="0000CC"/>
                </a:solidFill>
              </a:rPr>
              <a:t>Character device files</a:t>
            </a:r>
            <a:r>
              <a:rPr lang="en-IN" sz="2000" dirty="0" smtClean="0"/>
              <a:t>, </a:t>
            </a:r>
            <a:r>
              <a:rPr lang="en-IN" sz="2000" dirty="0" smtClean="0">
                <a:solidFill>
                  <a:schemeClr val="tx1"/>
                </a:solidFill>
              </a:rPr>
              <a:t>which are capable of performing I/O at byte level only</a:t>
            </a:r>
          </a:p>
          <a:p>
            <a:pPr lvl="2">
              <a:buFontTx/>
              <a:buChar char="-"/>
            </a:pPr>
            <a:r>
              <a:rPr lang="en-IN" sz="1800" dirty="0" smtClean="0">
                <a:solidFill>
                  <a:schemeClr val="tx1"/>
                </a:solidFill>
              </a:rPr>
              <a:t>E.g., mouse, keyboard, etc</a:t>
            </a:r>
          </a:p>
          <a:p>
            <a:pPr lvl="2">
              <a:buFontTx/>
              <a:buChar char="-"/>
            </a:pPr>
            <a:endParaRPr lang="en-IN" dirty="0" smtClean="0"/>
          </a:p>
          <a:p>
            <a:pPr lvl="1"/>
            <a:endParaRPr lang="en-IN" dirty="0" smtClean="0"/>
          </a:p>
          <a:p>
            <a:pPr lvl="1"/>
            <a:endParaRPr lang="en-IN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File permissions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3"/>
            <a:ext cx="8944494" cy="5659455"/>
          </a:xfrm>
        </p:spPr>
        <p:txBody>
          <a:bodyPr>
            <a:normAutofit/>
          </a:bodyPr>
          <a:lstStyle/>
          <a:p>
            <a:r>
              <a:rPr lang="en-IN" dirty="0" smtClean="0"/>
              <a:t>Unix being a multiuser environment, files need to be secured.</a:t>
            </a:r>
          </a:p>
          <a:p>
            <a:r>
              <a:rPr lang="en-IN" dirty="0" smtClean="0"/>
              <a:t>It is possible to set permissions as appropriate, for each of the three operations</a:t>
            </a:r>
          </a:p>
          <a:p>
            <a:pPr lvl="1"/>
            <a:r>
              <a:rPr lang="en-IN" dirty="0" smtClean="0"/>
              <a:t>Read</a:t>
            </a:r>
          </a:p>
          <a:p>
            <a:pPr lvl="1"/>
            <a:r>
              <a:rPr lang="en-IN" dirty="0" smtClean="0"/>
              <a:t>Write </a:t>
            </a:r>
          </a:p>
          <a:p>
            <a:pPr lvl="1"/>
            <a:r>
              <a:rPr lang="en-IN" dirty="0" smtClean="0"/>
              <a:t>Execute</a:t>
            </a:r>
          </a:p>
          <a:p>
            <a:pPr lvl="1"/>
            <a:endParaRPr lang="en-IN" dirty="0" smtClean="0"/>
          </a:p>
          <a:p>
            <a:r>
              <a:rPr lang="en-IN" dirty="0" smtClean="0"/>
              <a:t>For the purpose of granting access to a file, the user who accesses the file is identified as any one of the following three categories, </a:t>
            </a:r>
          </a:p>
          <a:p>
            <a:pPr lvl="1">
              <a:buFontTx/>
              <a:buChar char="-"/>
            </a:pPr>
            <a:r>
              <a:rPr lang="en-IN" b="1" i="1" dirty="0" smtClean="0"/>
              <a:t>owner</a:t>
            </a:r>
            <a:endParaRPr lang="en-IN" dirty="0" smtClean="0"/>
          </a:p>
          <a:p>
            <a:pPr lvl="1">
              <a:buFontTx/>
              <a:buChar char="-"/>
            </a:pPr>
            <a:r>
              <a:rPr lang="en-IN" b="1" i="1" dirty="0" smtClean="0"/>
              <a:t>group member </a:t>
            </a:r>
          </a:p>
          <a:p>
            <a:pPr lvl="1">
              <a:buFontTx/>
              <a:buChar char="-"/>
            </a:pPr>
            <a:r>
              <a:rPr lang="en-IN" b="1" dirty="0" smtClean="0"/>
              <a:t>others  </a:t>
            </a:r>
            <a:r>
              <a:rPr lang="en-IN" dirty="0" smtClean="0"/>
              <a:t>(neither owner </a:t>
            </a:r>
          </a:p>
          <a:p>
            <a:pPr lvl="1">
              <a:buNone/>
            </a:pPr>
            <a:r>
              <a:rPr lang="en-IN" dirty="0" smtClean="0"/>
              <a:t>                nor group member</a:t>
            </a:r>
            <a:r>
              <a:rPr lang="en-IN" i="1" dirty="0" smtClean="0"/>
              <a:t>)</a:t>
            </a:r>
          </a:p>
          <a:p>
            <a:pPr lvl="1">
              <a:buNone/>
            </a:pPr>
            <a:endParaRPr lang="en-IN" sz="1000" i="1" dirty="0" smtClean="0"/>
          </a:p>
          <a:p>
            <a:pPr lvl="1">
              <a:buNone/>
            </a:pPr>
            <a:endParaRPr lang="en-IN" sz="1000" i="1" dirty="0" smtClean="0"/>
          </a:p>
          <a:p>
            <a:pPr lvl="1">
              <a:buNone/>
            </a:pPr>
            <a:r>
              <a:rPr lang="en-IN" dirty="0" smtClean="0"/>
              <a:t>Operation on the file is granted or denies based on the permissions set to that category.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4963886" y="4213833"/>
          <a:ext cx="3942608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5662"/>
                <a:gridCol w="874705"/>
                <a:gridCol w="830045"/>
                <a:gridCol w="872196"/>
              </a:tblGrid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Owner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Group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Others</a:t>
                      </a:r>
                      <a:endParaRPr lang="en-US" sz="16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Read ( r 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r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r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-</a:t>
                      </a:r>
                      <a:endParaRPr lang="en-US" sz="16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Write ( w 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w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-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-</a:t>
                      </a:r>
                      <a:endParaRPr lang="en-US" sz="16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Execute ( x 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-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-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-</a:t>
                      </a:r>
                      <a:endParaRPr lang="en-US" sz="1600" b="1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Impact of file permissions on directories</a:t>
            </a: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9651" y="1027348"/>
          <a:ext cx="8424154" cy="50429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6381"/>
                <a:gridCol w="6817773"/>
              </a:tblGrid>
              <a:tr h="695594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Denial of permission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Which operations are not allowed</a:t>
                      </a:r>
                      <a:endParaRPr lang="en-US" sz="2000" dirty="0"/>
                    </a:p>
                  </a:txBody>
                  <a:tcPr/>
                </a:tc>
              </a:tr>
              <a:tr h="806249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read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sz="2000" dirty="0" smtClean="0"/>
                        <a:t>list the contents of directory</a:t>
                      </a:r>
                    </a:p>
                    <a:p>
                      <a:pPr marL="342900" lvl="0" indent="-342900">
                        <a:buFont typeface="+mj-lt"/>
                        <a:buAutoNum type="arabicPeriod"/>
                      </a:pPr>
                      <a:r>
                        <a:rPr lang="en-US" sz="2000" dirty="0" smtClean="0"/>
                        <a:t>remove the directory,</a:t>
                      </a:r>
                      <a:r>
                        <a:rPr lang="en-US" sz="2000" baseline="0" dirty="0" smtClean="0"/>
                        <a:t> </a:t>
                      </a:r>
                      <a:r>
                        <a:rPr lang="en-US" sz="2000" u="sng" baseline="0" dirty="0" smtClean="0"/>
                        <a:t>if it is not empty</a:t>
                      </a:r>
                      <a:endParaRPr lang="en-US" sz="2000" u="sng" dirty="0" smtClean="0"/>
                    </a:p>
                  </a:txBody>
                  <a:tcPr/>
                </a:tc>
              </a:tr>
              <a:tr h="1888776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write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>
                        <a:buSzPct val="100000"/>
                        <a:buFont typeface="+mj-lt"/>
                        <a:buAutoNum type="arabicPeriod"/>
                      </a:pP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copy files to the directory</a:t>
                      </a:r>
                    </a:p>
                    <a:p>
                      <a:pPr marL="342900" lvl="0" indent="-342900">
                        <a:buSzPct val="100000"/>
                        <a:buFont typeface="+mj-lt"/>
                        <a:buAutoNum type="arabicPeriod"/>
                      </a:pP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remove files from the directory</a:t>
                      </a:r>
                    </a:p>
                    <a:p>
                      <a:pPr marL="342900" lvl="0" indent="-342900">
                        <a:buSzPct val="100000"/>
                        <a:buFont typeface="+mj-lt"/>
                        <a:buAutoNum type="arabicPeriod"/>
                      </a:pP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rename files in the directory</a:t>
                      </a:r>
                    </a:p>
                    <a:p>
                      <a:pPr marL="342900" lvl="0" indent="-342900">
                        <a:buSzPct val="100000"/>
                        <a:buFont typeface="+mj-lt"/>
                        <a:buAutoNum type="arabicPeriod"/>
                      </a:pP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make a subdirectory</a:t>
                      </a:r>
                    </a:p>
                    <a:p>
                      <a:pPr marL="342900" lvl="0" indent="-342900">
                        <a:buSzPct val="100000"/>
                        <a:buFont typeface="+mj-lt"/>
                        <a:buAutoNum type="arabicPeriod"/>
                      </a:pP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remove a subdirectory from the directory</a:t>
                      </a:r>
                    </a:p>
                    <a:p>
                      <a:pPr marL="342900" lvl="0" indent="-342900">
                        <a:buSzPct val="100000"/>
                        <a:buFont typeface="+mj-lt"/>
                        <a:buAutoNum type="arabicPeriod"/>
                      </a:pP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move files to</a:t>
                      </a:r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and from the directory</a:t>
                      </a:r>
                    </a:p>
                  </a:txBody>
                  <a:tcPr/>
                </a:tc>
              </a:tr>
              <a:tr h="1291817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execute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lvl="0" indent="-342900" algn="l" defTabSz="457200" rtl="0" eaLnBrk="1" latinLnBrk="0" hangingPunct="1">
                        <a:buSzPct val="100000"/>
                        <a:buFont typeface="+mj-lt"/>
                        <a:buAutoNum type="arabicPeriod"/>
                      </a:pP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display the contents of a directory</a:t>
                      </a:r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(e.g., using </a:t>
                      </a:r>
                      <a:r>
                        <a:rPr lang="en-US" sz="2000" kern="1200" baseline="0" dirty="0" err="1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ls</a:t>
                      </a:r>
                      <a:r>
                        <a:rPr lang="en-US" sz="2000" kern="1200" baseline="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command)</a:t>
                      </a:r>
                      <a:endParaRPr lang="en-US" sz="2000" kern="1200" dirty="0" smtClean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342900" lvl="0" indent="-342900" algn="l" defTabSz="457200" rtl="0" eaLnBrk="1" latinLnBrk="0" hangingPunct="1">
                        <a:buSzPct val="100000"/>
                        <a:buFont typeface="+mj-lt"/>
                        <a:buAutoNum type="arabicPeriod"/>
                      </a:pP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change to the directory</a:t>
                      </a:r>
                    </a:p>
                    <a:p>
                      <a:pPr marL="342900" lvl="0" indent="-342900" algn="l" defTabSz="457200" rtl="0" eaLnBrk="1" latinLnBrk="0" hangingPunct="1">
                        <a:buSzPct val="100000"/>
                        <a:buFont typeface="+mj-lt"/>
                        <a:buAutoNum type="arabicPeriod"/>
                      </a:pP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display a file in the directory</a:t>
                      </a:r>
                    </a:p>
                    <a:p>
                      <a:pPr marL="342900" lvl="0" indent="-342900" algn="l" defTabSz="457200" rtl="0" eaLnBrk="1" latinLnBrk="0" hangingPunct="1">
                        <a:buSzPct val="100000"/>
                        <a:buFont typeface="+mj-lt"/>
                        <a:buAutoNum type="arabicPeriod"/>
                      </a:pPr>
                      <a:r>
                        <a:rPr lang="en-US" sz="2000" kern="1200" dirty="0" smtClean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copy a file to (or from) the directory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Some entries in /dev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42900" y="1440369"/>
            <a:ext cx="8658237" cy="3477875"/>
          </a:xfrm>
          <a:prstGeom prst="rect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crw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-------    1 root  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root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1,   6 Jun 24  2004 core</a:t>
            </a:r>
          </a:p>
          <a:p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brw-rw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----    1 root   disk    3,   0 Jun 24  2004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hda</a:t>
            </a:r>
            <a:endParaRPr lang="en-US" sz="20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brw-rw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----    1 root   disk    3,   1 Jun 24  2004 hda1</a:t>
            </a:r>
          </a:p>
          <a:p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brw-rw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----    1 root   disk    3,   2 Jun 24  2004 hda2</a:t>
            </a:r>
          </a:p>
          <a:p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crw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-r-----    1 root  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kmem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1,   2 Jun 24  2004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kmem</a:t>
            </a:r>
            <a:endParaRPr lang="en-US" sz="20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crw-rw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----    1 root  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lp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6,   0 Jun 24  2004 lp0</a:t>
            </a:r>
          </a:p>
          <a:p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crw-rw-rw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    1 root  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root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1,   3 Jun 24  2004 null</a:t>
            </a:r>
          </a:p>
          <a:p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crw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-------    1 root  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root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6,   0 Jun 24  2004 par0</a:t>
            </a:r>
          </a:p>
          <a:p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brw-rw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----    1 root   disk    1,   0 Jun 24  2004 ram0</a:t>
            </a:r>
          </a:p>
          <a:p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crw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-r--r--    1 root  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root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10, 135 Jun 24  2004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rtc</a:t>
            </a:r>
            <a:endParaRPr lang="en-US" sz="20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crw-rw-rw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    1 root  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root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5,   0 Jun 24  2004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tty</a:t>
            </a:r>
            <a:endParaRPr lang="en-US" sz="20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371581" y="951979"/>
            <a:ext cx="14510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Major number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51554" y="938019"/>
            <a:ext cx="145103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Minor number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4875170" y="1207979"/>
            <a:ext cx="275570" cy="325677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 flipH="1">
            <a:off x="5970217" y="1207784"/>
            <a:ext cx="375782" cy="313151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57923" y="954067"/>
            <a:ext cx="205376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smtClean="0"/>
              <a:t>Character device file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514351" y="1214438"/>
            <a:ext cx="500062" cy="357187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204" y="5171063"/>
            <a:ext cx="109811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Block device file</a:t>
            </a:r>
          </a:p>
        </p:txBody>
      </p:sp>
      <p:cxnSp>
        <p:nvCxnSpPr>
          <p:cNvPr id="19" name="Straight Arrow Connector 18"/>
          <p:cNvCxnSpPr/>
          <p:nvPr/>
        </p:nvCxnSpPr>
        <p:spPr>
          <a:xfrm flipH="1" flipV="1">
            <a:off x="442913" y="4171950"/>
            <a:ext cx="57151" cy="1042997"/>
          </a:xfrm>
          <a:prstGeom prst="straightConnector1">
            <a:avLst/>
          </a:prstGeom>
          <a:ln>
            <a:solidFill>
              <a:schemeClr val="tx1"/>
            </a:solidFill>
            <a:prstDash val="solid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1659310" y="5530657"/>
            <a:ext cx="459613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 smtClean="0"/>
              <a:t>/dev/null </a:t>
            </a:r>
            <a:r>
              <a:rPr lang="en-US" dirty="0" smtClean="0"/>
              <a:t>is a special device file </a:t>
            </a:r>
          </a:p>
          <a:p>
            <a:r>
              <a:rPr lang="en-US" dirty="0" smtClean="0"/>
              <a:t>    – anything written to it never gets stored.</a:t>
            </a:r>
          </a:p>
          <a:p>
            <a:r>
              <a:rPr lang="en-US" dirty="0" smtClean="0"/>
              <a:t>    – nothing can be read from this file.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21673" y="145140"/>
            <a:ext cx="8468303" cy="553998"/>
          </a:xfrm>
        </p:spPr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Commands for file operations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462742" y="941246"/>
            <a:ext cx="7874451" cy="5236997"/>
          </a:xfrm>
        </p:spPr>
        <p:txBody>
          <a:bodyPr>
            <a:normAutofit/>
          </a:bodyPr>
          <a:lstStyle/>
          <a:p>
            <a:r>
              <a:rPr lang="en-IN" b="1" dirty="0" err="1" smtClean="0">
                <a:solidFill>
                  <a:schemeClr val="tx1"/>
                </a:solidFill>
                <a:sym typeface="Wingdings" pitchFamily="2" charset="2"/>
              </a:rPr>
              <a:t>ls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			 list files in a directory</a:t>
            </a:r>
          </a:p>
          <a:p>
            <a:r>
              <a:rPr lang="en-IN" b="1" dirty="0" smtClean="0">
                <a:solidFill>
                  <a:schemeClr val="tx1"/>
                </a:solidFill>
                <a:sym typeface="Wingdings" pitchFamily="2" charset="2"/>
              </a:rPr>
              <a:t>touch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		 modify time stamps for file(s)</a:t>
            </a:r>
          </a:p>
          <a:p>
            <a:r>
              <a:rPr lang="en-IN" b="1" dirty="0" err="1" smtClean="0">
                <a:solidFill>
                  <a:schemeClr val="tx1"/>
                </a:solidFill>
              </a:rPr>
              <a:t>chmod</a:t>
            </a:r>
            <a:r>
              <a:rPr lang="en-IN" b="1" dirty="0" smtClean="0">
                <a:solidFill>
                  <a:schemeClr val="tx1"/>
                </a:solidFill>
              </a:rPr>
              <a:t> 		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 change permissions</a:t>
            </a:r>
          </a:p>
          <a:p>
            <a:r>
              <a:rPr lang="en-IN" b="1" dirty="0" smtClean="0">
                <a:solidFill>
                  <a:schemeClr val="tx1"/>
                </a:solidFill>
                <a:sym typeface="Wingdings" pitchFamily="2" charset="2"/>
              </a:rPr>
              <a:t>cp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			 copy files</a:t>
            </a:r>
          </a:p>
          <a:p>
            <a:r>
              <a:rPr lang="en-IN" b="1" dirty="0" err="1" smtClean="0">
                <a:solidFill>
                  <a:schemeClr val="tx1"/>
                </a:solidFill>
                <a:sym typeface="Wingdings" pitchFamily="2" charset="2"/>
              </a:rPr>
              <a:t>mv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			 rename files</a:t>
            </a:r>
          </a:p>
          <a:p>
            <a:r>
              <a:rPr lang="en-IN" b="1" dirty="0" err="1" smtClean="0">
                <a:solidFill>
                  <a:schemeClr val="tx1"/>
                </a:solidFill>
                <a:sym typeface="Wingdings" pitchFamily="2" charset="2"/>
              </a:rPr>
              <a:t>ln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			 create links</a:t>
            </a:r>
          </a:p>
          <a:p>
            <a:r>
              <a:rPr lang="en-IN" b="1" dirty="0" err="1" smtClean="0">
                <a:solidFill>
                  <a:schemeClr val="tx1"/>
                </a:solidFill>
                <a:sym typeface="Wingdings" pitchFamily="2" charset="2"/>
              </a:rPr>
              <a:t>rm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 			 remove file</a:t>
            </a:r>
          </a:p>
          <a:p>
            <a:r>
              <a:rPr lang="en-IN" b="1" dirty="0" err="1" smtClean="0">
                <a:solidFill>
                  <a:schemeClr val="tx1"/>
                </a:solidFill>
                <a:sym typeface="Wingdings" pitchFamily="2" charset="2"/>
              </a:rPr>
              <a:t>mkdir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		 make directory</a:t>
            </a:r>
          </a:p>
          <a:p>
            <a:r>
              <a:rPr lang="en-IN" b="1" dirty="0" err="1" smtClean="0">
                <a:solidFill>
                  <a:schemeClr val="tx1"/>
                </a:solidFill>
                <a:sym typeface="Wingdings" pitchFamily="2" charset="2"/>
              </a:rPr>
              <a:t>rmdir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		 remove directory</a:t>
            </a:r>
          </a:p>
          <a:p>
            <a:r>
              <a:rPr lang="en-IN" b="1" dirty="0" err="1" smtClean="0">
                <a:solidFill>
                  <a:schemeClr val="tx1"/>
                </a:solidFill>
                <a:sym typeface="Wingdings" pitchFamily="2" charset="2"/>
              </a:rPr>
              <a:t>umask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		 mask file permissions</a:t>
            </a:r>
          </a:p>
          <a:p>
            <a:r>
              <a:rPr lang="en-IN" b="1" dirty="0" smtClean="0">
                <a:solidFill>
                  <a:schemeClr val="tx1"/>
                </a:solidFill>
                <a:sym typeface="Wingdings" pitchFamily="2" charset="2"/>
              </a:rPr>
              <a:t>find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			 find files matching the criteria</a:t>
            </a:r>
          </a:p>
          <a:p>
            <a:endParaRPr lang="en-IN" dirty="0" smtClean="0">
              <a:solidFill>
                <a:schemeClr val="tx1"/>
              </a:solidFill>
              <a:sym typeface="Wingdings" pitchFamily="2" charset="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err="1" smtClean="0">
                <a:solidFill>
                  <a:schemeClr val="tx1"/>
                </a:solidFill>
              </a:rPr>
              <a:t>ls</a:t>
            </a:r>
            <a:r>
              <a:rPr lang="en-IN" dirty="0" smtClean="0">
                <a:solidFill>
                  <a:schemeClr val="tx1"/>
                </a:solidFill>
              </a:rPr>
              <a:t>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5606647"/>
          </a:xfrm>
        </p:spPr>
        <p:txBody>
          <a:bodyPr>
            <a:normAutofit/>
          </a:bodyPr>
          <a:lstStyle/>
          <a:p>
            <a:r>
              <a:rPr lang="en-IN" b="1" dirty="0" err="1" smtClean="0">
                <a:solidFill>
                  <a:srgbClr val="0000CC"/>
                </a:solidFill>
              </a:rPr>
              <a:t>ls</a:t>
            </a:r>
            <a:r>
              <a:rPr lang="en-IN" b="1" dirty="0" smtClean="0">
                <a:solidFill>
                  <a:schemeClr val="tx1"/>
                </a:solidFill>
              </a:rPr>
              <a:t> </a:t>
            </a:r>
            <a:r>
              <a:rPr lang="en-IN" dirty="0" smtClean="0">
                <a:solidFill>
                  <a:schemeClr val="tx1"/>
                </a:solidFill>
              </a:rPr>
              <a:t>command lets list files and directories</a:t>
            </a:r>
          </a:p>
          <a:p>
            <a:endParaRPr lang="en-IN" dirty="0" smtClean="0">
              <a:solidFill>
                <a:schemeClr val="tx1"/>
              </a:solidFill>
            </a:endParaRPr>
          </a:p>
          <a:p>
            <a:r>
              <a:rPr lang="en-IN" dirty="0" smtClean="0">
                <a:solidFill>
                  <a:schemeClr val="tx1"/>
                </a:solidFill>
              </a:rPr>
              <a:t>Frequently used options </a:t>
            </a:r>
          </a:p>
          <a:p>
            <a:pPr>
              <a:buNone/>
            </a:pPr>
            <a:r>
              <a:rPr lang="en-IN" dirty="0" smtClean="0">
                <a:solidFill>
                  <a:schemeClr val="tx1"/>
                </a:solidFill>
              </a:rPr>
              <a:t>			</a:t>
            </a:r>
            <a:r>
              <a:rPr lang="en-US" dirty="0" smtClean="0">
                <a:solidFill>
                  <a:schemeClr val="tx1"/>
                </a:solidFill>
              </a:rPr>
              <a:t>-l		list in long format</a:t>
            </a:r>
          </a:p>
          <a:p>
            <a:pPr>
              <a:buFontTx/>
              <a:buNone/>
            </a:pPr>
            <a:r>
              <a:rPr lang="en-US" dirty="0" smtClean="0">
                <a:solidFill>
                  <a:schemeClr val="tx1"/>
                </a:solidFill>
              </a:rPr>
              <a:t>			-a		list all file including those beginning with a dot</a:t>
            </a:r>
          </a:p>
          <a:p>
            <a:pPr>
              <a:buFontTx/>
              <a:buNone/>
            </a:pPr>
            <a:r>
              <a:rPr lang="en-US" dirty="0" smtClean="0">
                <a:solidFill>
                  <a:schemeClr val="tx1"/>
                </a:solidFill>
              </a:rPr>
              <a:t>			-</a:t>
            </a:r>
            <a:r>
              <a:rPr lang="en-US" dirty="0" err="1" smtClean="0">
                <a:solidFill>
                  <a:schemeClr val="tx1"/>
                </a:solidFill>
              </a:rPr>
              <a:t>i</a:t>
            </a:r>
            <a:r>
              <a:rPr lang="en-US" dirty="0" smtClean="0">
                <a:solidFill>
                  <a:schemeClr val="tx1"/>
                </a:solidFill>
              </a:rPr>
              <a:t>		list </a:t>
            </a:r>
            <a:r>
              <a:rPr lang="en-US" dirty="0" err="1" smtClean="0">
                <a:solidFill>
                  <a:schemeClr val="tx1"/>
                </a:solidFill>
              </a:rPr>
              <a:t>inode</a:t>
            </a:r>
            <a:r>
              <a:rPr lang="en-US" dirty="0" smtClean="0">
                <a:solidFill>
                  <a:schemeClr val="tx1"/>
                </a:solidFill>
              </a:rPr>
              <a:t> number of file in first column</a:t>
            </a:r>
          </a:p>
          <a:p>
            <a:pPr>
              <a:buFontTx/>
              <a:buNone/>
            </a:pPr>
            <a:r>
              <a:rPr lang="en-US" dirty="0" smtClean="0">
                <a:solidFill>
                  <a:schemeClr val="tx1"/>
                </a:solidFill>
              </a:rPr>
              <a:t>			-s		reports disk blocks occupied by file</a:t>
            </a:r>
          </a:p>
          <a:p>
            <a:pPr>
              <a:buFontTx/>
              <a:buNone/>
            </a:pPr>
            <a:r>
              <a:rPr lang="en-US" dirty="0" smtClean="0">
                <a:solidFill>
                  <a:schemeClr val="tx1"/>
                </a:solidFill>
              </a:rPr>
              <a:t>			-R		recursively list all sub directories</a:t>
            </a:r>
          </a:p>
          <a:p>
            <a:pPr>
              <a:buFontTx/>
              <a:buNone/>
            </a:pPr>
            <a:r>
              <a:rPr lang="en-US" dirty="0" smtClean="0">
                <a:solidFill>
                  <a:schemeClr val="tx1"/>
                </a:solidFill>
              </a:rPr>
              <a:t>			-F		mark type of each file</a:t>
            </a:r>
          </a:p>
          <a:p>
            <a:pPr>
              <a:buFontTx/>
              <a:buNone/>
            </a:pPr>
            <a:r>
              <a:rPr lang="en-US" dirty="0" smtClean="0">
                <a:solidFill>
                  <a:schemeClr val="tx1"/>
                </a:solidFill>
              </a:rPr>
              <a:t>			-C		display files in columns</a:t>
            </a:r>
          </a:p>
          <a:p>
            <a:pPr>
              <a:buFontTx/>
              <a:buNone/>
            </a:pPr>
            <a:r>
              <a:rPr lang="en-US" dirty="0" smtClean="0">
                <a:solidFill>
                  <a:schemeClr val="tx1"/>
                </a:solidFill>
              </a:rPr>
              <a:t>			-d		list directory entry, not its contents</a:t>
            </a:r>
          </a:p>
          <a:p>
            <a:pPr>
              <a:buFontTx/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>
              <a:buFontTx/>
              <a:buNone/>
            </a:pPr>
            <a:r>
              <a:rPr lang="en-US" dirty="0" smtClean="0">
                <a:solidFill>
                  <a:schemeClr val="tx1"/>
                </a:solidFill>
              </a:rPr>
              <a:t>It is possible to provide more than one option.</a:t>
            </a:r>
          </a:p>
          <a:p>
            <a:pPr lvl="1">
              <a:buFontTx/>
              <a:buNone/>
            </a:pPr>
            <a:endParaRPr lang="en-US" sz="2400" dirty="0" smtClean="0">
              <a:solidFill>
                <a:schemeClr val="tx1"/>
              </a:solidFill>
            </a:endParaRPr>
          </a:p>
          <a:p>
            <a:endParaRPr lang="en-IN" dirty="0" smtClean="0">
              <a:solidFill>
                <a:schemeClr val="tx1"/>
              </a:solidFill>
            </a:endParaRPr>
          </a:p>
          <a:p>
            <a:endParaRPr lang="en-IN" dirty="0" smtClean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err="1" smtClean="0">
                <a:solidFill>
                  <a:schemeClr val="tx1"/>
                </a:solidFill>
              </a:rPr>
              <a:t>ls</a:t>
            </a:r>
            <a:r>
              <a:rPr lang="en-IN" dirty="0" smtClean="0">
                <a:solidFill>
                  <a:schemeClr val="tx1"/>
                </a:solidFill>
              </a:rPr>
              <a:t> – examples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4550" y="972769"/>
            <a:ext cx="8802410" cy="26161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ls</a:t>
            </a:r>
            <a:r>
              <a:rPr lang="en-US" sz="24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–l /etc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total 1924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rw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-r--r--  1 root 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root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15228 Jan 25  2003 a2ps.cfg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rw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-r--r--  1 root 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root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47 Apr 12 15:12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adjtime</a:t>
            </a:r>
            <a:endParaRPr lang="en-US" sz="20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drwxr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xr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-x  2 root 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root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4096 Mar  7 11:14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aep</a:t>
            </a:r>
            <a:endParaRPr lang="en-US" sz="20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rw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-r--r--  1 root 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root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688 Feb  4  2003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aep.conf</a:t>
            </a:r>
            <a:endParaRPr lang="en-US" sz="20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rw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-r--r--  1 root 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root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703 Feb  4  2003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aeplog.conf</a:t>
            </a:r>
            <a:endParaRPr lang="en-US" sz="20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1839" y="3968881"/>
            <a:ext cx="3416320" cy="261610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4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ls</a:t>
            </a:r>
            <a:r>
              <a:rPr lang="en-US" sz="24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–</a:t>
            </a:r>
            <a:r>
              <a:rPr lang="en-US" sz="24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sz="24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/etc</a:t>
            </a:r>
            <a:r>
              <a:rPr lang="en-US" sz="24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r>
              <a:rPr lang="en-US" sz="2000" b="1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224103 a2ps.cfg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224099 a2ps-site.cfg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224016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adjtime</a:t>
            </a:r>
            <a:endParaRPr lang="en-US" sz="20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128122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aep</a:t>
            </a:r>
            <a:endParaRPr lang="en-US" sz="20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224129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aep.conf</a:t>
            </a:r>
            <a:endParaRPr lang="en-US" sz="20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224131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aeplog.conf</a:t>
            </a:r>
            <a:endParaRPr lang="en-US" sz="20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...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err="1">
                <a:solidFill>
                  <a:schemeClr val="tx1"/>
                </a:solidFill>
              </a:rPr>
              <a:t>ls</a:t>
            </a:r>
            <a:r>
              <a:rPr lang="en-IN" dirty="0">
                <a:solidFill>
                  <a:schemeClr val="tx1"/>
                </a:solidFill>
              </a:rPr>
              <a:t> – examples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0263" y="904530"/>
            <a:ext cx="8763712" cy="236988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4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ls</a:t>
            </a:r>
            <a:r>
              <a:rPr lang="en-US" sz="24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–l data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total 0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rw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rw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-r--   1 wipro18 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wipro18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0 Apr 24 11:26 new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4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ls</a:t>
            </a:r>
            <a:r>
              <a:rPr lang="en-US" sz="24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-</a:t>
            </a:r>
            <a:r>
              <a:rPr lang="en-US" sz="2400" b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ld data</a:t>
            </a:r>
            <a:endParaRPr lang="en-US" sz="2400" b="1" dirty="0" smtClean="0">
              <a:solidFill>
                <a:srgbClr val="0000CC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drwxrwxr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-x   2 wipro18 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wipro18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4096 Apr 24 11:22 data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8624" y="3329057"/>
            <a:ext cx="8763027" cy="31085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4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ls</a:t>
            </a:r>
            <a:r>
              <a:rPr lang="en-US" sz="24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–</a:t>
            </a:r>
            <a:r>
              <a:rPr lang="en-US" sz="24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lR</a:t>
            </a:r>
            <a:r>
              <a:rPr lang="en-US" sz="24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.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.: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total 7796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rwxr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xr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-x    2 wipro18 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wipro18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62 Apr 20 16:34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dat</a:t>
            </a:r>
            <a:endParaRPr lang="en-US" sz="20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drwxrwxr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-x    3 wipro18 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wipro18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4096 Apr 24 11:11 x</a:t>
            </a:r>
          </a:p>
          <a:p>
            <a:endParaRPr lang="en-US" sz="12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./x: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total 4</a:t>
            </a:r>
          </a:p>
          <a:p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drwxrwxr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-x    3 wipro18 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wipro18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4096 Apr 24 11:11 y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...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37782" y="1050591"/>
            <a:ext cx="5447462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/>
              <a:t>Note the difference between the output with </a:t>
            </a:r>
            <a:r>
              <a:rPr lang="en-US" b="1" dirty="0" smtClean="0"/>
              <a:t>–l </a:t>
            </a:r>
            <a:r>
              <a:rPr lang="en-US" sz="1600" dirty="0" smtClean="0"/>
              <a:t>and </a:t>
            </a:r>
            <a:r>
              <a:rPr lang="en-US" b="1" dirty="0" smtClean="0"/>
              <a:t>–ld </a:t>
            </a:r>
            <a:r>
              <a:rPr lang="en-US" sz="1600" dirty="0" smtClean="0"/>
              <a:t>option for directories</a:t>
            </a:r>
          </a:p>
        </p:txBody>
      </p:sp>
      <p:cxnSp>
        <p:nvCxnSpPr>
          <p:cNvPr id="11" name="Straight Arrow Connector 10"/>
          <p:cNvCxnSpPr>
            <a:stCxn id="5" idx="1"/>
          </p:cNvCxnSpPr>
          <p:nvPr/>
        </p:nvCxnSpPr>
        <p:spPr>
          <a:xfrm flipH="1" flipV="1">
            <a:off x="1478604" y="1225685"/>
            <a:ext cx="1459178" cy="132683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>
            <a:stCxn id="5" idx="1"/>
          </p:cNvCxnSpPr>
          <p:nvPr/>
        </p:nvCxnSpPr>
        <p:spPr>
          <a:xfrm flipH="1">
            <a:off x="1614791" y="1358368"/>
            <a:ext cx="1322991" cy="85953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t</a:t>
            </a:r>
            <a:r>
              <a:rPr lang="en-IN" dirty="0" smtClean="0">
                <a:solidFill>
                  <a:schemeClr val="tx1"/>
                </a:solidFill>
              </a:rPr>
              <a:t>ouch 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5331118"/>
          </a:xfrm>
        </p:spPr>
        <p:txBody>
          <a:bodyPr>
            <a:normAutofit/>
          </a:bodyPr>
          <a:lstStyle/>
          <a:p>
            <a:r>
              <a:rPr lang="en-IN" dirty="0" smtClean="0"/>
              <a:t>touch command is used to </a:t>
            </a:r>
          </a:p>
          <a:p>
            <a:pPr lvl="1">
              <a:buFontTx/>
              <a:buChar char="-"/>
            </a:pPr>
            <a:r>
              <a:rPr lang="en-IN" dirty="0" smtClean="0"/>
              <a:t>change access/modification timestamp of file(s)</a:t>
            </a:r>
          </a:p>
          <a:p>
            <a:pPr lvl="1">
              <a:buFontTx/>
              <a:buChar char="-"/>
            </a:pPr>
            <a:r>
              <a:rPr lang="en-IN" dirty="0" smtClean="0"/>
              <a:t>create a file if it does not exist</a:t>
            </a:r>
          </a:p>
          <a:p>
            <a:endParaRPr lang="en-IN" dirty="0" smtClean="0"/>
          </a:p>
          <a:p>
            <a:endParaRPr lang="en-IN" sz="1400" dirty="0" smtClean="0"/>
          </a:p>
        </p:txBody>
      </p:sp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90513" y="2609850"/>
            <a:ext cx="8562975" cy="16383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10" name="Bent Arrow 9"/>
          <p:cNvSpPr/>
          <p:nvPr/>
        </p:nvSpPr>
        <p:spPr>
          <a:xfrm rot="10800000">
            <a:off x="2385369" y="3342636"/>
            <a:ext cx="370358" cy="257620"/>
          </a:xfrm>
          <a:prstGeom prst="bentArrow">
            <a:avLst/>
          </a:prstGeom>
          <a:solidFill>
            <a:srgbClr val="F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Bent Arrow 5"/>
          <p:cNvSpPr/>
          <p:nvPr/>
        </p:nvSpPr>
        <p:spPr>
          <a:xfrm rot="10800000">
            <a:off x="2366319" y="2680648"/>
            <a:ext cx="370358" cy="257620"/>
          </a:xfrm>
          <a:prstGeom prst="bentArrow">
            <a:avLst/>
          </a:prstGeom>
          <a:solidFill>
            <a:srgbClr val="F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t</a:t>
            </a:r>
            <a:r>
              <a:rPr lang="en-IN" dirty="0" smtClean="0">
                <a:solidFill>
                  <a:schemeClr val="tx1"/>
                </a:solidFill>
              </a:rPr>
              <a:t>ouch  command options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200025" y="871538"/>
            <a:ext cx="8943975" cy="5330825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dirty="0" smtClean="0"/>
              <a:t>Some of the commonly used options</a:t>
            </a:r>
          </a:p>
          <a:p>
            <a:pPr>
              <a:buNone/>
            </a:pPr>
            <a:endParaRPr lang="en-IN" sz="500" dirty="0" smtClean="0"/>
          </a:p>
          <a:p>
            <a:pPr>
              <a:buNone/>
            </a:pPr>
            <a:r>
              <a:rPr lang="en-IN" dirty="0" smtClean="0"/>
              <a:t>    </a:t>
            </a:r>
            <a:r>
              <a:rPr lang="en-IN" dirty="0" smtClean="0">
                <a:solidFill>
                  <a:srgbClr val="0000CC"/>
                </a:solidFill>
              </a:rPr>
              <a:t>-c</a:t>
            </a:r>
            <a:r>
              <a:rPr lang="en-IN" dirty="0" smtClean="0"/>
              <a:t>	don’t create if the file does not exist. </a:t>
            </a:r>
            <a:r>
              <a:rPr lang="en-IN" sz="2000" dirty="0" smtClean="0"/>
              <a:t>By default, file gets created.</a:t>
            </a:r>
          </a:p>
          <a:p>
            <a:pPr>
              <a:buNone/>
            </a:pPr>
            <a:endParaRPr lang="en-IN" sz="400" dirty="0" smtClean="0"/>
          </a:p>
          <a:p>
            <a:pPr>
              <a:buNone/>
            </a:pPr>
            <a:r>
              <a:rPr lang="en-IN" dirty="0" smtClean="0"/>
              <a:t>    </a:t>
            </a:r>
            <a:r>
              <a:rPr lang="en-IN" dirty="0" smtClean="0">
                <a:solidFill>
                  <a:srgbClr val="0000CC"/>
                </a:solidFill>
              </a:rPr>
              <a:t>-a </a:t>
            </a:r>
            <a:r>
              <a:rPr lang="en-IN" dirty="0" smtClean="0"/>
              <a:t>	change access time only</a:t>
            </a:r>
          </a:p>
          <a:p>
            <a:pPr>
              <a:buNone/>
            </a:pPr>
            <a:endParaRPr lang="en-IN" sz="400" dirty="0" smtClean="0"/>
          </a:p>
          <a:p>
            <a:pPr>
              <a:buNone/>
            </a:pPr>
            <a:r>
              <a:rPr lang="en-IN" dirty="0" smtClean="0">
                <a:solidFill>
                  <a:srgbClr val="0000CC"/>
                </a:solidFill>
              </a:rPr>
              <a:t>    -m</a:t>
            </a:r>
            <a:r>
              <a:rPr lang="en-IN" dirty="0" smtClean="0"/>
              <a:t>    change modification time only</a:t>
            </a:r>
          </a:p>
          <a:p>
            <a:pPr>
              <a:buNone/>
            </a:pPr>
            <a:endParaRPr lang="en-IN" dirty="0" smtClean="0"/>
          </a:p>
        </p:txBody>
      </p:sp>
      <p:pic>
        <p:nvPicPr>
          <p:cNvPr id="4102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4825" y="4747347"/>
            <a:ext cx="7658100" cy="1685925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77030" y="2918609"/>
            <a:ext cx="5191125" cy="1638300"/>
          </a:xfrm>
          <a:prstGeom prst="rect">
            <a:avLst/>
          </a:prstGeom>
          <a:ln>
            <a:headEnd/>
            <a:tailEnd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</p:pic>
      <p:sp>
        <p:nvSpPr>
          <p:cNvPr id="25" name="Bent Arrow 24"/>
          <p:cNvSpPr/>
          <p:nvPr/>
        </p:nvSpPr>
        <p:spPr>
          <a:xfrm rot="10800000">
            <a:off x="3187034" y="3650500"/>
            <a:ext cx="370358" cy="257620"/>
          </a:xfrm>
          <a:prstGeom prst="bentArrow">
            <a:avLst/>
          </a:prstGeom>
          <a:solidFill>
            <a:srgbClr val="F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Bent Arrow 25"/>
          <p:cNvSpPr/>
          <p:nvPr/>
        </p:nvSpPr>
        <p:spPr>
          <a:xfrm rot="10800000">
            <a:off x="2861358" y="5541930"/>
            <a:ext cx="370358" cy="257620"/>
          </a:xfrm>
          <a:prstGeom prst="bentArrow">
            <a:avLst/>
          </a:prstGeom>
          <a:solidFill>
            <a:srgbClr val="F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8" name="Bent Arrow 7"/>
          <p:cNvSpPr/>
          <p:nvPr/>
        </p:nvSpPr>
        <p:spPr>
          <a:xfrm rot="10800000">
            <a:off x="2627996" y="4808505"/>
            <a:ext cx="370358" cy="257620"/>
          </a:xfrm>
          <a:prstGeom prst="bentArrow">
            <a:avLst/>
          </a:prstGeom>
          <a:solidFill>
            <a:srgbClr val="F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Bent Arrow 8"/>
          <p:cNvSpPr/>
          <p:nvPr/>
        </p:nvSpPr>
        <p:spPr>
          <a:xfrm rot="10800000">
            <a:off x="2810796" y="2988512"/>
            <a:ext cx="370358" cy="257620"/>
          </a:xfrm>
          <a:prstGeom prst="bentArrow">
            <a:avLst/>
          </a:prstGeom>
          <a:solidFill>
            <a:srgbClr val="FE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err="1" smtClean="0">
                <a:solidFill>
                  <a:schemeClr val="tx1"/>
                </a:solidFill>
              </a:rPr>
              <a:t>chmod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5431549"/>
          </a:xfrm>
        </p:spPr>
        <p:txBody>
          <a:bodyPr>
            <a:normAutofit/>
          </a:bodyPr>
          <a:lstStyle/>
          <a:p>
            <a:r>
              <a:rPr lang="en-IN" b="1" dirty="0" err="1" smtClean="0">
                <a:solidFill>
                  <a:srgbClr val="0000CC"/>
                </a:solidFill>
              </a:rPr>
              <a:t>chmod</a:t>
            </a:r>
            <a:r>
              <a:rPr lang="en-IN" b="1" dirty="0" smtClean="0">
                <a:solidFill>
                  <a:srgbClr val="0000CC"/>
                </a:solidFill>
              </a:rPr>
              <a:t> </a:t>
            </a:r>
            <a:r>
              <a:rPr lang="en-IN" dirty="0" smtClean="0">
                <a:solidFill>
                  <a:schemeClr val="tx1"/>
                </a:solidFill>
              </a:rPr>
              <a:t>allows file permissions to be changed.</a:t>
            </a:r>
          </a:p>
          <a:p>
            <a:pPr>
              <a:buNone/>
            </a:pPr>
            <a:endParaRPr lang="en-IN" dirty="0" smtClean="0"/>
          </a:p>
          <a:p>
            <a:r>
              <a:rPr lang="en-IN" dirty="0" smtClean="0">
                <a:solidFill>
                  <a:schemeClr val="tx1"/>
                </a:solidFill>
              </a:rPr>
              <a:t>Two possible ways of using</a:t>
            </a:r>
          </a:p>
          <a:p>
            <a:endParaRPr lang="en-IN" dirty="0" smtClean="0"/>
          </a:p>
          <a:p>
            <a:pPr lvl="1">
              <a:buNone/>
            </a:pPr>
            <a:r>
              <a:rPr lang="en-IN" dirty="0" smtClean="0"/>
              <a:t>	a)    </a:t>
            </a:r>
            <a:r>
              <a:rPr lang="en-IN" b="1" dirty="0" err="1" smtClean="0">
                <a:solidFill>
                  <a:srgbClr val="0000CC"/>
                </a:solidFill>
              </a:rPr>
              <a:t>chmod</a:t>
            </a:r>
            <a:r>
              <a:rPr lang="en-IN" b="1" dirty="0" smtClean="0">
                <a:solidFill>
                  <a:srgbClr val="0000CC"/>
                </a:solidFill>
              </a:rPr>
              <a:t>     octal-mode     file1   [file2 .... ]</a:t>
            </a:r>
          </a:p>
          <a:p>
            <a:pPr lvl="1">
              <a:buNone/>
            </a:pPr>
            <a:r>
              <a:rPr lang="en-IN" b="1" dirty="0" smtClean="0">
                <a:solidFill>
                  <a:srgbClr val="0000CC"/>
                </a:solidFill>
              </a:rPr>
              <a:t> </a:t>
            </a:r>
          </a:p>
          <a:p>
            <a:pPr lvl="1">
              <a:buNone/>
            </a:pPr>
            <a:r>
              <a:rPr lang="en-IN" b="1" dirty="0" smtClean="0">
                <a:solidFill>
                  <a:srgbClr val="0000CC"/>
                </a:solidFill>
              </a:rPr>
              <a:t>     </a:t>
            </a:r>
            <a:r>
              <a:rPr lang="en-IN" dirty="0" smtClean="0">
                <a:solidFill>
                  <a:schemeClr val="tx1"/>
                </a:solidFill>
              </a:rPr>
              <a:t>b)</a:t>
            </a:r>
            <a:r>
              <a:rPr lang="en-IN" b="1" dirty="0" smtClean="0">
                <a:solidFill>
                  <a:srgbClr val="0000CC"/>
                </a:solidFill>
              </a:rPr>
              <a:t>   </a:t>
            </a:r>
            <a:r>
              <a:rPr lang="en-IN" b="1" dirty="0" err="1" smtClean="0">
                <a:solidFill>
                  <a:srgbClr val="0000CC"/>
                </a:solidFill>
              </a:rPr>
              <a:t>chmod</a:t>
            </a:r>
            <a:r>
              <a:rPr lang="en-IN" b="1" dirty="0" smtClean="0">
                <a:solidFill>
                  <a:srgbClr val="0000CC"/>
                </a:solidFill>
              </a:rPr>
              <a:t>     </a:t>
            </a:r>
            <a:r>
              <a:rPr lang="en-IN" b="1" dirty="0" err="1" smtClean="0">
                <a:solidFill>
                  <a:srgbClr val="0000CC"/>
                </a:solidFill>
              </a:rPr>
              <a:t>modestring</a:t>
            </a:r>
            <a:r>
              <a:rPr lang="en-IN" b="1" dirty="0" smtClean="0">
                <a:solidFill>
                  <a:srgbClr val="0000CC"/>
                </a:solidFill>
              </a:rPr>
              <a:t>      file1   [file2 .... ]</a:t>
            </a:r>
          </a:p>
          <a:p>
            <a:pPr lvl="1">
              <a:buNone/>
            </a:pPr>
            <a:endParaRPr lang="en-IN" b="1" dirty="0" smtClean="0">
              <a:solidFill>
                <a:srgbClr val="0000CC"/>
              </a:solidFill>
            </a:endParaRPr>
          </a:p>
          <a:p>
            <a:pPr lvl="1">
              <a:buNone/>
            </a:pPr>
            <a:endParaRPr lang="en-IN" b="1" dirty="0" smtClean="0">
              <a:solidFill>
                <a:srgbClr val="0000CC"/>
              </a:solidFill>
            </a:endParaRPr>
          </a:p>
          <a:p>
            <a:pPr lvl="1">
              <a:buNone/>
            </a:pPr>
            <a:r>
              <a:rPr lang="en-IN" i="1" u="sng" dirty="0" err="1" smtClean="0">
                <a:solidFill>
                  <a:schemeClr val="tx1"/>
                </a:solidFill>
              </a:rPr>
              <a:t>modestring</a:t>
            </a:r>
            <a:r>
              <a:rPr lang="en-IN" dirty="0" smtClean="0">
                <a:solidFill>
                  <a:schemeClr val="tx1"/>
                </a:solidFill>
              </a:rPr>
              <a:t>  comprises of </a:t>
            </a:r>
          </a:p>
          <a:p>
            <a:pPr lvl="1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en-IN" dirty="0" smtClean="0">
                <a:solidFill>
                  <a:schemeClr val="tx1"/>
                </a:solidFill>
              </a:rPr>
              <a:t>		category   operation    attribute</a:t>
            </a:r>
          </a:p>
          <a:p>
            <a:pPr lvl="1">
              <a:buNone/>
            </a:pPr>
            <a:endParaRPr lang="en-IN" b="1" dirty="0" smtClean="0">
              <a:solidFill>
                <a:schemeClr val="tx1"/>
              </a:solidFill>
            </a:endParaRPr>
          </a:p>
          <a:p>
            <a:pPr lvl="1">
              <a:buNone/>
            </a:pPr>
            <a:endParaRPr lang="en-IN" b="1" dirty="0" smtClean="0">
              <a:solidFill>
                <a:srgbClr val="0000CC"/>
              </a:solidFill>
            </a:endParaRPr>
          </a:p>
          <a:p>
            <a:pPr lvl="1">
              <a:buNone/>
            </a:pPr>
            <a:endParaRPr lang="en-IN" b="1" dirty="0" smtClean="0">
              <a:solidFill>
                <a:srgbClr val="0000CC"/>
              </a:solidFill>
            </a:endParaRPr>
          </a:p>
          <a:p>
            <a:pPr lvl="1">
              <a:buNone/>
            </a:pPr>
            <a:endParaRPr lang="en-IN" b="1" dirty="0" smtClean="0">
              <a:solidFill>
                <a:srgbClr val="0000CC"/>
              </a:solidFill>
            </a:endParaRPr>
          </a:p>
          <a:p>
            <a:pPr lvl="1">
              <a:buNone/>
            </a:pPr>
            <a:endParaRPr lang="en-IN" b="1" dirty="0" smtClean="0">
              <a:solidFill>
                <a:srgbClr val="0000CC"/>
              </a:solidFill>
            </a:endParaRPr>
          </a:p>
          <a:p>
            <a:pPr lvl="1"/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err="1" smtClean="0">
                <a:solidFill>
                  <a:schemeClr val="tx1"/>
                </a:solidFill>
              </a:rPr>
              <a:t>chmod</a:t>
            </a:r>
            <a:r>
              <a:rPr lang="en-IN" dirty="0" smtClean="0">
                <a:solidFill>
                  <a:schemeClr val="tx1"/>
                </a:solidFill>
              </a:rPr>
              <a:t>  - using octal mode</a:t>
            </a: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11286" y="941452"/>
          <a:ext cx="5268350" cy="243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526"/>
                <a:gridCol w="956603"/>
                <a:gridCol w="956603"/>
                <a:gridCol w="907760"/>
                <a:gridCol w="953858"/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Desired permission     for  x.dat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accent1"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Octal value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Owner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Others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alpha val="99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Read ( r ) 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4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r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r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-</a:t>
                      </a:r>
                      <a:endParaRPr lang="en-US" sz="16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Write ( w 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2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w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-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-</a:t>
                      </a:r>
                      <a:endParaRPr lang="en-US" sz="16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Execute ( x 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1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-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-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-</a:t>
                      </a:r>
                      <a:endParaRPr lang="en-US" sz="1600" b="1" dirty="0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Overall permission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6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4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0</a:t>
                      </a:r>
                      <a:endParaRPr lang="en-US" sz="16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 Placeholder 7"/>
          <p:cNvSpPr txBox="1">
            <a:spLocks/>
          </p:cNvSpPr>
          <p:nvPr/>
        </p:nvSpPr>
        <p:spPr>
          <a:xfrm>
            <a:off x="5739319" y="1128410"/>
            <a:ext cx="3073941" cy="136187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1"/>
            <a:endParaRPr lang="en-IN" dirty="0" smtClean="0"/>
          </a:p>
          <a:p>
            <a:r>
              <a:rPr lang="en-IN" sz="2000" b="1" dirty="0" smtClean="0"/>
              <a:t>$   </a:t>
            </a:r>
            <a:r>
              <a:rPr lang="en-IN" sz="2000" b="1" dirty="0" err="1" smtClean="0"/>
              <a:t>chmod</a:t>
            </a:r>
            <a:r>
              <a:rPr lang="en-IN" sz="2000" b="1" dirty="0" smtClean="0"/>
              <a:t>     640   x.dat         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7501" y="3798097"/>
          <a:ext cx="5268350" cy="243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93526"/>
                <a:gridCol w="956603"/>
                <a:gridCol w="956603"/>
                <a:gridCol w="907760"/>
                <a:gridCol w="953858"/>
              </a:tblGrid>
              <a:tr h="370840">
                <a:tc gridSpan="5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Desired permission   for   y.sh</a:t>
                      </a:r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>
                    <a:solidFill>
                      <a:schemeClr val="accent1"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Octal value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Owner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Group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alpha val="99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>
                          <a:solidFill>
                            <a:schemeClr val="bg1"/>
                          </a:solidFill>
                        </a:rPr>
                        <a:t>Others</a:t>
                      </a:r>
                      <a:endParaRPr lang="en-US" sz="16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1">
                        <a:alpha val="99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Read ( r )  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4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r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r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r</a:t>
                      </a:r>
                      <a:endParaRPr lang="en-US" sz="16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Write ( w 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2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w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-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-</a:t>
                      </a:r>
                      <a:endParaRPr lang="en-US" sz="1600" b="1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 smtClean="0"/>
                        <a:t>Execute ( x )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1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x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x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x</a:t>
                      </a:r>
                      <a:endParaRPr lang="en-US" sz="1600" b="1" dirty="0"/>
                    </a:p>
                  </a:txBody>
                  <a:tcPr/>
                </a:tc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Overall permission</a:t>
                      </a:r>
                      <a:endParaRPr lang="en-US" sz="1600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7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5</a:t>
                      </a:r>
                      <a:endParaRPr lang="en-US" sz="16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1" dirty="0" smtClean="0"/>
                        <a:t>5</a:t>
                      </a:r>
                      <a:endParaRPr lang="en-US" sz="1600" b="1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9" name="Text Placeholder 7"/>
          <p:cNvSpPr txBox="1">
            <a:spLocks/>
          </p:cNvSpPr>
          <p:nvPr/>
        </p:nvSpPr>
        <p:spPr>
          <a:xfrm>
            <a:off x="5755534" y="3985055"/>
            <a:ext cx="3073941" cy="1361873"/>
          </a:xfrm>
          <a:prstGeom prst="rect">
            <a:avLst/>
          </a:prstGeom>
        </p:spPr>
        <p:txBody>
          <a:bodyPr>
            <a:normAutofit/>
          </a:bodyPr>
          <a:lstStyle/>
          <a:p>
            <a:pPr lvl="1"/>
            <a:endParaRPr lang="en-IN" dirty="0" smtClean="0"/>
          </a:p>
          <a:p>
            <a:r>
              <a:rPr lang="en-IN" sz="2000" b="1" dirty="0" smtClean="0"/>
              <a:t>$   </a:t>
            </a:r>
            <a:r>
              <a:rPr lang="en-IN" sz="2000" b="1" dirty="0" err="1" smtClean="0"/>
              <a:t>chmod</a:t>
            </a:r>
            <a:r>
              <a:rPr lang="en-IN" sz="2000" b="1" dirty="0" smtClean="0"/>
              <a:t>     755   y.sh       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67664" y="4979976"/>
            <a:ext cx="311256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IN" b="1" dirty="0" smtClean="0">
                <a:solidFill>
                  <a:srgbClr val="0000CC"/>
                </a:solidFill>
                <a:sym typeface="Wingdings" pitchFamily="2" charset="2"/>
              </a:rPr>
              <a:t>Using octal mode, it is NOT possible to change only specific permissions.</a:t>
            </a:r>
            <a:endParaRPr lang="en-IN" b="1" dirty="0" smtClean="0">
              <a:solidFill>
                <a:srgbClr val="0000CC"/>
              </a:solidFill>
            </a:endParaRPr>
          </a:p>
          <a:p>
            <a:endParaRPr lang="en-US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63236" y="145140"/>
            <a:ext cx="8426740" cy="553998"/>
          </a:xfrm>
        </p:spPr>
        <p:txBody>
          <a:bodyPr/>
          <a:lstStyle/>
          <a:p>
            <a:r>
              <a:rPr lang="en-IN" dirty="0" err="1">
                <a:solidFill>
                  <a:schemeClr val="tx1"/>
                </a:solidFill>
              </a:rPr>
              <a:t>c</a:t>
            </a:r>
            <a:r>
              <a:rPr lang="en-IN" dirty="0" err="1" smtClean="0">
                <a:solidFill>
                  <a:schemeClr val="tx1"/>
                </a:solidFill>
              </a:rPr>
              <a:t>hmod</a:t>
            </a:r>
            <a:r>
              <a:rPr lang="en-IN" dirty="0" smtClean="0">
                <a:solidFill>
                  <a:schemeClr val="tx1"/>
                </a:solidFill>
              </a:rPr>
              <a:t> using mode string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6423771"/>
          </a:xfrm>
        </p:spPr>
        <p:txBody>
          <a:bodyPr>
            <a:normAutofit/>
          </a:bodyPr>
          <a:lstStyle/>
          <a:p>
            <a:r>
              <a:rPr lang="en-IN" dirty="0" smtClean="0"/>
              <a:t>Mode string is specified in the following format</a:t>
            </a:r>
          </a:p>
          <a:p>
            <a:pPr>
              <a:buNone/>
            </a:pPr>
            <a:r>
              <a:rPr lang="en-IN" dirty="0" smtClean="0"/>
              <a:t>               </a:t>
            </a:r>
            <a:r>
              <a:rPr lang="en-IN" b="1" dirty="0" smtClean="0"/>
              <a:t>category    operation    attribute</a:t>
            </a:r>
          </a:p>
          <a:p>
            <a:pPr lvl="1">
              <a:buNone/>
            </a:pPr>
            <a:endParaRPr lang="en-IN" dirty="0" smtClean="0"/>
          </a:p>
          <a:p>
            <a:pPr lvl="1"/>
            <a:endParaRPr lang="en-IN" dirty="0" smtClean="0"/>
          </a:p>
          <a:p>
            <a:pPr lvl="1"/>
            <a:endParaRPr lang="en-IN" dirty="0" smtClean="0"/>
          </a:p>
          <a:p>
            <a:pPr lvl="1"/>
            <a:endParaRPr lang="en-IN" dirty="0" smtClean="0"/>
          </a:p>
          <a:p>
            <a:pPr lvl="1"/>
            <a:endParaRPr lang="en-IN" dirty="0" smtClean="0"/>
          </a:p>
          <a:p>
            <a:endParaRPr lang="en-IN" sz="1200" dirty="0" smtClean="0"/>
          </a:p>
          <a:p>
            <a:endParaRPr lang="en-IN" sz="1200" dirty="0" smtClean="0"/>
          </a:p>
          <a:p>
            <a:r>
              <a:rPr lang="en-IN" dirty="0" smtClean="0"/>
              <a:t>Examples</a:t>
            </a:r>
          </a:p>
          <a:p>
            <a:endParaRPr lang="en-IN" sz="500" dirty="0" smtClean="0"/>
          </a:p>
          <a:p>
            <a:pPr lvl="1">
              <a:buNone/>
            </a:pPr>
            <a:r>
              <a:rPr lang="en-IN" dirty="0" smtClean="0">
                <a:solidFill>
                  <a:schemeClr val="tx1"/>
                </a:solidFill>
              </a:rPr>
              <a:t>$  </a:t>
            </a:r>
            <a:r>
              <a:rPr lang="en-IN" dirty="0" err="1" smtClean="0">
                <a:solidFill>
                  <a:schemeClr val="tx1"/>
                </a:solidFill>
              </a:rPr>
              <a:t>chmod</a:t>
            </a:r>
            <a:r>
              <a:rPr lang="en-IN" dirty="0" smtClean="0">
                <a:solidFill>
                  <a:schemeClr val="tx1"/>
                </a:solidFill>
              </a:rPr>
              <a:t>    g-w       x.dat	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 remove write permission to group</a:t>
            </a:r>
          </a:p>
          <a:p>
            <a:pPr lvl="1">
              <a:buNone/>
            </a:pP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$  </a:t>
            </a:r>
            <a:r>
              <a:rPr lang="en-IN" dirty="0" err="1" smtClean="0">
                <a:solidFill>
                  <a:schemeClr val="tx1"/>
                </a:solidFill>
                <a:sym typeface="Wingdings" pitchFamily="2" charset="2"/>
              </a:rPr>
              <a:t>chmod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    </a:t>
            </a:r>
            <a:r>
              <a:rPr lang="en-IN" dirty="0" err="1" smtClean="0">
                <a:solidFill>
                  <a:schemeClr val="tx1"/>
                </a:solidFill>
                <a:sym typeface="Wingdings" pitchFamily="2" charset="2"/>
              </a:rPr>
              <a:t>a+x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        </a:t>
            </a:r>
            <a:r>
              <a:rPr lang="en-IN" dirty="0" err="1" smtClean="0">
                <a:solidFill>
                  <a:schemeClr val="tx1"/>
                </a:solidFill>
                <a:sym typeface="Wingdings" pitchFamily="2" charset="2"/>
              </a:rPr>
              <a:t>prog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	 set execute permission to all</a:t>
            </a:r>
          </a:p>
          <a:p>
            <a:pPr lvl="1">
              <a:buNone/>
            </a:pP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$  </a:t>
            </a:r>
            <a:r>
              <a:rPr lang="en-IN" dirty="0" err="1" smtClean="0">
                <a:solidFill>
                  <a:schemeClr val="tx1"/>
                </a:solidFill>
                <a:sym typeface="Wingdings" pitchFamily="2" charset="2"/>
              </a:rPr>
              <a:t>chmod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    u=</a:t>
            </a:r>
            <a:r>
              <a:rPr lang="en-IN" dirty="0" err="1" smtClean="0">
                <a:solidFill>
                  <a:schemeClr val="tx1"/>
                </a:solidFill>
                <a:sym typeface="Wingdings" pitchFamily="2" charset="2"/>
              </a:rPr>
              <a:t>rw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      x.dat	 set read &amp; write perms to owner and no </a:t>
            </a:r>
          </a:p>
          <a:p>
            <a:pPr lvl="1">
              <a:buNone/>
            </a:pP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							     perms to group &amp; others </a:t>
            </a:r>
          </a:p>
          <a:p>
            <a:pPr lvl="1">
              <a:buNone/>
            </a:pPr>
            <a:endParaRPr lang="en-IN" sz="1100" dirty="0" smtClean="0">
              <a:sym typeface="Wingdings" pitchFamily="2" charset="2"/>
            </a:endParaRPr>
          </a:p>
          <a:p>
            <a:pPr lvl="1">
              <a:buNone/>
            </a:pPr>
            <a:r>
              <a:rPr lang="en-IN" b="1" dirty="0" smtClean="0">
                <a:solidFill>
                  <a:srgbClr val="0000CC"/>
                </a:solidFill>
                <a:sym typeface="Wingdings" pitchFamily="2" charset="2"/>
              </a:rPr>
              <a:t>Using mode string, </a:t>
            </a:r>
            <a:r>
              <a:rPr lang="en-IN" sz="2000" b="1" u="sng" dirty="0" smtClean="0">
                <a:solidFill>
                  <a:srgbClr val="0000CC"/>
                </a:solidFill>
                <a:sym typeface="Wingdings" pitchFamily="2" charset="2"/>
              </a:rPr>
              <a:t>it is possible </a:t>
            </a:r>
            <a:r>
              <a:rPr lang="en-IN" b="1" dirty="0" smtClean="0">
                <a:solidFill>
                  <a:srgbClr val="0000CC"/>
                </a:solidFill>
                <a:sym typeface="Wingdings" pitchFamily="2" charset="2"/>
              </a:rPr>
              <a:t>to change only specific permissions.</a:t>
            </a:r>
            <a:endParaRPr lang="en-IN" b="1" dirty="0" smtClean="0">
              <a:solidFill>
                <a:srgbClr val="0000CC"/>
              </a:solidFill>
            </a:endParaRPr>
          </a:p>
          <a:p>
            <a:pPr lvl="2"/>
            <a:endParaRPr lang="en-IN" dirty="0" smtClean="0"/>
          </a:p>
          <a:p>
            <a:pPr lvl="1"/>
            <a:endParaRPr lang="en-IN" dirty="0" smtClean="0"/>
          </a:p>
          <a:p>
            <a:pPr lvl="1"/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525294" y="1828803"/>
            <a:ext cx="1685024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Category</a:t>
            </a:r>
          </a:p>
          <a:p>
            <a:endParaRPr lang="en-US" sz="1000" dirty="0" smtClean="0"/>
          </a:p>
          <a:p>
            <a:r>
              <a:rPr lang="en-US" b="1" dirty="0" smtClean="0">
                <a:solidFill>
                  <a:srgbClr val="0000CC"/>
                </a:solidFill>
              </a:rPr>
              <a:t>u</a:t>
            </a:r>
            <a:r>
              <a:rPr lang="en-US" dirty="0" smtClean="0"/>
              <a:t>  - owner</a:t>
            </a:r>
          </a:p>
          <a:p>
            <a:r>
              <a:rPr lang="en-US" b="1" dirty="0" smtClean="0">
                <a:solidFill>
                  <a:srgbClr val="0000CC"/>
                </a:solidFill>
              </a:rPr>
              <a:t>g</a:t>
            </a:r>
            <a:r>
              <a:rPr lang="en-US" dirty="0" smtClean="0"/>
              <a:t>  - group</a:t>
            </a:r>
          </a:p>
          <a:p>
            <a:r>
              <a:rPr lang="en-US" b="1" dirty="0" smtClean="0">
                <a:solidFill>
                  <a:srgbClr val="0000CC"/>
                </a:solidFill>
              </a:rPr>
              <a:t>o</a:t>
            </a:r>
            <a:r>
              <a:rPr lang="en-US" dirty="0" smtClean="0"/>
              <a:t>  - others</a:t>
            </a:r>
          </a:p>
          <a:p>
            <a:r>
              <a:rPr lang="en-US" b="1" dirty="0" smtClean="0">
                <a:solidFill>
                  <a:srgbClr val="0000CC"/>
                </a:solidFill>
              </a:rPr>
              <a:t>a</a:t>
            </a:r>
            <a:r>
              <a:rPr lang="en-US" dirty="0" smtClean="0"/>
              <a:t>  - all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39914" y="1864473"/>
            <a:ext cx="3972170" cy="14465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operation</a:t>
            </a:r>
          </a:p>
          <a:p>
            <a:endParaRPr lang="en-US" sz="1000" dirty="0" smtClean="0"/>
          </a:p>
          <a:p>
            <a:r>
              <a:rPr lang="en-US" b="1" dirty="0" smtClean="0">
                <a:solidFill>
                  <a:srgbClr val="0000CC"/>
                </a:solidFill>
              </a:rPr>
              <a:t>+</a:t>
            </a:r>
            <a:r>
              <a:rPr lang="en-US" dirty="0" smtClean="0"/>
              <a:t>    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smtClean="0"/>
              <a:t> assign attribute</a:t>
            </a:r>
          </a:p>
          <a:p>
            <a:r>
              <a:rPr lang="en-US" sz="2400" dirty="0" smtClean="0">
                <a:solidFill>
                  <a:srgbClr val="0000CC"/>
                </a:solidFill>
              </a:rPr>
              <a:t>-</a:t>
            </a:r>
            <a:r>
              <a:rPr lang="en-US" dirty="0" smtClean="0"/>
              <a:t>     </a:t>
            </a:r>
            <a:r>
              <a:rPr lang="en-US" dirty="0" smtClean="0">
                <a:sym typeface="Wingdings" pitchFamily="2" charset="2"/>
              </a:rPr>
              <a:t>  </a:t>
            </a:r>
            <a:r>
              <a:rPr lang="en-US" dirty="0" smtClean="0"/>
              <a:t>remove attribute</a:t>
            </a:r>
          </a:p>
          <a:p>
            <a:r>
              <a:rPr lang="en-US" b="1" dirty="0" smtClean="0">
                <a:solidFill>
                  <a:srgbClr val="0000CC"/>
                </a:solidFill>
              </a:rPr>
              <a:t>=</a:t>
            </a:r>
            <a:r>
              <a:rPr lang="en-US" dirty="0" smtClean="0"/>
              <a:t>    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smtClean="0"/>
              <a:t> assign absolute permission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97950" y="1786650"/>
            <a:ext cx="1685024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/>
              <a:t>Attribute</a:t>
            </a:r>
          </a:p>
          <a:p>
            <a:endParaRPr lang="en-US" sz="1000" dirty="0" smtClean="0"/>
          </a:p>
          <a:p>
            <a:r>
              <a:rPr lang="en-US" b="1" dirty="0" smtClean="0">
                <a:solidFill>
                  <a:srgbClr val="0000CC"/>
                </a:solidFill>
              </a:rPr>
              <a:t>r</a:t>
            </a:r>
            <a:r>
              <a:rPr lang="en-US" dirty="0" smtClean="0"/>
              <a:t>  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smtClean="0"/>
              <a:t>read</a:t>
            </a:r>
          </a:p>
          <a:p>
            <a:r>
              <a:rPr lang="en-US" b="1" dirty="0" smtClean="0">
                <a:solidFill>
                  <a:srgbClr val="0000CC"/>
                </a:solidFill>
              </a:rPr>
              <a:t>w</a:t>
            </a:r>
            <a:r>
              <a:rPr lang="en-US" dirty="0" smtClean="0"/>
              <a:t>  </a:t>
            </a:r>
            <a:r>
              <a:rPr lang="en-US" dirty="0" smtClean="0">
                <a:sym typeface="Wingdings" pitchFamily="2" charset="2"/>
              </a:rPr>
              <a:t></a:t>
            </a:r>
            <a:r>
              <a:rPr lang="en-US" dirty="0" smtClean="0"/>
              <a:t> write</a:t>
            </a:r>
          </a:p>
          <a:p>
            <a:r>
              <a:rPr lang="en-US" b="1" dirty="0" smtClean="0">
                <a:solidFill>
                  <a:srgbClr val="0000CC"/>
                </a:solidFill>
              </a:rPr>
              <a:t>x</a:t>
            </a:r>
            <a:r>
              <a:rPr lang="en-US" dirty="0" smtClean="0"/>
              <a:t>   </a:t>
            </a:r>
            <a:r>
              <a:rPr lang="en-US" dirty="0" smtClean="0">
                <a:sym typeface="Wingdings" pitchFamily="2" charset="2"/>
              </a:rPr>
              <a:t> </a:t>
            </a:r>
            <a:r>
              <a:rPr lang="en-US" dirty="0" smtClean="0"/>
              <a:t>execute</a:t>
            </a:r>
          </a:p>
          <a:p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33466" y="145140"/>
            <a:ext cx="8456510" cy="553998"/>
          </a:xfrm>
        </p:spPr>
        <p:txBody>
          <a:bodyPr/>
          <a:lstStyle/>
          <a:p>
            <a:r>
              <a:rPr lang="en-IN" dirty="0" err="1">
                <a:solidFill>
                  <a:schemeClr val="tx1"/>
                </a:solidFill>
              </a:rPr>
              <a:t>c</a:t>
            </a:r>
            <a:r>
              <a:rPr lang="en-IN" dirty="0" err="1" smtClean="0">
                <a:solidFill>
                  <a:schemeClr val="tx1"/>
                </a:solidFill>
              </a:rPr>
              <a:t>hmod</a:t>
            </a:r>
            <a:r>
              <a:rPr lang="en-IN" dirty="0" smtClean="0">
                <a:solidFill>
                  <a:schemeClr val="tx1"/>
                </a:solidFill>
              </a:rPr>
              <a:t> using </a:t>
            </a:r>
            <a:r>
              <a:rPr lang="en-IN" smtClean="0">
                <a:solidFill>
                  <a:schemeClr val="tx1"/>
                </a:solidFill>
              </a:rPr>
              <a:t>mode </a:t>
            </a:r>
            <a:r>
              <a:rPr lang="en-IN"/>
              <a:t>string (Contd.).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3466" y="911166"/>
            <a:ext cx="8657617" cy="16927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ls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-l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dat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rw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rw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-r--  1 wipro18 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wipro18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62 Apr 20 16:34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dat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4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chmod</a:t>
            </a:r>
            <a:r>
              <a:rPr lang="en-US" sz="24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g-w </a:t>
            </a:r>
            <a:r>
              <a:rPr lang="en-US" sz="24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dat</a:t>
            </a:r>
            <a:endParaRPr lang="en-US" sz="2000" b="1" dirty="0" smtClean="0">
              <a:solidFill>
                <a:srgbClr val="0000CC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ls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-l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dat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rw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-r--r--  1 wipro18 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wipro18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62 Apr 20 16:34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dat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33466" y="2911828"/>
            <a:ext cx="8657617" cy="16927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ls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-l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prog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rw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rw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-r--  1 wipro18 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wipro18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4562 Apr 20 16:34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prog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4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chmod</a:t>
            </a:r>
            <a:r>
              <a:rPr lang="en-US" sz="24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a+x</a:t>
            </a:r>
            <a:r>
              <a:rPr lang="en-US" sz="24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prog</a:t>
            </a:r>
            <a:endParaRPr lang="en-US" sz="2000" b="1" dirty="0" smtClean="0">
              <a:solidFill>
                <a:srgbClr val="0000CC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ls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-l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prog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rwxr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xr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-x  1 wipro18 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wipro18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4562 Apr 20 16:34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prog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4013" y="4857354"/>
            <a:ext cx="8657617" cy="169277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ls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-l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dat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rw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rw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-r--  1 wipro18 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wipro18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62 Apr 20 16:34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dat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4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chmod</a:t>
            </a:r>
            <a:r>
              <a:rPr lang="en-US" sz="24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u=</a:t>
            </a:r>
            <a:r>
              <a:rPr lang="en-US" sz="24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rw</a:t>
            </a:r>
            <a:r>
              <a:rPr lang="en-US" sz="24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dat</a:t>
            </a:r>
            <a:endParaRPr lang="en-US" sz="2000" b="1" dirty="0" smtClean="0">
              <a:solidFill>
                <a:srgbClr val="0000CC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ls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-l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dat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rw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-------  1 wipro18 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wipro18</a:t>
            </a:r>
            <a:r>
              <a:rPr lang="en-US" sz="2000" b="1" dirty="0" smtClean="0">
                <a:latin typeface="Courier New" pitchFamily="49" charset="0"/>
                <a:cs typeface="Courier New" pitchFamily="49" charset="0"/>
              </a:rPr>
              <a:t>    62 Apr 20 16:34 </a:t>
            </a:r>
            <a:r>
              <a:rPr lang="en-US" sz="2000" b="1" dirty="0" err="1" smtClean="0">
                <a:latin typeface="Courier New" pitchFamily="49" charset="0"/>
                <a:cs typeface="Courier New" pitchFamily="49" charset="0"/>
              </a:rPr>
              <a:t>dat</a:t>
            </a:r>
            <a:endParaRPr lang="en-US" sz="2000" b="1" dirty="0" smtClean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cp – file copy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4473575"/>
          </a:xfrm>
        </p:spPr>
        <p:txBody>
          <a:bodyPr>
            <a:normAutofit fontScale="92500" lnSpcReduction="10000"/>
          </a:bodyPr>
          <a:lstStyle/>
          <a:p>
            <a:r>
              <a:rPr lang="en-IN" b="1" dirty="0" smtClean="0">
                <a:solidFill>
                  <a:srgbClr val="0000CC"/>
                </a:solidFill>
              </a:rPr>
              <a:t>cp </a:t>
            </a:r>
            <a:r>
              <a:rPr lang="en-IN" dirty="0" smtClean="0"/>
              <a:t>command is used to copy files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 smtClean="0"/>
              <a:t>		</a:t>
            </a:r>
            <a:r>
              <a:rPr lang="en-IN" dirty="0" smtClean="0">
                <a:solidFill>
                  <a:srgbClr val="0000CC"/>
                </a:solidFill>
              </a:rPr>
              <a:t>$ cp    [options]  </a:t>
            </a:r>
            <a:r>
              <a:rPr lang="en-IN" dirty="0" err="1" smtClean="0">
                <a:solidFill>
                  <a:srgbClr val="0000CC"/>
                </a:solidFill>
              </a:rPr>
              <a:t>sourcefile</a:t>
            </a:r>
            <a:r>
              <a:rPr lang="en-IN" dirty="0" smtClean="0">
                <a:solidFill>
                  <a:srgbClr val="0000CC"/>
                </a:solidFill>
              </a:rPr>
              <a:t>    </a:t>
            </a:r>
            <a:r>
              <a:rPr lang="en-IN" dirty="0" err="1" smtClean="0">
                <a:solidFill>
                  <a:srgbClr val="0000CC"/>
                </a:solidFill>
              </a:rPr>
              <a:t>destfile</a:t>
            </a:r>
            <a:endParaRPr lang="en-IN" dirty="0" smtClean="0">
              <a:solidFill>
                <a:srgbClr val="0000CC"/>
              </a:solidFill>
            </a:endParaRPr>
          </a:p>
          <a:p>
            <a:pPr>
              <a:buNone/>
            </a:pPr>
            <a:endParaRPr lang="en-IN" dirty="0" smtClean="0">
              <a:solidFill>
                <a:srgbClr val="0000CC"/>
              </a:solidFill>
            </a:endParaRPr>
          </a:p>
          <a:p>
            <a:pPr>
              <a:buNone/>
            </a:pPr>
            <a:r>
              <a:rPr lang="en-IN" dirty="0" smtClean="0">
                <a:solidFill>
                  <a:srgbClr val="0000CC"/>
                </a:solidFill>
              </a:rPr>
              <a:t>       $ cp    [options]  sourcefile1  soucefile2  ...   directory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dirty="0" smtClean="0"/>
              <a:t>Options can be 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dirty="0" smtClean="0"/>
              <a:t>       -</a:t>
            </a:r>
            <a:r>
              <a:rPr lang="en-IN" dirty="0" err="1" smtClean="0"/>
              <a:t>i</a:t>
            </a:r>
            <a:r>
              <a:rPr lang="en-IN" dirty="0" smtClean="0"/>
              <a:t>			</a:t>
            </a:r>
            <a:r>
              <a:rPr lang="en-IN" dirty="0" smtClean="0">
                <a:sym typeface="Wingdings" pitchFamily="2" charset="2"/>
              </a:rPr>
              <a:t> interactive, warn before overwriting</a:t>
            </a:r>
          </a:p>
          <a:p>
            <a:pPr>
              <a:buNone/>
            </a:pPr>
            <a:r>
              <a:rPr lang="en-IN" dirty="0" smtClean="0">
                <a:sym typeface="Wingdings" pitchFamily="2" charset="2"/>
              </a:rPr>
              <a:t>	 	-p			 preserve mode</a:t>
            </a:r>
          </a:p>
          <a:p>
            <a:pPr>
              <a:buNone/>
            </a:pPr>
            <a:r>
              <a:rPr lang="en-IN" dirty="0" smtClean="0">
                <a:sym typeface="Wingdings" pitchFamily="2" charset="2"/>
              </a:rPr>
              <a:t>		-R	 or -r	 recursively copy directories, if any</a:t>
            </a:r>
            <a:endParaRPr lang="en-IN" dirty="0" smtClean="0"/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dirty="0" smtClean="0"/>
              <a:t>		</a:t>
            </a:r>
          </a:p>
        </p:txBody>
      </p:sp>
      <p:sp>
        <p:nvSpPr>
          <p:cNvPr id="5" name="Line Callout 2 (Accent Bar) 4"/>
          <p:cNvSpPr/>
          <p:nvPr/>
        </p:nvSpPr>
        <p:spPr>
          <a:xfrm>
            <a:off x="6755643" y="3057099"/>
            <a:ext cx="2388358" cy="832514"/>
          </a:xfrm>
          <a:prstGeom prst="accentCallout2">
            <a:avLst>
              <a:gd name="adj1" fmla="val 44205"/>
              <a:gd name="adj2" fmla="val -3287"/>
              <a:gd name="adj3" fmla="val 10762"/>
              <a:gd name="adj4" fmla="val -44326"/>
              <a:gd name="adj5" fmla="val -62750"/>
              <a:gd name="adj6" fmla="val -58920"/>
            </a:avLst>
          </a:prstGeom>
          <a:noFill/>
          <a:ln>
            <a:solidFill>
              <a:schemeClr val="tx1"/>
            </a:solidFill>
            <a:prstDash val="dash"/>
            <a:tailEnd type="triangle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 smtClean="0">
                <a:solidFill>
                  <a:schemeClr val="tx1"/>
                </a:solidFill>
              </a:rPr>
              <a:t>Three dots indicate that multiple filenames can be mentioned</a:t>
            </a:r>
            <a:endParaRPr lang="en-US" sz="16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cp – examples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91428"/>
            <a:ext cx="8944494" cy="6365405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IN" b="1" dirty="0" smtClean="0">
                <a:solidFill>
                  <a:srgbClr val="0000CC"/>
                </a:solidFill>
              </a:rPr>
              <a:t>$   cp    </a:t>
            </a:r>
            <a:r>
              <a:rPr lang="en-IN" b="1" dirty="0" err="1" smtClean="0">
                <a:solidFill>
                  <a:srgbClr val="0000CC"/>
                </a:solidFill>
              </a:rPr>
              <a:t>x.c</a:t>
            </a:r>
            <a:r>
              <a:rPr lang="en-IN" b="1" dirty="0" smtClean="0">
                <a:solidFill>
                  <a:srgbClr val="0000CC"/>
                </a:solidFill>
              </a:rPr>
              <a:t>     </a:t>
            </a:r>
            <a:r>
              <a:rPr lang="en-IN" b="1" dirty="0" err="1" smtClean="0">
                <a:solidFill>
                  <a:srgbClr val="0000CC"/>
                </a:solidFill>
              </a:rPr>
              <a:t>y.c</a:t>
            </a:r>
            <a:r>
              <a:rPr lang="en-IN" b="1" dirty="0" smtClean="0">
                <a:solidFill>
                  <a:srgbClr val="0000CC"/>
                </a:solidFill>
              </a:rPr>
              <a:t>    	</a:t>
            </a:r>
            <a:r>
              <a:rPr lang="en-IN" dirty="0" smtClean="0">
                <a:solidFill>
                  <a:schemeClr val="tx1"/>
                </a:solidFill>
              </a:rPr>
              <a:t> 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 makes a copy of </a:t>
            </a:r>
            <a:r>
              <a:rPr lang="en-IN" dirty="0" err="1" smtClean="0">
                <a:solidFill>
                  <a:schemeClr val="tx1"/>
                </a:solidFill>
                <a:sym typeface="Wingdings" pitchFamily="2" charset="2"/>
              </a:rPr>
              <a:t>x.c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 as </a:t>
            </a:r>
            <a:r>
              <a:rPr lang="en-IN" dirty="0" err="1" smtClean="0">
                <a:solidFill>
                  <a:schemeClr val="tx1"/>
                </a:solidFill>
                <a:sym typeface="Wingdings" pitchFamily="2" charset="2"/>
              </a:rPr>
              <a:t>y.c</a:t>
            </a:r>
            <a:endParaRPr lang="en-IN" dirty="0" smtClean="0">
              <a:solidFill>
                <a:schemeClr val="tx1"/>
              </a:solidFill>
              <a:sym typeface="Wingdings" pitchFamily="2" charset="2"/>
            </a:endParaRPr>
          </a:p>
          <a:p>
            <a:pPr>
              <a:buNone/>
            </a:pP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								overwrites if </a:t>
            </a:r>
            <a:r>
              <a:rPr lang="en-IN" dirty="0" err="1" smtClean="0">
                <a:solidFill>
                  <a:schemeClr val="tx1"/>
                </a:solidFill>
                <a:sym typeface="Wingdings" pitchFamily="2" charset="2"/>
              </a:rPr>
              <a:t>y.c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 exists, otherwise creates</a:t>
            </a:r>
          </a:p>
          <a:p>
            <a:pPr>
              <a:buNone/>
            </a:pPr>
            <a:endParaRPr lang="en-IN" sz="1100" dirty="0" smtClean="0">
              <a:solidFill>
                <a:schemeClr val="tx1"/>
              </a:solidFill>
              <a:sym typeface="Wingdings" pitchFamily="2" charset="2"/>
            </a:endParaRPr>
          </a:p>
          <a:p>
            <a:pPr>
              <a:buNone/>
            </a:pPr>
            <a:r>
              <a:rPr lang="en-IN" b="1" dirty="0" smtClean="0">
                <a:solidFill>
                  <a:srgbClr val="0000CC"/>
                </a:solidFill>
              </a:rPr>
              <a:t>$   cp    -</a:t>
            </a:r>
            <a:r>
              <a:rPr lang="en-IN" b="1" dirty="0" err="1" smtClean="0">
                <a:solidFill>
                  <a:srgbClr val="0000CC"/>
                </a:solidFill>
              </a:rPr>
              <a:t>i</a:t>
            </a:r>
            <a:r>
              <a:rPr lang="en-IN" b="1" dirty="0" smtClean="0">
                <a:solidFill>
                  <a:srgbClr val="0000CC"/>
                </a:solidFill>
              </a:rPr>
              <a:t>  </a:t>
            </a:r>
            <a:r>
              <a:rPr lang="en-IN" b="1" dirty="0" err="1" smtClean="0">
                <a:solidFill>
                  <a:srgbClr val="0000CC"/>
                </a:solidFill>
              </a:rPr>
              <a:t>x.c</a:t>
            </a:r>
            <a:r>
              <a:rPr lang="en-IN" b="1" dirty="0" smtClean="0">
                <a:solidFill>
                  <a:srgbClr val="0000CC"/>
                </a:solidFill>
              </a:rPr>
              <a:t>     </a:t>
            </a:r>
            <a:r>
              <a:rPr lang="en-IN" b="1" dirty="0" err="1" smtClean="0">
                <a:solidFill>
                  <a:srgbClr val="0000CC"/>
                </a:solidFill>
              </a:rPr>
              <a:t>y.c</a:t>
            </a:r>
            <a:r>
              <a:rPr lang="en-IN" b="1" dirty="0" smtClean="0">
                <a:solidFill>
                  <a:srgbClr val="0000CC"/>
                </a:solidFill>
              </a:rPr>
              <a:t>    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 makes a copy of </a:t>
            </a:r>
            <a:r>
              <a:rPr lang="en-IN" dirty="0" err="1" smtClean="0">
                <a:solidFill>
                  <a:schemeClr val="tx1"/>
                </a:solidFill>
                <a:sym typeface="Wingdings" pitchFamily="2" charset="2"/>
              </a:rPr>
              <a:t>x.c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 as </a:t>
            </a:r>
            <a:r>
              <a:rPr lang="en-IN" dirty="0" err="1" smtClean="0">
                <a:solidFill>
                  <a:schemeClr val="tx1"/>
                </a:solidFill>
                <a:sym typeface="Wingdings" pitchFamily="2" charset="2"/>
              </a:rPr>
              <a:t>y.c</a:t>
            </a:r>
            <a:endParaRPr lang="en-IN" dirty="0" smtClean="0">
              <a:solidFill>
                <a:schemeClr val="tx1"/>
              </a:solidFill>
              <a:sym typeface="Wingdings" pitchFamily="2" charset="2"/>
            </a:endParaRPr>
          </a:p>
          <a:p>
            <a:pPr>
              <a:buNone/>
            </a:pP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								prompts to overwrite or not if </a:t>
            </a:r>
            <a:r>
              <a:rPr lang="en-IN" dirty="0" err="1" smtClean="0">
                <a:solidFill>
                  <a:schemeClr val="tx1"/>
                </a:solidFill>
                <a:sym typeface="Wingdings" pitchFamily="2" charset="2"/>
              </a:rPr>
              <a:t>y.c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 exists, </a:t>
            </a:r>
          </a:p>
          <a:p>
            <a:pPr>
              <a:buNone/>
            </a:pP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								otherwise creates</a:t>
            </a:r>
          </a:p>
          <a:p>
            <a:pPr>
              <a:buNone/>
            </a:pPr>
            <a:endParaRPr lang="en-IN" dirty="0" smtClean="0">
              <a:solidFill>
                <a:schemeClr val="tx1"/>
              </a:solidFill>
              <a:sym typeface="Wingdings" pitchFamily="2" charset="2"/>
            </a:endParaRPr>
          </a:p>
          <a:p>
            <a:pPr>
              <a:buNone/>
            </a:pPr>
            <a:r>
              <a:rPr lang="en-IN" b="1" dirty="0" smtClean="0">
                <a:solidFill>
                  <a:srgbClr val="0000CC"/>
                </a:solidFill>
                <a:sym typeface="Wingdings" pitchFamily="2" charset="2"/>
              </a:rPr>
              <a:t>$  cp   a  b   c    new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	   copy files a, b and c  to directory new</a:t>
            </a:r>
          </a:p>
          <a:p>
            <a:pPr>
              <a:buNone/>
            </a:pP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						When multiple files are specified, the last </a:t>
            </a:r>
          </a:p>
          <a:p>
            <a:pPr>
              <a:buNone/>
            </a:pP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						argument must be directory</a:t>
            </a:r>
          </a:p>
          <a:p>
            <a:pPr>
              <a:buNone/>
            </a:pPr>
            <a:endParaRPr lang="en-IN" dirty="0" smtClean="0">
              <a:solidFill>
                <a:schemeClr val="tx1"/>
              </a:solidFill>
              <a:sym typeface="Wingdings" pitchFamily="2" charset="2"/>
            </a:endParaRPr>
          </a:p>
          <a:p>
            <a:pPr>
              <a:buNone/>
            </a:pPr>
            <a:r>
              <a:rPr lang="en-IN" b="1" dirty="0" smtClean="0">
                <a:solidFill>
                  <a:srgbClr val="0000CC"/>
                </a:solidFill>
                <a:sym typeface="Wingdings" pitchFamily="2" charset="2"/>
              </a:rPr>
              <a:t>$  cp   -R  proj1  proj2 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	   copy directory proj1 into proj2</a:t>
            </a:r>
          </a:p>
          <a:p>
            <a:pPr>
              <a:buNone/>
            </a:pP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								if destination does not exist, it gets created</a:t>
            </a:r>
          </a:p>
          <a:p>
            <a:pPr>
              <a:buNone/>
            </a:pPr>
            <a:endParaRPr lang="en-IN" dirty="0" smtClean="0">
              <a:solidFill>
                <a:schemeClr val="tx1"/>
              </a:solidFill>
              <a:sym typeface="Wingdings" pitchFamily="2" charset="2"/>
            </a:endParaRPr>
          </a:p>
          <a:p>
            <a:pPr>
              <a:buNone/>
            </a:pPr>
            <a:endParaRPr lang="en-IN" dirty="0" smtClean="0">
              <a:solidFill>
                <a:schemeClr val="tx1"/>
              </a:solidFill>
              <a:sym typeface="Wingdings" pitchFamily="2" charset="2"/>
            </a:endParaRPr>
          </a:p>
          <a:p>
            <a:pPr>
              <a:buNone/>
            </a:pP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			</a:t>
            </a:r>
          </a:p>
          <a:p>
            <a:pPr>
              <a:buNone/>
            </a:pP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									</a:t>
            </a:r>
          </a:p>
          <a:p>
            <a:pPr>
              <a:buNone/>
            </a:pPr>
            <a:endParaRPr lang="en-IN" dirty="0" smtClean="0">
              <a:solidFill>
                <a:schemeClr val="tx1"/>
              </a:solidFill>
              <a:sym typeface="Wingdings" pitchFamily="2" charset="2"/>
            </a:endParaRPr>
          </a:p>
          <a:p>
            <a:pPr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IN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err="1" smtClean="0">
                <a:solidFill>
                  <a:schemeClr val="tx1"/>
                </a:solidFill>
              </a:rPr>
              <a:t>mv</a:t>
            </a:r>
            <a:r>
              <a:rPr lang="en-IN" dirty="0" smtClean="0">
                <a:solidFill>
                  <a:schemeClr val="tx1"/>
                </a:solidFill>
              </a:rPr>
              <a:t> – move or rename files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5379970"/>
          </a:xfrm>
        </p:spPr>
        <p:txBody>
          <a:bodyPr>
            <a:normAutofit/>
          </a:bodyPr>
          <a:lstStyle/>
          <a:p>
            <a:r>
              <a:rPr lang="en-IN" b="1" dirty="0" err="1" smtClean="0">
                <a:solidFill>
                  <a:srgbClr val="0000CC"/>
                </a:solidFill>
              </a:rPr>
              <a:t>mv</a:t>
            </a:r>
            <a:r>
              <a:rPr lang="en-IN" b="1" dirty="0" smtClean="0">
                <a:solidFill>
                  <a:srgbClr val="0000CC"/>
                </a:solidFill>
              </a:rPr>
              <a:t> </a:t>
            </a:r>
            <a:r>
              <a:rPr lang="en-IN" dirty="0" smtClean="0"/>
              <a:t>command is used to rename a file or move a file into another directory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dirty="0" smtClean="0"/>
              <a:t>		 </a:t>
            </a:r>
            <a:r>
              <a:rPr lang="en-IN" dirty="0" err="1" smtClean="0">
                <a:solidFill>
                  <a:srgbClr val="0000CC"/>
                </a:solidFill>
              </a:rPr>
              <a:t>mv</a:t>
            </a:r>
            <a:r>
              <a:rPr lang="en-IN" dirty="0" smtClean="0">
                <a:solidFill>
                  <a:srgbClr val="0000CC"/>
                </a:solidFill>
              </a:rPr>
              <a:t>     [options]  </a:t>
            </a:r>
            <a:r>
              <a:rPr lang="en-IN" dirty="0" err="1" smtClean="0">
                <a:solidFill>
                  <a:srgbClr val="0000CC"/>
                </a:solidFill>
              </a:rPr>
              <a:t>sourcefile</a:t>
            </a:r>
            <a:r>
              <a:rPr lang="en-IN" dirty="0" smtClean="0">
                <a:solidFill>
                  <a:srgbClr val="0000CC"/>
                </a:solidFill>
              </a:rPr>
              <a:t>    </a:t>
            </a:r>
            <a:r>
              <a:rPr lang="en-IN" dirty="0" err="1" smtClean="0">
                <a:solidFill>
                  <a:srgbClr val="0000CC"/>
                </a:solidFill>
              </a:rPr>
              <a:t>destfile</a:t>
            </a:r>
            <a:endParaRPr lang="en-IN" dirty="0" smtClean="0">
              <a:solidFill>
                <a:srgbClr val="0000CC"/>
              </a:solidFill>
            </a:endParaRPr>
          </a:p>
          <a:p>
            <a:pPr>
              <a:buNone/>
            </a:pPr>
            <a:endParaRPr lang="en-IN" sz="1050" dirty="0" smtClean="0">
              <a:solidFill>
                <a:srgbClr val="0000CC"/>
              </a:solidFill>
            </a:endParaRPr>
          </a:p>
          <a:p>
            <a:pPr>
              <a:buNone/>
            </a:pPr>
            <a:r>
              <a:rPr lang="en-IN" dirty="0" smtClean="0">
                <a:solidFill>
                  <a:srgbClr val="0000CC"/>
                </a:solidFill>
              </a:rPr>
              <a:t>       </a:t>
            </a:r>
            <a:r>
              <a:rPr lang="en-IN" dirty="0" err="1" smtClean="0">
                <a:solidFill>
                  <a:srgbClr val="0000CC"/>
                </a:solidFill>
              </a:rPr>
              <a:t>mv</a:t>
            </a:r>
            <a:r>
              <a:rPr lang="en-IN" dirty="0" smtClean="0">
                <a:solidFill>
                  <a:srgbClr val="0000CC"/>
                </a:solidFill>
              </a:rPr>
              <a:t>    [options]  </a:t>
            </a:r>
            <a:r>
              <a:rPr lang="en-IN" dirty="0" err="1" smtClean="0">
                <a:solidFill>
                  <a:srgbClr val="0000CC"/>
                </a:solidFill>
              </a:rPr>
              <a:t>sourcefile</a:t>
            </a:r>
            <a:r>
              <a:rPr lang="en-IN" dirty="0" smtClean="0">
                <a:solidFill>
                  <a:srgbClr val="0000CC"/>
                </a:solidFill>
              </a:rPr>
              <a:t> ...   directory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sz="2000" dirty="0" smtClean="0"/>
              <a:t>Commonly used options</a:t>
            </a:r>
          </a:p>
          <a:p>
            <a:pPr>
              <a:buNone/>
            </a:pPr>
            <a:endParaRPr lang="en-IN" sz="1400" dirty="0" smtClean="0"/>
          </a:p>
          <a:p>
            <a:pPr>
              <a:buNone/>
            </a:pPr>
            <a:r>
              <a:rPr lang="en-IN" sz="2000" dirty="0" smtClean="0"/>
              <a:t>      -</a:t>
            </a:r>
            <a:r>
              <a:rPr lang="en-IN" sz="2000" dirty="0" err="1" smtClean="0"/>
              <a:t>i</a:t>
            </a:r>
            <a:r>
              <a:rPr lang="en-IN" sz="2000" dirty="0" smtClean="0"/>
              <a:t>			</a:t>
            </a:r>
            <a:r>
              <a:rPr lang="en-IN" sz="2000" dirty="0" smtClean="0">
                <a:sym typeface="Wingdings" pitchFamily="2" charset="2"/>
              </a:rPr>
              <a:t> interactive, warn before overwriting</a:t>
            </a:r>
          </a:p>
          <a:p>
            <a:pPr>
              <a:buNone/>
            </a:pPr>
            <a:endParaRPr lang="en-IN" sz="2000" dirty="0" smtClean="0">
              <a:sym typeface="Wingdings" pitchFamily="2" charset="2"/>
            </a:endParaRPr>
          </a:p>
          <a:p>
            <a:pPr>
              <a:buNone/>
            </a:pPr>
            <a:r>
              <a:rPr lang="en-IN" sz="2000" dirty="0" smtClean="0">
                <a:sym typeface="Wingdings" pitchFamily="2" charset="2"/>
              </a:rPr>
              <a:t>  </a:t>
            </a:r>
          </a:p>
          <a:p>
            <a:pPr>
              <a:buNone/>
            </a:pPr>
            <a:r>
              <a:rPr lang="en-IN" sz="2000" dirty="0" smtClean="0">
                <a:sym typeface="Wingdings" pitchFamily="2" charset="2"/>
              </a:rPr>
              <a:t>	</a:t>
            </a:r>
            <a:endParaRPr lang="en-IN" dirty="0" smtClean="0"/>
          </a:p>
          <a:p>
            <a:pPr>
              <a:buNone/>
            </a:pPr>
            <a:r>
              <a:rPr lang="en-IN" dirty="0" smtClean="0"/>
              <a:t>		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err="1" smtClean="0">
                <a:solidFill>
                  <a:schemeClr val="tx1"/>
                </a:solidFill>
              </a:rPr>
              <a:t>mv</a:t>
            </a:r>
            <a:r>
              <a:rPr lang="en-IN" dirty="0" smtClean="0">
                <a:solidFill>
                  <a:schemeClr val="tx1"/>
                </a:solidFill>
              </a:rPr>
              <a:t> – move or rename files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9253" y="953311"/>
            <a:ext cx="9066171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n-NO" sz="2000" b="1" dirty="0" smtClean="0">
                <a:latin typeface="Courier New" pitchFamily="49" charset="0"/>
                <a:cs typeface="Courier New" pitchFamily="49" charset="0"/>
              </a:rPr>
              <a:t>$ ls -li a.c</a:t>
            </a:r>
          </a:p>
          <a:p>
            <a:r>
              <a:rPr lang="nn-NO" sz="2000" b="1" dirty="0" smtClean="0">
                <a:latin typeface="Courier New" pitchFamily="49" charset="0"/>
                <a:cs typeface="Courier New" pitchFamily="49" charset="0"/>
              </a:rPr>
              <a:t>113594 -rw-rw-r-- 1 wipro18 wipro18 250 Apr 22 19:03 a.c</a:t>
            </a:r>
          </a:p>
          <a:p>
            <a:r>
              <a:rPr lang="nn-NO" sz="2000" b="1" dirty="0" smtClean="0">
                <a:latin typeface="Courier New" pitchFamily="49" charset="0"/>
                <a:cs typeface="Courier New" pitchFamily="49" charset="0"/>
              </a:rPr>
              <a:t>$ </a:t>
            </a:r>
            <a:r>
              <a:rPr lang="nn-NO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mv a.c  tst.c</a:t>
            </a:r>
          </a:p>
          <a:p>
            <a:r>
              <a:rPr lang="nn-NO" sz="2000" b="1" dirty="0" smtClean="0">
                <a:latin typeface="Courier New" pitchFamily="49" charset="0"/>
                <a:cs typeface="Courier New" pitchFamily="49" charset="0"/>
              </a:rPr>
              <a:t>$ ls -li tst.c</a:t>
            </a:r>
          </a:p>
          <a:p>
            <a:r>
              <a:rPr lang="nn-NO" sz="2000" b="1" dirty="0" smtClean="0">
                <a:latin typeface="Courier New" pitchFamily="49" charset="0"/>
                <a:cs typeface="Courier New" pitchFamily="49" charset="0"/>
              </a:rPr>
              <a:t>113594 -rw-rw-r-- 1 wipro18 wipro18 250 Apr 22 19:03 tst.c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9113" y="2782117"/>
            <a:ext cx="84946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Note: </a:t>
            </a:r>
            <a:r>
              <a:rPr lang="en-US" dirty="0" err="1" smtClean="0"/>
              <a:t>inode</a:t>
            </a:r>
            <a:r>
              <a:rPr lang="en-US" dirty="0" smtClean="0"/>
              <a:t> and link count and other attributes of the file renamed are preserved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653" y="3732179"/>
            <a:ext cx="8431135" cy="163121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n-NO" sz="2000" b="1" dirty="0" smtClean="0">
                <a:latin typeface="Courier New" pitchFamily="49" charset="0"/>
                <a:cs typeface="Courier New" pitchFamily="49" charset="0"/>
              </a:rPr>
              <a:t>$ ls -li a.c</a:t>
            </a:r>
          </a:p>
          <a:p>
            <a:r>
              <a:rPr lang="nn-NO" sz="2000" b="1" dirty="0" smtClean="0">
                <a:latin typeface="Courier New" pitchFamily="49" charset="0"/>
                <a:cs typeface="Courier New" pitchFamily="49" charset="0"/>
              </a:rPr>
              <a:t>113593 -rw-rw---- 1 wipro18 wipro18 125 Apr 20 9:20 a</a:t>
            </a:r>
          </a:p>
          <a:p>
            <a:r>
              <a:rPr lang="nn-NO" sz="2000" b="1" dirty="0" smtClean="0">
                <a:latin typeface="Courier New" pitchFamily="49" charset="0"/>
                <a:cs typeface="Courier New" pitchFamily="49" charset="0"/>
              </a:rPr>
              <a:t>$ </a:t>
            </a:r>
            <a:r>
              <a:rPr lang="nn-NO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mv a  data</a:t>
            </a:r>
          </a:p>
          <a:p>
            <a:r>
              <a:rPr lang="nn-NO" sz="2000" b="1" dirty="0" smtClean="0">
                <a:latin typeface="Courier New" pitchFamily="49" charset="0"/>
                <a:cs typeface="Courier New" pitchFamily="49" charset="0"/>
              </a:rPr>
              <a:t>$ ls -li data/a</a:t>
            </a:r>
          </a:p>
          <a:p>
            <a:r>
              <a:rPr lang="nn-NO" sz="2000" b="1" dirty="0" smtClean="0">
                <a:latin typeface="Courier New" pitchFamily="49" charset="0"/>
                <a:cs typeface="Courier New" pitchFamily="49" charset="0"/>
              </a:rPr>
              <a:t>113593 -rw-rw---- 1 wipro18 wipro18 125 Apr 20 9:20 a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err="1">
                <a:solidFill>
                  <a:schemeClr val="tx1"/>
                </a:solidFill>
              </a:rPr>
              <a:t>l</a:t>
            </a:r>
            <a:r>
              <a:rPr lang="en-IN" dirty="0" err="1" smtClean="0">
                <a:solidFill>
                  <a:schemeClr val="tx1"/>
                </a:solidFill>
              </a:rPr>
              <a:t>n</a:t>
            </a:r>
            <a:r>
              <a:rPr lang="en-IN" dirty="0" smtClean="0">
                <a:solidFill>
                  <a:schemeClr val="tx1"/>
                </a:solidFill>
              </a:rPr>
              <a:t> – create link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542712" cy="5757426"/>
          </a:xfrm>
        </p:spPr>
        <p:txBody>
          <a:bodyPr>
            <a:normAutofit lnSpcReduction="10000"/>
          </a:bodyPr>
          <a:lstStyle/>
          <a:p>
            <a:r>
              <a:rPr lang="en-IN" b="1" dirty="0" err="1" smtClean="0">
                <a:solidFill>
                  <a:srgbClr val="0000CC"/>
                </a:solidFill>
              </a:rPr>
              <a:t>ln</a:t>
            </a:r>
            <a:r>
              <a:rPr lang="en-IN" b="1" dirty="0" smtClean="0">
                <a:solidFill>
                  <a:srgbClr val="0000CC"/>
                </a:solidFill>
              </a:rPr>
              <a:t> </a:t>
            </a:r>
            <a:r>
              <a:rPr lang="en-IN" dirty="0" smtClean="0">
                <a:solidFill>
                  <a:schemeClr val="tx1"/>
                </a:solidFill>
              </a:rPr>
              <a:t>command is used to create link between files</a:t>
            </a:r>
          </a:p>
          <a:p>
            <a:endParaRPr lang="en-IN" sz="1200" dirty="0" smtClean="0">
              <a:solidFill>
                <a:schemeClr val="tx1"/>
              </a:solidFill>
            </a:endParaRPr>
          </a:p>
          <a:p>
            <a:r>
              <a:rPr lang="en-IN" dirty="0" smtClean="0">
                <a:solidFill>
                  <a:schemeClr val="tx1"/>
                </a:solidFill>
              </a:rPr>
              <a:t>Two types of links can be created to a file</a:t>
            </a:r>
          </a:p>
          <a:p>
            <a:pPr lvl="1"/>
            <a:r>
              <a:rPr lang="en-IN" sz="2000" dirty="0" smtClean="0">
                <a:solidFill>
                  <a:schemeClr val="tx1"/>
                </a:solidFill>
              </a:rPr>
              <a:t>Soft link or symbolic link  [similar to shortcuts in Windows]</a:t>
            </a:r>
          </a:p>
          <a:p>
            <a:pPr lvl="2" algn="just"/>
            <a:r>
              <a:rPr lang="en-IN" sz="1800" dirty="0" smtClean="0">
                <a:solidFill>
                  <a:schemeClr val="tx1"/>
                </a:solidFill>
              </a:rPr>
              <a:t>Target file contains link to the source file</a:t>
            </a:r>
          </a:p>
          <a:p>
            <a:pPr lvl="2" algn="just"/>
            <a:r>
              <a:rPr lang="en-IN" sz="1800" dirty="0" smtClean="0">
                <a:solidFill>
                  <a:schemeClr val="tx1"/>
                </a:solidFill>
              </a:rPr>
              <a:t>Target file has a different </a:t>
            </a:r>
            <a:r>
              <a:rPr lang="en-IN" sz="1800" dirty="0" err="1" smtClean="0">
                <a:solidFill>
                  <a:schemeClr val="tx1"/>
                </a:solidFill>
              </a:rPr>
              <a:t>inode</a:t>
            </a:r>
            <a:r>
              <a:rPr lang="en-IN" sz="1800" dirty="0" smtClean="0">
                <a:solidFill>
                  <a:schemeClr val="tx1"/>
                </a:solidFill>
              </a:rPr>
              <a:t> number</a:t>
            </a:r>
          </a:p>
          <a:p>
            <a:pPr lvl="2" algn="just"/>
            <a:r>
              <a:rPr lang="en-IN" sz="1800" dirty="0" smtClean="0">
                <a:solidFill>
                  <a:schemeClr val="tx1"/>
                </a:solidFill>
              </a:rPr>
              <a:t>If  the file to which a </a:t>
            </a:r>
            <a:r>
              <a:rPr lang="en-IN" sz="1800" dirty="0" err="1" smtClean="0">
                <a:solidFill>
                  <a:schemeClr val="tx1"/>
                </a:solidFill>
              </a:rPr>
              <a:t>softlink</a:t>
            </a:r>
            <a:r>
              <a:rPr lang="en-IN" sz="1800" dirty="0" smtClean="0">
                <a:solidFill>
                  <a:schemeClr val="tx1"/>
                </a:solidFill>
              </a:rPr>
              <a:t> points is removed, the link becomes invalid (broken)</a:t>
            </a:r>
          </a:p>
          <a:p>
            <a:pPr lvl="3" algn="just"/>
            <a:r>
              <a:rPr lang="en-IN" sz="1600" dirty="0" smtClean="0">
                <a:solidFill>
                  <a:schemeClr val="tx1"/>
                </a:solidFill>
              </a:rPr>
              <a:t>Broken link still exists but is invalid until broken link is fixed.</a:t>
            </a:r>
          </a:p>
          <a:p>
            <a:pPr lvl="2" algn="just"/>
            <a:r>
              <a:rPr lang="en-IN" sz="1800" dirty="0" smtClean="0">
                <a:solidFill>
                  <a:schemeClr val="tx1"/>
                </a:solidFill>
              </a:rPr>
              <a:t>Soft link file can reside in a file system different from that of the file it points to</a:t>
            </a:r>
          </a:p>
          <a:p>
            <a:pPr lvl="1" algn="just"/>
            <a:r>
              <a:rPr lang="en-IN" sz="2000" dirty="0" smtClean="0">
                <a:solidFill>
                  <a:schemeClr val="tx1"/>
                </a:solidFill>
              </a:rPr>
              <a:t>Hard link  -- alias to the same file</a:t>
            </a:r>
          </a:p>
          <a:p>
            <a:pPr lvl="2" algn="just"/>
            <a:r>
              <a:rPr lang="en-IN" sz="1800" dirty="0" smtClean="0">
                <a:solidFill>
                  <a:schemeClr val="tx1"/>
                </a:solidFill>
              </a:rPr>
              <a:t>the existing file and its hard link share the same </a:t>
            </a:r>
            <a:r>
              <a:rPr lang="en-IN" sz="1800" dirty="0" err="1" smtClean="0">
                <a:solidFill>
                  <a:schemeClr val="tx1"/>
                </a:solidFill>
              </a:rPr>
              <a:t>inode</a:t>
            </a:r>
            <a:r>
              <a:rPr lang="en-IN" sz="1800" dirty="0" smtClean="0">
                <a:solidFill>
                  <a:schemeClr val="tx1"/>
                </a:solidFill>
              </a:rPr>
              <a:t> number</a:t>
            </a:r>
          </a:p>
          <a:p>
            <a:pPr lvl="2" algn="just"/>
            <a:r>
              <a:rPr lang="en-IN" sz="1800" dirty="0" smtClean="0">
                <a:solidFill>
                  <a:schemeClr val="tx1"/>
                </a:solidFill>
              </a:rPr>
              <a:t>Each hard link to a file increases the link count of the </a:t>
            </a:r>
            <a:r>
              <a:rPr lang="en-IN" sz="1800" dirty="0" err="1" smtClean="0">
                <a:solidFill>
                  <a:schemeClr val="tx1"/>
                </a:solidFill>
              </a:rPr>
              <a:t>inode</a:t>
            </a:r>
            <a:r>
              <a:rPr lang="en-IN" sz="1800" dirty="0" smtClean="0">
                <a:solidFill>
                  <a:schemeClr val="tx1"/>
                </a:solidFill>
              </a:rPr>
              <a:t> it represents.</a:t>
            </a:r>
          </a:p>
          <a:p>
            <a:pPr lvl="2" algn="just"/>
            <a:r>
              <a:rPr lang="en-IN" sz="1800" dirty="0" smtClean="0">
                <a:solidFill>
                  <a:schemeClr val="tx1"/>
                </a:solidFill>
              </a:rPr>
              <a:t>Since </a:t>
            </a:r>
            <a:r>
              <a:rPr lang="en-IN" sz="1800" dirty="0" err="1" smtClean="0">
                <a:solidFill>
                  <a:schemeClr val="tx1"/>
                </a:solidFill>
              </a:rPr>
              <a:t>hardlink</a:t>
            </a:r>
            <a:r>
              <a:rPr lang="en-IN" sz="1800" dirty="0" smtClean="0">
                <a:solidFill>
                  <a:schemeClr val="tx1"/>
                </a:solidFill>
              </a:rPr>
              <a:t> is an alias to </a:t>
            </a:r>
            <a:r>
              <a:rPr lang="en-IN" sz="1800" dirty="0" err="1" smtClean="0">
                <a:solidFill>
                  <a:schemeClr val="tx1"/>
                </a:solidFill>
              </a:rPr>
              <a:t>inode</a:t>
            </a:r>
            <a:r>
              <a:rPr lang="en-IN" sz="1800" dirty="0" smtClean="0">
                <a:solidFill>
                  <a:schemeClr val="tx1"/>
                </a:solidFill>
              </a:rPr>
              <a:t> number,  </a:t>
            </a:r>
            <a:r>
              <a:rPr lang="en-IN" sz="1800" dirty="0" err="1" smtClean="0">
                <a:solidFill>
                  <a:schemeClr val="tx1"/>
                </a:solidFill>
              </a:rPr>
              <a:t>hardlink</a:t>
            </a:r>
            <a:r>
              <a:rPr lang="en-IN" sz="1800" dirty="0" smtClean="0">
                <a:solidFill>
                  <a:schemeClr val="tx1"/>
                </a:solidFill>
              </a:rPr>
              <a:t> of a file of one </a:t>
            </a:r>
            <a:r>
              <a:rPr lang="en-IN" sz="1800" dirty="0" err="1" smtClean="0">
                <a:solidFill>
                  <a:schemeClr val="tx1"/>
                </a:solidFill>
              </a:rPr>
              <a:t>filesystem</a:t>
            </a:r>
            <a:r>
              <a:rPr lang="en-IN" sz="1800" dirty="0" smtClean="0">
                <a:solidFill>
                  <a:schemeClr val="tx1"/>
                </a:solidFill>
              </a:rPr>
              <a:t> can not reside in another </a:t>
            </a:r>
            <a:r>
              <a:rPr lang="en-IN" sz="1800" dirty="0" err="1" smtClean="0">
                <a:solidFill>
                  <a:schemeClr val="tx1"/>
                </a:solidFill>
              </a:rPr>
              <a:t>filesystem</a:t>
            </a:r>
            <a:r>
              <a:rPr lang="en-IN" sz="1800" dirty="0" smtClean="0">
                <a:solidFill>
                  <a:schemeClr val="tx1"/>
                </a:solidFill>
              </a:rPr>
              <a:t>.</a:t>
            </a:r>
          </a:p>
          <a:p>
            <a:pPr lvl="2"/>
            <a:endParaRPr lang="en-IN" sz="1800" dirty="0" smtClean="0">
              <a:solidFill>
                <a:schemeClr val="tx1"/>
              </a:solidFill>
            </a:endParaRPr>
          </a:p>
          <a:p>
            <a:pPr lvl="1"/>
            <a:r>
              <a:rPr lang="en-IN" sz="2000" dirty="0" smtClean="0">
                <a:solidFill>
                  <a:schemeClr val="tx1"/>
                </a:solidFill>
              </a:rPr>
              <a:t>Only super user can make hard links to directories.</a:t>
            </a:r>
          </a:p>
          <a:p>
            <a:pPr lvl="2">
              <a:buNone/>
            </a:pPr>
            <a:endParaRPr lang="en-IN" dirty="0" smtClean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054485" y="5564221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982640" y="5140221"/>
            <a:ext cx="8229600" cy="553998"/>
          </a:xfrm>
        </p:spPr>
        <p:txBody>
          <a:bodyPr/>
          <a:lstStyle/>
          <a:p>
            <a:r>
              <a:rPr lang="en-IN" dirty="0" err="1"/>
              <a:t>l</a:t>
            </a:r>
            <a:r>
              <a:rPr lang="en-IN" dirty="0" err="1" smtClean="0"/>
              <a:t>n</a:t>
            </a:r>
            <a:r>
              <a:rPr lang="en-IN" dirty="0" smtClean="0"/>
              <a:t> – examples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5509371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IN" sz="1200" dirty="0" smtClean="0"/>
              <a:t>		</a:t>
            </a:r>
            <a:r>
              <a:rPr lang="en-IN" dirty="0" err="1" smtClean="0">
                <a:solidFill>
                  <a:srgbClr val="0000CC"/>
                </a:solidFill>
              </a:rPr>
              <a:t>ln</a:t>
            </a:r>
            <a:r>
              <a:rPr lang="en-IN" dirty="0" smtClean="0">
                <a:solidFill>
                  <a:srgbClr val="0000CC"/>
                </a:solidFill>
              </a:rPr>
              <a:t>    [option]    target    </a:t>
            </a:r>
            <a:r>
              <a:rPr lang="en-IN" dirty="0" err="1" smtClean="0">
                <a:solidFill>
                  <a:srgbClr val="0000CC"/>
                </a:solidFill>
              </a:rPr>
              <a:t>linkname</a:t>
            </a:r>
            <a:endParaRPr lang="en-IN" dirty="0" smtClean="0">
              <a:solidFill>
                <a:srgbClr val="0000CC"/>
              </a:solidFill>
            </a:endParaRPr>
          </a:p>
          <a:p>
            <a:pPr>
              <a:buNone/>
            </a:pPr>
            <a:endParaRPr lang="en-IN" sz="900" dirty="0" smtClean="0"/>
          </a:p>
          <a:p>
            <a:pPr>
              <a:buNone/>
            </a:pPr>
            <a:r>
              <a:rPr lang="en-IN" sz="2000" dirty="0" smtClean="0"/>
              <a:t>Option can be</a:t>
            </a:r>
          </a:p>
          <a:p>
            <a:pPr>
              <a:buNone/>
            </a:pPr>
            <a:r>
              <a:rPr lang="en-IN" dirty="0" smtClean="0"/>
              <a:t>		</a:t>
            </a:r>
            <a:r>
              <a:rPr lang="en-IN" dirty="0" smtClean="0">
                <a:solidFill>
                  <a:srgbClr val="0000CC"/>
                </a:solidFill>
              </a:rPr>
              <a:t>-s </a:t>
            </a:r>
            <a:r>
              <a:rPr lang="en-IN" dirty="0" smtClean="0"/>
              <a:t>		</a:t>
            </a:r>
            <a:r>
              <a:rPr lang="en-IN" sz="1900" dirty="0" smtClean="0"/>
              <a:t>create symbolic link.  Without this option hard link is created</a:t>
            </a:r>
          </a:p>
          <a:p>
            <a:pPr>
              <a:buNone/>
            </a:pPr>
            <a:r>
              <a:rPr lang="en-IN" sz="1900" dirty="0" smtClean="0"/>
              <a:t>	</a:t>
            </a:r>
          </a:p>
          <a:p>
            <a:pPr>
              <a:buNone/>
            </a:pPr>
            <a:endParaRPr lang="en-IN" sz="1900" dirty="0" smtClean="0"/>
          </a:p>
          <a:p>
            <a:pPr>
              <a:buNone/>
            </a:pPr>
            <a:endParaRPr lang="en-IN" dirty="0" smtClean="0"/>
          </a:p>
          <a:p>
            <a:pPr lvl="1"/>
            <a:endParaRPr lang="en-IN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3038566" y="32577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59306" y="2915610"/>
            <a:ext cx="8884694" cy="1477328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n-NO" b="1" dirty="0" smtClean="0">
                <a:latin typeface="Courier New" pitchFamily="49" charset="0"/>
                <a:cs typeface="Courier New" pitchFamily="49" charset="0"/>
              </a:rPr>
              <a:t>$ </a:t>
            </a:r>
            <a:r>
              <a:rPr lang="nn-NO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ln -s dat  dat.lnk</a:t>
            </a:r>
          </a:p>
          <a:p>
            <a:r>
              <a:rPr lang="nn-NO" b="1" dirty="0" smtClean="0">
                <a:latin typeface="Courier New" pitchFamily="49" charset="0"/>
                <a:cs typeface="Courier New" pitchFamily="49" charset="0"/>
              </a:rPr>
              <a:t>$ ls -li dat dat-s</a:t>
            </a:r>
          </a:p>
          <a:p>
            <a:r>
              <a:rPr lang="nn-NO" b="1" dirty="0" smtClean="0">
                <a:latin typeface="Courier New" pitchFamily="49" charset="0"/>
                <a:cs typeface="Courier New" pitchFamily="49" charset="0"/>
              </a:rPr>
              <a:t>113596 -rwxr-xr-x  1 wipro18 wipro18 62 Apr 20 16:34 dat</a:t>
            </a:r>
          </a:p>
          <a:p>
            <a:r>
              <a:rPr lang="nn-NO" b="1" dirty="0" smtClean="0">
                <a:latin typeface="Courier New" pitchFamily="49" charset="0"/>
                <a:cs typeface="Courier New" pitchFamily="49" charset="0"/>
              </a:rPr>
              <a:t>113597 lrwxrwxrwx  1 wipro18 wipro18  3 Apr 23 19:34 dat-s-&gt; dat</a:t>
            </a:r>
          </a:p>
        </p:txBody>
      </p:sp>
      <p:sp>
        <p:nvSpPr>
          <p:cNvPr id="11" name="Oval 10"/>
          <p:cNvSpPr/>
          <p:nvPr/>
        </p:nvSpPr>
        <p:spPr>
          <a:xfrm>
            <a:off x="2850253" y="3500579"/>
            <a:ext cx="327546" cy="573206"/>
          </a:xfrm>
          <a:prstGeom prst="ellipse">
            <a:avLst/>
          </a:prstGeom>
          <a:noFill/>
          <a:ln w="25400">
            <a:solidFill>
              <a:srgbClr val="F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91724" y="3473283"/>
            <a:ext cx="1023581" cy="573206"/>
          </a:xfrm>
          <a:prstGeom prst="ellipse">
            <a:avLst/>
          </a:prstGeom>
          <a:noFill/>
          <a:ln w="25400">
            <a:solidFill>
              <a:srgbClr val="F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/>
          <p:cNvSpPr/>
          <p:nvPr/>
        </p:nvSpPr>
        <p:spPr>
          <a:xfrm>
            <a:off x="1248066" y="3695206"/>
            <a:ext cx="241111" cy="573206"/>
          </a:xfrm>
          <a:prstGeom prst="ellipse">
            <a:avLst/>
          </a:prstGeom>
          <a:noFill/>
          <a:ln w="25400">
            <a:solidFill>
              <a:srgbClr val="580BF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17545" y="4946815"/>
            <a:ext cx="8684043" cy="1200329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n-NO" b="1" dirty="0" smtClean="0">
                <a:latin typeface="Courier New" pitchFamily="49" charset="0"/>
                <a:cs typeface="Courier New" pitchFamily="49" charset="0"/>
              </a:rPr>
              <a:t>$ </a:t>
            </a:r>
            <a:r>
              <a:rPr lang="nn-NO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ln  dat  dat2</a:t>
            </a:r>
          </a:p>
          <a:p>
            <a:r>
              <a:rPr lang="nn-NO" b="1" dirty="0" smtClean="0">
                <a:latin typeface="Courier New" pitchFamily="49" charset="0"/>
                <a:cs typeface="Courier New" pitchFamily="49" charset="0"/>
              </a:rPr>
              <a:t>$ ls -li dat dat2</a:t>
            </a:r>
          </a:p>
          <a:p>
            <a:r>
              <a:rPr lang="nn-NO" b="1" dirty="0" smtClean="0">
                <a:latin typeface="Courier New" pitchFamily="49" charset="0"/>
                <a:cs typeface="Courier New" pitchFamily="49" charset="0"/>
              </a:rPr>
              <a:t>113596 -rwxr-xr-x  2 wipro18 wipro18  62 Apr 20 16:34 dat</a:t>
            </a:r>
          </a:p>
          <a:p>
            <a:r>
              <a:rPr lang="nn-NO" b="1" dirty="0" smtClean="0">
                <a:latin typeface="Courier New" pitchFamily="49" charset="0"/>
                <a:cs typeface="Courier New" pitchFamily="49" charset="0"/>
              </a:rPr>
              <a:t>113596 –rwxr-xr-x  2 wipro18 wipro18  62 Apr 20 16:34 dat2</a:t>
            </a:r>
          </a:p>
        </p:txBody>
      </p:sp>
      <p:sp>
        <p:nvSpPr>
          <p:cNvPr id="9" name="Oval 8"/>
          <p:cNvSpPr/>
          <p:nvPr/>
        </p:nvSpPr>
        <p:spPr>
          <a:xfrm>
            <a:off x="2909138" y="5486385"/>
            <a:ext cx="327546" cy="573206"/>
          </a:xfrm>
          <a:prstGeom prst="ellipse">
            <a:avLst/>
          </a:prstGeom>
          <a:noFill/>
          <a:ln w="25400">
            <a:solidFill>
              <a:srgbClr val="F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18827" y="5503233"/>
            <a:ext cx="1023581" cy="573206"/>
          </a:xfrm>
          <a:prstGeom prst="ellipse">
            <a:avLst/>
          </a:prstGeom>
          <a:noFill/>
          <a:ln w="25400">
            <a:solidFill>
              <a:srgbClr val="F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ounded Rectangular Callout 37"/>
          <p:cNvSpPr/>
          <p:nvPr/>
        </p:nvSpPr>
        <p:spPr>
          <a:xfrm>
            <a:off x="5841242" y="4503763"/>
            <a:ext cx="2251880" cy="682388"/>
          </a:xfrm>
          <a:prstGeom prst="wedgeRoundRectCallout">
            <a:avLst>
              <a:gd name="adj1" fmla="val -35006"/>
              <a:gd name="adj2" fmla="val 71372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 err="1" smtClean="0"/>
              <a:t>Inode</a:t>
            </a:r>
            <a:r>
              <a:rPr lang="en-US" sz="1600" dirty="0" smtClean="0"/>
              <a:t> number same</a:t>
            </a:r>
          </a:p>
          <a:p>
            <a:r>
              <a:rPr lang="en-US" sz="1600" dirty="0" smtClean="0"/>
              <a:t> Link count increased</a:t>
            </a:r>
          </a:p>
        </p:txBody>
      </p:sp>
      <p:sp>
        <p:nvSpPr>
          <p:cNvPr id="39" name="Rounded Rectangular Callout 38"/>
          <p:cNvSpPr/>
          <p:nvPr/>
        </p:nvSpPr>
        <p:spPr>
          <a:xfrm>
            <a:off x="5120186" y="2333768"/>
            <a:ext cx="3600734" cy="900752"/>
          </a:xfrm>
          <a:prstGeom prst="wedgeRoundRectCallout">
            <a:avLst>
              <a:gd name="adj1" fmla="val -36628"/>
              <a:gd name="adj2" fmla="val 66593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 smtClean="0"/>
              <a:t>Link file has different </a:t>
            </a:r>
            <a:r>
              <a:rPr lang="en-US" sz="1600" dirty="0" err="1" smtClean="0"/>
              <a:t>inode</a:t>
            </a:r>
            <a:r>
              <a:rPr lang="en-US" sz="1600" dirty="0" smtClean="0"/>
              <a:t> number. </a:t>
            </a:r>
          </a:p>
          <a:p>
            <a:r>
              <a:rPr lang="en-US" sz="1600" dirty="0" smtClean="0"/>
              <a:t>File is link type. </a:t>
            </a:r>
          </a:p>
          <a:p>
            <a:r>
              <a:rPr lang="en-US" sz="1600" dirty="0" smtClean="0"/>
              <a:t>Link count of target unchanged.</a:t>
            </a:r>
          </a:p>
        </p:txBody>
      </p:sp>
      <p:sp>
        <p:nvSpPr>
          <p:cNvPr id="14" name="Text Placeholder 3"/>
          <p:cNvSpPr txBox="1">
            <a:spLocks/>
          </p:cNvSpPr>
          <p:nvPr/>
        </p:nvSpPr>
        <p:spPr>
          <a:xfrm>
            <a:off x="460376" y="145140"/>
            <a:ext cx="8229600" cy="5539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pPr>
            <a:r>
              <a:rPr kumimoji="0" lang="en-IN" sz="3000" b="1" i="0" u="none" strike="noStrike" kern="1200" cap="none" spc="0" normalizeH="0" baseline="0" noProof="0" dirty="0" err="1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/>
              </a:rPr>
              <a:t>ln</a:t>
            </a:r>
            <a:r>
              <a:rPr kumimoji="0" lang="en-IN" sz="3000" b="1" i="0" u="none" strike="noStrike" kern="1200" cap="none" spc="0" normalizeH="0" baseline="0" noProof="0" dirty="0" smtClean="0">
                <a:ln>
                  <a:noFill/>
                </a:ln>
                <a:effectLst/>
                <a:uLnTx/>
                <a:uFillTx/>
                <a:latin typeface="+mj-lt"/>
                <a:ea typeface="+mn-ea"/>
                <a:cs typeface="Arial"/>
              </a:rPr>
              <a:t> – examples</a:t>
            </a:r>
            <a:endParaRPr kumimoji="0" lang="en-IN" sz="3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+mj-lt"/>
              <a:ea typeface="+mn-ea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err="1" smtClean="0">
                <a:solidFill>
                  <a:schemeClr val="tx1"/>
                </a:solidFill>
              </a:rPr>
              <a:t>rm</a:t>
            </a:r>
            <a:r>
              <a:rPr lang="en-IN" dirty="0" smtClean="0">
                <a:solidFill>
                  <a:schemeClr val="tx1"/>
                </a:solidFill>
              </a:rPr>
              <a:t> – remove file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5509371"/>
          </a:xfrm>
        </p:spPr>
        <p:txBody>
          <a:bodyPr>
            <a:normAutofit/>
          </a:bodyPr>
          <a:lstStyle/>
          <a:p>
            <a:r>
              <a:rPr lang="en-IN" b="1" dirty="0" err="1" smtClean="0">
                <a:solidFill>
                  <a:srgbClr val="0000CC"/>
                </a:solidFill>
              </a:rPr>
              <a:t>rm</a:t>
            </a:r>
            <a:r>
              <a:rPr lang="en-IN" b="1" dirty="0" smtClean="0">
                <a:solidFill>
                  <a:srgbClr val="0000CC"/>
                </a:solidFill>
              </a:rPr>
              <a:t> </a:t>
            </a:r>
            <a:r>
              <a:rPr lang="en-IN" dirty="0" smtClean="0"/>
              <a:t>command is used to remove or unlink a file</a:t>
            </a:r>
          </a:p>
          <a:p>
            <a:endParaRPr lang="en-IN" sz="1100" dirty="0" smtClean="0"/>
          </a:p>
          <a:p>
            <a:pPr>
              <a:buNone/>
            </a:pPr>
            <a:r>
              <a:rPr lang="en-IN" dirty="0" smtClean="0">
                <a:solidFill>
                  <a:srgbClr val="0000CC"/>
                </a:solidFill>
              </a:rPr>
              <a:t>			</a:t>
            </a:r>
            <a:r>
              <a:rPr lang="en-IN" dirty="0" err="1" smtClean="0">
                <a:solidFill>
                  <a:srgbClr val="0000CC"/>
                </a:solidFill>
              </a:rPr>
              <a:t>rm</a:t>
            </a:r>
            <a:r>
              <a:rPr lang="en-IN" dirty="0" smtClean="0">
                <a:solidFill>
                  <a:srgbClr val="0000CC"/>
                </a:solidFill>
              </a:rPr>
              <a:t>  [options]    file  ...</a:t>
            </a:r>
          </a:p>
          <a:p>
            <a:pPr>
              <a:buNone/>
            </a:pPr>
            <a:endParaRPr lang="en-IN" sz="1100" dirty="0" smtClean="0"/>
          </a:p>
          <a:p>
            <a:pPr>
              <a:buNone/>
            </a:pPr>
            <a:r>
              <a:rPr lang="en-IN" sz="2000" dirty="0" smtClean="0"/>
              <a:t>Options can be </a:t>
            </a:r>
          </a:p>
          <a:p>
            <a:pPr>
              <a:buNone/>
            </a:pPr>
            <a:r>
              <a:rPr lang="en-IN" sz="2000" dirty="0" smtClean="0"/>
              <a:t>        </a:t>
            </a:r>
            <a:r>
              <a:rPr lang="en-IN" sz="2000" dirty="0" smtClean="0">
                <a:solidFill>
                  <a:srgbClr val="0000CC"/>
                </a:solidFill>
              </a:rPr>
              <a:t>-</a:t>
            </a:r>
            <a:r>
              <a:rPr lang="en-IN" sz="2000" dirty="0" err="1" smtClean="0">
                <a:solidFill>
                  <a:srgbClr val="0000CC"/>
                </a:solidFill>
              </a:rPr>
              <a:t>i</a:t>
            </a:r>
            <a:r>
              <a:rPr lang="en-IN" sz="2000" dirty="0" smtClean="0"/>
              <a:t>			</a:t>
            </a:r>
            <a:r>
              <a:rPr lang="en-IN" sz="2000" dirty="0" smtClean="0">
                <a:sym typeface="Wingdings" pitchFamily="2" charset="2"/>
              </a:rPr>
              <a:t> interactive</a:t>
            </a:r>
          </a:p>
          <a:p>
            <a:pPr>
              <a:buNone/>
            </a:pPr>
            <a:r>
              <a:rPr lang="en-IN" sz="2000" dirty="0" smtClean="0">
                <a:sym typeface="Wingdings" pitchFamily="2" charset="2"/>
              </a:rPr>
              <a:t>	 	 </a:t>
            </a:r>
            <a:r>
              <a:rPr lang="en-IN" sz="2000" dirty="0" smtClean="0">
                <a:solidFill>
                  <a:srgbClr val="0000CC"/>
                </a:solidFill>
                <a:sym typeface="Wingdings" pitchFamily="2" charset="2"/>
              </a:rPr>
              <a:t>-f</a:t>
            </a:r>
            <a:r>
              <a:rPr lang="en-IN" sz="2000" dirty="0" smtClean="0">
                <a:sym typeface="Wingdings" pitchFamily="2" charset="2"/>
              </a:rPr>
              <a:t>			 don’t  prompt if file does not exist</a:t>
            </a:r>
          </a:p>
          <a:p>
            <a:pPr>
              <a:buNone/>
            </a:pPr>
            <a:r>
              <a:rPr lang="en-IN" sz="2000" dirty="0" smtClean="0">
                <a:sym typeface="Wingdings" pitchFamily="2" charset="2"/>
              </a:rPr>
              <a:t>		</a:t>
            </a:r>
            <a:r>
              <a:rPr lang="en-IN" sz="2000" dirty="0" smtClean="0">
                <a:solidFill>
                  <a:srgbClr val="0000CC"/>
                </a:solidFill>
                <a:sym typeface="Wingdings" pitchFamily="2" charset="2"/>
              </a:rPr>
              <a:t>-R</a:t>
            </a:r>
            <a:r>
              <a:rPr lang="en-IN" sz="2000" dirty="0" smtClean="0">
                <a:sym typeface="Wingdings" pitchFamily="2" charset="2"/>
              </a:rPr>
              <a:t>	or  </a:t>
            </a:r>
            <a:r>
              <a:rPr lang="en-IN" sz="2000" dirty="0" smtClean="0">
                <a:solidFill>
                  <a:srgbClr val="0000CC"/>
                </a:solidFill>
                <a:sym typeface="Wingdings" pitchFamily="2" charset="2"/>
              </a:rPr>
              <a:t>–r</a:t>
            </a:r>
            <a:r>
              <a:rPr lang="en-IN" sz="2000" dirty="0" smtClean="0">
                <a:sym typeface="Wingdings" pitchFamily="2" charset="2"/>
              </a:rPr>
              <a:t>	 recursively remove contents of directories</a:t>
            </a:r>
          </a:p>
          <a:p>
            <a:pPr>
              <a:buNone/>
            </a:pPr>
            <a:endParaRPr lang="en-IN" dirty="0" smtClean="0">
              <a:sym typeface="Wingdings" pitchFamily="2" charset="2"/>
            </a:endParaRP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endParaRPr lang="en-IN" sz="1200" dirty="0" smtClean="0"/>
          </a:p>
          <a:p>
            <a:pPr>
              <a:buNone/>
            </a:pPr>
            <a:endParaRPr lang="en-IN" sz="2000" dirty="0" smtClean="0"/>
          </a:p>
          <a:p>
            <a:pPr>
              <a:buNone/>
            </a:pPr>
            <a:r>
              <a:rPr lang="en-IN" sz="2000" dirty="0" smtClean="0"/>
              <a:t>File is actually removed when the link count for the </a:t>
            </a:r>
            <a:r>
              <a:rPr lang="en-IN" sz="2000" dirty="0" err="1" smtClean="0"/>
              <a:t>inode</a:t>
            </a:r>
            <a:r>
              <a:rPr lang="en-IN" sz="2000" dirty="0" smtClean="0"/>
              <a:t> becomes zero.</a:t>
            </a:r>
          </a:p>
          <a:p>
            <a:pPr>
              <a:buNone/>
            </a:pPr>
            <a:endParaRPr lang="en-IN" dirty="0" smtClean="0"/>
          </a:p>
        </p:txBody>
      </p:sp>
      <p:sp>
        <p:nvSpPr>
          <p:cNvPr id="5" name="TextBox 4"/>
          <p:cNvSpPr txBox="1"/>
          <p:nvPr/>
        </p:nvSpPr>
        <p:spPr>
          <a:xfrm>
            <a:off x="3054485" y="455426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 smtClean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17545" y="3936863"/>
            <a:ext cx="8684043" cy="1754326"/>
          </a:xfrm>
          <a:prstGeom prst="rect">
            <a:avLst/>
          </a:prstGeom>
          <a:solidFill>
            <a:schemeClr val="bg1"/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nn-NO" b="1" dirty="0" smtClean="0">
                <a:latin typeface="Courier New" pitchFamily="49" charset="0"/>
                <a:cs typeface="Courier New" pitchFamily="49" charset="0"/>
              </a:rPr>
              <a:t>$ ls -li dat dat2</a:t>
            </a:r>
          </a:p>
          <a:p>
            <a:r>
              <a:rPr lang="nn-NO" b="1" dirty="0" smtClean="0">
                <a:latin typeface="Courier New" pitchFamily="49" charset="0"/>
                <a:cs typeface="Courier New" pitchFamily="49" charset="0"/>
              </a:rPr>
              <a:t>113596 -rwxr-xr-x  2 wipro18  wipro18  62 Apr 20 16:34 dat</a:t>
            </a:r>
          </a:p>
          <a:p>
            <a:r>
              <a:rPr lang="nn-NO" b="1" dirty="0" smtClean="0">
                <a:latin typeface="Courier New" pitchFamily="49" charset="0"/>
                <a:cs typeface="Courier New" pitchFamily="49" charset="0"/>
              </a:rPr>
              <a:t>113596 –rwxr-xr-x  2 wipro18  wipro18  62 Apr 20 16:34 dat2</a:t>
            </a:r>
          </a:p>
          <a:p>
            <a:r>
              <a:rPr lang="nn-NO" b="1" dirty="0" smtClean="0">
                <a:latin typeface="Courier New" pitchFamily="49" charset="0"/>
                <a:cs typeface="Courier New" pitchFamily="49" charset="0"/>
              </a:rPr>
              <a:t>$ </a:t>
            </a:r>
            <a:r>
              <a:rPr lang="nn-NO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rm  dat2</a:t>
            </a:r>
          </a:p>
          <a:p>
            <a:r>
              <a:rPr lang="nn-NO" b="1" dirty="0" smtClean="0">
                <a:latin typeface="Courier New" pitchFamily="49" charset="0"/>
                <a:cs typeface="Courier New" pitchFamily="49" charset="0"/>
              </a:rPr>
              <a:t>$ ls -li dat</a:t>
            </a:r>
          </a:p>
          <a:p>
            <a:r>
              <a:rPr lang="nn-NO" b="1" dirty="0" smtClean="0">
                <a:latin typeface="Courier New" pitchFamily="49" charset="0"/>
                <a:cs typeface="Courier New" pitchFamily="49" charset="0"/>
              </a:rPr>
              <a:t>113596 -rwxr-xr-x  1 wipro18  wipro18  62 Apr 20 16:34 dat</a:t>
            </a:r>
          </a:p>
        </p:txBody>
      </p:sp>
      <p:sp>
        <p:nvSpPr>
          <p:cNvPr id="7" name="Rounded Rectangular Callout 6"/>
          <p:cNvSpPr/>
          <p:nvPr/>
        </p:nvSpPr>
        <p:spPr>
          <a:xfrm>
            <a:off x="5090615" y="3602997"/>
            <a:ext cx="2961563" cy="477666"/>
          </a:xfrm>
          <a:prstGeom prst="wedgeRoundRectCallout">
            <a:avLst>
              <a:gd name="adj1" fmla="val -35006"/>
              <a:gd name="adj2" fmla="val 71372"/>
              <a:gd name="adj3" fmla="val 16667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sz="1600" dirty="0" smtClean="0"/>
              <a:t>Link count decremented by 1</a:t>
            </a:r>
          </a:p>
        </p:txBody>
      </p:sp>
      <p:sp>
        <p:nvSpPr>
          <p:cNvPr id="9" name="Oval 8"/>
          <p:cNvSpPr/>
          <p:nvPr/>
        </p:nvSpPr>
        <p:spPr>
          <a:xfrm>
            <a:off x="2909128" y="5166507"/>
            <a:ext cx="327546" cy="573206"/>
          </a:xfrm>
          <a:prstGeom prst="ellipse">
            <a:avLst/>
          </a:prstGeom>
          <a:noFill/>
          <a:ln w="25400">
            <a:solidFill>
              <a:srgbClr val="F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err="1" smtClean="0">
                <a:solidFill>
                  <a:schemeClr val="tx1"/>
                </a:solidFill>
              </a:rPr>
              <a:t>mkdir</a:t>
            </a:r>
            <a:r>
              <a:rPr lang="en-IN" dirty="0" smtClean="0">
                <a:solidFill>
                  <a:schemeClr val="tx1"/>
                </a:solidFill>
              </a:rPr>
              <a:t> &amp; </a:t>
            </a:r>
            <a:r>
              <a:rPr lang="en-IN" dirty="0" err="1" smtClean="0">
                <a:solidFill>
                  <a:schemeClr val="tx1"/>
                </a:solidFill>
              </a:rPr>
              <a:t>rmdir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5624360"/>
          </a:xfrm>
        </p:spPr>
        <p:txBody>
          <a:bodyPr>
            <a:normAutofit lnSpcReduction="10000"/>
          </a:bodyPr>
          <a:lstStyle/>
          <a:p>
            <a:r>
              <a:rPr lang="en-IN" dirty="0" err="1" smtClean="0">
                <a:solidFill>
                  <a:srgbClr val="580BF3"/>
                </a:solidFill>
              </a:rPr>
              <a:t>mkdir</a:t>
            </a:r>
            <a:r>
              <a:rPr lang="en-IN" dirty="0" smtClean="0"/>
              <a:t> command creates a directory</a:t>
            </a:r>
          </a:p>
          <a:p>
            <a:r>
              <a:rPr lang="en-IN" dirty="0" err="1" smtClean="0">
                <a:solidFill>
                  <a:srgbClr val="580BF3"/>
                </a:solidFill>
              </a:rPr>
              <a:t>rmdir</a:t>
            </a:r>
            <a:r>
              <a:rPr lang="en-IN" dirty="0" smtClean="0">
                <a:solidFill>
                  <a:srgbClr val="580BF3"/>
                </a:solidFill>
              </a:rPr>
              <a:t> </a:t>
            </a:r>
            <a:r>
              <a:rPr lang="en-IN" dirty="0" smtClean="0"/>
              <a:t>command removes directory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dirty="0" smtClean="0"/>
              <a:t>			</a:t>
            </a:r>
            <a:r>
              <a:rPr lang="en-IN" dirty="0" err="1" smtClean="0"/>
              <a:t>mkdir</a:t>
            </a:r>
            <a:r>
              <a:rPr lang="en-IN" dirty="0" smtClean="0"/>
              <a:t>    [options]   </a:t>
            </a:r>
            <a:r>
              <a:rPr lang="en-IN" dirty="0" err="1" smtClean="0"/>
              <a:t>directory_name</a:t>
            </a:r>
            <a:endParaRPr lang="en-IN" dirty="0" smtClean="0"/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dirty="0" smtClean="0"/>
              <a:t>			</a:t>
            </a:r>
            <a:r>
              <a:rPr lang="en-IN" dirty="0" err="1" smtClean="0"/>
              <a:t>rmdir</a:t>
            </a:r>
            <a:r>
              <a:rPr lang="en-IN" dirty="0" smtClean="0"/>
              <a:t>    [options]   </a:t>
            </a:r>
            <a:r>
              <a:rPr lang="en-IN" dirty="0" err="1" smtClean="0"/>
              <a:t>directory_name</a:t>
            </a:r>
            <a:endParaRPr lang="en-IN" dirty="0" smtClean="0"/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dirty="0" smtClean="0"/>
              <a:t>Commonly used options:-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dirty="0" smtClean="0"/>
              <a:t>			-p			</a:t>
            </a:r>
            <a:r>
              <a:rPr lang="en-IN" dirty="0" smtClean="0">
                <a:sym typeface="Wingdings" pitchFamily="2" charset="2"/>
              </a:rPr>
              <a:t>  for </a:t>
            </a:r>
            <a:r>
              <a:rPr lang="en-IN" dirty="0" err="1" smtClean="0">
                <a:solidFill>
                  <a:srgbClr val="580BF3"/>
                </a:solidFill>
                <a:sym typeface="Wingdings" pitchFamily="2" charset="2"/>
              </a:rPr>
              <a:t>mkdir</a:t>
            </a:r>
            <a:r>
              <a:rPr lang="en-IN" dirty="0" smtClean="0">
                <a:sym typeface="Wingdings" pitchFamily="2" charset="2"/>
              </a:rPr>
              <a:t>, create parent directory, </a:t>
            </a:r>
          </a:p>
          <a:p>
            <a:pPr>
              <a:buNone/>
            </a:pPr>
            <a:r>
              <a:rPr lang="en-IN" dirty="0" smtClean="0">
                <a:sym typeface="Wingdings" pitchFamily="2" charset="2"/>
              </a:rPr>
              <a:t>							if it does not exist 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dirty="0" smtClean="0">
                <a:sym typeface="Wingdings" pitchFamily="2" charset="2"/>
              </a:rPr>
              <a:t>							for </a:t>
            </a:r>
            <a:r>
              <a:rPr lang="en-IN" dirty="0" err="1" smtClean="0">
                <a:solidFill>
                  <a:srgbClr val="580BF3"/>
                </a:solidFill>
                <a:sym typeface="Wingdings" pitchFamily="2" charset="2"/>
              </a:rPr>
              <a:t>rmdir</a:t>
            </a:r>
            <a:r>
              <a:rPr lang="en-IN" dirty="0" smtClean="0">
                <a:sym typeface="Wingdings" pitchFamily="2" charset="2"/>
              </a:rPr>
              <a:t>, remove the directory </a:t>
            </a:r>
          </a:p>
          <a:p>
            <a:pPr>
              <a:buNone/>
            </a:pPr>
            <a:r>
              <a:rPr lang="en-IN" dirty="0" smtClean="0">
                <a:sym typeface="Wingdings" pitchFamily="2" charset="2"/>
              </a:rPr>
              <a:t>							along with subdirectories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endParaRPr lang="en-IN" dirty="0" smtClean="0"/>
          </a:p>
          <a:p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err="1" smtClean="0">
                <a:solidFill>
                  <a:schemeClr val="tx1"/>
                </a:solidFill>
              </a:rPr>
              <a:t>mkdir</a:t>
            </a:r>
            <a:r>
              <a:rPr lang="en-IN" dirty="0" smtClean="0">
                <a:solidFill>
                  <a:schemeClr val="tx1"/>
                </a:solidFill>
              </a:rPr>
              <a:t>  – examples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97447" y="2012392"/>
            <a:ext cx="8430015" cy="4585871"/>
          </a:xfrm>
          <a:prstGeom prst="rect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en-US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mkdir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./x/y/z</a:t>
            </a:r>
          </a:p>
          <a:p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mkdir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: cannot create directory `./x/y/z': No such file or directory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mkdir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-p  ./x/y/z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ls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-</a:t>
            </a:r>
            <a:r>
              <a:rPr lang="en-US" sz="20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lR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x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x: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total 4</a:t>
            </a:r>
          </a:p>
          <a:p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drwxrwxr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-x    3 wipro18  </a:t>
            </a:r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wipro18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4096 Apr 24 11:11 y</a:t>
            </a:r>
          </a:p>
          <a:p>
            <a:endParaRPr lang="en-US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x/y: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total 4</a:t>
            </a:r>
          </a:p>
          <a:p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drwxrwxr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-x    2 wipro18  </a:t>
            </a:r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wipro18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4096 Apr 24 11:11 z</a:t>
            </a:r>
          </a:p>
          <a:p>
            <a:endParaRPr lang="en-US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x/y/z: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total 0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</a:t>
            </a:r>
          </a:p>
        </p:txBody>
      </p:sp>
      <p:sp>
        <p:nvSpPr>
          <p:cNvPr id="7" name="Oval 6"/>
          <p:cNvSpPr/>
          <p:nvPr/>
        </p:nvSpPr>
        <p:spPr>
          <a:xfrm>
            <a:off x="1560964" y="2797769"/>
            <a:ext cx="426728" cy="491343"/>
          </a:xfrm>
          <a:prstGeom prst="ellipse">
            <a:avLst/>
          </a:prstGeom>
          <a:noFill/>
          <a:ln w="25400">
            <a:solidFill>
              <a:srgbClr val="FE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45496" y="909198"/>
            <a:ext cx="8430015" cy="954107"/>
          </a:xfrm>
          <a:prstGeom prst="rect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en-US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mkdir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t</a:t>
            </a:r>
          </a:p>
          <a:p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ls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–ld  t</a:t>
            </a:r>
          </a:p>
          <a:p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drwxrwxr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-x    2 wipro18  </a:t>
            </a:r>
            <a:r>
              <a:rPr lang="en-US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wipro18</a:t>
            </a:r>
            <a:r>
              <a:rPr lang="en-US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4096 Apr 24 11:22 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err="1" smtClean="0">
                <a:solidFill>
                  <a:schemeClr val="tx1"/>
                </a:solidFill>
              </a:rPr>
              <a:t>rmdir</a:t>
            </a:r>
            <a:r>
              <a:rPr lang="en-IN" dirty="0" smtClean="0">
                <a:solidFill>
                  <a:schemeClr val="tx1"/>
                </a:solidFill>
              </a:rPr>
              <a:t> – examples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45496" y="909198"/>
            <a:ext cx="8430015" cy="1323439"/>
          </a:xfrm>
          <a:prstGeom prst="rect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0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rmdir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t</a:t>
            </a:r>
          </a:p>
          <a:p>
            <a:endParaRPr lang="en-US" sz="2000" b="1" dirty="0" smtClean="0">
              <a:solidFill>
                <a:srgbClr val="0000CC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rmdir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-p  ./x/y/z</a:t>
            </a:r>
          </a:p>
          <a:p>
            <a:endParaRPr lang="en-US" sz="2000" b="1" dirty="0" smtClean="0">
              <a:solidFill>
                <a:srgbClr val="0000CC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err="1" smtClean="0">
                <a:solidFill>
                  <a:schemeClr val="tx1"/>
                </a:solidFill>
              </a:rPr>
              <a:t>umask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5528826"/>
          </a:xfrm>
        </p:spPr>
        <p:txBody>
          <a:bodyPr>
            <a:normAutofit/>
          </a:bodyPr>
          <a:lstStyle/>
          <a:p>
            <a:r>
              <a:rPr lang="en-IN" dirty="0" err="1" smtClean="0">
                <a:solidFill>
                  <a:schemeClr val="tx1"/>
                </a:solidFill>
              </a:rPr>
              <a:t>umask</a:t>
            </a:r>
            <a:r>
              <a:rPr lang="en-IN" dirty="0" smtClean="0">
                <a:solidFill>
                  <a:schemeClr val="tx1"/>
                </a:solidFill>
              </a:rPr>
              <a:t> command is used to define file-creation mask.</a:t>
            </a:r>
          </a:p>
          <a:p>
            <a:pPr lvl="1"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</a:rPr>
              <a:t>File creation mask indicates which permissions have to be turned off for a newly created file.</a:t>
            </a:r>
          </a:p>
          <a:p>
            <a:pPr lvl="1"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</a:rPr>
              <a:t>Current </a:t>
            </a:r>
            <a:r>
              <a:rPr lang="en-IN" dirty="0" err="1" smtClean="0">
                <a:solidFill>
                  <a:schemeClr val="tx1"/>
                </a:solidFill>
              </a:rPr>
              <a:t>umask</a:t>
            </a:r>
            <a:r>
              <a:rPr lang="en-IN" dirty="0" smtClean="0">
                <a:solidFill>
                  <a:schemeClr val="tx1"/>
                </a:solidFill>
              </a:rPr>
              <a:t> value is used to determined which permissions to be turned off.</a:t>
            </a:r>
          </a:p>
          <a:p>
            <a:pPr lvl="1"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</a:rPr>
              <a:t>Changing </a:t>
            </a:r>
            <a:r>
              <a:rPr lang="en-IN" dirty="0" err="1" smtClean="0">
                <a:solidFill>
                  <a:schemeClr val="tx1"/>
                </a:solidFill>
              </a:rPr>
              <a:t>umask</a:t>
            </a:r>
            <a:r>
              <a:rPr lang="en-IN" dirty="0" smtClean="0">
                <a:solidFill>
                  <a:schemeClr val="tx1"/>
                </a:solidFill>
              </a:rPr>
              <a:t> value does not change permissions of existing file.</a:t>
            </a:r>
          </a:p>
          <a:p>
            <a:pPr lvl="1">
              <a:buFontTx/>
              <a:buChar char="-"/>
            </a:pPr>
            <a:r>
              <a:rPr lang="en-IN" dirty="0" err="1" smtClean="0">
                <a:solidFill>
                  <a:schemeClr val="tx1"/>
                </a:solidFill>
              </a:rPr>
              <a:t>Umask</a:t>
            </a:r>
            <a:r>
              <a:rPr lang="en-IN" dirty="0" smtClean="0">
                <a:solidFill>
                  <a:schemeClr val="tx1"/>
                </a:solidFill>
              </a:rPr>
              <a:t> setting is applicable for directories as well.</a:t>
            </a:r>
          </a:p>
          <a:p>
            <a:r>
              <a:rPr lang="en-IN" dirty="0" err="1" smtClean="0">
                <a:solidFill>
                  <a:schemeClr val="tx1"/>
                </a:solidFill>
              </a:rPr>
              <a:t>Umask</a:t>
            </a:r>
            <a:r>
              <a:rPr lang="en-IN" dirty="0" smtClean="0">
                <a:solidFill>
                  <a:schemeClr val="tx1"/>
                </a:solidFill>
              </a:rPr>
              <a:t> is built-in command of bash shell.</a:t>
            </a:r>
          </a:p>
          <a:p>
            <a:endParaRPr lang="en-IN" sz="1050" dirty="0" smtClean="0">
              <a:solidFill>
                <a:schemeClr val="tx1"/>
              </a:solidFill>
            </a:endParaRPr>
          </a:p>
          <a:p>
            <a:r>
              <a:rPr lang="en-IN" dirty="0" smtClean="0">
                <a:solidFill>
                  <a:schemeClr val="tx1"/>
                </a:solidFill>
              </a:rPr>
              <a:t>Usages</a:t>
            </a:r>
          </a:p>
          <a:p>
            <a:endParaRPr lang="en-IN" sz="1050" dirty="0" smtClean="0"/>
          </a:p>
          <a:p>
            <a:pPr lvl="1">
              <a:buNone/>
            </a:pPr>
            <a:r>
              <a:rPr lang="en-IN" b="1" dirty="0" err="1" smtClean="0">
                <a:solidFill>
                  <a:srgbClr val="580BF3"/>
                </a:solidFill>
              </a:rPr>
              <a:t>umask</a:t>
            </a:r>
            <a:r>
              <a:rPr lang="en-IN" b="1" dirty="0" smtClean="0">
                <a:solidFill>
                  <a:srgbClr val="580BF3"/>
                </a:solidFill>
              </a:rPr>
              <a:t>					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 prints current </a:t>
            </a:r>
            <a:r>
              <a:rPr lang="en-IN" dirty="0" err="1" smtClean="0">
                <a:solidFill>
                  <a:schemeClr val="tx1"/>
                </a:solidFill>
                <a:sym typeface="Wingdings" pitchFamily="2" charset="2"/>
              </a:rPr>
              <a:t>umask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 value</a:t>
            </a:r>
            <a:r>
              <a:rPr lang="en-IN" b="1" dirty="0" smtClean="0">
                <a:solidFill>
                  <a:schemeClr val="tx1"/>
                </a:solidFill>
                <a:sym typeface="Wingdings" pitchFamily="2" charset="2"/>
              </a:rPr>
              <a:t> </a:t>
            </a:r>
            <a:r>
              <a:rPr lang="en-IN" b="1" dirty="0" smtClean="0">
                <a:solidFill>
                  <a:schemeClr val="tx1"/>
                </a:solidFill>
              </a:rPr>
              <a:t>	</a:t>
            </a:r>
          </a:p>
          <a:p>
            <a:pPr lvl="1">
              <a:buNone/>
            </a:pPr>
            <a:r>
              <a:rPr lang="en-IN" b="1" dirty="0" err="1" smtClean="0">
                <a:solidFill>
                  <a:srgbClr val="580BF3"/>
                </a:solidFill>
              </a:rPr>
              <a:t>umask</a:t>
            </a:r>
            <a:r>
              <a:rPr lang="en-IN" b="1" dirty="0" smtClean="0">
                <a:solidFill>
                  <a:srgbClr val="580BF3"/>
                </a:solidFill>
              </a:rPr>
              <a:t>   -p   				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 prints current </a:t>
            </a:r>
            <a:r>
              <a:rPr lang="en-IN" dirty="0" err="1" smtClean="0">
                <a:solidFill>
                  <a:schemeClr val="tx1"/>
                </a:solidFill>
                <a:sym typeface="Wingdings" pitchFamily="2" charset="2"/>
              </a:rPr>
              <a:t>umask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 value</a:t>
            </a:r>
            <a:endParaRPr lang="en-IN" dirty="0" smtClean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en-IN" b="1" dirty="0" err="1" smtClean="0">
                <a:solidFill>
                  <a:srgbClr val="580BF3"/>
                </a:solidFill>
              </a:rPr>
              <a:t>umask</a:t>
            </a:r>
            <a:r>
              <a:rPr lang="en-IN" b="1" dirty="0" smtClean="0">
                <a:solidFill>
                  <a:srgbClr val="580BF3"/>
                </a:solidFill>
              </a:rPr>
              <a:t>   -S 				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 prints the current </a:t>
            </a:r>
            <a:r>
              <a:rPr lang="en-IN" dirty="0" err="1" smtClean="0">
                <a:solidFill>
                  <a:schemeClr val="tx1"/>
                </a:solidFill>
                <a:sym typeface="Wingdings" pitchFamily="2" charset="2"/>
              </a:rPr>
              <a:t>umaks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 value in symbolic form</a:t>
            </a:r>
          </a:p>
          <a:p>
            <a:pPr lvl="1">
              <a:buNone/>
            </a:pPr>
            <a:r>
              <a:rPr lang="en-IN" b="1" dirty="0" err="1" smtClean="0">
                <a:solidFill>
                  <a:srgbClr val="580BF3"/>
                </a:solidFill>
              </a:rPr>
              <a:t>umask</a:t>
            </a:r>
            <a:r>
              <a:rPr lang="en-IN" b="1" dirty="0" smtClean="0">
                <a:solidFill>
                  <a:srgbClr val="580BF3"/>
                </a:solidFill>
              </a:rPr>
              <a:t>   -S   mode		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 prints mode value in symbolic form</a:t>
            </a:r>
          </a:p>
          <a:p>
            <a:pPr lvl="1">
              <a:buNone/>
            </a:pPr>
            <a:r>
              <a:rPr lang="en-IN" b="1" dirty="0" err="1" smtClean="0">
                <a:solidFill>
                  <a:srgbClr val="580BF3"/>
                </a:solidFill>
              </a:rPr>
              <a:t>umask</a:t>
            </a:r>
            <a:r>
              <a:rPr lang="en-IN" b="1" dirty="0" smtClean="0">
                <a:solidFill>
                  <a:srgbClr val="580BF3"/>
                </a:solidFill>
              </a:rPr>
              <a:t>  mode			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 sets </a:t>
            </a:r>
            <a:r>
              <a:rPr lang="en-IN" dirty="0" err="1" smtClean="0">
                <a:solidFill>
                  <a:schemeClr val="tx1"/>
                </a:solidFill>
                <a:sym typeface="Wingdings" pitchFamily="2" charset="2"/>
              </a:rPr>
              <a:t>umask</a:t>
            </a:r>
            <a:r>
              <a:rPr lang="en-IN" dirty="0" smtClean="0">
                <a:solidFill>
                  <a:schemeClr val="tx1"/>
                </a:solidFill>
                <a:sym typeface="Wingdings" pitchFamily="2" charset="2"/>
              </a:rPr>
              <a:t> to the mode specified</a:t>
            </a:r>
          </a:p>
          <a:p>
            <a:pPr lvl="1">
              <a:buNone/>
            </a:pPr>
            <a:endParaRPr lang="en-IN" b="1" dirty="0" smtClean="0">
              <a:solidFill>
                <a:srgbClr val="580BF3"/>
              </a:solidFill>
            </a:endParaRPr>
          </a:p>
          <a:p>
            <a:pPr lvl="1"/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err="1" smtClean="0">
                <a:solidFill>
                  <a:schemeClr val="tx1"/>
                </a:solidFill>
              </a:rPr>
              <a:t>umask</a:t>
            </a:r>
            <a:r>
              <a:rPr lang="en-IN" dirty="0" smtClean="0">
                <a:solidFill>
                  <a:schemeClr val="tx1"/>
                </a:solidFill>
              </a:rPr>
              <a:t> – examples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3926" y="1125288"/>
            <a:ext cx="7618254" cy="2554545"/>
          </a:xfrm>
          <a:prstGeom prst="rect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pl-PL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umask -p</a:t>
            </a:r>
          </a:p>
          <a:p>
            <a:r>
              <a:rPr lang="pl-PL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umask 0400</a:t>
            </a:r>
          </a:p>
          <a:p>
            <a:r>
              <a:rPr lang="pl-PL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pl-PL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umask -S</a:t>
            </a:r>
          </a:p>
          <a:p>
            <a:r>
              <a:rPr lang="pl-PL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u=wx,g=rwx,o=rwx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pl-PL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umask -S 644</a:t>
            </a:r>
          </a:p>
          <a:p>
            <a:r>
              <a:rPr lang="pl-PL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u=x,g=wx,o=wx</a:t>
            </a:r>
          </a:p>
          <a:p>
            <a:r>
              <a:rPr lang="pl-PL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pl-PL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umask -S 64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2</a:t>
            </a:r>
            <a:endParaRPr lang="pl-PL" sz="2000" b="1" dirty="0" smtClean="0">
              <a:solidFill>
                <a:srgbClr val="0000CC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pl-PL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u=x,g=wx,o=rx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err="1" smtClean="0">
                <a:solidFill>
                  <a:schemeClr val="tx1"/>
                </a:solidFill>
              </a:rPr>
              <a:t>umask</a:t>
            </a:r>
            <a:r>
              <a:rPr lang="en-IN" dirty="0" smtClean="0">
                <a:solidFill>
                  <a:schemeClr val="tx1"/>
                </a:solidFill>
              </a:rPr>
              <a:t> – </a:t>
            </a:r>
            <a:r>
              <a:rPr lang="en-IN" smtClean="0">
                <a:solidFill>
                  <a:schemeClr val="tx1"/>
                </a:solidFill>
              </a:rPr>
              <a:t>example </a:t>
            </a:r>
            <a:r>
              <a:rPr lang="en-IN"/>
              <a:t>(Contd.).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245658" y="1187355"/>
            <a:ext cx="85435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+mj-lt"/>
              </a:rPr>
              <a:t>Default permissions </a:t>
            </a:r>
            <a:r>
              <a:rPr lang="en-US" dirty="0" smtClean="0"/>
              <a:t>to be set for a new file	              </a:t>
            </a:r>
            <a:r>
              <a:rPr lang="en-US" dirty="0" err="1" smtClean="0">
                <a:latin typeface="Courier New" pitchFamily="49" charset="0"/>
                <a:cs typeface="Courier New" pitchFamily="49" charset="0"/>
              </a:rPr>
              <a:t>rw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-    r--  ---</a:t>
            </a:r>
          </a:p>
          <a:p>
            <a:r>
              <a:rPr lang="en-US" dirty="0" smtClean="0">
                <a:latin typeface="Lucida Console" pitchFamily="49" charset="0"/>
              </a:rPr>
              <a:t>							    </a:t>
            </a:r>
            <a:r>
              <a:rPr lang="en-US" dirty="0" smtClean="0">
                <a:latin typeface="Courier New" pitchFamily="49" charset="0"/>
                <a:cs typeface="Courier New" pitchFamily="49" charset="0"/>
              </a:rPr>
              <a:t>(in octal)  	 6		 4		0</a:t>
            </a:r>
          </a:p>
          <a:p>
            <a:endParaRPr lang="en-US" dirty="0" smtClean="0">
              <a:latin typeface="Lucida Console" pitchFamily="49" charset="0"/>
            </a:endParaRP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Mask value =   666 – 640 = </a:t>
            </a:r>
            <a:r>
              <a:rPr lang="en-US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026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			</a:t>
            </a:r>
          </a:p>
          <a:p>
            <a:r>
              <a:rPr lang="en-US" dirty="0" smtClean="0">
                <a:latin typeface="Courier New" pitchFamily="49" charset="0"/>
                <a:cs typeface="Courier New" pitchFamily="49" charset="0"/>
              </a:rPr>
              <a:t>So, command to be given is</a:t>
            </a:r>
          </a:p>
          <a:p>
            <a:endParaRPr lang="en-US" dirty="0" smtClean="0">
              <a:latin typeface="Lucida Console" pitchFamily="49" charset="0"/>
            </a:endParaRP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$ </a:t>
            </a:r>
            <a:r>
              <a:rPr lang="en-US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umask</a:t>
            </a:r>
            <a:r>
              <a:rPr lang="en-US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026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$ </a:t>
            </a:r>
            <a:r>
              <a:rPr lang="en-US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touch temp1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$ </a:t>
            </a:r>
            <a:r>
              <a:rPr lang="en-US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ls</a:t>
            </a:r>
            <a:r>
              <a:rPr lang="en-US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-l temp1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-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rw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-r-----    1 wipro18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wipro18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0 Apr 24 12:36 temp1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$ </a:t>
            </a:r>
            <a:r>
              <a:rPr lang="en-US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mkdir</a:t>
            </a:r>
            <a:r>
              <a:rPr lang="en-US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newdir</a:t>
            </a:r>
            <a:endParaRPr lang="en-US" b="1" dirty="0" smtClean="0">
              <a:solidFill>
                <a:srgbClr val="0000CC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$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$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ls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-ld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newdir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drwxr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-x--x    2 wipro18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wipro18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4096 Apr 24 12:37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newdir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$</a:t>
            </a:r>
          </a:p>
          <a:p>
            <a:endParaRPr lang="en-US" b="1" dirty="0" smtClean="0">
              <a:latin typeface="Lucida Console" pitchFamily="49" charset="0"/>
            </a:endParaRPr>
          </a:p>
          <a:p>
            <a:endParaRPr lang="en-US" dirty="0" smtClean="0">
              <a:latin typeface="Lucida Console" pitchFamily="49" charset="0"/>
            </a:endParaRPr>
          </a:p>
          <a:p>
            <a:endParaRPr lang="en-US" dirty="0" smtClean="0">
              <a:latin typeface="Lucida Console" pitchFamily="49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272956" y="3971489"/>
            <a:ext cx="1583140" cy="286603"/>
          </a:xfrm>
          <a:prstGeom prst="roundRect">
            <a:avLst/>
          </a:prstGeom>
          <a:noFill/>
          <a:effec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/>
          <p:cNvSpPr/>
          <p:nvPr/>
        </p:nvSpPr>
        <p:spPr>
          <a:xfrm>
            <a:off x="316174" y="5079232"/>
            <a:ext cx="1583140" cy="286603"/>
          </a:xfrm>
          <a:prstGeom prst="roundRect">
            <a:avLst/>
          </a:prstGeom>
          <a:noFill/>
          <a:effectLst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err="1" smtClean="0">
                <a:solidFill>
                  <a:schemeClr val="tx1"/>
                </a:solidFill>
              </a:rPr>
              <a:t>umask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15461" y="882661"/>
            <a:ext cx="8757084" cy="5016758"/>
          </a:xfrm>
          <a:prstGeom prst="rect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pl-PL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umask 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000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touch  t1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ls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–l  t1</a:t>
            </a:r>
          </a:p>
          <a:p>
            <a:r>
              <a:rPr lang="pl-PL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-rw-rw-rw-    1 wipro18  wipro18      0 Apr 24 12:20 t1</a:t>
            </a:r>
          </a:p>
          <a:p>
            <a:r>
              <a:rPr lang="pl-PL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</a:t>
            </a:r>
            <a:endParaRPr lang="en-US" sz="20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umask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640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touch t2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ls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-l t2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-----w-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rw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    1 wipro18 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wipro18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0 Apr 24 12:21 t2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umask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027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touch a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mkdir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b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rw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-r-----    1 wipro18 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wipro18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0 Apr 24 19:21 a</a:t>
            </a:r>
          </a:p>
          <a:p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drwxr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-x---    2 wipro18  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wipro18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4096 May 24 19:21 b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7040" y="5882016"/>
            <a:ext cx="8415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Note</a:t>
            </a:r>
            <a:r>
              <a:rPr lang="en-US" dirty="0" smtClean="0"/>
              <a:t>: A newly created directory will have permissions as per the </a:t>
            </a:r>
            <a:r>
              <a:rPr lang="en-US" dirty="0" err="1" smtClean="0"/>
              <a:t>umask</a:t>
            </a:r>
            <a:r>
              <a:rPr lang="en-US" dirty="0" smtClean="0"/>
              <a:t> value.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err="1" smtClean="0">
                <a:solidFill>
                  <a:schemeClr val="tx1"/>
                </a:solidFill>
              </a:rPr>
              <a:t>df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5"/>
            <a:ext cx="8728364" cy="743884"/>
          </a:xfrm>
        </p:spPr>
        <p:txBody>
          <a:bodyPr/>
          <a:lstStyle/>
          <a:p>
            <a:r>
              <a:rPr lang="en-IN" b="1" dirty="0" err="1" smtClean="0">
                <a:solidFill>
                  <a:srgbClr val="0000CC"/>
                </a:solidFill>
              </a:rPr>
              <a:t>df</a:t>
            </a:r>
            <a:r>
              <a:rPr lang="en-IN" dirty="0" smtClean="0"/>
              <a:t> </a:t>
            </a:r>
            <a:r>
              <a:rPr lang="en-IN" dirty="0" smtClean="0">
                <a:solidFill>
                  <a:schemeClr val="tx1"/>
                </a:solidFill>
              </a:rPr>
              <a:t>command is used to get the disk space usage by file systems.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5604" y="1357301"/>
            <a:ext cx="8926947" cy="2893100"/>
          </a:xfrm>
          <a:prstGeom prst="rect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df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-T</a:t>
            </a:r>
          </a:p>
          <a:p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Filesystem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Type   1K-blocks   Used Available Use% Mounted on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/dev/hda5     ext3    5036284   208640  4571812   5% /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/dev/hda1     ext3    2016016    37948  1875656   2% /boot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/dev/hda2     ext3   10080520    45636  9522816   1% /home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none       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tmpfs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1025240        0  1025240   0% /dev/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shm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/dev/hda8     ext3    3020140    32868  2833856   2% /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tmp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/dev/hda3     ext3    5036316  1749444  3031040  37% /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usr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/dev/hda7     ext3    3020140  1346756  1519968  47% /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var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$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724" y="4323820"/>
            <a:ext cx="8430015" cy="2339102"/>
          </a:xfrm>
          <a:prstGeom prst="rect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df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-</a:t>
            </a:r>
            <a:r>
              <a:rPr lang="en-US" sz="20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i</a:t>
            </a:r>
            <a:endParaRPr lang="en-US" sz="2000" b="1" dirty="0" smtClean="0">
              <a:solidFill>
                <a:srgbClr val="0000CC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Filesystem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    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Inodes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IUsed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IFree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IUse</a:t>
            </a:r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% Mounted on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/dev/hda5          640000   25783  614217    5% /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/dev/hda1          256512      35  256477    1% /boot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...</a:t>
            </a: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/dev/hda3          640000   77767  562233   13% /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usr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/dev/hda7          384000    1399  382601    1% /</a:t>
            </a:r>
            <a:r>
              <a:rPr lang="en-US" b="1" dirty="0" err="1" smtClean="0">
                <a:latin typeface="Courier New" pitchFamily="49" charset="0"/>
                <a:cs typeface="Courier New" pitchFamily="49" charset="0"/>
              </a:rPr>
              <a:t>var</a:t>
            </a:r>
            <a:endParaRPr lang="en-US" b="1" dirty="0" smtClean="0">
              <a:latin typeface="Courier New" pitchFamily="49" charset="0"/>
              <a:cs typeface="Courier New" pitchFamily="49" charset="0"/>
            </a:endParaRPr>
          </a:p>
          <a:p>
            <a:r>
              <a:rPr lang="en-US" b="1" dirty="0" smtClean="0">
                <a:latin typeface="Courier New" pitchFamily="49" charset="0"/>
                <a:cs typeface="Courier New" pitchFamily="49" charset="0"/>
              </a:rPr>
              <a:t>$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/>
              <a:t>du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5"/>
            <a:ext cx="8728364" cy="2927865"/>
          </a:xfrm>
        </p:spPr>
        <p:txBody>
          <a:bodyPr>
            <a:normAutofit/>
          </a:bodyPr>
          <a:lstStyle/>
          <a:p>
            <a:r>
              <a:rPr lang="en-IN" b="1" dirty="0" smtClean="0">
                <a:solidFill>
                  <a:srgbClr val="0000CC"/>
                </a:solidFill>
              </a:rPr>
              <a:t>du</a:t>
            </a:r>
            <a:r>
              <a:rPr lang="en-IN" dirty="0" smtClean="0"/>
              <a:t> </a:t>
            </a:r>
            <a:r>
              <a:rPr lang="en-IN" dirty="0" smtClean="0">
                <a:solidFill>
                  <a:schemeClr val="tx1"/>
                </a:solidFill>
              </a:rPr>
              <a:t>command is used to get the disk space usage for files and directories. [ default unit is block of 1 KB ]</a:t>
            </a:r>
          </a:p>
          <a:p>
            <a:pPr lvl="1"/>
            <a:r>
              <a:rPr lang="en-IN" sz="2000" dirty="0" smtClean="0">
                <a:solidFill>
                  <a:schemeClr val="tx1"/>
                </a:solidFill>
              </a:rPr>
              <a:t>without any option lists the disk usage for the whole directory and for each of the subdirectory</a:t>
            </a:r>
          </a:p>
          <a:p>
            <a:pPr lvl="1"/>
            <a:r>
              <a:rPr lang="en-IN" sz="2000" dirty="0" smtClean="0"/>
              <a:t>With </a:t>
            </a:r>
            <a:r>
              <a:rPr lang="en-IN" sz="2000" b="1" dirty="0" smtClean="0">
                <a:solidFill>
                  <a:srgbClr val="0000CC"/>
                </a:solidFill>
              </a:rPr>
              <a:t>–a </a:t>
            </a:r>
            <a:r>
              <a:rPr lang="en-IN" sz="2000" dirty="0" smtClean="0"/>
              <a:t>option, lists the usage for each files of the directory and its subdirectories</a:t>
            </a:r>
          </a:p>
          <a:p>
            <a:pPr lvl="1"/>
            <a:r>
              <a:rPr lang="en-IN" sz="2000" dirty="0" smtClean="0"/>
              <a:t>With </a:t>
            </a:r>
            <a:r>
              <a:rPr lang="en-IN" sz="2000" b="1" dirty="0" smtClean="0">
                <a:solidFill>
                  <a:srgbClr val="0000CC"/>
                </a:solidFill>
              </a:rPr>
              <a:t>–b </a:t>
            </a:r>
            <a:r>
              <a:rPr lang="en-IN" sz="2000" dirty="0" smtClean="0"/>
              <a:t>option, size is shown in bytes.</a:t>
            </a:r>
          </a:p>
          <a:p>
            <a:pPr lvl="1"/>
            <a:r>
              <a:rPr lang="en-IN" sz="2000" dirty="0" smtClean="0">
                <a:solidFill>
                  <a:schemeClr val="tx1"/>
                </a:solidFill>
              </a:rPr>
              <a:t>Useful to know which directories consume the disk space maximum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5891" y="3880282"/>
            <a:ext cx="3693526" cy="2246769"/>
          </a:xfrm>
          <a:prstGeom prst="rect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du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8       ./data/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proj</a:t>
            </a:r>
            <a:endParaRPr lang="en-US" sz="20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16      ./data/dir1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48      ./data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8       ./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data.old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proj</a:t>
            </a:r>
            <a:endParaRPr lang="en-US" sz="20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28      ./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data.old</a:t>
            </a:r>
            <a:endParaRPr lang="en-US" sz="20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8804    .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10732" y="3868909"/>
            <a:ext cx="4204667" cy="2246769"/>
          </a:xfrm>
          <a:prstGeom prst="rect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du  -b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8192      ./data/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proj</a:t>
            </a:r>
            <a:endParaRPr lang="en-US" sz="20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16384     ./data/dir1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49152     ./data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8192      ./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data.old</a:t>
            </a:r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/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proj</a:t>
            </a:r>
            <a:endParaRPr lang="en-US" sz="20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28672     ./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data.old</a:t>
            </a:r>
            <a:endParaRPr lang="en-US" sz="20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9015296   .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find command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8728364" cy="5714563"/>
          </a:xfrm>
        </p:spPr>
        <p:txBody>
          <a:bodyPr>
            <a:normAutofit fontScale="92500" lnSpcReduction="10000"/>
          </a:bodyPr>
          <a:lstStyle/>
          <a:p>
            <a:r>
              <a:rPr lang="en-IN" dirty="0" smtClean="0">
                <a:solidFill>
                  <a:schemeClr val="tx1"/>
                </a:solidFill>
              </a:rPr>
              <a:t>Find command is a useful file system utility to search for file meeting specific criteria.</a:t>
            </a:r>
          </a:p>
          <a:p>
            <a:endParaRPr lang="en-IN" sz="20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IN" sz="2000" b="1" dirty="0" smtClean="0">
                <a:solidFill>
                  <a:srgbClr val="0000CC"/>
                </a:solidFill>
              </a:rPr>
              <a:t>		$  find   [options]   [path...]   [expression]</a:t>
            </a:r>
          </a:p>
          <a:p>
            <a:pPr>
              <a:buNone/>
            </a:pPr>
            <a:endParaRPr lang="en-IN" sz="2000" dirty="0" smtClean="0">
              <a:solidFill>
                <a:schemeClr val="tx1"/>
              </a:solidFill>
            </a:endParaRPr>
          </a:p>
          <a:p>
            <a:r>
              <a:rPr lang="en-IN" sz="2000" dirty="0" smtClean="0">
                <a:solidFill>
                  <a:schemeClr val="tx1"/>
                </a:solidFill>
              </a:rPr>
              <a:t>Some common operations for which </a:t>
            </a:r>
            <a:r>
              <a:rPr lang="en-IN" sz="2000" b="1" dirty="0" smtClean="0">
                <a:solidFill>
                  <a:schemeClr val="tx1"/>
                </a:solidFill>
              </a:rPr>
              <a:t>find</a:t>
            </a:r>
            <a:r>
              <a:rPr lang="en-IN" sz="2000" dirty="0" smtClean="0">
                <a:solidFill>
                  <a:schemeClr val="tx1"/>
                </a:solidFill>
              </a:rPr>
              <a:t> is used include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find files specific type</a:t>
            </a:r>
          </a:p>
          <a:p>
            <a:pPr lvl="1"/>
            <a:r>
              <a:rPr lang="en-IN" sz="1800" dirty="0" smtClean="0">
                <a:solidFill>
                  <a:schemeClr val="tx1"/>
                </a:solidFill>
              </a:rPr>
              <a:t>find files whose size is either exact or specific range</a:t>
            </a:r>
          </a:p>
          <a:p>
            <a:pPr lvl="1"/>
            <a:r>
              <a:rPr lang="en-IN" sz="1800" dirty="0" smtClean="0">
                <a:solidFill>
                  <a:schemeClr val="tx1"/>
                </a:solidFill>
              </a:rPr>
              <a:t>find files newer than a specific file</a:t>
            </a:r>
          </a:p>
          <a:p>
            <a:pPr lvl="1"/>
            <a:r>
              <a:rPr lang="en-IN" sz="1800" dirty="0" smtClean="0">
                <a:solidFill>
                  <a:schemeClr val="tx1"/>
                </a:solidFill>
              </a:rPr>
              <a:t>execute a command on the files matching a criteria</a:t>
            </a:r>
          </a:p>
          <a:p>
            <a:pPr>
              <a:buNone/>
            </a:pPr>
            <a:endParaRPr lang="en-IN" sz="2000" dirty="0" smtClean="0">
              <a:solidFill>
                <a:schemeClr val="tx1"/>
              </a:solidFill>
            </a:endParaRPr>
          </a:p>
          <a:p>
            <a:r>
              <a:rPr lang="en-IN" sz="2000" dirty="0" smtClean="0">
                <a:solidFill>
                  <a:schemeClr val="tx1"/>
                </a:solidFill>
              </a:rPr>
              <a:t>By default </a:t>
            </a:r>
            <a:r>
              <a:rPr lang="en-IN" sz="2000" b="1" dirty="0" smtClean="0">
                <a:solidFill>
                  <a:schemeClr val="tx1"/>
                </a:solidFill>
              </a:rPr>
              <a:t>find</a:t>
            </a:r>
            <a:r>
              <a:rPr lang="en-IN" sz="2000" dirty="0" smtClean="0">
                <a:solidFill>
                  <a:schemeClr val="tx1"/>
                </a:solidFill>
              </a:rPr>
              <a:t> prints full pathname of each file matching the criteria on the standard output.</a:t>
            </a:r>
          </a:p>
          <a:p>
            <a:endParaRPr lang="en-IN" sz="2000" dirty="0" smtClean="0">
              <a:solidFill>
                <a:schemeClr val="tx1"/>
              </a:solidFill>
            </a:endParaRPr>
          </a:p>
          <a:p>
            <a:r>
              <a:rPr lang="en-IN" sz="2000" dirty="0" smtClean="0">
                <a:solidFill>
                  <a:schemeClr val="tx1"/>
                </a:solidFill>
              </a:rPr>
              <a:t>By default searches through all subdirectories starting from the directory specified in command.</a:t>
            </a:r>
          </a:p>
          <a:p>
            <a:pPr lvl="1"/>
            <a:r>
              <a:rPr lang="en-IN" sz="1600" dirty="0" smtClean="0">
                <a:solidFill>
                  <a:schemeClr val="tx1"/>
                </a:solidFill>
              </a:rPr>
              <a:t>It is possible to limit the depth up to which find can search</a:t>
            </a:r>
          </a:p>
          <a:p>
            <a:pPr>
              <a:buNone/>
            </a:pPr>
            <a:r>
              <a:rPr lang="en-IN" sz="2000" dirty="0" smtClean="0">
                <a:solidFill>
                  <a:schemeClr val="tx1"/>
                </a:solidFill>
              </a:rPr>
              <a:t>	</a:t>
            </a:r>
          </a:p>
          <a:p>
            <a:pPr>
              <a:buNone/>
            </a:pPr>
            <a:endParaRPr lang="en-IN" sz="2000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IN" sz="2000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IN" sz="2000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f</a:t>
            </a:r>
            <a:r>
              <a:rPr lang="en-IN" dirty="0" smtClean="0">
                <a:solidFill>
                  <a:schemeClr val="tx1"/>
                </a:solidFill>
              </a:rPr>
              <a:t>ind – examples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6"/>
            <a:ext cx="4061209" cy="1598850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tx1"/>
                </a:solidFill>
              </a:rPr>
              <a:t>Running the command without any option, lists all the files in the current and its sub-directories.</a:t>
            </a:r>
            <a:endParaRPr lang="en-IN" sz="2000" dirty="0" smtClean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49526" y="2472502"/>
            <a:ext cx="3538814" cy="4154984"/>
          </a:xfrm>
          <a:prstGeom prst="rect">
            <a:avLst/>
          </a:prstGeom>
          <a:ln w="12700">
            <a:noFill/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4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find</a:t>
            </a:r>
          </a:p>
          <a:p>
            <a:r>
              <a:rPr lang="es-E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</a:p>
          <a:p>
            <a:r>
              <a:rPr lang="es-E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./1</a:t>
            </a:r>
          </a:p>
          <a:p>
            <a:r>
              <a:rPr lang="es-E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./2</a:t>
            </a:r>
          </a:p>
          <a:p>
            <a:r>
              <a:rPr lang="es-E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./x</a:t>
            </a:r>
          </a:p>
          <a:p>
            <a:r>
              <a:rPr lang="es-E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./x/a</a:t>
            </a:r>
          </a:p>
          <a:p>
            <a:r>
              <a:rPr lang="es-E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./x/a/b</a:t>
            </a:r>
          </a:p>
          <a:p>
            <a:r>
              <a:rPr lang="es-E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./x/a/b/c</a:t>
            </a:r>
          </a:p>
          <a:p>
            <a:r>
              <a:rPr lang="es-E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./y</a:t>
            </a:r>
          </a:p>
          <a:p>
            <a:r>
              <a:rPr lang="es-E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./y/p</a:t>
            </a:r>
          </a:p>
          <a:p>
            <a:r>
              <a:rPr lang="es-E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./y/p/q</a:t>
            </a:r>
          </a:p>
          <a:p>
            <a:r>
              <a:rPr lang="es-E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./y/p/q/r</a:t>
            </a:r>
          </a:p>
          <a:p>
            <a:r>
              <a:rPr lang="es-E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</a:t>
            </a:r>
          </a:p>
        </p:txBody>
      </p:sp>
      <p:sp>
        <p:nvSpPr>
          <p:cNvPr id="7" name="Text Placeholder 7"/>
          <p:cNvSpPr txBox="1">
            <a:spLocks/>
          </p:cNvSpPr>
          <p:nvPr/>
        </p:nvSpPr>
        <p:spPr>
          <a:xfrm>
            <a:off x="4768263" y="907644"/>
            <a:ext cx="4375737" cy="2010654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Char char="•"/>
              <a:tabLst/>
              <a:defRPr/>
            </a:pPr>
            <a:r>
              <a:rPr lang="en-IN" sz="2200" b="1" i="1" dirty="0" err="1" smtClean="0">
                <a:cs typeface="Arial"/>
              </a:rPr>
              <a:t>m</a:t>
            </a:r>
            <a:r>
              <a:rPr kumimoji="0" lang="en-IN" sz="2200" b="1" i="1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axdepth</a:t>
            </a:r>
            <a:r>
              <a:rPr kumimoji="0" lang="en-IN" sz="2200" b="1" i="1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</a:t>
            </a:r>
            <a:r>
              <a:rPr kumimoji="0" lang="en-IN" sz="2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option is</a:t>
            </a:r>
            <a:r>
              <a:rPr kumimoji="0" lang="en-IN" sz="22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used to specify up to how many subdirectories find can descend, including the current directory</a:t>
            </a:r>
            <a:endParaRPr kumimoji="0" lang="en-I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018282" y="3014001"/>
            <a:ext cx="3717155" cy="2923877"/>
          </a:xfrm>
          <a:prstGeom prst="rect">
            <a:avLst/>
          </a:prstGeom>
          <a:ln w="12700">
            <a:noFill/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4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find  -</a:t>
            </a:r>
            <a:r>
              <a:rPr lang="en-US" sz="24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maxdepth</a:t>
            </a:r>
            <a:r>
              <a:rPr lang="en-US" sz="24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2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./1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./2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./x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./x/a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./y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./y/p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22988" y="3052649"/>
            <a:ext cx="2215172" cy="371475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find </a:t>
            </a:r>
            <a:r>
              <a:rPr lang="en-IN">
                <a:solidFill>
                  <a:schemeClr val="tx1"/>
                </a:solidFill>
              </a:rPr>
              <a:t>– </a:t>
            </a:r>
            <a:r>
              <a:rPr lang="en-IN"/>
              <a:t>examples (Contd.).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6"/>
            <a:ext cx="8728364" cy="642500"/>
          </a:xfrm>
        </p:spPr>
        <p:txBody>
          <a:bodyPr>
            <a:normAutofit/>
          </a:bodyPr>
          <a:lstStyle/>
          <a:p>
            <a:r>
              <a:rPr lang="en-IN" sz="2000" dirty="0" smtClean="0">
                <a:solidFill>
                  <a:schemeClr val="tx1"/>
                </a:solidFill>
              </a:rPr>
              <a:t>Remove all </a:t>
            </a:r>
            <a:r>
              <a:rPr lang="en-IN" sz="2000" b="1" dirty="0" smtClean="0">
                <a:solidFill>
                  <a:schemeClr val="tx1"/>
                </a:solidFill>
              </a:rPr>
              <a:t>.</a:t>
            </a:r>
            <a:r>
              <a:rPr lang="en-IN" sz="2000" b="1" dirty="0" err="1" smtClean="0">
                <a:solidFill>
                  <a:schemeClr val="tx1"/>
                </a:solidFill>
              </a:rPr>
              <a:t>bak</a:t>
            </a:r>
            <a:r>
              <a:rPr lang="en-IN" sz="2000" b="1" dirty="0" smtClean="0">
                <a:solidFill>
                  <a:schemeClr val="tx1"/>
                </a:solidFill>
              </a:rPr>
              <a:t> </a:t>
            </a:r>
            <a:r>
              <a:rPr lang="en-IN" sz="2000" dirty="0" smtClean="0">
                <a:solidFill>
                  <a:schemeClr val="tx1"/>
                </a:solidFill>
              </a:rPr>
              <a:t>files </a:t>
            </a:r>
          </a:p>
          <a:p>
            <a:pPr>
              <a:buNone/>
            </a:pPr>
            <a:endParaRPr lang="en-IN" sz="2000" dirty="0" smtClean="0">
              <a:solidFill>
                <a:schemeClr val="tx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74466" y="1279953"/>
            <a:ext cx="7612271" cy="400110"/>
          </a:xfrm>
          <a:prstGeom prst="rect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find . –name "*.bak" -exec </a:t>
            </a:r>
            <a:r>
              <a:rPr lang="en-US" sz="20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rm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{} \;</a:t>
            </a:r>
          </a:p>
        </p:txBody>
      </p:sp>
      <p:sp>
        <p:nvSpPr>
          <p:cNvPr id="7" name="Text Placeholder 7"/>
          <p:cNvSpPr txBox="1">
            <a:spLocks/>
          </p:cNvSpPr>
          <p:nvPr/>
        </p:nvSpPr>
        <p:spPr>
          <a:xfrm>
            <a:off x="194738" y="2250088"/>
            <a:ext cx="8728364" cy="6425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Char char="•"/>
              <a:tabLst/>
              <a:defRPr/>
            </a:pPr>
            <a:r>
              <a:rPr kumimoji="0" lang="en-I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List files which are soft links in the current and its subdirectories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9698" y="2658065"/>
            <a:ext cx="7612271" cy="461665"/>
          </a:xfrm>
          <a:prstGeom prst="rect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find .  –type </a:t>
            </a:r>
            <a:r>
              <a:rPr lang="en-US" sz="24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l</a:t>
            </a:r>
            <a:endParaRPr lang="en-US" sz="2000" b="1" dirty="0" smtClean="0">
              <a:solidFill>
                <a:srgbClr val="0000CC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12" name="Text Placeholder 7"/>
          <p:cNvSpPr txBox="1">
            <a:spLocks/>
          </p:cNvSpPr>
          <p:nvPr/>
        </p:nvSpPr>
        <p:spPr>
          <a:xfrm>
            <a:off x="187035" y="3608746"/>
            <a:ext cx="8728364" cy="6425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Char char="•"/>
              <a:tabLst/>
              <a:defRPr/>
            </a:pPr>
            <a:r>
              <a:rPr kumimoji="0" lang="en-I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Find empty regular files  in</a:t>
            </a:r>
            <a:r>
              <a:rPr kumimoji="0" lang="en-IN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the home directory and its subdirectories</a:t>
            </a:r>
            <a:endParaRPr kumimoji="0" lang="en-I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61995" y="4016723"/>
            <a:ext cx="7612271" cy="400110"/>
          </a:xfrm>
          <a:prstGeom prst="rect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find ~  –type f  -empty</a:t>
            </a:r>
          </a:p>
        </p:txBody>
      </p:sp>
      <p:sp>
        <p:nvSpPr>
          <p:cNvPr id="16" name="Text Placeholder 7"/>
          <p:cNvSpPr txBox="1">
            <a:spLocks/>
          </p:cNvSpPr>
          <p:nvPr/>
        </p:nvSpPr>
        <p:spPr>
          <a:xfrm>
            <a:off x="196555" y="5046713"/>
            <a:ext cx="8728364" cy="6425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Char char="•"/>
              <a:tabLst/>
              <a:defRPr/>
            </a:pPr>
            <a:r>
              <a:rPr kumimoji="0" lang="en-I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List other than regular files,</a:t>
            </a:r>
            <a:r>
              <a:rPr kumimoji="0" lang="en-IN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in the current directory only</a:t>
            </a:r>
            <a:endParaRPr kumimoji="0" lang="en-I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571515" y="5454690"/>
            <a:ext cx="7612271" cy="461665"/>
          </a:xfrm>
          <a:prstGeom prst="rect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find .  </a:t>
            </a:r>
            <a:r>
              <a:rPr lang="en-US" sz="24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!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–type f   -</a:t>
            </a:r>
            <a:r>
              <a:rPr lang="en-US" sz="20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maxdepth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1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03908" y="2683005"/>
            <a:ext cx="1436960" cy="449301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ounded Rectangle 19"/>
          <p:cNvSpPr/>
          <p:nvPr/>
        </p:nvSpPr>
        <p:spPr>
          <a:xfrm>
            <a:off x="2109481" y="4027343"/>
            <a:ext cx="2605087" cy="390525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4138613" y="1295400"/>
            <a:ext cx="2347912" cy="361950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ounded Rectangle 22"/>
          <p:cNvSpPr/>
          <p:nvPr/>
        </p:nvSpPr>
        <p:spPr>
          <a:xfrm>
            <a:off x="1995996" y="5513764"/>
            <a:ext cx="1836702" cy="381198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find </a:t>
            </a:r>
            <a:r>
              <a:rPr lang="en-IN">
                <a:solidFill>
                  <a:schemeClr val="tx1"/>
                </a:solidFill>
              </a:rPr>
              <a:t>– </a:t>
            </a:r>
            <a:r>
              <a:rPr lang="en-IN"/>
              <a:t>examples (Contd.). 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6"/>
            <a:ext cx="8728364" cy="642500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en-IN" sz="2000" dirty="0" smtClean="0">
                <a:solidFill>
                  <a:schemeClr val="tx1"/>
                </a:solidFill>
              </a:rPr>
              <a:t>List  regular files whose size is not more than 5000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4466" y="1279953"/>
            <a:ext cx="8569534" cy="400110"/>
          </a:xfrm>
          <a:prstGeom prst="rect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find . –type f –size -5000c –exec </a:t>
            </a:r>
            <a:r>
              <a:rPr lang="en-US" sz="20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ls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{} \;</a:t>
            </a:r>
          </a:p>
        </p:txBody>
      </p:sp>
      <p:sp>
        <p:nvSpPr>
          <p:cNvPr id="18" name="Text Placeholder 7"/>
          <p:cNvSpPr txBox="1">
            <a:spLocks/>
          </p:cNvSpPr>
          <p:nvPr/>
        </p:nvSpPr>
        <p:spPr>
          <a:xfrm>
            <a:off x="200032" y="2165885"/>
            <a:ext cx="8728364" cy="6425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Char char="•"/>
              <a:tabLst/>
              <a:defRPr/>
            </a:pPr>
            <a:r>
              <a:rPr kumimoji="0" lang="en-I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List  regular files which</a:t>
            </a:r>
            <a:r>
              <a:rPr kumimoji="0" lang="en-IN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are larger than 1000 bytes</a:t>
            </a:r>
            <a:endParaRPr kumimoji="0" lang="en-I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74992" y="2573862"/>
            <a:ext cx="7612271" cy="400110"/>
          </a:xfrm>
          <a:prstGeom prst="rect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find . –type f  -size +1000c –exec </a:t>
            </a:r>
            <a:r>
              <a:rPr lang="en-US" sz="20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ls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{} \;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62314" y="2584449"/>
            <a:ext cx="2095499" cy="366712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7"/>
          <p:cNvSpPr txBox="1">
            <a:spLocks/>
          </p:cNvSpPr>
          <p:nvPr/>
        </p:nvSpPr>
        <p:spPr>
          <a:xfrm>
            <a:off x="196792" y="3427220"/>
            <a:ext cx="8728364" cy="6425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Char char="•"/>
              <a:tabLst/>
              <a:defRPr/>
            </a:pPr>
            <a:r>
              <a:rPr kumimoji="0" lang="en-I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List  files with specific</a:t>
            </a:r>
            <a:r>
              <a:rPr kumimoji="0" lang="en-IN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</a:t>
            </a:r>
            <a:r>
              <a:rPr kumimoji="0" lang="en-IN" sz="2000" b="0" i="0" u="none" strike="noStrike" kern="1200" cap="none" spc="0" normalizeH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inode</a:t>
            </a:r>
            <a:r>
              <a:rPr kumimoji="0" lang="en-IN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number</a:t>
            </a:r>
            <a:endParaRPr kumimoji="0" lang="en-I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71752" y="3835197"/>
            <a:ext cx="7612271" cy="400110"/>
          </a:xfrm>
          <a:prstGeom prst="rect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find .  –</a:t>
            </a:r>
            <a:r>
              <a:rPr lang="en-US" sz="20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inum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 162257 –exec </a:t>
            </a:r>
            <a:r>
              <a:rPr lang="en-US" sz="20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ls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–</a:t>
            </a:r>
            <a:r>
              <a:rPr lang="en-US" sz="20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li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{} \;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75023" y="3884695"/>
            <a:ext cx="2285692" cy="337108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 Placeholder 7"/>
          <p:cNvSpPr txBox="1">
            <a:spLocks/>
          </p:cNvSpPr>
          <p:nvPr/>
        </p:nvSpPr>
        <p:spPr>
          <a:xfrm>
            <a:off x="193552" y="4766375"/>
            <a:ext cx="8728364" cy="6425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Char char="•"/>
              <a:tabLst/>
              <a:defRPr/>
            </a:pPr>
            <a:r>
              <a:rPr kumimoji="0" lang="en-I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List the</a:t>
            </a:r>
            <a:r>
              <a:rPr kumimoji="0" lang="en-IN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</a:t>
            </a:r>
            <a:r>
              <a:rPr kumimoji="0" lang="en-IN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files in /etc</a:t>
            </a:r>
            <a:r>
              <a:rPr kumimoji="0" lang="en-IN" sz="2000" b="0" i="0" u="none" strike="noStrike" kern="1200" cap="none" spc="0" normalizeH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 which are set with permissions 0600 (octal)</a:t>
            </a:r>
            <a:endParaRPr kumimoji="0" lang="en-IN" sz="20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68512" y="5174352"/>
            <a:ext cx="7612271" cy="400110"/>
          </a:xfrm>
          <a:prstGeom prst="rect">
            <a:avLst/>
          </a:prstGeom>
          <a:ln w="12700">
            <a:solidFill>
              <a:schemeClr val="bg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find . /etc -perm 0600 –exec </a:t>
            </a:r>
            <a:r>
              <a:rPr lang="en-US" sz="20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ls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–</a:t>
            </a:r>
            <a:r>
              <a:rPr lang="en-US" sz="20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li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 {} \;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971782" y="5223850"/>
            <a:ext cx="2483485" cy="320916"/>
          </a:xfrm>
          <a:prstGeom prst="round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600495" y="2745802"/>
            <a:ext cx="8189231" cy="62388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vi Editor</a:t>
            </a:r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vi Editor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268778" y="858119"/>
            <a:ext cx="8728364" cy="5386586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tx1"/>
                </a:solidFill>
              </a:rPr>
              <a:t>Unix has two popular editors – </a:t>
            </a:r>
            <a:r>
              <a:rPr lang="en-IN" b="1" dirty="0" smtClean="0">
                <a:solidFill>
                  <a:srgbClr val="0000CC"/>
                </a:solidFill>
              </a:rPr>
              <a:t>vi</a:t>
            </a:r>
            <a:r>
              <a:rPr lang="en-IN" dirty="0" smtClean="0">
                <a:solidFill>
                  <a:schemeClr val="tx1"/>
                </a:solidFill>
              </a:rPr>
              <a:t> and </a:t>
            </a:r>
            <a:r>
              <a:rPr lang="en-IN" b="1" dirty="0" err="1" smtClean="0">
                <a:solidFill>
                  <a:srgbClr val="0000CC"/>
                </a:solidFill>
              </a:rPr>
              <a:t>emacs</a:t>
            </a:r>
            <a:r>
              <a:rPr lang="en-IN" b="1" dirty="0" smtClean="0">
                <a:solidFill>
                  <a:schemeClr val="tx1"/>
                </a:solidFill>
              </a:rPr>
              <a:t>.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This course focuses on how to use vi editor.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vi stands for visual editor.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At any point of time vi session is in one of the two modes </a:t>
            </a:r>
          </a:p>
          <a:p>
            <a:pPr lvl="1">
              <a:buFontTx/>
              <a:buChar char="-"/>
            </a:pPr>
            <a:r>
              <a:rPr lang="en-IN" sz="2000" dirty="0" smtClean="0">
                <a:solidFill>
                  <a:schemeClr val="tx1"/>
                </a:solidFill>
              </a:rPr>
              <a:t>Command mode  (default mode)</a:t>
            </a:r>
          </a:p>
          <a:p>
            <a:pPr lvl="2">
              <a:buFontTx/>
              <a:buChar char="-"/>
            </a:pPr>
            <a:r>
              <a:rPr lang="en-IN" sz="1800" dirty="0" smtClean="0">
                <a:solidFill>
                  <a:schemeClr val="tx1"/>
                </a:solidFill>
              </a:rPr>
              <a:t>Keystrokes are considered as commands</a:t>
            </a:r>
          </a:p>
          <a:p>
            <a:pPr lvl="1">
              <a:buFontTx/>
              <a:buChar char="-"/>
            </a:pPr>
            <a:r>
              <a:rPr lang="en-IN" sz="2000" dirty="0" smtClean="0">
                <a:solidFill>
                  <a:schemeClr val="tx1"/>
                </a:solidFill>
              </a:rPr>
              <a:t>Insert  mode</a:t>
            </a:r>
          </a:p>
          <a:p>
            <a:pPr lvl="2">
              <a:buFontTx/>
              <a:buChar char="-"/>
            </a:pPr>
            <a:r>
              <a:rPr lang="en-IN" sz="1800" dirty="0" smtClean="0">
                <a:solidFill>
                  <a:schemeClr val="tx1"/>
                </a:solidFill>
              </a:rPr>
              <a:t>Keystrokes are considered as text of the file being edited</a:t>
            </a:r>
            <a:endParaRPr lang="en-IN" dirty="0" smtClean="0">
              <a:solidFill>
                <a:schemeClr val="tx1"/>
              </a:solidFill>
            </a:endParaRPr>
          </a:p>
          <a:p>
            <a:pPr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</a:rPr>
              <a:t>To exit insert mode press the           key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Vi commands are case-sensitive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Broad classification of commands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Basic commands</a:t>
            </a:r>
          </a:p>
          <a:p>
            <a:pPr lvl="1"/>
            <a:r>
              <a:rPr lang="en-IN" dirty="0" smtClean="0">
                <a:solidFill>
                  <a:schemeClr val="tx1"/>
                </a:solidFill>
              </a:rPr>
              <a:t>Edit commands</a:t>
            </a:r>
          </a:p>
          <a:p>
            <a:pPr lvl="1"/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4284880" y="3950261"/>
            <a:ext cx="676893" cy="34438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0" tIns="0" rIns="0" bIns="0" rtlCol="0" anchor="ctr"/>
          <a:lstStyle/>
          <a:p>
            <a:pPr algn="ctr"/>
            <a:r>
              <a:rPr lang="en-US" dirty="0" smtClean="0"/>
              <a:t>ESC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smtClean="0"/>
              <a:t>vi Editor </a:t>
            </a:r>
            <a:r>
              <a:rPr lang="en-IN"/>
              <a:t>(Contd.).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5101543" cy="5747190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tx1"/>
                </a:solidFill>
              </a:rPr>
              <a:t>Opening a file with vi editor</a:t>
            </a:r>
          </a:p>
          <a:p>
            <a:pPr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en-IN" sz="2000" b="1" dirty="0" smtClean="0">
                <a:solidFill>
                  <a:srgbClr val="0000CC"/>
                </a:solidFill>
              </a:rPr>
              <a:t>     $    vi    sample</a:t>
            </a:r>
          </a:p>
          <a:p>
            <a:pPr lvl="1"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r>
              <a:rPr lang="en-IN" dirty="0" smtClean="0">
                <a:solidFill>
                  <a:schemeClr val="tx1"/>
                </a:solidFill>
              </a:rPr>
              <a:t>Pressing key </a:t>
            </a:r>
            <a:r>
              <a:rPr lang="en-IN" sz="2400" b="1" dirty="0" smtClean="0">
                <a:solidFill>
                  <a:srgbClr val="0000CC"/>
                </a:solidFill>
              </a:rPr>
              <a:t>“</a:t>
            </a:r>
            <a:r>
              <a:rPr lang="en-IN" sz="2400" b="1" dirty="0" err="1" smtClean="0">
                <a:solidFill>
                  <a:srgbClr val="0000CC"/>
                </a:solidFill>
              </a:rPr>
              <a:t>i</a:t>
            </a:r>
            <a:r>
              <a:rPr lang="en-IN" sz="2400" b="1" dirty="0" smtClean="0">
                <a:solidFill>
                  <a:srgbClr val="0000CC"/>
                </a:solidFill>
              </a:rPr>
              <a:t>”</a:t>
            </a:r>
            <a:r>
              <a:rPr lang="en-IN" dirty="0" smtClean="0">
                <a:solidFill>
                  <a:schemeClr val="tx1"/>
                </a:solidFill>
              </a:rPr>
              <a:t> puts the editor in insert mode. The status line reflects the same, as seen in the adjoining screenshot.</a:t>
            </a:r>
          </a:p>
          <a:p>
            <a:pPr>
              <a:buNone/>
            </a:pPr>
            <a:endParaRPr lang="en-IN" dirty="0" smtClean="0">
              <a:solidFill>
                <a:schemeClr val="tx1"/>
              </a:solidFill>
            </a:endParaRPr>
          </a:p>
          <a:p>
            <a:r>
              <a:rPr lang="en-IN" dirty="0" smtClean="0">
                <a:solidFill>
                  <a:schemeClr val="tx1"/>
                </a:solidFill>
              </a:rPr>
              <a:t>Closing a file with vi editor</a:t>
            </a:r>
          </a:p>
          <a:p>
            <a:endParaRPr lang="en-IN" sz="1200" dirty="0" smtClean="0">
              <a:solidFill>
                <a:schemeClr val="tx1"/>
              </a:solidFill>
            </a:endParaRPr>
          </a:p>
          <a:p>
            <a:pPr>
              <a:buNone/>
            </a:pPr>
            <a:r>
              <a:rPr lang="en-IN" sz="1800" dirty="0" smtClean="0">
                <a:solidFill>
                  <a:schemeClr val="tx1"/>
                </a:solidFill>
              </a:rPr>
              <a:t>    Press [ESC] key to get into command mode, and then enter </a:t>
            </a:r>
          </a:p>
          <a:p>
            <a:pPr>
              <a:buNone/>
            </a:pPr>
            <a:r>
              <a:rPr lang="en-IN" dirty="0" smtClean="0">
                <a:solidFill>
                  <a:schemeClr val="tx1"/>
                </a:solidFill>
              </a:rPr>
              <a:t>		      </a:t>
            </a:r>
            <a:r>
              <a:rPr lang="en-IN" dirty="0" smtClean="0">
                <a:solidFill>
                  <a:srgbClr val="0000CC"/>
                </a:solidFill>
              </a:rPr>
              <a:t>:q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404514" y="876548"/>
            <a:ext cx="3398574" cy="2564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459106" y="3762120"/>
            <a:ext cx="3425588" cy="2575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9" name="Straight Arrow Connector 8"/>
          <p:cNvCxnSpPr/>
          <p:nvPr/>
        </p:nvCxnSpPr>
        <p:spPr>
          <a:xfrm>
            <a:off x="4189863" y="3575713"/>
            <a:ext cx="1214650" cy="9144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291840" y="1849120"/>
            <a:ext cx="2071730" cy="6978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/>
              <a:t>v</a:t>
            </a:r>
            <a:r>
              <a:rPr lang="en-IN" dirty="0" smtClean="0"/>
              <a:t>i commands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5"/>
            <a:ext cx="5101543" cy="474912"/>
          </a:xfrm>
        </p:spPr>
        <p:txBody>
          <a:bodyPr/>
          <a:lstStyle/>
          <a:p>
            <a:r>
              <a:rPr lang="en-IN" dirty="0" smtClean="0"/>
              <a:t>Save &amp; quit</a:t>
            </a:r>
          </a:p>
          <a:p>
            <a:pPr>
              <a:buFontTx/>
              <a:buChar char="-"/>
            </a:pPr>
            <a:endParaRPr lang="en-IN" dirty="0" smtClean="0"/>
          </a:p>
          <a:p>
            <a:pPr lvl="1"/>
            <a:endParaRPr lang="en-IN" dirty="0" smtClean="0"/>
          </a:p>
          <a:p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1093" y="1413150"/>
          <a:ext cx="8005707" cy="381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4593"/>
                <a:gridCol w="1396314"/>
                <a:gridCol w="4114800"/>
              </a:tblGrid>
              <a:tr h="428002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Purpose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vi </a:t>
                      </a:r>
                    </a:p>
                    <a:p>
                      <a:r>
                        <a:rPr lang="en-US" sz="2000" dirty="0" smtClean="0"/>
                        <a:t>command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Remarks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Save</a:t>
                      </a:r>
                      <a:r>
                        <a:rPr lang="en-US" sz="2000" baseline="0" dirty="0" smtClean="0"/>
                        <a:t> file &amp; continue editing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:w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Saves the file and remains in edit mode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Save</a:t>
                      </a:r>
                      <a:r>
                        <a:rPr lang="en-US" sz="2000" baseline="0" dirty="0" smtClean="0"/>
                        <a:t> file &amp; exit vi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:</a:t>
                      </a:r>
                      <a:r>
                        <a:rPr lang="en-US" sz="2000" dirty="0" err="1" smtClean="0"/>
                        <a:t>wq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Saves the file and quits the</a:t>
                      </a:r>
                      <a:r>
                        <a:rPr lang="en-US" sz="2000" baseline="0" dirty="0" smtClean="0"/>
                        <a:t> editor</a:t>
                      </a:r>
                      <a:endParaRPr lang="en-US" sz="20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Quit 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:q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If no changes since the last save,</a:t>
                      </a:r>
                      <a:r>
                        <a:rPr lang="en-US" sz="2000" baseline="0" dirty="0" smtClean="0"/>
                        <a:t> simply closes vi; otherwise  prompts if file is to be saved</a:t>
                      </a:r>
                      <a:endParaRPr lang="en-US" sz="20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Quit vi, without saving last changes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:q!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/>
                        <a:t>If no changes since the last save,</a:t>
                      </a:r>
                      <a:r>
                        <a:rPr lang="en-US" sz="2000" baseline="0" dirty="0" smtClean="0"/>
                        <a:t> simply closes vi; discards all the changes, if any since last save.</a:t>
                      </a:r>
                      <a:endParaRPr lang="en-US" sz="2000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/>
              <a:t>v</a:t>
            </a:r>
            <a:r>
              <a:rPr lang="en-IN" smtClean="0"/>
              <a:t>i commands </a:t>
            </a:r>
            <a:r>
              <a:rPr lang="en-IN"/>
              <a:t>(Contd.).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5"/>
            <a:ext cx="5101543" cy="474912"/>
          </a:xfrm>
        </p:spPr>
        <p:txBody>
          <a:bodyPr/>
          <a:lstStyle/>
          <a:p>
            <a:r>
              <a:rPr lang="en-IN" dirty="0" smtClean="0"/>
              <a:t>Cursor movement</a:t>
            </a:r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45989" y="1413150"/>
          <a:ext cx="8600303" cy="3688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9514"/>
                <a:gridCol w="1421027"/>
                <a:gridCol w="3039762"/>
              </a:tblGrid>
              <a:tr h="428002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Purpose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vi </a:t>
                      </a:r>
                    </a:p>
                    <a:p>
                      <a:r>
                        <a:rPr lang="en-US" sz="2000" dirty="0" smtClean="0"/>
                        <a:t>command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Remarks</a:t>
                      </a:r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Move left by one character</a:t>
                      </a:r>
                      <a:r>
                        <a:rPr lang="en-US" sz="2000" baseline="0" dirty="0" smtClean="0"/>
                        <a:t> position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h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Move down by one line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j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Move</a:t>
                      </a:r>
                      <a:r>
                        <a:rPr lang="en-US" sz="2000" baseline="0" dirty="0" smtClean="0"/>
                        <a:t> up by one line</a:t>
                      </a:r>
                      <a:endParaRPr lang="en-US" sz="2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k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Move right by one character position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Move to the beginning</a:t>
                      </a:r>
                      <a:r>
                        <a:rPr lang="en-US" sz="2000" baseline="0" dirty="0" smtClean="0"/>
                        <a:t> of next word</a:t>
                      </a:r>
                      <a:endParaRPr lang="en-US" sz="2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w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Move to the beginning</a:t>
                      </a:r>
                      <a:r>
                        <a:rPr lang="en-US" sz="2000" baseline="0" dirty="0" smtClean="0"/>
                        <a:t> of previous word</a:t>
                      </a:r>
                      <a:endParaRPr lang="en-US" sz="20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B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/>
              <a:t>v</a:t>
            </a:r>
            <a:r>
              <a:rPr lang="en-IN" smtClean="0"/>
              <a:t>i commands </a:t>
            </a:r>
            <a:r>
              <a:rPr lang="en-IN"/>
              <a:t>(Contd.).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5"/>
            <a:ext cx="5101543" cy="474912"/>
          </a:xfrm>
        </p:spPr>
        <p:txBody>
          <a:bodyPr/>
          <a:lstStyle/>
          <a:p>
            <a:r>
              <a:rPr lang="en-IN" dirty="0" smtClean="0"/>
              <a:t>insertions</a:t>
            </a:r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59493" y="1413150"/>
          <a:ext cx="8711512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14524"/>
                <a:gridCol w="1519416"/>
                <a:gridCol w="4477572"/>
              </a:tblGrid>
              <a:tr h="428002">
                <a:tc>
                  <a:txBody>
                    <a:bodyPr/>
                    <a:lstStyle/>
                    <a:p>
                      <a:r>
                        <a:rPr lang="en-US" dirty="0" smtClean="0"/>
                        <a:t>Purpose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vi </a:t>
                      </a:r>
                    </a:p>
                    <a:p>
                      <a:r>
                        <a:rPr lang="en-US" dirty="0" smtClean="0"/>
                        <a:t>Command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Remarks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Insert</a:t>
                      </a:r>
                      <a:r>
                        <a:rPr lang="en-US" baseline="0" dirty="0" smtClean="0"/>
                        <a:t> text at cursor position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Insert</a:t>
                      </a:r>
                      <a:r>
                        <a:rPr lang="en-US" baseline="0" dirty="0" smtClean="0"/>
                        <a:t> new line, below the current 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Inserts</a:t>
                      </a:r>
                      <a:r>
                        <a:rPr lang="en-US" baseline="0" dirty="0" smtClean="0"/>
                        <a:t> one new line above the current line, and cursor at the start of new line</a:t>
                      </a: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Insert</a:t>
                      </a:r>
                      <a:r>
                        <a:rPr lang="en-US" baseline="0" dirty="0" smtClean="0"/>
                        <a:t> new line, below the current 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O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Inserts</a:t>
                      </a:r>
                      <a:r>
                        <a:rPr lang="en-US" baseline="0" dirty="0" smtClean="0"/>
                        <a:t> one new line after the current line, and cursor at the start of new line</a:t>
                      </a: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Append text to the current 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Positions cursor</a:t>
                      </a:r>
                      <a:r>
                        <a:rPr lang="en-US" baseline="0" dirty="0" smtClean="0"/>
                        <a:t> at the end of the line, and leaves in insert mode</a:t>
                      </a: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Insert text at the beginning of the line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I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Positions cursor</a:t>
                      </a:r>
                      <a:r>
                        <a:rPr lang="en-US" baseline="0" dirty="0" smtClean="0"/>
                        <a:t> at the beginning of the line, and leaves in insert mode</a:t>
                      </a: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Delete character</a:t>
                      </a:r>
                      <a:r>
                        <a:rPr lang="en-US" baseline="0" dirty="0" smtClean="0"/>
                        <a:t> &amp; s</a:t>
                      </a:r>
                      <a:r>
                        <a:rPr lang="en-US" dirty="0" smtClean="0"/>
                        <a:t>ubstitute</a:t>
                      </a:r>
                      <a:r>
                        <a:rPr lang="en-US" baseline="0" dirty="0" smtClean="0"/>
                        <a:t> text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Delete line </a:t>
                      </a:r>
                      <a:r>
                        <a:rPr lang="en-US" baseline="0" dirty="0" smtClean="0"/>
                        <a:t>&amp; s</a:t>
                      </a:r>
                      <a:r>
                        <a:rPr lang="en-US" dirty="0" smtClean="0"/>
                        <a:t>ubstitute</a:t>
                      </a:r>
                      <a:r>
                        <a:rPr lang="en-US" baseline="0" dirty="0" smtClean="0"/>
                        <a:t> text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/>
              <a:t>v</a:t>
            </a:r>
            <a:r>
              <a:rPr lang="en-IN" smtClean="0"/>
              <a:t>i commands </a:t>
            </a:r>
            <a:r>
              <a:rPr lang="en-IN"/>
              <a:t>(Contd.).</a:t>
            </a:r>
            <a:endParaRPr lang="en-IN" dirty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5"/>
            <a:ext cx="5101543" cy="474912"/>
          </a:xfrm>
        </p:spPr>
        <p:txBody>
          <a:bodyPr/>
          <a:lstStyle/>
          <a:p>
            <a:r>
              <a:rPr lang="en-IN" dirty="0" smtClean="0"/>
              <a:t>Delete, copy &amp; paste</a:t>
            </a:r>
            <a:endParaRPr lang="en-IN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47135" y="1413150"/>
          <a:ext cx="8711514" cy="4683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60833"/>
                <a:gridCol w="1640432"/>
                <a:gridCol w="2810249"/>
              </a:tblGrid>
              <a:tr h="428002">
                <a:tc>
                  <a:txBody>
                    <a:bodyPr/>
                    <a:lstStyle/>
                    <a:p>
                      <a:r>
                        <a:rPr lang="en-US" dirty="0" smtClean="0"/>
                        <a:t>Purpose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vi </a:t>
                      </a:r>
                    </a:p>
                    <a:p>
                      <a:r>
                        <a:rPr lang="en-US" dirty="0" smtClean="0"/>
                        <a:t>command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Remarks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Delete character</a:t>
                      </a:r>
                      <a:r>
                        <a:rPr lang="en-US" baseline="0" dirty="0" smtClean="0"/>
                        <a:t> at cursor position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Delete character</a:t>
                      </a:r>
                      <a:r>
                        <a:rPr lang="en-US" baseline="0" dirty="0" smtClean="0"/>
                        <a:t>  before the cursor position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Delete from cursor position till the end of word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dw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Delete entire line</a:t>
                      </a:r>
                      <a:r>
                        <a:rPr lang="en-US" baseline="0" dirty="0"/>
                        <a:t> </a:t>
                      </a:r>
                      <a:r>
                        <a:rPr lang="en-US" baseline="0" dirty="0" smtClean="0"/>
                        <a:t>where cursor is positioned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dd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Delete from cursor position</a:t>
                      </a:r>
                      <a:r>
                        <a:rPr lang="en-US" baseline="0" dirty="0" smtClean="0"/>
                        <a:t> to end of line</a:t>
                      </a:r>
                      <a:endParaRPr lang="en-US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D   (or)</a:t>
                      </a:r>
                      <a:r>
                        <a:rPr lang="en-US" baseline="0" dirty="0" smtClean="0"/>
                        <a:t>  d$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Paste text</a:t>
                      </a:r>
                      <a:r>
                        <a:rPr lang="en-US" baseline="0" dirty="0" smtClean="0"/>
                        <a:t> after the cursor position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Paste text</a:t>
                      </a:r>
                      <a:r>
                        <a:rPr lang="en-US" baseline="0" dirty="0" smtClean="0"/>
                        <a:t> before the cursor position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Copy the line where cursor is positioned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yy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smtClean="0"/>
                        <a:t>Line is now in the buffer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/>
              <a:t>v</a:t>
            </a:r>
            <a:r>
              <a:rPr lang="en-IN" smtClean="0"/>
              <a:t>i commands </a:t>
            </a:r>
            <a:r>
              <a:rPr lang="en-IN"/>
              <a:t>(Contd.).</a:t>
            </a:r>
            <a:endParaRPr lang="en-IN" dirty="0"/>
          </a:p>
        </p:txBody>
      </p:sp>
      <p:sp>
        <p:nvSpPr>
          <p:cNvPr id="6" name="Text Placeholder 7"/>
          <p:cNvSpPr txBox="1">
            <a:spLocks/>
          </p:cNvSpPr>
          <p:nvPr/>
        </p:nvSpPr>
        <p:spPr>
          <a:xfrm>
            <a:off x="201594" y="819499"/>
            <a:ext cx="5101543" cy="474912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31775" marR="0" lvl="0" indent="-231775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70C0"/>
              </a:buClr>
              <a:buSzTx/>
              <a:buFont typeface="Arial"/>
              <a:buChar char="•"/>
              <a:tabLst/>
              <a:defRPr/>
            </a:pPr>
            <a:r>
              <a:rPr kumimoji="0" lang="en-IN" sz="2200" b="0" i="0" u="none" strike="noStrike" kern="1200" cap="none" spc="0" normalizeH="0" baseline="0" noProof="0" dirty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+mn-lt"/>
                <a:ea typeface="+mn-ea"/>
                <a:cs typeface="Arial"/>
              </a:rPr>
              <a:t>Search &amp; replace</a:t>
            </a:r>
            <a:endParaRPr kumimoji="0" lang="en-IN" sz="2200" b="0" i="0" u="none" strike="noStrike" kern="120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+mn-lt"/>
              <a:ea typeface="+mn-ea"/>
              <a:cs typeface="Arial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83181" y="1340354"/>
          <a:ext cx="8005707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5621"/>
                <a:gridCol w="2208398"/>
                <a:gridCol w="1881688"/>
              </a:tblGrid>
              <a:tr h="428002">
                <a:tc>
                  <a:txBody>
                    <a:bodyPr/>
                    <a:lstStyle/>
                    <a:p>
                      <a:r>
                        <a:rPr lang="en-US" dirty="0" smtClean="0"/>
                        <a:t>Purpose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vi </a:t>
                      </a:r>
                    </a:p>
                    <a:p>
                      <a:r>
                        <a:rPr lang="en-US" dirty="0" smtClean="0"/>
                        <a:t>command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Remarks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Search string forward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/pattern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Search string backward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?pattern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Find next occurrence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Find previous occurrence 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N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Replace </a:t>
                      </a:r>
                      <a:r>
                        <a:rPr lang="en-US" sz="2000" b="1" i="1" dirty="0" smtClean="0"/>
                        <a:t>str1</a:t>
                      </a:r>
                      <a:r>
                        <a:rPr lang="en-US" sz="2000" dirty="0" smtClean="0"/>
                        <a:t> with </a:t>
                      </a:r>
                      <a:r>
                        <a:rPr lang="en-US" sz="2000" b="1" i="1" dirty="0" smtClean="0"/>
                        <a:t>str2</a:t>
                      </a:r>
                      <a:r>
                        <a:rPr lang="en-US" sz="2000" dirty="0" smtClean="0"/>
                        <a:t> between lines </a:t>
                      </a:r>
                      <a:r>
                        <a:rPr lang="en-US" sz="2000" b="1" i="1" dirty="0" smtClean="0"/>
                        <a:t>n</a:t>
                      </a:r>
                      <a:r>
                        <a:rPr lang="en-US" sz="2000" dirty="0" smtClean="0"/>
                        <a:t> and </a:t>
                      </a:r>
                      <a:r>
                        <a:rPr lang="en-US" sz="2000" b="1" i="1" dirty="0" smtClean="0"/>
                        <a:t>m</a:t>
                      </a:r>
                      <a:endParaRPr lang="en-US" sz="2000" b="1" i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/>
                        <a:t>:</a:t>
                      </a:r>
                      <a:r>
                        <a:rPr lang="en-US" sz="2000" dirty="0" err="1" smtClean="0"/>
                        <a:t>n,ms</a:t>
                      </a:r>
                      <a:r>
                        <a:rPr lang="en-US" sz="2000" dirty="0" smtClean="0"/>
                        <a:t>/str1/str2/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2000" dirty="0" smtClean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4367015"/>
            <a:ext cx="5101543" cy="474912"/>
          </a:xfrm>
        </p:spPr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Miscellaneous</a:t>
            </a: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1093" y="4847230"/>
          <a:ext cx="8005707" cy="138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15621"/>
                <a:gridCol w="2190166"/>
                <a:gridCol w="1899920"/>
              </a:tblGrid>
              <a:tr h="428002">
                <a:tc>
                  <a:txBody>
                    <a:bodyPr/>
                    <a:lstStyle/>
                    <a:p>
                      <a:r>
                        <a:rPr lang="en-US" dirty="0" smtClean="0"/>
                        <a:t>Purpose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vi </a:t>
                      </a:r>
                    </a:p>
                    <a:p>
                      <a:r>
                        <a:rPr lang="en-US" dirty="0" smtClean="0"/>
                        <a:t>command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Remarks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Repeat the last command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Undo the last</a:t>
                      </a:r>
                      <a:r>
                        <a:rPr lang="en-US" baseline="0" dirty="0" smtClean="0">
                          <a:solidFill>
                            <a:schemeClr val="tx1"/>
                          </a:solidFill>
                        </a:rPr>
                        <a:t> command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u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Configuring vi editor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199506" y="871974"/>
            <a:ext cx="5833159" cy="2168109"/>
          </a:xfrm>
        </p:spPr>
        <p:txBody>
          <a:bodyPr>
            <a:normAutofit/>
          </a:bodyPr>
          <a:lstStyle/>
          <a:p>
            <a:r>
              <a:rPr lang="en-IN" dirty="0" smtClean="0">
                <a:solidFill>
                  <a:schemeClr val="tx1"/>
                </a:solidFill>
              </a:rPr>
              <a:t>It is possible to configure vi editor to suite different needs.</a:t>
            </a:r>
          </a:p>
          <a:p>
            <a:r>
              <a:rPr lang="en-IN" dirty="0" smtClean="0">
                <a:solidFill>
                  <a:schemeClr val="tx1"/>
                </a:solidFill>
              </a:rPr>
              <a:t>The file </a:t>
            </a:r>
            <a:r>
              <a:rPr lang="en-IN" b="1" dirty="0" smtClean="0">
                <a:solidFill>
                  <a:srgbClr val="0000CC"/>
                </a:solidFill>
              </a:rPr>
              <a:t>.</a:t>
            </a:r>
            <a:r>
              <a:rPr lang="en-IN" b="1" dirty="0" err="1" smtClean="0">
                <a:solidFill>
                  <a:srgbClr val="0000CC"/>
                </a:solidFill>
              </a:rPr>
              <a:t>exrc</a:t>
            </a:r>
            <a:r>
              <a:rPr lang="en-IN" b="1" dirty="0" smtClean="0">
                <a:solidFill>
                  <a:srgbClr val="0000CC"/>
                </a:solidFill>
              </a:rPr>
              <a:t> </a:t>
            </a:r>
            <a:r>
              <a:rPr lang="en-IN" dirty="0" smtClean="0">
                <a:solidFill>
                  <a:schemeClr val="tx1"/>
                </a:solidFill>
              </a:rPr>
              <a:t>in the home directory of a user holds the configuration settings.</a:t>
            </a:r>
          </a:p>
          <a:p>
            <a:pPr lvl="1">
              <a:buFontTx/>
              <a:buChar char="-"/>
            </a:pPr>
            <a:r>
              <a:rPr lang="en-IN" dirty="0" smtClean="0">
                <a:solidFill>
                  <a:schemeClr val="tx1"/>
                </a:solidFill>
              </a:rPr>
              <a:t>One has to create the file with appropriate entries, if it does not exist</a:t>
            </a:r>
          </a:p>
          <a:p>
            <a:pPr lvl="1">
              <a:buNone/>
            </a:pPr>
            <a:endParaRPr lang="en-IN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37509" y="3203332"/>
          <a:ext cx="8621484" cy="2438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0777"/>
                <a:gridCol w="2200427"/>
                <a:gridCol w="4070280"/>
              </a:tblGrid>
              <a:tr h="428002">
                <a:tc>
                  <a:txBody>
                    <a:bodyPr/>
                    <a:lstStyle/>
                    <a:p>
                      <a:r>
                        <a:rPr lang="en-US" dirty="0" smtClean="0"/>
                        <a:t>Purpose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 Example </a:t>
                      </a:r>
                    </a:p>
                    <a:p>
                      <a:r>
                        <a:rPr lang="en-US" dirty="0" smtClean="0"/>
                        <a:t>command in .</a:t>
                      </a:r>
                      <a:r>
                        <a:rPr lang="en-US" dirty="0" err="1" smtClean="0"/>
                        <a:t>exrc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Remarks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Show line numbers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set  nu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Shows line number for each line.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Set tab stop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set  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tabstop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=4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Set every 4</a:t>
                      </a:r>
                      <a:r>
                        <a:rPr lang="en-US" sz="2000" baseline="30000" dirty="0" smtClean="0">
                          <a:solidFill>
                            <a:schemeClr val="tx1"/>
                          </a:solidFill>
                        </a:rPr>
                        <a:t>th</a:t>
                      </a: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 pos as a tab stop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Auto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indentation</a:t>
                      </a:r>
                      <a:endParaRPr lang="en-US" sz="20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set  </a:t>
                      </a:r>
                      <a:r>
                        <a:rPr lang="en-US" sz="2000" dirty="0" err="1" smtClean="0">
                          <a:solidFill>
                            <a:schemeClr val="tx1"/>
                          </a:solidFill>
                        </a:rPr>
                        <a:t>ai</a:t>
                      </a:r>
                      <a:endParaRPr 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 smtClean="0">
                          <a:solidFill>
                            <a:schemeClr val="tx1"/>
                          </a:solidFill>
                        </a:rPr>
                        <a:t>Auto indents subsequent</a:t>
                      </a:r>
                      <a:r>
                        <a:rPr lang="en-US" sz="2000" baseline="0" dirty="0" smtClean="0">
                          <a:solidFill>
                            <a:schemeClr val="tx1"/>
                          </a:solidFill>
                        </a:rPr>
                        <a:t> lines based on previous line’s indentation</a:t>
                      </a:r>
                      <a:endParaRPr lang="en-US" sz="2000" dirty="0" smtClean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438378" y="1290181"/>
            <a:ext cx="2254686" cy="1631216"/>
          </a:xfrm>
          <a:prstGeom prst="rect">
            <a:avLst/>
          </a:prstGeom>
          <a:ln w="12700">
            <a:solidFill>
              <a:schemeClr val="accent1"/>
            </a:solidFill>
          </a:ln>
        </p:spPr>
        <p:style>
          <a:lnRef idx="2">
            <a:schemeClr val="accent1"/>
          </a:lnRef>
          <a:fillRef idx="100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 cat ~/.</a:t>
            </a:r>
            <a:r>
              <a:rPr lang="en-US" sz="2000" b="1" dirty="0" err="1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exrc</a:t>
            </a:r>
            <a:endParaRPr lang="en-US" sz="2000" b="1" dirty="0" smtClean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set nu</a:t>
            </a:r>
          </a:p>
          <a:p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set </a:t>
            </a:r>
            <a:r>
              <a:rPr lang="en-US" sz="20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ai</a:t>
            </a:r>
            <a:endParaRPr lang="en-US" sz="2000" b="1" dirty="0" smtClean="0">
              <a:solidFill>
                <a:srgbClr val="0000CC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set </a:t>
            </a:r>
            <a:r>
              <a:rPr lang="en-US" sz="2000" b="1" dirty="0" err="1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tabstop</a:t>
            </a:r>
            <a:r>
              <a:rPr lang="en-US" sz="2000" b="1" dirty="0" smtClean="0">
                <a:solidFill>
                  <a:srgbClr val="0000CC"/>
                </a:solidFill>
                <a:latin typeface="Courier New" pitchFamily="49" charset="0"/>
                <a:cs typeface="Courier New" pitchFamily="49" charset="0"/>
              </a:rPr>
              <a:t>=4</a:t>
            </a:r>
          </a:p>
          <a:p>
            <a:r>
              <a:rPr lang="en-US" sz="2000" b="1" dirty="0" smtClean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$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1"/>
          </p:nvPr>
        </p:nvSpPr>
        <p:spPr>
          <a:xfrm>
            <a:off x="500743" y="2612799"/>
            <a:ext cx="8189231" cy="623887"/>
          </a:xfrm>
        </p:spPr>
        <p:txBody>
          <a:bodyPr>
            <a:normAutofit/>
          </a:bodyPr>
          <a:lstStyle/>
          <a:p>
            <a:r>
              <a:rPr lang="en-US" dirty="0" smtClean="0">
                <a:solidFill>
                  <a:schemeClr val="tx1"/>
                </a:solidFill>
              </a:rPr>
              <a:t>Hands-on and Assignments</a:t>
            </a:r>
            <a:endParaRPr lang="en-US" dirty="0">
              <a:solidFill>
                <a:schemeClr val="tx1"/>
              </a:solidFill>
            </a:endParaRPr>
          </a:p>
          <a:p>
            <a:endParaRPr lang="en-IN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216131" y="145140"/>
            <a:ext cx="8473845" cy="553998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Exercises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57200" y="1056640"/>
            <a:ext cx="8240713" cy="5344160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arenR"/>
            </a:pPr>
            <a:r>
              <a:rPr lang="en-US" dirty="0" smtClean="0">
                <a:solidFill>
                  <a:schemeClr val="tx1"/>
                </a:solidFill>
              </a:rPr>
              <a:t>Create an empty file  </a:t>
            </a:r>
            <a:r>
              <a:rPr lang="en-US" b="1" dirty="0" smtClean="0">
                <a:solidFill>
                  <a:schemeClr val="tx1"/>
                </a:solidFill>
              </a:rPr>
              <a:t>test123  </a:t>
            </a:r>
            <a:r>
              <a:rPr lang="en-US" dirty="0" smtClean="0">
                <a:solidFill>
                  <a:schemeClr val="tx1"/>
                </a:solidFill>
              </a:rPr>
              <a:t>using </a:t>
            </a:r>
            <a:r>
              <a:rPr lang="en-US" b="1" dirty="0" smtClean="0">
                <a:solidFill>
                  <a:schemeClr val="tx1"/>
                </a:solidFill>
              </a:rPr>
              <a:t>touch </a:t>
            </a:r>
            <a:r>
              <a:rPr lang="en-US" dirty="0" smtClean="0">
                <a:solidFill>
                  <a:schemeClr val="tx1"/>
                </a:solidFill>
              </a:rPr>
              <a:t>command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and remove write permission to group and others.</a:t>
            </a:r>
          </a:p>
          <a:p>
            <a:pPr marL="457200" indent="-457200" algn="just">
              <a:buFont typeface="+mj-lt"/>
              <a:buAutoNum type="arabicParenR"/>
            </a:pPr>
            <a:endParaRPr lang="en-US" sz="1100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+mj-lt"/>
              <a:buAutoNum type="arabicParenR"/>
            </a:pPr>
            <a:r>
              <a:rPr lang="en-US" dirty="0" smtClean="0">
                <a:solidFill>
                  <a:schemeClr val="tx1"/>
                </a:solidFill>
              </a:rPr>
              <a:t>Create directory  named </a:t>
            </a:r>
            <a:r>
              <a:rPr lang="en-US" b="1" dirty="0" err="1" smtClean="0">
                <a:solidFill>
                  <a:schemeClr val="tx1"/>
                </a:solidFill>
              </a:rPr>
              <a:t>newdir</a:t>
            </a:r>
            <a:r>
              <a:rPr lang="en-US" b="1" dirty="0" smtClean="0">
                <a:solidFill>
                  <a:schemeClr val="tx1"/>
                </a:solidFill>
              </a:rPr>
              <a:t>  </a:t>
            </a:r>
            <a:r>
              <a:rPr lang="en-US" dirty="0" smtClean="0">
                <a:solidFill>
                  <a:schemeClr val="tx1"/>
                </a:solidFill>
              </a:rPr>
              <a:t>and change permissions such that read, write &amp; execute permissions are given only to the owner.</a:t>
            </a:r>
          </a:p>
          <a:p>
            <a:pPr marL="457200" indent="-457200" algn="just">
              <a:buFont typeface="+mj-lt"/>
              <a:buAutoNum type="arabicParenR"/>
            </a:pPr>
            <a:endParaRPr lang="en-US" sz="1100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+mj-lt"/>
              <a:buAutoNum type="arabicParenR"/>
            </a:pPr>
            <a:r>
              <a:rPr lang="en-US" dirty="0" smtClean="0">
                <a:solidFill>
                  <a:schemeClr val="tx1"/>
                </a:solidFill>
              </a:rPr>
              <a:t>Use </a:t>
            </a:r>
            <a:r>
              <a:rPr lang="en-US" b="1" dirty="0" smtClean="0">
                <a:solidFill>
                  <a:schemeClr val="tx1"/>
                </a:solidFill>
              </a:rPr>
              <a:t>touch </a:t>
            </a:r>
            <a:r>
              <a:rPr lang="en-US" dirty="0" smtClean="0">
                <a:solidFill>
                  <a:schemeClr val="tx1"/>
                </a:solidFill>
              </a:rPr>
              <a:t>command to create files  a, b and c.  Copy them into the directory </a:t>
            </a:r>
            <a:r>
              <a:rPr lang="en-US" dirty="0" err="1" smtClean="0">
                <a:solidFill>
                  <a:schemeClr val="tx1"/>
                </a:solidFill>
              </a:rPr>
              <a:t>newdir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 algn="just">
              <a:buFont typeface="+mj-lt"/>
              <a:buAutoNum type="arabicParenR"/>
            </a:pPr>
            <a:endParaRPr lang="en-US" sz="1100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+mj-lt"/>
              <a:buAutoNum type="arabicParenR"/>
            </a:pPr>
            <a:r>
              <a:rPr lang="en-US" dirty="0" smtClean="0">
                <a:solidFill>
                  <a:schemeClr val="tx1"/>
                </a:solidFill>
              </a:rPr>
              <a:t>Move the files  </a:t>
            </a:r>
            <a:r>
              <a:rPr lang="en-US" b="1" dirty="0" smtClean="0">
                <a:solidFill>
                  <a:schemeClr val="tx1"/>
                </a:solidFill>
              </a:rPr>
              <a:t>a</a:t>
            </a:r>
            <a:r>
              <a:rPr lang="en-US" dirty="0" smtClean="0">
                <a:solidFill>
                  <a:schemeClr val="tx1"/>
                </a:solidFill>
              </a:rPr>
              <a:t>, </a:t>
            </a:r>
            <a:r>
              <a:rPr lang="en-US" b="1" dirty="0" smtClean="0">
                <a:solidFill>
                  <a:schemeClr val="tx1"/>
                </a:solidFill>
              </a:rPr>
              <a:t>b</a:t>
            </a:r>
            <a:r>
              <a:rPr lang="en-US" dirty="0" smtClean="0">
                <a:solidFill>
                  <a:schemeClr val="tx1"/>
                </a:solidFill>
              </a:rPr>
              <a:t> and </a:t>
            </a:r>
            <a:r>
              <a:rPr lang="en-US" b="1" dirty="0" smtClean="0">
                <a:solidFill>
                  <a:schemeClr val="tx1"/>
                </a:solidFill>
              </a:rPr>
              <a:t>c</a:t>
            </a:r>
            <a:r>
              <a:rPr lang="en-US" dirty="0" smtClean="0">
                <a:solidFill>
                  <a:schemeClr val="tx1"/>
                </a:solidFill>
              </a:rPr>
              <a:t> into the directory </a:t>
            </a:r>
            <a:r>
              <a:rPr lang="en-US" b="1" dirty="0" err="1" smtClean="0">
                <a:solidFill>
                  <a:schemeClr val="tx1"/>
                </a:solidFill>
              </a:rPr>
              <a:t>newdir</a:t>
            </a:r>
            <a:r>
              <a:rPr lang="en-US" dirty="0" smtClean="0">
                <a:solidFill>
                  <a:schemeClr val="tx1"/>
                </a:solidFill>
              </a:rPr>
              <a:t>.</a:t>
            </a:r>
          </a:p>
          <a:p>
            <a:pPr marL="457200" indent="-457200" algn="just">
              <a:buFont typeface="+mj-lt"/>
              <a:buAutoNum type="arabicParenR"/>
            </a:pPr>
            <a:endParaRPr lang="en-US" sz="1200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arenR"/>
            </a:pPr>
            <a:endParaRPr lang="en-US" sz="1200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arenR"/>
            </a:pPr>
            <a:r>
              <a:rPr lang="en-US" dirty="0" smtClean="0">
                <a:solidFill>
                  <a:schemeClr val="tx1"/>
                </a:solidFill>
              </a:rPr>
              <a:t>Create a </a:t>
            </a:r>
            <a:r>
              <a:rPr lang="en-US" dirty="0" err="1" smtClean="0">
                <a:solidFill>
                  <a:schemeClr val="tx1"/>
                </a:solidFill>
              </a:rPr>
              <a:t>softlink</a:t>
            </a:r>
            <a:r>
              <a:rPr lang="en-US" dirty="0" smtClean="0">
                <a:solidFill>
                  <a:schemeClr val="tx1"/>
                </a:solidFill>
              </a:rPr>
              <a:t> named </a:t>
            </a:r>
            <a:r>
              <a:rPr lang="en-US" b="1" dirty="0" smtClean="0">
                <a:solidFill>
                  <a:schemeClr val="tx1"/>
                </a:solidFill>
              </a:rPr>
              <a:t>test123-sl  </a:t>
            </a:r>
            <a:r>
              <a:rPr lang="en-US" dirty="0" smtClean="0">
                <a:solidFill>
                  <a:schemeClr val="tx1"/>
                </a:solidFill>
              </a:rPr>
              <a:t>to the file </a:t>
            </a:r>
            <a:r>
              <a:rPr lang="en-US" b="1" dirty="0" smtClean="0">
                <a:solidFill>
                  <a:schemeClr val="tx1"/>
                </a:solidFill>
              </a:rPr>
              <a:t>test123</a:t>
            </a:r>
            <a:r>
              <a:rPr lang="en-US" dirty="0" smtClean="0">
                <a:solidFill>
                  <a:schemeClr val="tx1"/>
                </a:solidFill>
              </a:rPr>
              <a:t>. </a:t>
            </a:r>
          </a:p>
          <a:p>
            <a:pPr marL="457200" indent="-457200">
              <a:buNone/>
            </a:pPr>
            <a:r>
              <a:rPr lang="en-US" dirty="0" smtClean="0">
                <a:solidFill>
                  <a:schemeClr val="tx1"/>
                </a:solidFill>
              </a:rPr>
              <a:t>	Is the </a:t>
            </a:r>
            <a:r>
              <a:rPr lang="en-US" dirty="0" err="1" smtClean="0">
                <a:solidFill>
                  <a:schemeClr val="tx1"/>
                </a:solidFill>
              </a:rPr>
              <a:t>inode</a:t>
            </a:r>
            <a:r>
              <a:rPr lang="en-US" dirty="0" smtClean="0">
                <a:solidFill>
                  <a:schemeClr val="tx1"/>
                </a:solidFill>
              </a:rPr>
              <a:t> number of </a:t>
            </a:r>
            <a:r>
              <a:rPr lang="en-US" b="1" dirty="0" smtClean="0">
                <a:solidFill>
                  <a:schemeClr val="tx1"/>
                </a:solidFill>
              </a:rPr>
              <a:t>test123</a:t>
            </a:r>
            <a:r>
              <a:rPr lang="en-US" dirty="0" smtClean="0">
                <a:solidFill>
                  <a:schemeClr val="tx1"/>
                </a:solidFill>
              </a:rPr>
              <a:t> and </a:t>
            </a:r>
            <a:r>
              <a:rPr lang="en-US" b="1" dirty="0" smtClean="0">
                <a:solidFill>
                  <a:schemeClr val="tx1"/>
                </a:solidFill>
              </a:rPr>
              <a:t>test123-sl</a:t>
            </a:r>
            <a:r>
              <a:rPr lang="en-US" dirty="0" smtClean="0">
                <a:solidFill>
                  <a:schemeClr val="tx1"/>
                </a:solidFill>
              </a:rPr>
              <a:t> same?</a:t>
            </a:r>
          </a:p>
          <a:p>
            <a:pPr marL="457200" indent="-457200">
              <a:buFont typeface="+mj-lt"/>
              <a:buAutoNum type="arabicParenR"/>
            </a:pPr>
            <a:endParaRPr lang="en-US" sz="1600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arenR" startAt="7"/>
            </a:pPr>
            <a:endParaRPr lang="en-US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216131" y="145140"/>
            <a:ext cx="8473845" cy="553998"/>
          </a:xfrm>
        </p:spPr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Exercises </a:t>
            </a:r>
            <a:r>
              <a:rPr lang="en-IN"/>
              <a:t>(Contd.).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57200" y="1056640"/>
            <a:ext cx="8240713" cy="5344160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arenR" startAt="6"/>
            </a:pPr>
            <a:r>
              <a:rPr lang="en-US" dirty="0" smtClean="0">
                <a:solidFill>
                  <a:schemeClr val="tx1"/>
                </a:solidFill>
              </a:rPr>
              <a:t>Create a </a:t>
            </a:r>
            <a:r>
              <a:rPr lang="en-US" dirty="0" err="1" smtClean="0">
                <a:solidFill>
                  <a:schemeClr val="tx1"/>
                </a:solidFill>
              </a:rPr>
              <a:t>hardlink</a:t>
            </a:r>
            <a:r>
              <a:rPr lang="en-US" dirty="0" smtClean="0">
                <a:solidFill>
                  <a:schemeClr val="tx1"/>
                </a:solidFill>
              </a:rPr>
              <a:t> named </a:t>
            </a:r>
            <a:r>
              <a:rPr lang="en-US" b="1" dirty="0" smtClean="0">
                <a:solidFill>
                  <a:schemeClr val="tx1"/>
                </a:solidFill>
              </a:rPr>
              <a:t>test123-hl  </a:t>
            </a:r>
            <a:r>
              <a:rPr lang="en-US" dirty="0" smtClean="0">
                <a:solidFill>
                  <a:schemeClr val="tx1"/>
                </a:solidFill>
              </a:rPr>
              <a:t>to the file </a:t>
            </a:r>
            <a:r>
              <a:rPr lang="en-US" b="1" dirty="0" smtClean="0">
                <a:solidFill>
                  <a:schemeClr val="tx1"/>
                </a:solidFill>
              </a:rPr>
              <a:t>test123</a:t>
            </a:r>
            <a:r>
              <a:rPr lang="en-US" dirty="0" smtClean="0">
                <a:solidFill>
                  <a:schemeClr val="tx1"/>
                </a:solidFill>
              </a:rPr>
              <a:t>. </a:t>
            </a:r>
          </a:p>
          <a:p>
            <a:pPr marL="457200" indent="-457200"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	 Is the </a:t>
            </a:r>
            <a:r>
              <a:rPr lang="en-US" dirty="0" err="1" smtClean="0">
                <a:solidFill>
                  <a:schemeClr val="tx1"/>
                </a:solidFill>
              </a:rPr>
              <a:t>inode</a:t>
            </a:r>
            <a:r>
              <a:rPr lang="en-US" dirty="0" smtClean="0">
                <a:solidFill>
                  <a:schemeClr val="tx1"/>
                </a:solidFill>
              </a:rPr>
              <a:t> number of </a:t>
            </a:r>
            <a:r>
              <a:rPr lang="en-US" b="1" dirty="0" smtClean="0">
                <a:solidFill>
                  <a:schemeClr val="tx1"/>
                </a:solidFill>
              </a:rPr>
              <a:t>test123</a:t>
            </a:r>
            <a:r>
              <a:rPr lang="en-US" dirty="0" smtClean="0">
                <a:solidFill>
                  <a:schemeClr val="tx1"/>
                </a:solidFill>
              </a:rPr>
              <a:t> and </a:t>
            </a:r>
            <a:r>
              <a:rPr lang="en-US" b="1" dirty="0" smtClean="0">
                <a:solidFill>
                  <a:schemeClr val="tx1"/>
                </a:solidFill>
              </a:rPr>
              <a:t>test123-hl</a:t>
            </a:r>
            <a:r>
              <a:rPr lang="en-US" dirty="0" smtClean="0">
                <a:solidFill>
                  <a:schemeClr val="tx1"/>
                </a:solidFill>
              </a:rPr>
              <a:t> same?</a:t>
            </a:r>
          </a:p>
          <a:p>
            <a:pPr marL="457200" indent="-457200" algn="just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+mj-lt"/>
              <a:buAutoNum type="arabicParenR" startAt="7"/>
            </a:pPr>
            <a:r>
              <a:rPr lang="en-US" dirty="0" smtClean="0">
                <a:solidFill>
                  <a:schemeClr val="tx1"/>
                </a:solidFill>
              </a:rPr>
              <a:t>Create a </a:t>
            </a:r>
            <a:r>
              <a:rPr lang="en-US" dirty="0" err="1" smtClean="0">
                <a:solidFill>
                  <a:schemeClr val="tx1"/>
                </a:solidFill>
              </a:rPr>
              <a:t>softlink</a:t>
            </a:r>
            <a:r>
              <a:rPr lang="en-US" dirty="0" smtClean="0">
                <a:solidFill>
                  <a:schemeClr val="tx1"/>
                </a:solidFill>
              </a:rPr>
              <a:t> named </a:t>
            </a:r>
            <a:r>
              <a:rPr lang="en-US" b="1" dirty="0" err="1" smtClean="0">
                <a:solidFill>
                  <a:schemeClr val="tx1"/>
                </a:solidFill>
              </a:rPr>
              <a:t>newdir-sl</a:t>
            </a:r>
            <a:r>
              <a:rPr lang="en-US" dirty="0" smtClean="0">
                <a:solidFill>
                  <a:schemeClr val="tx1"/>
                </a:solidFill>
              </a:rPr>
              <a:t> to the directory </a:t>
            </a:r>
            <a:r>
              <a:rPr lang="en-US" b="1" dirty="0" err="1" smtClean="0">
                <a:solidFill>
                  <a:schemeClr val="tx1"/>
                </a:solidFill>
              </a:rPr>
              <a:t>newdir</a:t>
            </a:r>
            <a:endParaRPr lang="en-US" b="1" dirty="0" smtClean="0">
              <a:solidFill>
                <a:schemeClr val="tx1"/>
              </a:solidFill>
            </a:endParaRPr>
          </a:p>
          <a:p>
            <a:pPr marL="457200" indent="-457200" algn="just">
              <a:buNone/>
            </a:pPr>
            <a:r>
              <a:rPr lang="en-US" dirty="0" smtClean="0">
                <a:solidFill>
                  <a:schemeClr val="tx1"/>
                </a:solidFill>
              </a:rPr>
              <a:t>	Is the </a:t>
            </a:r>
            <a:r>
              <a:rPr lang="en-US" dirty="0" err="1" smtClean="0">
                <a:solidFill>
                  <a:schemeClr val="tx1"/>
                </a:solidFill>
              </a:rPr>
              <a:t>inode</a:t>
            </a:r>
            <a:r>
              <a:rPr lang="en-US" dirty="0" smtClean="0">
                <a:solidFill>
                  <a:schemeClr val="tx1"/>
                </a:solidFill>
              </a:rPr>
              <a:t> number of </a:t>
            </a:r>
            <a:r>
              <a:rPr lang="en-US" b="1" dirty="0" err="1" smtClean="0">
                <a:solidFill>
                  <a:schemeClr val="tx1"/>
                </a:solidFill>
              </a:rPr>
              <a:t>newdir</a:t>
            </a:r>
            <a:r>
              <a:rPr lang="en-US" b="1" dirty="0" smtClean="0">
                <a:solidFill>
                  <a:schemeClr val="tx1"/>
                </a:solidFill>
              </a:rPr>
              <a:t> </a:t>
            </a:r>
            <a:r>
              <a:rPr lang="en-US" dirty="0" smtClean="0">
                <a:solidFill>
                  <a:schemeClr val="tx1"/>
                </a:solidFill>
              </a:rPr>
              <a:t>and </a:t>
            </a:r>
            <a:r>
              <a:rPr lang="en-US" b="1" dirty="0" err="1" smtClean="0">
                <a:solidFill>
                  <a:schemeClr val="tx1"/>
                </a:solidFill>
              </a:rPr>
              <a:t>newdir-sl</a:t>
            </a:r>
            <a:r>
              <a:rPr lang="en-US" dirty="0" smtClean="0">
                <a:solidFill>
                  <a:schemeClr val="tx1"/>
                </a:solidFill>
              </a:rPr>
              <a:t> same?</a:t>
            </a:r>
          </a:p>
          <a:p>
            <a:pPr marL="457200" indent="-457200" algn="just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+mj-lt"/>
              <a:buAutoNum type="arabicParenR" startAt="8"/>
            </a:pPr>
            <a:r>
              <a:rPr lang="en-US" dirty="0" smtClean="0">
                <a:solidFill>
                  <a:schemeClr val="tx1"/>
                </a:solidFill>
              </a:rPr>
              <a:t>Define </a:t>
            </a:r>
            <a:r>
              <a:rPr lang="en-US" b="1" dirty="0" err="1" smtClean="0">
                <a:solidFill>
                  <a:schemeClr val="tx1"/>
                </a:solidFill>
              </a:rPr>
              <a:t>umask</a:t>
            </a:r>
            <a:r>
              <a:rPr lang="en-US" dirty="0" smtClean="0">
                <a:solidFill>
                  <a:schemeClr val="tx1"/>
                </a:solidFill>
              </a:rPr>
              <a:t> such that any file or directory created has no permission for others, and test if it works?</a:t>
            </a:r>
          </a:p>
          <a:p>
            <a:pPr marL="457200" indent="-457200" algn="just">
              <a:buFont typeface="+mj-lt"/>
              <a:buAutoNum type="arabicParenR" startAt="8"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+mj-lt"/>
              <a:buAutoNum type="arabicParenR" startAt="8"/>
            </a:pPr>
            <a:r>
              <a:rPr lang="en-US" dirty="0" smtClean="0">
                <a:solidFill>
                  <a:schemeClr val="tx1"/>
                </a:solidFill>
              </a:rPr>
              <a:t>List the files whose </a:t>
            </a:r>
            <a:r>
              <a:rPr lang="en-US" dirty="0" err="1" smtClean="0">
                <a:solidFill>
                  <a:schemeClr val="tx1"/>
                </a:solidFill>
              </a:rPr>
              <a:t>inode</a:t>
            </a:r>
            <a:r>
              <a:rPr lang="en-US" dirty="0" smtClean="0">
                <a:solidFill>
                  <a:schemeClr val="tx1"/>
                </a:solidFill>
              </a:rPr>
              <a:t> number is 1 on your system</a:t>
            </a:r>
          </a:p>
          <a:p>
            <a:pPr marL="457200" indent="-457200" algn="just">
              <a:buFont typeface="+mj-lt"/>
              <a:buAutoNum type="arabicParenR" startAt="8"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 algn="just">
              <a:buFont typeface="+mj-lt"/>
              <a:buAutoNum type="arabicParenR" startAt="8"/>
            </a:pPr>
            <a:r>
              <a:rPr lang="en-US" dirty="0" smtClean="0">
                <a:solidFill>
                  <a:schemeClr val="tx1"/>
                </a:solidFill>
              </a:rPr>
              <a:t>List the files other than regular files and directories in </a:t>
            </a:r>
            <a:r>
              <a:rPr lang="en-US" b="1" dirty="0" smtClean="0">
                <a:solidFill>
                  <a:schemeClr val="tx1"/>
                </a:solidFill>
              </a:rPr>
              <a:t>/bin </a:t>
            </a:r>
            <a:r>
              <a:rPr lang="en-US" dirty="0" smtClean="0">
                <a:solidFill>
                  <a:schemeClr val="tx1"/>
                </a:solidFill>
              </a:rPr>
              <a:t>directory.</a:t>
            </a:r>
          </a:p>
          <a:p>
            <a:pPr marL="457200" indent="-457200">
              <a:buFont typeface="+mj-lt"/>
              <a:buAutoNum type="arabicParenR" startAt="8"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arenR" startAt="8"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endParaRPr lang="en-US" dirty="0" smtClean="0">
              <a:solidFill>
                <a:schemeClr val="tx1"/>
              </a:solidFill>
            </a:endParaRPr>
          </a:p>
          <a:p>
            <a:pPr marL="457200" indent="-457200">
              <a:buNone/>
            </a:pPr>
            <a:endParaRPr lang="en-US" b="1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216131" y="145140"/>
            <a:ext cx="8473845" cy="553998"/>
          </a:xfrm>
        </p:spPr>
        <p:txBody>
          <a:bodyPr/>
          <a:lstStyle/>
          <a:p>
            <a:r>
              <a:rPr lang="en-US" smtClean="0">
                <a:solidFill>
                  <a:schemeClr val="tx1"/>
                </a:solidFill>
              </a:rPr>
              <a:t>Exercises </a:t>
            </a:r>
            <a:r>
              <a:rPr lang="en-IN"/>
              <a:t>(Contd.).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57200" y="1056640"/>
            <a:ext cx="8240713" cy="4799412"/>
          </a:xfrm>
        </p:spPr>
        <p:txBody>
          <a:bodyPr>
            <a:noAutofit/>
          </a:bodyPr>
          <a:lstStyle/>
          <a:p>
            <a:pPr marL="457200" indent="-457200">
              <a:buFont typeface="+mj-lt"/>
              <a:buAutoNum type="arabicParenR" startAt="11"/>
            </a:pPr>
            <a:r>
              <a:rPr lang="en-US" dirty="0" smtClean="0">
                <a:solidFill>
                  <a:schemeClr val="tx1"/>
                </a:solidFill>
              </a:rPr>
              <a:t>Run commands to do the following operations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 smtClean="0">
                <a:solidFill>
                  <a:schemeClr val="tx1"/>
                </a:solidFill>
              </a:rPr>
              <a:t>List files in ascending order of their creation time.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 smtClean="0">
                <a:solidFill>
                  <a:schemeClr val="tx1"/>
                </a:solidFill>
              </a:rPr>
              <a:t>List files in descending order of their creation time.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 smtClean="0">
                <a:solidFill>
                  <a:schemeClr val="tx1"/>
                </a:solidFill>
              </a:rPr>
              <a:t>List only the directories in the root directory.</a:t>
            </a:r>
          </a:p>
          <a:p>
            <a:pPr marL="800100" lvl="1" indent="-342900">
              <a:buFont typeface="+mj-lt"/>
              <a:buAutoNum type="alphaLcParenR"/>
            </a:pPr>
            <a:r>
              <a:rPr lang="en-US" sz="2000" dirty="0" smtClean="0">
                <a:solidFill>
                  <a:schemeClr val="tx1"/>
                </a:solidFill>
              </a:rPr>
              <a:t>List hidden files in the root directory.</a:t>
            </a:r>
          </a:p>
          <a:p>
            <a:endParaRPr lang="en-US" sz="2400" dirty="0" smtClean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arenR" startAt="12"/>
            </a:pPr>
            <a:r>
              <a:rPr lang="en-US" dirty="0" smtClean="0">
                <a:solidFill>
                  <a:schemeClr val="tx1"/>
                </a:solidFill>
              </a:rPr>
              <a:t>When a directory is created it has two links.</a:t>
            </a:r>
          </a:p>
          <a:p>
            <a:pPr>
              <a:buNone/>
            </a:pPr>
            <a:r>
              <a:rPr lang="en-US" dirty="0" smtClean="0">
                <a:solidFill>
                  <a:schemeClr val="tx1"/>
                </a:solidFill>
              </a:rPr>
              <a:t>	   Identify which are the files represented by the two links?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216131" y="145140"/>
            <a:ext cx="8473845" cy="553998"/>
          </a:xfrm>
        </p:spPr>
        <p:txBody>
          <a:bodyPr/>
          <a:lstStyle/>
          <a:p>
            <a:r>
              <a:rPr lang="en-US" dirty="0" smtClean="0">
                <a:solidFill>
                  <a:schemeClr val="tx1"/>
                </a:solidFill>
              </a:rPr>
              <a:t>Summary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457200" y="1056640"/>
            <a:ext cx="8240713" cy="5100320"/>
          </a:xfrm>
        </p:spPr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sz="2400" dirty="0" smtClean="0">
                <a:solidFill>
                  <a:schemeClr val="tx1"/>
                </a:solidFill>
              </a:rPr>
              <a:t>In this module, </a:t>
            </a:r>
            <a:r>
              <a:rPr lang="en-US" sz="2400" smtClean="0">
                <a:solidFill>
                  <a:schemeClr val="tx1"/>
                </a:solidFill>
              </a:rPr>
              <a:t>we discussed:</a:t>
            </a:r>
            <a:endParaRPr lang="en-US" sz="2400" dirty="0" smtClean="0">
              <a:solidFill>
                <a:schemeClr val="tx1"/>
              </a:solidFill>
            </a:endParaRPr>
          </a:p>
          <a:p>
            <a:pPr>
              <a:buNone/>
            </a:pPr>
            <a:endParaRPr lang="en-US" sz="11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</a:rPr>
              <a:t>overview of Unix architecture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</a:rPr>
              <a:t>Unix file system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</a:rPr>
              <a:t>important files &amp; directories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</a:rPr>
              <a:t>relevance of file permissions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</a:rPr>
              <a:t>how to use file system related commands 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</a:rPr>
              <a:t>difference between soft &amp; hard links</a:t>
            </a: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</a:rPr>
              <a:t>the significance of </a:t>
            </a:r>
            <a:r>
              <a:rPr lang="en-US" sz="2400" dirty="0" err="1" smtClean="0">
                <a:solidFill>
                  <a:schemeClr val="tx1"/>
                </a:solidFill>
              </a:rPr>
              <a:t>umask</a:t>
            </a:r>
            <a:endParaRPr lang="en-US" sz="2400" dirty="0" smtClean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2400" dirty="0" smtClean="0">
                <a:solidFill>
                  <a:schemeClr val="tx1"/>
                </a:solidFill>
              </a:rPr>
              <a:t>how to use vi editor 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1"/>
          </p:nvPr>
        </p:nvSpPr>
        <p:spPr>
          <a:xfrm>
            <a:off x="263236" y="145140"/>
            <a:ext cx="8426740" cy="553998"/>
          </a:xfrm>
        </p:spPr>
        <p:txBody>
          <a:bodyPr/>
          <a:lstStyle/>
          <a:p>
            <a:r>
              <a:rPr lang="en-IN" dirty="0" smtClean="0">
                <a:solidFill>
                  <a:schemeClr val="tx1"/>
                </a:solidFill>
              </a:rPr>
              <a:t>Review Questions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6"/>
          </p:nvPr>
        </p:nvSpPr>
        <p:spPr>
          <a:xfrm>
            <a:off x="563881" y="928758"/>
            <a:ext cx="8580119" cy="5339570"/>
          </a:xfrm>
        </p:spPr>
        <p:txBody>
          <a:bodyPr>
            <a:normAutofit fontScale="92500" lnSpcReduction="10000"/>
          </a:bodyPr>
          <a:lstStyle/>
          <a:p>
            <a:pPr marL="457200" indent="-457200" algn="just">
              <a:buFont typeface="+mj-lt"/>
              <a:buAutoNum type="alphaLcParenR"/>
            </a:pPr>
            <a:r>
              <a:rPr lang="en-US" dirty="0" smtClean="0"/>
              <a:t>How to get help for a command in Unix?</a:t>
            </a:r>
          </a:p>
          <a:p>
            <a:pPr marL="457200" indent="-457200" algn="just">
              <a:buFont typeface="+mj-lt"/>
              <a:buAutoNum type="alphaLcParenR"/>
            </a:pPr>
            <a:endParaRPr lang="en-US" dirty="0" smtClean="0"/>
          </a:p>
          <a:p>
            <a:pPr marL="457200" indent="-457200" algn="just">
              <a:buFont typeface="+mj-lt"/>
              <a:buAutoNum type="alphaLcParenR"/>
            </a:pPr>
            <a:r>
              <a:rPr lang="en-US" dirty="0" smtClean="0"/>
              <a:t>What are the different logical areas of ext2  file system in Unix?</a:t>
            </a:r>
          </a:p>
          <a:p>
            <a:pPr marL="457200" indent="-457200" algn="just">
              <a:buFont typeface="+mj-lt"/>
              <a:buAutoNum type="alphaLcParenR"/>
            </a:pPr>
            <a:endParaRPr lang="en-US" dirty="0" smtClean="0"/>
          </a:p>
          <a:p>
            <a:pPr marL="457200" indent="-457200" algn="just">
              <a:buFont typeface="+mj-lt"/>
              <a:buAutoNum type="alphaLcParenR"/>
            </a:pPr>
            <a:r>
              <a:rPr lang="en-US" dirty="0" smtClean="0"/>
              <a:t>What are the different categories of device files?</a:t>
            </a:r>
          </a:p>
          <a:p>
            <a:pPr marL="457200" indent="-457200" algn="just">
              <a:buFont typeface="+mj-lt"/>
              <a:buAutoNum type="alphaLcParenR"/>
            </a:pPr>
            <a:endParaRPr lang="en-US" dirty="0" smtClean="0"/>
          </a:p>
          <a:p>
            <a:pPr marL="457200" indent="-457200" algn="just">
              <a:buFont typeface="+mj-lt"/>
              <a:buAutoNum type="alphaLcParenR"/>
            </a:pPr>
            <a:r>
              <a:rPr lang="en-US" dirty="0" smtClean="0"/>
              <a:t>How many root directories exist in Unix?</a:t>
            </a:r>
          </a:p>
          <a:p>
            <a:pPr marL="457200" indent="-457200" algn="just">
              <a:buFont typeface="+mj-lt"/>
              <a:buAutoNum type="alphaLcParenR"/>
            </a:pPr>
            <a:endParaRPr lang="en-US" dirty="0" smtClean="0"/>
          </a:p>
          <a:p>
            <a:pPr marL="457200" indent="-457200" algn="just">
              <a:buFont typeface="+mj-lt"/>
              <a:buAutoNum type="alphaLcParenR"/>
            </a:pPr>
            <a:r>
              <a:rPr lang="en-US" dirty="0" smtClean="0"/>
              <a:t>What permissions does the octal value 0640 stand for?</a:t>
            </a:r>
          </a:p>
          <a:p>
            <a:pPr marL="457200" indent="-457200" algn="just">
              <a:buFont typeface="+mj-lt"/>
              <a:buAutoNum type="alphaLcParenR"/>
            </a:pPr>
            <a:endParaRPr lang="en-US" dirty="0" smtClean="0"/>
          </a:p>
          <a:p>
            <a:pPr marL="457200" indent="-457200" algn="just">
              <a:buFont typeface="+mj-lt"/>
              <a:buAutoNum type="alphaLcParenR"/>
            </a:pPr>
            <a:r>
              <a:rPr lang="en-US" dirty="0" smtClean="0"/>
              <a:t>What is the difference between a soft link and a hard link?</a:t>
            </a:r>
          </a:p>
          <a:p>
            <a:pPr marL="457200" indent="-457200" algn="just">
              <a:buFont typeface="+mj-lt"/>
              <a:buAutoNum type="alphaLcParenR"/>
            </a:pPr>
            <a:endParaRPr lang="en-US" dirty="0" smtClean="0"/>
          </a:p>
          <a:p>
            <a:pPr marL="457200" indent="-457200" algn="just">
              <a:buFont typeface="+mj-lt"/>
              <a:buAutoNum type="alphaLcParenR"/>
            </a:pPr>
            <a:r>
              <a:rPr lang="en-US" dirty="0" smtClean="0"/>
              <a:t>Which operation(s) is/are not possible if a directory is read-only?</a:t>
            </a:r>
          </a:p>
          <a:p>
            <a:pPr marL="457200" indent="-457200" algn="just">
              <a:buFont typeface="+mj-lt"/>
              <a:buAutoNum type="alphaLcParenR"/>
            </a:pPr>
            <a:endParaRPr lang="en-US" dirty="0" smtClean="0"/>
          </a:p>
          <a:p>
            <a:pPr marL="457200" indent="-457200" algn="just">
              <a:buFont typeface="+mj-lt"/>
              <a:buAutoNum type="alphaLcParenR"/>
            </a:pPr>
            <a:r>
              <a:rPr lang="en-US" dirty="0" smtClean="0"/>
              <a:t>What is the purpose of </a:t>
            </a:r>
            <a:r>
              <a:rPr lang="en-US" dirty="0" err="1" smtClean="0"/>
              <a:t>umask</a:t>
            </a:r>
            <a:r>
              <a:rPr lang="en-US" dirty="0" smtClean="0"/>
              <a:t>?</a:t>
            </a:r>
          </a:p>
          <a:p>
            <a:pPr marL="457200" indent="-457200" algn="just">
              <a:buFont typeface="+mj-lt"/>
              <a:buAutoNum type="alphaLcParenR"/>
            </a:pPr>
            <a:endParaRPr lang="en-US" dirty="0" smtClean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1"/>
          </p:nvPr>
        </p:nvSpPr>
        <p:spPr>
          <a:xfrm>
            <a:off x="235527" y="145140"/>
            <a:ext cx="8454449" cy="553998"/>
          </a:xfrm>
        </p:spPr>
        <p:txBody>
          <a:bodyPr/>
          <a:lstStyle/>
          <a:p>
            <a:r>
              <a:rPr lang="en-US" smtClean="0"/>
              <a:t>References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6"/>
          </p:nvPr>
        </p:nvSpPr>
        <p:spPr>
          <a:xfrm>
            <a:off x="370937" y="963672"/>
            <a:ext cx="7900228" cy="4473575"/>
          </a:xfrm>
        </p:spPr>
        <p:txBody>
          <a:bodyPr/>
          <a:lstStyle/>
          <a:p>
            <a:pPr marL="457200" lvl="0" indent="-457200" algn="just">
              <a:buFont typeface="+mj-lt"/>
              <a:buAutoNum type="arabicPeriod"/>
            </a:pPr>
            <a:r>
              <a:rPr lang="en-US"/>
              <a:t>Richard Petersen, Linux The </a:t>
            </a:r>
            <a:r>
              <a:rPr lang="en-US"/>
              <a:t>Complete </a:t>
            </a:r>
            <a:r>
              <a:rPr lang="en-US" smtClean="0"/>
              <a:t>Reference. Ed 6. New </a:t>
            </a:r>
            <a:r>
              <a:rPr lang="en-US"/>
              <a:t>Delhi: McGraw-Hill Education India</a:t>
            </a:r>
            <a:r>
              <a:rPr lang="en-US"/>
              <a:t>, </a:t>
            </a:r>
            <a:r>
              <a:rPr lang="en-US" smtClean="0"/>
              <a:t>2007.</a:t>
            </a:r>
            <a:endParaRPr lang="en-US"/>
          </a:p>
          <a:p>
            <a:pPr marL="457200" indent="-457200" algn="just">
              <a:buFont typeface="+mj-lt"/>
              <a:buAutoNum type="arabicPeriod"/>
            </a:pPr>
            <a:endParaRPr lang="en-US"/>
          </a:p>
          <a:p>
            <a:pPr marL="457200" lvl="0" indent="-457200" algn="just">
              <a:buFont typeface="+mj-lt"/>
              <a:buAutoNum type="arabicPeriod"/>
            </a:pPr>
            <a:r>
              <a:rPr lang="en-US"/>
              <a:t>Eric Foster-Johnson, John C. Welch, and Micah Anderson, Beginning Shell Scripting</a:t>
            </a:r>
            <a:r>
              <a:rPr lang="en-US"/>
              <a:t>, </a:t>
            </a:r>
            <a:r>
              <a:rPr lang="en-US" smtClean="0"/>
              <a:t>Indianapoli:</a:t>
            </a:r>
            <a:r>
              <a:rPr lang="en-US"/>
              <a:t> </a:t>
            </a:r>
            <a:r>
              <a:rPr lang="en-US" smtClean="0"/>
              <a:t>Wiley </a:t>
            </a:r>
            <a:r>
              <a:rPr lang="en-US"/>
              <a:t>Publishers Inc</a:t>
            </a:r>
            <a:r>
              <a:rPr lang="en-US"/>
              <a:t>, </a:t>
            </a:r>
            <a:r>
              <a:rPr lang="en-US" smtClean="0"/>
              <a:t>2005.</a:t>
            </a:r>
            <a:endParaRPr lang="en-US"/>
          </a:p>
          <a:p>
            <a:pPr marL="457200" indent="-457200" algn="just">
              <a:buFont typeface="+mj-lt"/>
              <a:buAutoNum type="arabicPeriod"/>
            </a:pPr>
            <a:endParaRPr lang="en-US"/>
          </a:p>
          <a:p>
            <a:pPr marL="457200" lvl="0" indent="-457200" algn="just">
              <a:buFont typeface="+mj-lt"/>
              <a:buAutoNum type="arabicPeriod"/>
            </a:pPr>
            <a:r>
              <a:rPr lang="en-US"/>
              <a:t>Sander Van Vugt,  Beginning the Linux Command Line, Wrox Press</a:t>
            </a:r>
            <a:r>
              <a:rPr lang="en-US"/>
              <a:t>, </a:t>
            </a:r>
            <a:r>
              <a:rPr lang="en-US" smtClean="0"/>
              <a:t>2005.</a:t>
            </a:r>
            <a:endParaRPr lang="en-US"/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18086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4813718" y="2698675"/>
            <a:ext cx="3981148" cy="553998"/>
          </a:xfrm>
        </p:spPr>
        <p:txBody>
          <a:bodyPr/>
          <a:lstStyle/>
          <a:p>
            <a:pPr algn="r"/>
            <a:r>
              <a:rPr lang="en-IN" dirty="0" smtClean="0"/>
              <a:t>Thank You</a:t>
            </a:r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Wipro Master Colors">
      <a:dk1>
        <a:sysClr val="windowText" lastClr="000000"/>
      </a:dk1>
      <a:lt1>
        <a:srgbClr val="FFFFFF"/>
      </a:lt1>
      <a:dk2>
        <a:srgbClr val="3C3D48"/>
      </a:dk2>
      <a:lt2>
        <a:srgbClr val="CFD0D7"/>
      </a:lt2>
      <a:accent1>
        <a:srgbClr val="03A2DF"/>
      </a:accent1>
      <a:accent2>
        <a:srgbClr val="81C240"/>
      </a:accent2>
      <a:accent3>
        <a:srgbClr val="A757A0"/>
      </a:accent3>
      <a:accent4>
        <a:srgbClr val="FECD07"/>
      </a:accent4>
      <a:accent5>
        <a:srgbClr val="EE2D30"/>
      </a:accent5>
      <a:accent6>
        <a:srgbClr val="A1A2B1"/>
      </a:accent6>
      <a:hlink>
        <a:srgbClr val="81C240"/>
      </a:hlink>
      <a:folHlink>
        <a:srgbClr val="68CFF4"/>
      </a:folHlink>
    </a:clrScheme>
    <a:fontScheme name="WIPRO PPT TEMPLAT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dirty="0" smtClean="0">
            <a:solidFill>
              <a:schemeClr val="tx1">
                <a:lumMod val="50000"/>
                <a:lumOff val="50000"/>
              </a:schemeClr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DAFC9CB99B7EC47A93DE0664EC40C26" ma:contentTypeVersion="0" ma:contentTypeDescription="Create a new document." ma:contentTypeScope="" ma:versionID="9a8d983cafb9cac16b33f31761ce2874">
  <xsd:schema xmlns:xsd="http://www.w3.org/2001/XMLSchema" xmlns:p="http://schemas.microsoft.com/office/2006/metadata/properties" targetNamespace="http://schemas.microsoft.com/office/2006/metadata/properties" ma:root="true" ma:fieldsID="4aeb20c0e3442673af7ee1078645876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office/internal/2005/internalDocumentation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 ma:readOnly="tru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lastPrinted" minOccurs="0" maxOccurs="1" type="xsd:dateTime"/>
        <xsd:element name="contentStatus" minOccurs="0" maxOccurs="1" type="xsd:string"/>
      </xsd:all>
    </xsd:complexType>
  </xsd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>
  <documentManagement/>
</p:properties>
</file>

<file path=customXml/itemProps1.xml><?xml version="1.0" encoding="utf-8"?>
<ds:datastoreItem xmlns:ds="http://schemas.openxmlformats.org/officeDocument/2006/customXml" ds:itemID="{AB7B0AC1-1A84-4732-B3FC-58B6DCBE0174}"/>
</file>

<file path=customXml/itemProps2.xml><?xml version="1.0" encoding="utf-8"?>
<ds:datastoreItem xmlns:ds="http://schemas.openxmlformats.org/officeDocument/2006/customXml" ds:itemID="{B112F5F8-E1CC-4CDC-9DC2-ED4DDA75B007}"/>
</file>

<file path=customXml/itemProps3.xml><?xml version="1.0" encoding="utf-8"?>
<ds:datastoreItem xmlns:ds="http://schemas.openxmlformats.org/officeDocument/2006/customXml" ds:itemID="{DA9C4A7C-BCDA-4616-BE3A-560825CA30F6}"/>
</file>

<file path=docProps/app.xml><?xml version="1.0" encoding="utf-8"?>
<Properties xmlns="http://schemas.openxmlformats.org/officeDocument/2006/extended-properties" xmlns:vt="http://schemas.openxmlformats.org/officeDocument/2006/docPropsVTypes">
  <TotalTime>17402</TotalTime>
  <Words>4886</Words>
  <Application>Microsoft Office PowerPoint</Application>
  <PresentationFormat>On-screen Show (4:3)</PresentationFormat>
  <Paragraphs>1283</Paragraphs>
  <Slides>76</Slides>
  <Notes>75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76</vt:i4>
      </vt:variant>
    </vt:vector>
  </HeadingPairs>
  <TitlesOfParts>
    <vt:vector size="77" baseType="lpstr">
      <vt:lpstr>Office Theme</vt:lpstr>
      <vt:lpstr>UNIX Essentials</vt:lpstr>
      <vt:lpstr>Agenda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Thank You</vt:lpstr>
    </vt:vector>
  </TitlesOfParts>
  <Company>kayleigh ryley graphic design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lalitc</cp:lastModifiedBy>
  <cp:revision>473</cp:revision>
  <cp:lastPrinted>2011-09-27T16:59:14Z</cp:lastPrinted>
  <dcterms:created xsi:type="dcterms:W3CDTF">2011-08-27T03:15:17Z</dcterms:created>
  <dcterms:modified xsi:type="dcterms:W3CDTF">2012-06-05T08:11:01Z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891055</vt:lpwstr>
  </property>
  <property fmtid="{D5CDD505-2E9C-101B-9397-08002B2CF9AE}" pid="3" name="NXPowerLiteSettings">
    <vt:lpwstr>F7000400038000</vt:lpwstr>
  </property>
  <property fmtid="{D5CDD505-2E9C-101B-9397-08002B2CF9AE}" pid="4" name="NXPowerLiteVersion">
    <vt:lpwstr>D5.0.6</vt:lpwstr>
  </property>
  <property fmtid="{D5CDD505-2E9C-101B-9397-08002B2CF9AE}" pid="5" name="ContentTypeId">
    <vt:lpwstr>0x010100BDAFC9CB99B7EC47A93DE0664EC40C26</vt:lpwstr>
  </property>
</Properties>
</file>