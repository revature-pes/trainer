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notesSlides/notesSlide96.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slides/slide55.xml" ContentType="application/vnd.openxmlformats-officedocument.presentationml.slide+xml"/>
  <Override PartName="/ppt/slideLayouts/slideLayout18.xml" ContentType="application/vnd.openxmlformats-officedocument.presentationml.slideLayout+xml"/>
  <Override PartName="/ppt/theme/theme2.xml" ContentType="application/vnd.openxmlformats-officedocument.theme+xml"/>
  <Override PartName="/ppt/notesSlides/notesSlide57.xml" ContentType="application/vnd.openxmlformats-officedocument.presentationml.notesSlide+xml"/>
  <Override PartName="/ppt/notesSlides/notesSlide102.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108.xml" ContentType="application/vnd.openxmlformats-officedocument.presentationml.slide+xml"/>
  <Override PartName="/ppt/slides/slide49.xml" ContentType="application/vnd.openxmlformats-officedocument.presentationml.slide+xml"/>
  <Override PartName="/ppt/slides/slide96.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Override PartName="/ppt/notesSlides/notesSlide18.xml" ContentType="application/vnd.openxmlformats-officedocument.presentationml.notesSlide+xml"/>
  <Override PartName="/ppt/notesSlides/notesSlide36.xml" ContentType="application/vnd.openxmlformats-officedocument.presentationml.notesSlide+xml"/>
  <Default Extension="wmf" ContentType="image/x-wmf"/>
  <Override PartName="/ppt/notesSlides/notesSlide65.xml" ContentType="application/vnd.openxmlformats-officedocument.presentationml.notesSlide+xml"/>
  <Override PartName="/ppt/notesSlides/notesSlide83.xml" ContentType="application/vnd.openxmlformats-officedocument.presentationml.notesSlide+xml"/>
  <Override PartName="/ppt/notesSlides/notesSlide110.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72.xml" ContentType="application/vnd.openxmlformats-officedocument.presentationml.notesSlide+xml"/>
  <Override PartName="/ppt/notesSlides/notesSlide90.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slides/slide138.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notesSlides/notesSlide108.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notesSlides/notesSlide99.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88.xml" ContentType="application/vnd.openxmlformats-officedocument.presentationml.notesSlide+xml"/>
  <Override PartName="/ppt/notesSlides/notesSlide104.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95.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Layouts/slideLayout16.xml" ContentType="application/vnd.openxmlformats-officedocument.presentationml.slideLayout+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notesSlides/notesSlide89.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notesSlides/notesSlide78.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notesSlides/notesSlide67.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slides/slide129.xml" ContentType="application/vnd.openxmlformats-officedocument.presentationml.slide+xml"/>
  <Override PartName="/ppt/notesSlides/notesSlide12.xml" ContentType="application/vnd.openxmlformats-officedocument.presentationml.notesSlide+xml"/>
  <Override PartName="/ppt/slides/slide118.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slides/slide51.xml" ContentType="application/vnd.openxmlformats-officedocument.presentationml.slide+xml"/>
  <Override PartName="/ppt/slideLayouts/slideLayout14.xml" ContentType="application/vnd.openxmlformats-officedocument.presentationml.slideLayout+xml"/>
  <Override PartName="/ppt/notesSlides/notesSlide53.xml" ContentType="application/vnd.openxmlformats-officedocument.presentationml.notesSlide+xml"/>
  <Override PartName="/ppt/slides/slide40.xml" ContentType="application/vnd.openxmlformats-officedocument.presentationml.slide+xml"/>
  <Override PartName="/ppt/notesSlides/notesSlide42.xml" ContentType="application/vnd.openxmlformats-officedocument.presentationml.notes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78.xml" ContentType="application/vnd.openxmlformats-officedocument.presentationml.slide+xml"/>
  <Override PartName="/ppt/slides/slide115.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6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0"/>
  </p:notesMasterIdLst>
  <p:handoutMasterIdLst>
    <p:handoutMasterId r:id="rId141"/>
  </p:handoutMasterIdLst>
  <p:sldIdLst>
    <p:sldId id="256" r:id="rId2"/>
    <p:sldId id="465" r:id="rId3"/>
    <p:sldId id="284" r:id="rId4"/>
    <p:sldId id="287" r:id="rId5"/>
    <p:sldId id="430" r:id="rId6"/>
    <p:sldId id="431" r:id="rId7"/>
    <p:sldId id="295" r:id="rId8"/>
    <p:sldId id="298" r:id="rId9"/>
    <p:sldId id="299" r:id="rId10"/>
    <p:sldId id="300" r:id="rId11"/>
    <p:sldId id="301" r:id="rId12"/>
    <p:sldId id="302" r:id="rId13"/>
    <p:sldId id="303" r:id="rId14"/>
    <p:sldId id="304" r:id="rId15"/>
    <p:sldId id="305" r:id="rId16"/>
    <p:sldId id="306" r:id="rId17"/>
    <p:sldId id="282" r:id="rId18"/>
    <p:sldId id="307" r:id="rId19"/>
    <p:sldId id="308" r:id="rId20"/>
    <p:sldId id="309" r:id="rId21"/>
    <p:sldId id="310" r:id="rId22"/>
    <p:sldId id="311" r:id="rId23"/>
    <p:sldId id="432" r:id="rId24"/>
    <p:sldId id="433" r:id="rId25"/>
    <p:sldId id="313" r:id="rId26"/>
    <p:sldId id="314" r:id="rId27"/>
    <p:sldId id="316" r:id="rId28"/>
    <p:sldId id="317" r:id="rId29"/>
    <p:sldId id="318" r:id="rId30"/>
    <p:sldId id="321" r:id="rId31"/>
    <p:sldId id="322" r:id="rId32"/>
    <p:sldId id="435" r:id="rId33"/>
    <p:sldId id="323" r:id="rId34"/>
    <p:sldId id="324" r:id="rId35"/>
    <p:sldId id="325" r:id="rId36"/>
    <p:sldId id="327" r:id="rId37"/>
    <p:sldId id="434" r:id="rId38"/>
    <p:sldId id="328" r:id="rId39"/>
    <p:sldId id="278" r:id="rId40"/>
    <p:sldId id="329" r:id="rId41"/>
    <p:sldId id="330" r:id="rId42"/>
    <p:sldId id="331" r:id="rId43"/>
    <p:sldId id="332" r:id="rId44"/>
    <p:sldId id="334" r:id="rId45"/>
    <p:sldId id="335" r:id="rId46"/>
    <p:sldId id="336" r:id="rId47"/>
    <p:sldId id="337" r:id="rId48"/>
    <p:sldId id="338" r:id="rId49"/>
    <p:sldId id="436" r:id="rId50"/>
    <p:sldId id="340" r:id="rId51"/>
    <p:sldId id="341" r:id="rId52"/>
    <p:sldId id="342" r:id="rId53"/>
    <p:sldId id="343" r:id="rId54"/>
    <p:sldId id="437" r:id="rId55"/>
    <p:sldId id="344" r:id="rId56"/>
    <p:sldId id="345" r:id="rId57"/>
    <p:sldId id="346" r:id="rId58"/>
    <p:sldId id="440" r:id="rId59"/>
    <p:sldId id="347" r:id="rId60"/>
    <p:sldId id="276" r:id="rId61"/>
    <p:sldId id="427" r:id="rId62"/>
    <p:sldId id="348" r:id="rId63"/>
    <p:sldId id="446" r:id="rId64"/>
    <p:sldId id="447" r:id="rId65"/>
    <p:sldId id="445" r:id="rId66"/>
    <p:sldId id="438" r:id="rId67"/>
    <p:sldId id="352" r:id="rId68"/>
    <p:sldId id="353" r:id="rId69"/>
    <p:sldId id="448" r:id="rId70"/>
    <p:sldId id="355" r:id="rId71"/>
    <p:sldId id="356" r:id="rId72"/>
    <p:sldId id="449" r:id="rId73"/>
    <p:sldId id="450" r:id="rId74"/>
    <p:sldId id="428" r:id="rId75"/>
    <p:sldId id="397" r:id="rId76"/>
    <p:sldId id="398" r:id="rId77"/>
    <p:sldId id="400" r:id="rId78"/>
    <p:sldId id="401" r:id="rId79"/>
    <p:sldId id="402" r:id="rId80"/>
    <p:sldId id="403" r:id="rId81"/>
    <p:sldId id="404" r:id="rId82"/>
    <p:sldId id="405" r:id="rId83"/>
    <p:sldId id="442" r:id="rId84"/>
    <p:sldId id="406" r:id="rId85"/>
    <p:sldId id="407" r:id="rId86"/>
    <p:sldId id="443" r:id="rId87"/>
    <p:sldId id="408" r:id="rId88"/>
    <p:sldId id="411" r:id="rId89"/>
    <p:sldId id="414" r:id="rId90"/>
    <p:sldId id="415" r:id="rId91"/>
    <p:sldId id="416" r:id="rId92"/>
    <p:sldId id="417" r:id="rId93"/>
    <p:sldId id="418" r:id="rId94"/>
    <p:sldId id="419" r:id="rId95"/>
    <p:sldId id="420" r:id="rId96"/>
    <p:sldId id="421" r:id="rId97"/>
    <p:sldId id="422" r:id="rId98"/>
    <p:sldId id="444" r:id="rId99"/>
    <p:sldId id="423" r:id="rId100"/>
    <p:sldId id="274" r:id="rId101"/>
    <p:sldId id="441" r:id="rId102"/>
    <p:sldId id="452" r:id="rId103"/>
    <p:sldId id="453" r:id="rId104"/>
    <p:sldId id="454" r:id="rId105"/>
    <p:sldId id="364" r:id="rId106"/>
    <p:sldId id="455" r:id="rId107"/>
    <p:sldId id="366" r:id="rId108"/>
    <p:sldId id="456" r:id="rId109"/>
    <p:sldId id="457" r:id="rId110"/>
    <p:sldId id="369" r:id="rId111"/>
    <p:sldId id="371" r:id="rId112"/>
    <p:sldId id="458" r:id="rId113"/>
    <p:sldId id="459" r:id="rId114"/>
    <p:sldId id="373" r:id="rId115"/>
    <p:sldId id="374" r:id="rId116"/>
    <p:sldId id="466" r:id="rId117"/>
    <p:sldId id="376" r:id="rId118"/>
    <p:sldId id="460" r:id="rId119"/>
    <p:sldId id="461" r:id="rId120"/>
    <p:sldId id="379" r:id="rId121"/>
    <p:sldId id="462" r:id="rId122"/>
    <p:sldId id="382" r:id="rId123"/>
    <p:sldId id="463" r:id="rId124"/>
    <p:sldId id="385" r:id="rId125"/>
    <p:sldId id="386" r:id="rId126"/>
    <p:sldId id="464" r:id="rId127"/>
    <p:sldId id="388" r:id="rId128"/>
    <p:sldId id="389" r:id="rId129"/>
    <p:sldId id="390" r:id="rId130"/>
    <p:sldId id="391" r:id="rId131"/>
    <p:sldId id="392" r:id="rId132"/>
    <p:sldId id="393" r:id="rId133"/>
    <p:sldId id="394" r:id="rId134"/>
    <p:sldId id="395" r:id="rId135"/>
    <p:sldId id="396" r:id="rId136"/>
    <p:sldId id="467" r:id="rId137"/>
    <p:sldId id="468" r:id="rId138"/>
    <p:sldId id="272" r:id="rId13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D5D000"/>
    <a:srgbClr val="CC0000"/>
    <a:srgbClr val="E2DD00"/>
    <a:srgbClr val="716A3F"/>
    <a:srgbClr val="FAF400"/>
    <a:srgbClr val="E6AD3A"/>
    <a:srgbClr val="D2DD8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4361" autoAdjust="0"/>
    <p:restoredTop sz="87034" autoAdjust="0"/>
  </p:normalViewPr>
  <p:slideViewPr>
    <p:cSldViewPr>
      <p:cViewPr>
        <p:scale>
          <a:sx n="75" d="100"/>
          <a:sy n="75" d="100"/>
        </p:scale>
        <p:origin x="-978" y="162"/>
      </p:cViewPr>
      <p:guideLst>
        <p:guide orient="horz" pos="2160"/>
        <p:guide pos="2880"/>
      </p:guideLst>
    </p:cSldViewPr>
  </p:slideViewPr>
  <p:notesTextViewPr>
    <p:cViewPr>
      <p:scale>
        <a:sx n="100" d="100"/>
        <a:sy n="100" d="100"/>
      </p:scale>
      <p:origin x="0" y="780"/>
    </p:cViewPr>
  </p:notesTextViewPr>
  <p:sorterViewPr>
    <p:cViewPr>
      <p:scale>
        <a:sx n="100" d="100"/>
        <a:sy n="100" d="100"/>
      </p:scale>
      <p:origin x="0" y="34362"/>
    </p:cViewPr>
  </p:sorterViewPr>
  <p:notesViewPr>
    <p:cSldViewPr>
      <p:cViewPr varScale="1">
        <p:scale>
          <a:sx n="53" d="100"/>
          <a:sy n="53" d="100"/>
        </p:scale>
        <p:origin x="-1878" y="-9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notesMaster" Target="notesMasters/notesMaster1.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dirty="0">
                <a:latin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08ABC306-BD9F-4BCA-80C1-9F725E8712BD}" type="datetimeFigureOut">
              <a:rPr lang="en-US"/>
              <a:pPr>
                <a:defRPr/>
              </a:pPr>
              <a:t>6/20/2015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dirty="0">
                <a:latin typeface="Arial" charset="0"/>
              </a:defRPr>
            </a:lvl1pPr>
          </a:lstStyle>
          <a:p>
            <a:pPr>
              <a:defRPr/>
            </a:pPr>
            <a:r>
              <a:rPr lang="en-US"/>
              <a:t>Confidential © </a:t>
            </a:r>
            <a:r>
              <a:rPr lang="en-US" smtClean="0"/>
              <a:t>2009 </a:t>
            </a:r>
            <a:r>
              <a:rPr lang="en-US"/>
              <a:t>Wipro Ltd</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00DB994D-ACB2-4A2E-8057-C572934B6023}" type="slidenum">
              <a:rPr lang="en-US"/>
              <a:pPr>
                <a:defRPr/>
              </a:pPr>
              <a:t>‹#›</a:t>
            </a:fld>
            <a:endParaRPr lang="en-US" dirty="0"/>
          </a:p>
        </p:txBody>
      </p:sp>
    </p:spTree>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dirty="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83FF1236-359A-43C6-B33B-D457FEF076A8}" type="datetimeFigureOut">
              <a:rPr lang="en-US"/>
              <a:pPr>
                <a:defRPr/>
              </a:pPr>
              <a:t>6/20/2015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dirty="0">
                <a:latin typeface="Arial" charset="0"/>
              </a:defRPr>
            </a:lvl1pPr>
          </a:lstStyle>
          <a:p>
            <a:pPr>
              <a:defRPr/>
            </a:pPr>
            <a:r>
              <a:rPr lang="en-US"/>
              <a:t>Confidential © 2009 Wipro Ltd</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CE36E3E0-E01F-4CE4-BFA6-4DF72C0F19F0}" type="slidenum">
              <a:rPr lang="en-US"/>
              <a:pPr>
                <a:defRPr/>
              </a:pPr>
              <a:t>‹#›</a:t>
            </a:fld>
            <a:endParaRPr lang="en-US" dirty="0"/>
          </a:p>
        </p:txBody>
      </p:sp>
    </p:spTree>
  </p:cSld>
  <p:clrMap bg1="lt1" tx1="dk1" bg2="lt2" tx2="dk2" accent1="accent1" accent2="accent2" accent3="accent3" accent4="accent4" accent5="accent5" accent6="accent6" hlink="hlink" folHlink="folHlink"/>
  <p:hf sldNum="0"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p:spPr>
      </p:sp>
      <p:sp>
        <p:nvSpPr>
          <p:cNvPr id="28674"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
        <p:nvSpPr>
          <p:cNvPr id="28675"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dirty="0" smtClean="0"/>
              <a:t>Confidential © 2008 Wipro Ltd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p:cNvSpPr>
          <p:nvPr>
            <p:ph type="sldImg"/>
          </p:nvPr>
        </p:nvSpPr>
        <p:spPr bwMode="auto">
          <a:noFill/>
          <a:ln>
            <a:solidFill>
              <a:srgbClr val="000000"/>
            </a:solidFill>
            <a:miter lim="800000"/>
            <a:headEnd/>
            <a:tailEnd/>
          </a:ln>
        </p:spPr>
      </p:sp>
      <p:sp>
        <p:nvSpPr>
          <p:cNvPr id="30722"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
        <p:nvSpPr>
          <p:cNvPr id="30723"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dirty="0" smtClean="0"/>
              <a:t>Confidential © 2009 Wipro Ltd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p:cNvSpPr>
          <p:nvPr>
            <p:ph type="sldImg"/>
          </p:nvPr>
        </p:nvSpPr>
        <p:spPr bwMode="auto">
          <a:noFill/>
          <a:ln>
            <a:solidFill>
              <a:srgbClr val="000000"/>
            </a:solidFill>
            <a:miter lim="800000"/>
            <a:headEnd/>
            <a:tailEnd/>
          </a:ln>
        </p:spPr>
      </p:sp>
      <p:sp>
        <p:nvSpPr>
          <p:cNvPr id="32770"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
        <p:nvSpPr>
          <p:cNvPr id="32771"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dirty="0" smtClean="0"/>
              <a:t>Confidential © 2009 Wipro Ltd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p:cNvSpPr>
          <p:nvPr>
            <p:ph type="sldImg"/>
          </p:nvPr>
        </p:nvSpPr>
        <p:spPr bwMode="auto">
          <a:noFill/>
          <a:ln>
            <a:solidFill>
              <a:srgbClr val="000000"/>
            </a:solidFill>
            <a:miter lim="800000"/>
            <a:headEnd/>
            <a:tailEnd/>
          </a:ln>
        </p:spPr>
      </p:sp>
      <p:sp>
        <p:nvSpPr>
          <p:cNvPr id="34818"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
        <p:nvSpPr>
          <p:cNvPr id="34819"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dirty="0" smtClean="0"/>
              <a:t>Confidential © 2009 Wipro Ltd</a:t>
            </a:r>
          </a:p>
        </p:txBody>
      </p:sp>
      <p:sp>
        <p:nvSpPr>
          <p:cNvPr id="34820" name="Rectangle 4"/>
          <p:cNvSpPr>
            <a:spLocks noChangeArrowheads="1"/>
          </p:cNvSpPr>
          <p:nvPr/>
        </p:nvSpPr>
        <p:spPr bwMode="auto">
          <a:xfrm>
            <a:off x="4800600" y="3505200"/>
            <a:ext cx="550863" cy="369888"/>
          </a:xfrm>
          <a:prstGeom prst="rect">
            <a:avLst/>
          </a:prstGeom>
          <a:noFill/>
          <a:ln w="9525">
            <a:noFill/>
            <a:miter lim="800000"/>
            <a:headEnd/>
            <a:tailEnd/>
          </a:ln>
        </p:spPr>
        <p:txBody>
          <a:bodyPr wrap="none">
            <a:spAutoFit/>
          </a:bodyPr>
          <a:lstStyle/>
          <a:p>
            <a:r>
              <a:rPr lang="en-US" b="1" dirty="0">
                <a:latin typeface="Gill Sans MT" pitchFamily="34" charset="0"/>
              </a:rPr>
              <a:t>1hr</a:t>
            </a:r>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CFE300CA-A14E-431A-A8AC-7597EC67ECD3}" type="slidenum">
              <a:rPr lang="en-US" sz="1200"/>
              <a:pPr algn="r"/>
              <a:t>5</a:t>
            </a:fld>
            <a:endParaRPr lang="en-US" sz="1200" dirty="0"/>
          </a:p>
        </p:txBody>
      </p:sp>
      <p:sp>
        <p:nvSpPr>
          <p:cNvPr id="36866"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36867"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dirty="0" smtClean="0">
                <a:latin typeface="Regular"/>
              </a:rPr>
              <a:t>A slightly different view of an operating system focuses on the need to control various I/O devices and user programs. An operating system is a control program. A control program controls the execution of user programs to prevent errors and improper use of the computer. It is especially concerned with the operation and control of I/O devices</a:t>
            </a:r>
          </a:p>
          <a:p>
            <a:pPr eaLnBrk="1" hangingPunct="1"/>
            <a:r>
              <a:rPr lang="en-US" dirty="0" smtClean="0">
                <a:latin typeface="Regular"/>
              </a:rPr>
              <a:t>In general, however, there is no completely adequate definition of an operating system. Operating system exists because they are reasonable way to solve the problem of creating a usable computing system. The fundaments goal of an operating system is to execute user programs and to make solving user problems easier.</a:t>
            </a:r>
          </a:p>
          <a:p>
            <a:pPr eaLnBrk="1" hangingPunct="1"/>
            <a:endParaRPr 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59183A00-1E87-4064-8359-16BB3B08ABD2}" type="slidenum">
              <a:rPr lang="en-US" sz="1200"/>
              <a:pPr algn="r"/>
              <a:t>6</a:t>
            </a:fld>
            <a:endParaRPr lang="en-US" sz="1200" dirty="0"/>
          </a:p>
        </p:txBody>
      </p:sp>
      <p:sp>
        <p:nvSpPr>
          <p:cNvPr id="38914"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38915"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dirty="0" smtClean="0"/>
              <a:t>The Hardware</a:t>
            </a:r>
          </a:p>
          <a:p>
            <a:pPr eaLnBrk="1" hangingPunct="1"/>
            <a:r>
              <a:rPr lang="en-US" dirty="0" smtClean="0"/>
              <a:t>	The central processing unit (CPU), the memory, and the input/output (I/O) devices provide the basic computing resources. </a:t>
            </a:r>
          </a:p>
          <a:p>
            <a:pPr eaLnBrk="1" hangingPunct="1"/>
            <a:r>
              <a:rPr lang="en-US" dirty="0" smtClean="0"/>
              <a:t>Operating System</a:t>
            </a:r>
          </a:p>
          <a:p>
            <a:pPr eaLnBrk="1" hangingPunct="1"/>
            <a:r>
              <a:rPr lang="en-US" dirty="0" smtClean="0"/>
              <a:t>	The components of a computer system are its hardware, software and data. The operating system provides means for the proper use of these resources in the operation of the computer system. Operating system simply provides and environment within which other programs can do useful work.</a:t>
            </a:r>
          </a:p>
          <a:p>
            <a:pPr eaLnBrk="1" hangingPunct="1"/>
            <a:r>
              <a:rPr lang="en-US" dirty="0" smtClean="0"/>
              <a:t>The Application programs </a:t>
            </a:r>
          </a:p>
          <a:p>
            <a:pPr eaLnBrk="1" hangingPunct="1"/>
            <a:r>
              <a:rPr lang="en-US" dirty="0" smtClean="0"/>
              <a:t>	The application programs such as compilers, database systems, games, and business programs define the way in which these resources are used to solve the computing problems of the users. There may be many different users trying to solve different problems. The operating system controls and coordinates the use of the hardware among the various application programs for </a:t>
            </a:r>
            <a:r>
              <a:rPr lang="en-US" smtClean="0"/>
              <a:t>the </a:t>
            </a:r>
            <a:r>
              <a:rPr lang="en-US" smtClean="0"/>
              <a:t>users</a:t>
            </a:r>
            <a:endParaRPr lang="en-US"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1E54E528-94F9-4149-A6B5-8ABA65F07E0D}" type="slidenum">
              <a:rPr lang="en-US" sz="1200"/>
              <a:pPr algn="r"/>
              <a:t>7</a:t>
            </a:fld>
            <a:endParaRPr lang="en-US" sz="1200" dirty="0"/>
          </a:p>
        </p:txBody>
      </p:sp>
      <p:sp>
        <p:nvSpPr>
          <p:cNvPr id="40962"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40963" name="Rectangle 3"/>
          <p:cNvSpPr>
            <a:spLocks noGrp="1" noChangeArrowheads="1"/>
          </p:cNvSpPr>
          <p:nvPr>
            <p:ph type="body" idx="1"/>
          </p:nvPr>
        </p:nvSpPr>
        <p:spPr bwMode="auto">
          <a:xfrm>
            <a:off x="912813" y="4356100"/>
            <a:ext cx="5032375" cy="3302000"/>
          </a:xfrm>
          <a:noFill/>
        </p:spPr>
        <p:txBody>
          <a:bodyPr wrap="square" numCol="1" anchor="t" anchorCtr="0" compatLnSpc="1">
            <a:prstTxWarp prst="textNoShape">
              <a:avLst/>
            </a:prstTxWarp>
          </a:bodyPr>
          <a:lstStyle/>
          <a:p>
            <a:pPr eaLnBrk="1" hangingPunct="1"/>
            <a:r>
              <a:rPr lang="en-US" dirty="0" smtClean="0">
                <a:latin typeface="Regular"/>
              </a:rPr>
              <a:t>An operating system is an important part of almost every computer system. A Computer system can be divided roughly into four components; the hard ware, the operating system, the application programs and the users</a:t>
            </a:r>
          </a:p>
          <a:p>
            <a:pPr eaLnBrk="1" hangingPunct="1"/>
            <a:r>
              <a:rPr lang="en-US" dirty="0" smtClean="0">
                <a:latin typeface="Regular"/>
              </a:rPr>
              <a:t>The primary function of the operating system is to provide an environment in which users may execute their own instructions. Once the operating system is loaded into the main memory, the CPU starts executing it. Operating system run in an infinite loop, each time taking instructions in the form of commands or programs from the users and executing them.  This loop continues until the user terminates the loop when the computer shuts down.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6A47A82D-E852-41FF-AAE8-0936E7374857}" type="slidenum">
              <a:rPr lang="en-US" sz="1200"/>
              <a:pPr algn="r"/>
              <a:t>8</a:t>
            </a:fld>
            <a:endParaRPr lang="en-US" sz="1200" dirty="0"/>
          </a:p>
        </p:txBody>
      </p:sp>
      <p:sp>
        <p:nvSpPr>
          <p:cNvPr id="43010"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43011"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dirty="0" smtClean="0"/>
              <a:t>A computer system has many resources- hardware, software that may be required to solve the problem: </a:t>
            </a:r>
            <a:r>
              <a:rPr lang="en-US" dirty="0" err="1" smtClean="0"/>
              <a:t>cpu</a:t>
            </a:r>
            <a:r>
              <a:rPr lang="en-US" smtClean="0"/>
              <a:t> time, memory space, file storage space, I/O devices and so on.</a:t>
            </a:r>
          </a:p>
          <a:p>
            <a:pPr eaLnBrk="1" hangingPunct="1"/>
            <a:endParaRPr lang="en-US" smtClean="0"/>
          </a:p>
          <a:p>
            <a:pPr eaLnBrk="1" hangingPunct="1"/>
            <a:r>
              <a:rPr lang="en-US" smtClean="0"/>
              <a:t>A Control program manages the execution of user programs to prevent errors and improper use of the computer.</a:t>
            </a:r>
            <a:endParaRPr lang="hi-IN" smtClean="0">
              <a:ea typeface="Mangal" pitchFamily="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00326049-B8C3-453D-9917-498FD75790E9}" type="slidenum">
              <a:rPr lang="en-US" sz="1200"/>
              <a:pPr algn="r"/>
              <a:t>9</a:t>
            </a:fld>
            <a:endParaRPr lang="en-US" sz="1200"/>
          </a:p>
        </p:txBody>
      </p:sp>
      <p:sp>
        <p:nvSpPr>
          <p:cNvPr id="45058"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45059"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351881C1-2A1C-43AF-83CE-90C3F7CD48CF}" type="slidenum">
              <a:rPr lang="en-US" sz="1200"/>
              <a:pPr algn="r"/>
              <a:t>10</a:t>
            </a:fld>
            <a:endParaRPr lang="en-US" sz="1200"/>
          </a:p>
        </p:txBody>
      </p:sp>
      <p:sp>
        <p:nvSpPr>
          <p:cNvPr id="47106"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47107"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dirty="0" smtClean="0">
                <a:latin typeface="Regular"/>
              </a:rPr>
              <a:t>A time shared system allows many users to share the computers simultaneously.</a:t>
            </a:r>
          </a:p>
          <a:p>
            <a:pPr eaLnBrk="1" hangingPunct="1"/>
            <a:r>
              <a:rPr lang="en-US" dirty="0" smtClean="0">
                <a:latin typeface="Regular"/>
              </a:rPr>
              <a:t>A time sharing OS uses CPU scheduling and Multiprogramming to provide each user with a small portion of time-shared computer.</a:t>
            </a:r>
          </a:p>
          <a:p>
            <a:pPr eaLnBrk="1" hangingPunct="1"/>
            <a:r>
              <a:rPr lang="en-US" dirty="0" smtClean="0">
                <a:latin typeface="Regular"/>
              </a:rPr>
              <a:t>As the system switches rapidly from one user to the next, each user is given an impression that he has his own computer, whereas actually one system is being shared.</a:t>
            </a:r>
          </a:p>
          <a:p>
            <a:pPr eaLnBrk="1" hangingPunct="1"/>
            <a:endParaRPr lang="en-US" dirty="0" smtClean="0">
              <a:latin typeface="Regular"/>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On-line system to exist for users to access data and program.</a:t>
            </a:r>
          </a:p>
          <a:p>
            <a:pPr eaLnBrk="1" hangingPunct="1"/>
            <a:endParaRPr lang="en-US" dirty="0" smtClean="0">
              <a:latin typeface="Regul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1A330AC0-379B-4CA9-8FB6-F29EA0BBD9D6}" type="slidenum">
              <a:rPr lang="en-US" sz="1200"/>
              <a:pPr algn="r"/>
              <a:t>11</a:t>
            </a:fld>
            <a:endParaRPr lang="en-US" sz="1200"/>
          </a:p>
        </p:txBody>
      </p:sp>
      <p:sp>
        <p:nvSpPr>
          <p:cNvPr id="49154"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49155"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smtClean="0">
                <a:latin typeface="Regular"/>
              </a:rPr>
              <a:t>Personal computers appeared in  the 1970s. They are micro computers that are considerably smaller and less expensive than mainframe systems. These systems include PCs running Microsoft Windows, Apple Macintosh,  Linux etc.</a:t>
            </a:r>
          </a:p>
          <a:p>
            <a:pPr eaLnBrk="1" hangingPunct="1"/>
            <a:r>
              <a:rPr lang="en-US" smtClean="0">
                <a:latin typeface="Regular"/>
              </a:rPr>
              <a:t>The hardware cost for microcomputers are sufficiently low that individuals have sole use of the computer, and the CPU Utilization. At the same time that features of large operating systems were being scaled down to fit personal computers, more powerful, faster and more sophisticated hardware systems were being developed. </a:t>
            </a:r>
          </a:p>
          <a:p>
            <a:pPr eaLnBrk="1" hangingPunct="1"/>
            <a:endParaRPr lang="en-US" smtClean="0">
              <a:latin typeface="Regul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66BC2062-8EDB-45E9-8A27-595EE83BE897}" type="slidenum">
              <a:rPr lang="en-US" sz="1200"/>
              <a:pPr algn="r"/>
              <a:t>12</a:t>
            </a:fld>
            <a:endParaRPr lang="en-US" sz="1200"/>
          </a:p>
        </p:txBody>
      </p:sp>
      <p:sp>
        <p:nvSpPr>
          <p:cNvPr id="51202"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51203"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smtClean="0">
                <a:latin typeface="Regular"/>
              </a:rPr>
              <a:t>Real-time systems is used when there are rigid time requirements on the operation of a processor or the flow of data, and thus is often used as a control device in a dedicated application. Sensors bring data to the computer. The computer must analyze the data and possibly adjust controls to modify the sensor inputs. Systems that control scientific experiments , medical imaging systems, industrial control systems, and some display systems are real-time systems. A real-time system has well defined, fixed time constraints. Processing must be done with in the defined constraints, or the system will fail. A real-time system is considered to function correctly only if it returns the correct result within any time constraints</a:t>
            </a:r>
            <a:r>
              <a:rPr lang="en-US" smtClean="0"/>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88FD85FA-7AE0-4FC1-B1A5-D4E2F5F942C9}" type="slidenum">
              <a:rPr lang="en-US" sz="1200"/>
              <a:pPr algn="r"/>
              <a:t>13</a:t>
            </a:fld>
            <a:endParaRPr lang="en-US" sz="1200"/>
          </a:p>
        </p:txBody>
      </p:sp>
      <p:sp>
        <p:nvSpPr>
          <p:cNvPr id="53250"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76132" name="Rectangle 3"/>
          <p:cNvSpPr>
            <a:spLocks noGrp="1" noChangeArrowheads="1"/>
          </p:cNvSpPr>
          <p:nvPr>
            <p:ph type="body" idx="1"/>
          </p:nvPr>
        </p:nvSpPr>
        <p:spPr>
          <a:xfrm>
            <a:off x="912813" y="4343400"/>
            <a:ext cx="5032375" cy="4114800"/>
          </a:xfrm>
          <a:ln/>
        </p:spPr>
        <p:txBody>
          <a:bodyPr>
            <a:normAutofit lnSpcReduction="10000"/>
          </a:bodyPr>
          <a:lstStyle/>
          <a:p>
            <a:pPr eaLnBrk="1" hangingPunct="1">
              <a:defRPr/>
            </a:pPr>
            <a:r>
              <a:rPr lang="en-US" dirty="0" smtClean="0">
                <a:latin typeface="Regular"/>
              </a:rPr>
              <a:t>There are two flavors of real-time systems. A hard real-time system guarantees that critical tasks complete on time. This goal requires that all delay in the system be bounded, from the retrieval of stored data to the time that it takes the operating system to finish any request made of it. Such time constraints dictate the facilities that are available in hard real-time systems. The hard real-time systems conflict with the operation of time-sharing systems, and the two cannot be mixed. Since none of the existing general purpose operating systems support hard real-time functionality.</a:t>
            </a:r>
          </a:p>
          <a:p>
            <a:pPr eaLnBrk="1" hangingPunct="1">
              <a:defRPr/>
            </a:pPr>
            <a:r>
              <a:rPr lang="en-US" dirty="0" smtClean="0">
                <a:latin typeface="Regular"/>
              </a:rPr>
              <a:t>A less restrictive type of real-time system is a Soft real-time, where a critical real-time task gets priority over other tasks, and retains that priority until it completes. As in hard real-time systems, kernel delays need to be bounded: A real-time task cannot be kept waiting indefinitely for the kernel to run it. Soft real-time is an achievable goal that is amenable to mixing with other types of systems. Soft real-time systems, however, have more limited utilities than do hard real-time systems, Given their lack of deadline support, they are risky to use for industrial control and robotics. There are several areas in which they are useful, however, including multimedia, virtual reality and advanced scientific projects such as undersea exploration and planetary rovers. These systems need advanced operating-system features that cannot be supported by hard real-time systems. Because of the expanded uses for soft real-time functionality, it is finding its way into most current operating systems, including major versions of UNIX.  </a:t>
            </a:r>
          </a:p>
          <a:p>
            <a:pPr eaLnBrk="1" hangingPunct="1">
              <a:defRPr/>
            </a:pPr>
            <a:endParaRPr lang="en-US" dirty="0" smtClean="0">
              <a:latin typeface="Regul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DADF6FA1-D67A-4CD2-9B8B-8804E0561E1D}" type="slidenum">
              <a:rPr lang="en-US" sz="1200"/>
              <a:pPr algn="r"/>
              <a:t>14</a:t>
            </a:fld>
            <a:endParaRPr lang="en-US" sz="1200"/>
          </a:p>
        </p:txBody>
      </p:sp>
      <p:sp>
        <p:nvSpPr>
          <p:cNvPr id="55298"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55299"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smtClean="0">
                <a:latin typeface="Regular"/>
              </a:rPr>
              <a:t>Personal Digital Assistant; a small hand-held computer that in the most basic form, allows you to store names and addresses, prepare to-do lists, schedule appointments, keep track of projects, track expenditures, take notes, and do calculations. Depending on the model, you also may be able to send or receive e-mail; do word processing; play MP3 music files; get news, entertainment and stock quotes from the Internet; play video games; and have an integrated digital camera or GPS receiver. </a:t>
            </a:r>
            <a:br>
              <a:rPr lang="en-US" smtClean="0">
                <a:latin typeface="Regular"/>
              </a:rPr>
            </a:br>
            <a:endParaRPr lang="en-US" smtClean="0">
              <a:latin typeface="Regul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8EE50FC7-2B82-45DE-9BC4-2861620FA257}" type="slidenum">
              <a:rPr lang="en-US" sz="1200"/>
              <a:pPr algn="r"/>
              <a:t>15</a:t>
            </a:fld>
            <a:endParaRPr lang="en-US" sz="1200"/>
          </a:p>
        </p:txBody>
      </p:sp>
      <p:sp>
        <p:nvSpPr>
          <p:cNvPr id="57346"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57347"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p:spPr>
      </p:sp>
      <p:sp>
        <p:nvSpPr>
          <p:cNvPr id="59394"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p:cNvSpPr>
          <p:nvPr>
            <p:ph type="sldImg"/>
          </p:nvPr>
        </p:nvSpPr>
        <p:spPr bwMode="auto">
          <a:noFill/>
          <a:ln>
            <a:solidFill>
              <a:srgbClr val="000000"/>
            </a:solidFill>
            <a:miter lim="800000"/>
            <a:headEnd/>
            <a:tailEnd/>
          </a:ln>
        </p:spPr>
      </p:sp>
      <p:sp>
        <p:nvSpPr>
          <p:cNvPr id="61442"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1443"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p:cNvSpPr>
          <p:nvPr>
            <p:ph type="sldImg"/>
          </p:nvPr>
        </p:nvSpPr>
        <p:spPr bwMode="auto">
          <a:noFill/>
          <a:ln>
            <a:solidFill>
              <a:srgbClr val="000000"/>
            </a:solidFill>
            <a:miter lim="800000"/>
            <a:headEnd/>
            <a:tailEnd/>
          </a:ln>
        </p:spPr>
      </p:sp>
      <p:sp>
        <p:nvSpPr>
          <p:cNvPr id="63490"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63491"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p:spPr>
      </p:sp>
      <p:sp>
        <p:nvSpPr>
          <p:cNvPr id="65538"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smtClean="0"/>
              <a:t>Operating System Functionalities </a:t>
            </a:r>
          </a:p>
          <a:p>
            <a:pPr lvl="1"/>
            <a:endParaRPr lang="en-US" dirty="0" smtClean="0"/>
          </a:p>
          <a:p>
            <a:pPr lvl="1"/>
            <a:r>
              <a:rPr lang="en-US" dirty="0" smtClean="0"/>
              <a:t>File Management</a:t>
            </a:r>
          </a:p>
          <a:p>
            <a:pPr lvl="1"/>
            <a:r>
              <a:rPr lang="en-US" dirty="0" smtClean="0"/>
              <a:t>Memory Management</a:t>
            </a:r>
          </a:p>
          <a:p>
            <a:pPr lvl="1"/>
            <a:r>
              <a:rPr lang="en-US" dirty="0" smtClean="0"/>
              <a:t>Process Management</a:t>
            </a:r>
          </a:p>
          <a:p>
            <a:pPr lvl="1"/>
            <a:r>
              <a:rPr lang="en-US" dirty="0" smtClean="0"/>
              <a:t>I/O Management</a:t>
            </a:r>
          </a:p>
          <a:p>
            <a:pPr lvl="1"/>
            <a:r>
              <a:rPr lang="en-US" dirty="0" smtClean="0"/>
              <a:t>Security Management</a:t>
            </a:r>
          </a:p>
          <a:p>
            <a:pPr lvl="1"/>
            <a:r>
              <a:rPr lang="en-US" dirty="0" smtClean="0"/>
              <a:t>Interrupts management</a:t>
            </a:r>
          </a:p>
          <a:p>
            <a:pPr lvl="1"/>
            <a:r>
              <a:rPr lang="en-US" dirty="0" smtClean="0"/>
              <a:t>Storage Management </a:t>
            </a:r>
          </a:p>
          <a:p>
            <a:pPr lvl="1"/>
            <a:r>
              <a:rPr lang="en-US" dirty="0" smtClean="0"/>
              <a:t>Protection of CPU / Memory and I/O</a:t>
            </a:r>
          </a:p>
          <a:p>
            <a:pPr lvl="1"/>
            <a:r>
              <a:rPr lang="en-US" dirty="0" smtClean="0"/>
              <a:t>Booting process and User management</a:t>
            </a:r>
          </a:p>
          <a:p>
            <a:endParaRPr lang="en-US"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67586"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dirty="0" smtClean="0">
                <a:latin typeface="Regular"/>
              </a:rPr>
              <a:t>A file is a collected of related information defined by its creator. Computer can store files on the disk (secondary storage), which provide long term storage. Some examples of storage media are magnetic tape, magnetic disk and optical disk. Each of these media has its own properties like speed, capacity, data transfer rate and access methods.</a:t>
            </a:r>
          </a:p>
          <a:p>
            <a:pPr eaLnBrk="1" hangingPunct="1"/>
            <a:r>
              <a:rPr lang="en-US" dirty="0" smtClean="0">
                <a:latin typeface="Regular"/>
              </a:rPr>
              <a:t>A file systems normally organized into directories to ease their use. These directories may contain files and other directions.</a:t>
            </a:r>
          </a:p>
          <a:p>
            <a:pPr eaLnBrk="1" hangingPunct="1"/>
            <a:r>
              <a:rPr lang="en-US" dirty="0" smtClean="0">
                <a:latin typeface="Regular"/>
              </a:rPr>
              <a:t>The five main major activities of an operating system in regard to file management are</a:t>
            </a:r>
          </a:p>
          <a:p>
            <a:pPr lvl="1" eaLnBrk="1" hangingPunct="1"/>
            <a:r>
              <a:rPr lang="en-US" dirty="0" smtClean="0">
                <a:latin typeface="Regular"/>
              </a:rPr>
              <a:t>The creation and deletion of files. </a:t>
            </a:r>
          </a:p>
          <a:p>
            <a:pPr lvl="1" eaLnBrk="1" hangingPunct="1"/>
            <a:r>
              <a:rPr lang="en-US" dirty="0" smtClean="0">
                <a:latin typeface="Regular"/>
              </a:rPr>
              <a:t>The creation and deletion of directions. </a:t>
            </a:r>
          </a:p>
          <a:p>
            <a:pPr lvl="1" eaLnBrk="1" hangingPunct="1"/>
            <a:r>
              <a:rPr lang="en-US" dirty="0" smtClean="0">
                <a:latin typeface="Regular"/>
              </a:rPr>
              <a:t>The support of primitives for manipulating files and directions. </a:t>
            </a:r>
          </a:p>
          <a:p>
            <a:pPr lvl="1" eaLnBrk="1" hangingPunct="1"/>
            <a:r>
              <a:rPr lang="en-US" dirty="0" smtClean="0">
                <a:latin typeface="Regular"/>
              </a:rPr>
              <a:t>The mapping of files onto secondary storage. </a:t>
            </a:r>
          </a:p>
          <a:p>
            <a:pPr lvl="1" eaLnBrk="1" hangingPunct="1"/>
            <a:r>
              <a:rPr lang="en-US" dirty="0" smtClean="0">
                <a:latin typeface="Regular"/>
              </a:rPr>
              <a:t>The back up of files on stable storage media. </a:t>
            </a:r>
          </a:p>
          <a:p>
            <a:pPr eaLnBrk="1" hangingPunct="1"/>
            <a:endParaRPr lang="en-US" dirty="0" smtClean="0"/>
          </a:p>
          <a:p>
            <a:pPr eaLnBrk="1" hangingPunct="1"/>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69634"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Primary Memory / Main-Memory is a large array of words or bytes. Each word or byte has its own address. Main-memory provides storage that can be access directly by the CPU. That is to say for a program to be executed, it need to be in Primary memory</a:t>
            </a:r>
          </a:p>
          <a:p>
            <a:pPr eaLnBrk="1" hangingPunct="1"/>
            <a:endParaRPr lang="hi-IN" dirty="0" smtClean="0">
              <a:ea typeface="Mangal" pitchFamily="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p:cNvSpPr>
          <p:nvPr>
            <p:ph type="sldImg"/>
          </p:nvPr>
        </p:nvSpPr>
        <p:spPr bwMode="auto">
          <a:noFill/>
          <a:ln>
            <a:solidFill>
              <a:srgbClr val="000000"/>
            </a:solidFill>
            <a:miter lim="800000"/>
            <a:headEnd/>
            <a:tailEnd/>
          </a:ln>
        </p:spPr>
      </p:sp>
      <p:sp>
        <p:nvSpPr>
          <p:cNvPr id="71682"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71683"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73730"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75778"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r>
              <a:rPr lang="en-US" dirty="0" smtClean="0"/>
              <a:t>Each program requires an input and produces output. This involves the use of I/O</a:t>
            </a:r>
          </a:p>
          <a:p>
            <a:endParaRPr lang="en-US" dirty="0" smtClean="0"/>
          </a:p>
          <a:p>
            <a:r>
              <a:rPr lang="en-US" dirty="0" smtClean="0"/>
              <a:t>The operating systems hides the user the details of underlying hardware for the I/O. All the user sees is that the I/O has been performed without any details</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Usually users cannot (may not be allowed) control I/O for efficiency and protection reasons</a:t>
            </a:r>
          </a:p>
          <a:p>
            <a:endParaRPr lang="en-US" dirty="0" smtClean="0"/>
          </a:p>
          <a:p>
            <a:r>
              <a:rPr lang="en-US" dirty="0" smtClean="0"/>
              <a:t>Operating systems by providing I/O makes it convenient for the users to run programs</a:t>
            </a:r>
          </a:p>
          <a:p>
            <a:endParaRPr lang="en-US" dirty="0" smtClean="0"/>
          </a:p>
          <a:p>
            <a:r>
              <a:rPr lang="en-US" dirty="0" smtClean="0"/>
              <a:t>For efficiency and protection,  users cannot control I/O so this service cannot be provided by user-level programs</a:t>
            </a: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The operating systems hides the user the details of underlying hardware for the I/O. </a:t>
            </a:r>
          </a:p>
          <a:p>
            <a:pPr eaLnBrk="1" hangingPunct="1"/>
            <a:endParaRPr lang="hi-IN" dirty="0" smtClean="0">
              <a:ea typeface="Mangal" pitchFamily="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77826"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79874"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b="1" dirty="0" smtClean="0">
                <a:latin typeface="Regular"/>
              </a:rPr>
              <a:t>Ordinary Users</a:t>
            </a:r>
          </a:p>
          <a:p>
            <a:pPr eaLnBrk="1" hangingPunct="1"/>
            <a:r>
              <a:rPr lang="en-US" dirty="0" smtClean="0">
                <a:latin typeface="Regular"/>
              </a:rPr>
              <a:t>Ordinary users will have only a set of privileges. The user will be given a home directory while creating. </a:t>
            </a:r>
          </a:p>
          <a:p>
            <a:pPr eaLnBrk="1" hangingPunct="1"/>
            <a:endParaRPr lang="en-US" b="1" dirty="0" smtClean="0">
              <a:latin typeface="Regular"/>
            </a:endParaRPr>
          </a:p>
          <a:p>
            <a:pPr eaLnBrk="1" hangingPunct="1"/>
            <a:r>
              <a:rPr lang="en-US" b="1" dirty="0" smtClean="0">
                <a:latin typeface="Regular"/>
              </a:rPr>
              <a:t>Administrator</a:t>
            </a:r>
          </a:p>
          <a:p>
            <a:pPr eaLnBrk="1" hangingPunct="1"/>
            <a:r>
              <a:rPr lang="en-US" dirty="0" smtClean="0">
                <a:latin typeface="Regular"/>
              </a:rPr>
              <a:t>The user with all the privileges to administrator the system, create users, allocate resources, configure various components like software and hardware. Administrators in UNIX are called as ‘root’ and administrators in windows is ‘administrator’. </a:t>
            </a:r>
          </a:p>
          <a:p>
            <a:pPr eaLnBrk="1" hangingPunct="1"/>
            <a:endParaRPr lang="en-US" b="1" dirty="0" smtClean="0">
              <a:latin typeface="Regular"/>
            </a:endParaRPr>
          </a:p>
          <a:p>
            <a:pPr eaLnBrk="1" hangingPunct="1"/>
            <a:r>
              <a:rPr lang="en-US" b="1" dirty="0" smtClean="0">
                <a:latin typeface="Regular"/>
              </a:rPr>
              <a:t>Guest</a:t>
            </a:r>
          </a:p>
          <a:p>
            <a:pPr eaLnBrk="1" hangingPunct="1"/>
            <a:r>
              <a:rPr lang="en-US" dirty="0" smtClean="0">
                <a:latin typeface="Regular"/>
              </a:rPr>
              <a:t>The guest users will have access only to some public folders and they can execute only few commands and utilities</a:t>
            </a:r>
          </a:p>
          <a:p>
            <a:r>
              <a:rPr lang="en-US" dirty="0" smtClean="0"/>
              <a:t>A group will have users having a common privilege for accessing folders and files.</a:t>
            </a:r>
          </a:p>
          <a:p>
            <a:endParaRPr lang="en-US" dirty="0" smtClean="0"/>
          </a:p>
          <a:p>
            <a:r>
              <a:rPr lang="en-US" dirty="0" smtClean="0"/>
              <a:t>The user login information for authentication will be kept in various system files.</a:t>
            </a:r>
          </a:p>
          <a:p>
            <a:pPr eaLnBrk="1" hangingPunct="1"/>
            <a:endParaRPr lang="en-US" dirty="0" smtClean="0">
              <a:latin typeface="Regul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81922"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r>
              <a:rPr lang="en-US" dirty="0" smtClean="0"/>
              <a:t>Device controller informs CPU that it has finished its operation by causing an interrupt.</a:t>
            </a:r>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Confirmation message will be sent by Device manager after finishing operation by causing an interrupt.</a:t>
            </a:r>
          </a:p>
          <a:p>
            <a:endParaRPr lang="en-US"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83970"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dirty="0" smtClean="0">
                <a:latin typeface="Regular"/>
              </a:rPr>
              <a:t>There are many different type of events that nay trigger an interrupt-for example, the completion of an I/O operation, division by zero, invalid memory access, and a request for some operating-system service. For each such interrupt, a service routine is provided that is responsible for dealing with the interrupt.</a:t>
            </a:r>
          </a:p>
          <a:p>
            <a:r>
              <a:rPr lang="en-US" dirty="0" smtClean="0"/>
              <a:t>Generally, the interrupt transfers control to interrupt service routine through interrupt vector,  containing addresses of all the service routines</a:t>
            </a:r>
          </a:p>
          <a:p>
            <a:r>
              <a:rPr lang="en-US" dirty="0" smtClean="0"/>
              <a:t>Interrupt architecture must save the address of the interrupted instruction</a:t>
            </a:r>
          </a:p>
          <a:p>
            <a:r>
              <a:rPr lang="en-US" dirty="0" smtClean="0"/>
              <a:t>Incoming interrupts are disabled while another interrupt is being processed to prevent a lost interrupt</a:t>
            </a:r>
          </a:p>
          <a:p>
            <a:r>
              <a:rPr lang="en-US" dirty="0" smtClean="0"/>
              <a:t>A trap is a software-generated interrupt caused either by an error or a user request</a:t>
            </a:r>
          </a:p>
          <a:p>
            <a:r>
              <a:rPr lang="en-US" dirty="0" smtClean="0"/>
              <a:t>An operating system is interrupt driven</a:t>
            </a:r>
          </a:p>
          <a:p>
            <a:pPr eaLnBrk="1" hangingPunct="1"/>
            <a:endParaRPr lang="en-US" dirty="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86018"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dirty="0" smtClean="0">
              <a:ea typeface="Mangal" pitchFamily="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88066"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r>
              <a:rPr lang="en-US" smtClean="0"/>
              <a:t>Main memory </a:t>
            </a:r>
          </a:p>
          <a:p>
            <a:r>
              <a:rPr lang="en-US" smtClean="0"/>
              <a:t>      </a:t>
            </a:r>
            <a:r>
              <a:rPr lang="en-US" sz="1000" smtClean="0"/>
              <a:t>–  a large storage media that CPU can access directly</a:t>
            </a:r>
          </a:p>
          <a:p>
            <a:r>
              <a:rPr lang="en-US" smtClean="0"/>
              <a:t>Secondary storage </a:t>
            </a:r>
          </a:p>
          <a:p>
            <a:r>
              <a:rPr lang="en-US" sz="1000" smtClean="0"/>
              <a:t>         – extension of main memory that provides large nonvolatile storage capacity</a:t>
            </a:r>
          </a:p>
          <a:p>
            <a:endParaRPr lang="en-US" smtClean="0"/>
          </a:p>
          <a:p>
            <a:r>
              <a:rPr lang="en-US" smtClean="0"/>
              <a:t>Magnetic disks </a:t>
            </a:r>
          </a:p>
          <a:p>
            <a:r>
              <a:rPr lang="en-US" sz="1000" smtClean="0"/>
              <a:t>        – rigid metal or glass platters covered with magnetic recording material </a:t>
            </a:r>
          </a:p>
          <a:p>
            <a:pPr marL="742950" lvl="1" indent="-285750"/>
            <a:r>
              <a:rPr lang="en-US" sz="800" smtClean="0"/>
              <a:t>Disk surface is logically divided into tracks, which are subdivided into sectors</a:t>
            </a:r>
          </a:p>
          <a:p>
            <a:pPr marL="742950" lvl="1" indent="-285750"/>
            <a:r>
              <a:rPr lang="en-US" sz="800" smtClean="0"/>
              <a:t>The disk controller determines the logical interaction between the device and the computer</a:t>
            </a:r>
          </a:p>
          <a:p>
            <a:pPr eaLnBrk="1" hangingPunct="1"/>
            <a:endParaRPr lang="hi-IN" smtClean="0">
              <a:ea typeface="Mangal" pitchFamily="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bwMode="auto">
          <a:noFill/>
          <a:ln>
            <a:solidFill>
              <a:srgbClr val="000000"/>
            </a:solidFill>
            <a:miter lim="800000"/>
            <a:headEnd/>
            <a:tailEnd/>
          </a:ln>
        </p:spPr>
      </p:sp>
      <p:sp>
        <p:nvSpPr>
          <p:cNvPr id="90114"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90115"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92162"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94210"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p:cNvSpPr>
            <a:spLocks noGrp="1" noRot="1" noChangeAspect="1"/>
          </p:cNvSpPr>
          <p:nvPr>
            <p:ph type="sldImg"/>
          </p:nvPr>
        </p:nvSpPr>
        <p:spPr bwMode="auto">
          <a:noFill/>
          <a:ln>
            <a:solidFill>
              <a:srgbClr val="000000"/>
            </a:solidFill>
            <a:miter lim="800000"/>
            <a:headEnd/>
            <a:tailEnd/>
          </a:ln>
        </p:spPr>
      </p:sp>
      <p:sp>
        <p:nvSpPr>
          <p:cNvPr id="96258"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96259"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98306"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r>
              <a:rPr lang="en-US" smtClean="0"/>
              <a:t>Every I/O instructions are usually privileged instructions</a:t>
            </a:r>
          </a:p>
          <a:p>
            <a:pPr marL="742950" lvl="1" indent="-285750"/>
            <a:r>
              <a:rPr lang="en-US" sz="800" smtClean="0"/>
              <a:t>Need to ensure that a user program will not gain control of PC in monitor mode (I.e., a user program that, as part of its execution, stores a new address in the interrupt vector)</a:t>
            </a:r>
          </a:p>
          <a:p>
            <a:r>
              <a:rPr lang="en-US" smtClean="0"/>
              <a:t>In order to have memory protection, add two registers that determine the range of legal addresses a program may access:</a:t>
            </a:r>
          </a:p>
          <a:p>
            <a:pPr marL="742950" lvl="1" indent="-285750"/>
            <a:r>
              <a:rPr lang="en-US" sz="800" b="1" smtClean="0"/>
              <a:t>Base register</a:t>
            </a:r>
            <a:r>
              <a:rPr lang="en-US" sz="800" smtClean="0"/>
              <a:t> – holds the smallest legal physical memory address</a:t>
            </a:r>
          </a:p>
          <a:p>
            <a:pPr marL="742950" lvl="1" indent="-285750"/>
            <a:r>
              <a:rPr lang="en-US" sz="800" b="1" smtClean="0"/>
              <a:t>Limit register</a:t>
            </a:r>
            <a:r>
              <a:rPr lang="en-US" sz="800" smtClean="0"/>
              <a:t> – contains the size of the range </a:t>
            </a:r>
          </a:p>
          <a:p>
            <a:pPr eaLnBrk="1" hangingPunct="1"/>
            <a:endParaRPr lang="hi-IN" smtClean="0">
              <a:ea typeface="Mangal" pitchFamily="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02402"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marL="742950" lvl="1" indent="-285750"/>
            <a:endParaRPr lang="en-US" sz="800" dirty="0" smtClean="0"/>
          </a:p>
          <a:p>
            <a:pPr marL="742950" lvl="1" indent="-285750"/>
            <a:r>
              <a:rPr lang="en-US" sz="800" dirty="0" smtClean="0"/>
              <a:t>Timer is decremented with every clock tick</a:t>
            </a:r>
          </a:p>
          <a:p>
            <a:pPr marL="742950" lvl="1" indent="-285750"/>
            <a:r>
              <a:rPr lang="en-US" sz="800" dirty="0" smtClean="0"/>
              <a:t>When the timer reaches the value 0, an interrupt occurs</a:t>
            </a:r>
          </a:p>
          <a:p>
            <a:endParaRPr lang="en-US" dirty="0" smtClean="0"/>
          </a:p>
          <a:p>
            <a:r>
              <a:rPr lang="en-US" dirty="0" smtClean="0"/>
              <a:t>Timer is commonly used to implement time sharing</a:t>
            </a:r>
          </a:p>
          <a:p>
            <a:endParaRPr lang="en-US" dirty="0" smtClean="0"/>
          </a:p>
          <a:p>
            <a:r>
              <a:rPr lang="en-US" dirty="0" smtClean="0"/>
              <a:t>Timer is also used to compute the current time</a:t>
            </a:r>
          </a:p>
          <a:p>
            <a:endParaRPr lang="en-US" dirty="0" smtClean="0"/>
          </a:p>
          <a:p>
            <a:r>
              <a:rPr lang="en-US" dirty="0" smtClean="0"/>
              <a:t>Load-timer is a privileged instruction</a:t>
            </a:r>
          </a:p>
          <a:p>
            <a:pPr eaLnBrk="1" hangingPunct="1"/>
            <a:endParaRPr lang="hi-IN" dirty="0" smtClean="0">
              <a:ea typeface="Mangal" pitchFamily="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04450"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r>
              <a:rPr lang="en-US" smtClean="0"/>
              <a:t>When a computer is turned on a small program stored in a ROM chip, performs some internal hardware component tests then loads the kernel from the hard disk</a:t>
            </a:r>
          </a:p>
          <a:p>
            <a:pPr eaLnBrk="1" hangingPunct="1"/>
            <a:endParaRPr lang="en-US" smtClean="0">
              <a:latin typeface="Regular"/>
            </a:endParaRPr>
          </a:p>
          <a:p>
            <a:pPr eaLnBrk="1" hangingPunct="1"/>
            <a:r>
              <a:rPr lang="en-US" smtClean="0">
                <a:latin typeface="Regular"/>
              </a:rPr>
              <a:t>For a computer to start running- for instance, when it is powered up or booted- it needs and initial program to run. This initial program, or bootstrap program, tends to be simple. It initializes all aspects of the system from CPU registers to device controllers to memory contents. The bootstrap program must know how to load the operating system and to start executing that system. To accomplish this goal, the bootstrap program must locate and load into memory the operating system kernel. The operating system then start executing the first process and waits for some events to occur. The occurrence of an event is usually signaled by an interrupt from either the hardware or software. </a:t>
            </a:r>
          </a:p>
          <a:p>
            <a:pPr eaLnBrk="1" hangingPunct="1"/>
            <a:endParaRPr lang="en-US" smtClean="0">
              <a:latin typeface="Regular"/>
            </a:endParaRPr>
          </a:p>
          <a:p>
            <a:pPr eaLnBrk="1" hangingPunct="1"/>
            <a:endParaRPr lang="en-US" smtClean="0">
              <a:latin typeface="Regul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p:cNvSpPr>
            <a:spLocks noGrp="1" noRot="1" noChangeAspect="1" noTextEdit="1"/>
          </p:cNvSpPr>
          <p:nvPr>
            <p:ph type="sldImg"/>
          </p:nvPr>
        </p:nvSpPr>
        <p:spPr bwMode="auto">
          <a:noFill/>
          <a:ln>
            <a:solidFill>
              <a:srgbClr val="000000"/>
            </a:solidFill>
            <a:miter lim="800000"/>
            <a:headEnd/>
            <a:tailEnd/>
          </a:ln>
        </p:spPr>
      </p:sp>
      <p:sp>
        <p:nvSpPr>
          <p:cNvPr id="106498"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Slide Image Placeholder 1"/>
          <p:cNvSpPr>
            <a:spLocks noGrp="1" noRot="1" noChangeAspect="1"/>
          </p:cNvSpPr>
          <p:nvPr>
            <p:ph type="sldImg"/>
          </p:nvPr>
        </p:nvSpPr>
        <p:spPr bwMode="auto">
          <a:noFill/>
          <a:ln>
            <a:solidFill>
              <a:srgbClr val="000000"/>
            </a:solidFill>
            <a:miter lim="800000"/>
            <a:headEnd/>
            <a:tailEnd/>
          </a:ln>
        </p:spPr>
      </p:sp>
      <p:sp>
        <p:nvSpPr>
          <p:cNvPr id="108546"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08547"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Slide Image Placeholder 1"/>
          <p:cNvSpPr>
            <a:spLocks noGrp="1" noRot="1" noChangeAspect="1"/>
          </p:cNvSpPr>
          <p:nvPr>
            <p:ph type="sldImg"/>
          </p:nvPr>
        </p:nvSpPr>
        <p:spPr bwMode="auto">
          <a:noFill/>
          <a:ln>
            <a:solidFill>
              <a:srgbClr val="000000"/>
            </a:solidFill>
            <a:miter lim="800000"/>
            <a:headEnd/>
            <a:tailEnd/>
          </a:ln>
        </p:spPr>
      </p:sp>
      <p:sp>
        <p:nvSpPr>
          <p:cNvPr id="110594"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10595"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12642" name="Rectangle 3"/>
          <p:cNvSpPr>
            <a:spLocks noGrp="1" noChangeArrowheads="1"/>
          </p:cNvSpPr>
          <p:nvPr>
            <p:ph type="body" idx="1"/>
          </p:nvPr>
        </p:nvSpPr>
        <p:spPr bwMode="auto">
          <a:xfrm>
            <a:off x="912813" y="4344988"/>
            <a:ext cx="5032375" cy="4114800"/>
          </a:xfrm>
          <a:noFill/>
        </p:spPr>
        <p:txBody>
          <a:bodyPr wrap="square" numCol="1" anchor="t" anchorCtr="0" compatLnSpc="1">
            <a:prstTxWarp prst="textNoShape">
              <a:avLst/>
            </a:prstTxWarp>
          </a:bodyPr>
          <a:lstStyle/>
          <a:p>
            <a:pPr eaLnBrk="1" hangingPunct="1"/>
            <a:r>
              <a:rPr lang="en-US" dirty="0" smtClean="0">
                <a:latin typeface="Regular"/>
              </a:rPr>
              <a:t>Processes carry out tasks within the operating system. A program is a set of machine  code instructions and data stored in an executable image on disk and is, as such, a passive entity; a process can be thought of as a computer program in action. </a:t>
            </a: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Process also include PC and all CPU registers as well as the process stacks containing temporary data </a:t>
            </a:r>
          </a:p>
          <a:p>
            <a:pPr eaLnBrk="1" hangingPunct="1"/>
            <a:endParaRPr lang="en-US" dirty="0" smtClean="0">
              <a:latin typeface="Regular"/>
            </a:endParaRPr>
          </a:p>
          <a:p>
            <a:pPr eaLnBrk="1" hangingPunct="1"/>
            <a:r>
              <a:rPr lang="en-US" dirty="0" smtClean="0">
                <a:latin typeface="Regular"/>
              </a:rPr>
              <a:t>It is a dynamic entity, constantly changing as the machine code instructions are  executed by the processor. As well as the program's instructions and data, the process also includes the program counter and all of the CPU's registers as well as the process stacks containing temporary data such as routine parameters, return addresses and saved variables. The current executing program, or process, includes all of the current activity in the microprocessor. </a:t>
            </a:r>
          </a:p>
          <a:p>
            <a:pPr eaLnBrk="1" hangingPunct="1"/>
            <a:r>
              <a:rPr lang="en-US" dirty="0" smtClean="0">
                <a:latin typeface="Regular"/>
              </a:rPr>
              <a:t>Unix/Linux is a multiprocessing operating system. Processes are separate tasks each  with their own rights and  responsibilities. </a:t>
            </a:r>
          </a:p>
          <a:p>
            <a:pPr eaLnBrk="1" hangingPunct="1"/>
            <a:r>
              <a:rPr lang="en-US" dirty="0" smtClean="0">
                <a:latin typeface="Regular"/>
              </a:rPr>
              <a:t>If one process crashes it will not  cause another process in the system to crash.</a:t>
            </a:r>
          </a:p>
          <a:p>
            <a:pPr eaLnBrk="1" hangingPunct="1"/>
            <a:r>
              <a:rPr lang="en-US" dirty="0" smtClean="0">
                <a:latin typeface="Regular"/>
              </a:rPr>
              <a:t> Each individual process runs in its own virtual address space and is not capable of interacting with another process except through secure, kernel managed mechanisms. </a:t>
            </a:r>
          </a:p>
          <a:p>
            <a:pPr eaLnBrk="1" hangingPunct="1"/>
            <a:endParaRPr lang="en-US" dirty="0" smtClean="0">
              <a:latin typeface="Regul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00708" name="Rectangle 3"/>
          <p:cNvSpPr>
            <a:spLocks noGrp="1" noChangeArrowheads="1"/>
          </p:cNvSpPr>
          <p:nvPr>
            <p:ph type="body" idx="1"/>
          </p:nvPr>
        </p:nvSpPr>
        <p:spPr>
          <a:xfrm>
            <a:off x="912813" y="4344988"/>
            <a:ext cx="5032375" cy="4114800"/>
          </a:xfrm>
          <a:ln/>
        </p:spPr>
        <p:txBody>
          <a:bodyPr>
            <a:normAutofit lnSpcReduction="10000"/>
          </a:bodyPr>
          <a:lstStyle/>
          <a:p>
            <a:pPr eaLnBrk="1" hangingPunct="1">
              <a:defRPr/>
            </a:pPr>
            <a:r>
              <a:rPr lang="en-US" dirty="0" smtClean="0">
                <a:latin typeface="Regular"/>
              </a:rPr>
              <a:t>During the lifetime of a process it will use many system resources. It will use the  CPUs in the system to run its instructions and the system's physical memory to hold it and its data. It will open and use files within the file systems and may directly or indirectly use the physical devices in the system. </a:t>
            </a:r>
          </a:p>
          <a:p>
            <a:pPr eaLnBrk="1" hangingPunct="1">
              <a:defRPr/>
            </a:pPr>
            <a:r>
              <a:rPr lang="en-US" dirty="0" smtClean="0">
                <a:latin typeface="Regular"/>
              </a:rPr>
              <a:t>  Unix/Linux must keep track of the process itself and of the system resources that it has so that it can manage it and the other processes in the system fairly.</a:t>
            </a:r>
          </a:p>
          <a:p>
            <a:pPr eaLnBrk="1" hangingPunct="1">
              <a:defRPr/>
            </a:pPr>
            <a:r>
              <a:rPr lang="en-US" dirty="0" smtClean="0">
                <a:latin typeface="Regular"/>
              </a:rPr>
              <a:t> It would not be fair to the other processes in the system if one process monopolized most of the system's  physical memory or its CPUs. </a:t>
            </a:r>
          </a:p>
          <a:p>
            <a:pPr eaLnBrk="1" hangingPunct="1">
              <a:defRPr/>
            </a:pPr>
            <a:r>
              <a:rPr lang="en-US" dirty="0" smtClean="0">
                <a:latin typeface="Regular"/>
              </a:rPr>
              <a:t>The most precious resource in the system is the CPU, usually there is only one. OS objective is to have a process running on each CPU in the system at all times, to maximize CPU utilization. </a:t>
            </a:r>
          </a:p>
          <a:p>
            <a:pPr eaLnBrk="1" hangingPunct="1">
              <a:defRPr/>
            </a:pPr>
            <a:r>
              <a:rPr lang="en-US" dirty="0" smtClean="0">
                <a:latin typeface="Regular"/>
              </a:rPr>
              <a:t>If there are more processes than CPUs (and there usually are), the rest of the processes must wait before a CPU becomes free until they can be run.</a:t>
            </a:r>
          </a:p>
          <a:p>
            <a:pPr eaLnBrk="1" hangingPunct="1">
              <a:defRPr/>
            </a:pPr>
            <a:r>
              <a:rPr lang="en-US" dirty="0" smtClean="0">
                <a:latin typeface="Regular"/>
              </a:rPr>
              <a:t> Multiprocessing is a simple idea; a process is executed until it must wait, usually for some system resource; when it has this resource, it may run again.. It is the scheduler which chooses which is the most appropriate process to run next and Linux uses a number of scheduling strategies to ensure fairness. </a:t>
            </a:r>
          </a:p>
          <a:p>
            <a:pPr eaLnBrk="1" hangingPunct="1">
              <a:defRPr/>
            </a:pPr>
            <a:endParaRPr lang="en-US" dirty="0"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16738" name="Rectangle 3"/>
          <p:cNvSpPr>
            <a:spLocks noGrp="1" noChangeArrowheads="1"/>
          </p:cNvSpPr>
          <p:nvPr>
            <p:ph type="body" idx="1"/>
          </p:nvPr>
        </p:nvSpPr>
        <p:spPr bwMode="auto">
          <a:xfrm>
            <a:off x="912813" y="4344988"/>
            <a:ext cx="5032375" cy="4114800"/>
          </a:xfrm>
          <a:noFill/>
        </p:spPr>
        <p:txBody>
          <a:bodyPr wrap="square" numCol="1" anchor="t" anchorCtr="0" compatLnSpc="1">
            <a:prstTxWarp prst="textNoShape">
              <a:avLst/>
            </a:prstTxWarp>
          </a:bodyPr>
          <a:lstStyle/>
          <a:p>
            <a:pPr eaLnBrk="1" hangingPunct="1">
              <a:lnSpc>
                <a:spcPct val="80000"/>
              </a:lnSpc>
            </a:pPr>
            <a:r>
              <a:rPr lang="en-US" sz="900" smtClean="0">
                <a:latin typeface="Regular"/>
              </a:rPr>
              <a:t>In order to run unix, the computer hardware must provide two modes of execution - a more privileged kernel mode and less privileged user mode. Kernel protects some parts of address space from user. Moreover certain privileged instructions such as those manipulate memory management registers, may only be executed only in the kernel mode.</a:t>
            </a:r>
          </a:p>
          <a:p>
            <a:pPr eaLnBrk="1" hangingPunct="1">
              <a:lnSpc>
                <a:spcPct val="80000"/>
              </a:lnSpc>
            </a:pPr>
            <a:endParaRPr lang="en-US" sz="900" smtClean="0">
              <a:latin typeface="Regular"/>
            </a:endParaRPr>
          </a:p>
          <a:p>
            <a:pPr eaLnBrk="1" hangingPunct="1">
              <a:lnSpc>
                <a:spcPct val="80000"/>
              </a:lnSpc>
            </a:pPr>
            <a:r>
              <a:rPr lang="en-US" sz="900" smtClean="0">
                <a:latin typeface="Regular"/>
              </a:rPr>
              <a:t>Many computers have more than two execution modes The  Intel architecture m/cs provide four rings of execution.- the inner most is more privileged . Unix however uses only two of these rings</a:t>
            </a:r>
          </a:p>
          <a:p>
            <a:pPr eaLnBrk="1" hangingPunct="1">
              <a:lnSpc>
                <a:spcPct val="80000"/>
              </a:lnSpc>
            </a:pPr>
            <a:r>
              <a:rPr lang="en-US" sz="900" smtClean="0">
                <a:latin typeface="Regular"/>
              </a:rPr>
              <a:t>Most unix implementations use virtual memory. In virtual memory system the </a:t>
            </a:r>
          </a:p>
          <a:p>
            <a:pPr eaLnBrk="1" hangingPunct="1">
              <a:lnSpc>
                <a:spcPct val="80000"/>
              </a:lnSpc>
            </a:pPr>
            <a:r>
              <a:rPr lang="en-US" sz="900" smtClean="0">
                <a:latin typeface="Regular"/>
              </a:rPr>
              <a:t>addresses used by a program don’t refer directly to locations in physical memory.</a:t>
            </a:r>
          </a:p>
          <a:p>
            <a:pPr eaLnBrk="1" hangingPunct="1">
              <a:lnSpc>
                <a:spcPct val="80000"/>
              </a:lnSpc>
            </a:pPr>
            <a:r>
              <a:rPr lang="en-US" sz="900" smtClean="0">
                <a:latin typeface="Regular"/>
              </a:rPr>
              <a:t>Each process has virtual address space , references to virtual memory are translated to physical memory locations using set of address translation maps.</a:t>
            </a:r>
          </a:p>
          <a:p>
            <a:pPr eaLnBrk="1" hangingPunct="1">
              <a:lnSpc>
                <a:spcPct val="80000"/>
              </a:lnSpc>
            </a:pPr>
            <a:r>
              <a:rPr lang="en-US" sz="900" smtClean="0">
                <a:latin typeface="Regular"/>
              </a:rPr>
              <a:t>Many systems implement these maps as page tables, with one entry for each page of process address space.</a:t>
            </a:r>
          </a:p>
          <a:p>
            <a:pPr eaLnBrk="1" hangingPunct="1">
              <a:lnSpc>
                <a:spcPct val="80000"/>
              </a:lnSpc>
            </a:pPr>
            <a:r>
              <a:rPr lang="en-US" sz="1000" smtClean="0"/>
              <a:t>Kernel mode of execution</a:t>
            </a:r>
          </a:p>
          <a:p>
            <a:pPr eaLnBrk="1" hangingPunct="1">
              <a:lnSpc>
                <a:spcPct val="80000"/>
              </a:lnSpc>
            </a:pPr>
            <a:r>
              <a:rPr lang="en-US" sz="900" smtClean="0">
                <a:latin typeface="Regular"/>
              </a:rPr>
              <a:t>The memory management unit(MMU) of the computer typically  has set of registers that identifies the translation maps of the currently running process.</a:t>
            </a:r>
          </a:p>
          <a:p>
            <a:pPr>
              <a:lnSpc>
                <a:spcPct val="80000"/>
              </a:lnSpc>
            </a:pPr>
            <a:r>
              <a:rPr lang="en-US" sz="900" smtClean="0"/>
              <a:t>When current process yields cpu to another process (a context switch), the kernel loads these registers with pointers for translation of the new process.</a:t>
            </a:r>
          </a:p>
          <a:p>
            <a:pPr eaLnBrk="1" hangingPunct="1">
              <a:lnSpc>
                <a:spcPct val="80000"/>
              </a:lnSpc>
            </a:pPr>
            <a:endParaRPr lang="en-US" sz="900" smtClean="0">
              <a:latin typeface="Regular"/>
            </a:endParaRPr>
          </a:p>
          <a:p>
            <a:pPr eaLnBrk="1" hangingPunct="1">
              <a:lnSpc>
                <a:spcPct val="80000"/>
              </a:lnSpc>
            </a:pPr>
            <a:r>
              <a:rPr lang="en-US" sz="900" smtClean="0">
                <a:latin typeface="Regular"/>
              </a:rPr>
              <a:t>A fixed part of virtual address space of each process maps the kernel text and data structures. This portion , known as system space or kernel space, may only be accessed in kernel mode. There is only one instance of the kernel running in the system, and  hence all process map a single address space. The kernel maintains some global data structures and per-process objects. The kernel can directly access</a:t>
            </a:r>
          </a:p>
          <a:p>
            <a:pPr eaLnBrk="1" hangingPunct="1">
              <a:lnSpc>
                <a:spcPct val="80000"/>
              </a:lnSpc>
            </a:pPr>
            <a:r>
              <a:rPr lang="en-US" sz="900" smtClean="0">
                <a:latin typeface="Regular"/>
              </a:rPr>
              <a:t>the address space of currently running process, since the MMU registers have the necessary information.</a:t>
            </a:r>
          </a:p>
          <a:p>
            <a:pPr eaLnBrk="1" hangingPunct="1">
              <a:lnSpc>
                <a:spcPct val="80000"/>
              </a:lnSpc>
            </a:pPr>
            <a:r>
              <a:rPr lang="en-US" sz="900" smtClean="0">
                <a:latin typeface="Regular"/>
              </a:rPr>
              <a:t>While kernel is shared by all processes, system space is protected from user- mode access. Process can directly access the kernel and must instead use the system call interface.</a:t>
            </a:r>
          </a:p>
          <a:p>
            <a:pPr eaLnBrk="1" hangingPunct="1">
              <a:lnSpc>
                <a:spcPct val="80000"/>
              </a:lnSpc>
            </a:pPr>
            <a:endParaRPr lang="en-US" sz="1000"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20834" name="Rectangle 3"/>
          <p:cNvSpPr>
            <a:spLocks noGrp="1" noChangeArrowheads="1"/>
          </p:cNvSpPr>
          <p:nvPr>
            <p:ph type="body" idx="1"/>
          </p:nvPr>
        </p:nvSpPr>
        <p:spPr bwMode="auto">
          <a:xfrm>
            <a:off x="912813" y="4344988"/>
            <a:ext cx="5032375" cy="4114800"/>
          </a:xfrm>
          <a:noFill/>
        </p:spPr>
        <p:txBody>
          <a:bodyPr wrap="square" numCol="1" anchor="t" anchorCtr="0" compatLnSpc="1">
            <a:prstTxWarp prst="textNoShape">
              <a:avLst/>
            </a:prstTxWarp>
          </a:bodyPr>
          <a:lstStyle/>
          <a:p>
            <a:pPr eaLnBrk="1" hangingPunct="1"/>
            <a:r>
              <a:rPr lang="en-US" smtClean="0">
                <a:latin typeface="Regular"/>
              </a:rPr>
              <a:t>At  all times, unix processes are in some well defined states.</a:t>
            </a:r>
          </a:p>
          <a:p>
            <a:pPr eaLnBrk="1" hangingPunct="1"/>
            <a:r>
              <a:rPr lang="en-US" smtClean="0">
                <a:latin typeface="Regular"/>
              </a:rPr>
              <a:t>The fork system call creates a new process, which begin life in the initial (idle)state.</a:t>
            </a:r>
          </a:p>
          <a:p>
            <a:pPr eaLnBrk="1" hangingPunct="1"/>
            <a:endParaRPr lang="en-US" smtClean="0">
              <a:latin typeface="Regular"/>
            </a:endParaRPr>
          </a:p>
          <a:p>
            <a:pPr eaLnBrk="1" hangingPunct="1"/>
            <a:r>
              <a:rPr lang="en-US" smtClean="0">
                <a:latin typeface="Regular"/>
              </a:rPr>
              <a:t>When the process is fully created, fork moves it to the ready to run state, where it</a:t>
            </a:r>
          </a:p>
          <a:p>
            <a:pPr eaLnBrk="1" hangingPunct="1"/>
            <a:r>
              <a:rPr lang="en-US" smtClean="0">
                <a:latin typeface="Regular"/>
              </a:rPr>
              <a:t> must wait to be scheduled. Eventually , the kernel selects it for execution, and it </a:t>
            </a:r>
          </a:p>
          <a:p>
            <a:pPr eaLnBrk="1" hangingPunct="1"/>
            <a:r>
              <a:rPr lang="en-US" smtClean="0">
                <a:latin typeface="Regular"/>
              </a:rPr>
              <a:t>initiates context switch. </a:t>
            </a:r>
          </a:p>
          <a:p>
            <a:pPr eaLnBrk="1" hangingPunct="1"/>
            <a:endParaRPr lang="en-US" smtClean="0">
              <a:latin typeface="Regular"/>
            </a:endParaRPr>
          </a:p>
          <a:p>
            <a:pPr eaLnBrk="1" hangingPunct="1"/>
            <a:r>
              <a:rPr lang="en-US" smtClean="0">
                <a:latin typeface="Regular"/>
              </a:rPr>
              <a:t>This invokes a kernel routine(typically called switch() that</a:t>
            </a:r>
          </a:p>
          <a:p>
            <a:pPr eaLnBrk="1" hangingPunct="1"/>
            <a:r>
              <a:rPr lang="en-US" smtClean="0">
                <a:latin typeface="Regular"/>
              </a:rPr>
              <a:t> loads hardware context of the process. From this point, the new process behaves </a:t>
            </a:r>
          </a:p>
          <a:p>
            <a:pPr eaLnBrk="1" hangingPunct="1"/>
            <a:r>
              <a:rPr lang="en-US" smtClean="0">
                <a:latin typeface="Regular"/>
              </a:rPr>
              <a:t>like any other process, and undergoes transitions.</a:t>
            </a:r>
          </a:p>
          <a:p>
            <a:pPr eaLnBrk="1" hangingPunct="1"/>
            <a:endParaRPr lang="en-US" smtClean="0">
              <a:latin typeface="Regul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22882" name="Rectangle 3"/>
          <p:cNvSpPr>
            <a:spLocks noGrp="1" noChangeArrowheads="1"/>
          </p:cNvSpPr>
          <p:nvPr>
            <p:ph type="body" idx="1"/>
          </p:nvPr>
        </p:nvSpPr>
        <p:spPr bwMode="auto">
          <a:xfrm>
            <a:off x="912813" y="4344988"/>
            <a:ext cx="5032375" cy="4114800"/>
          </a:xfrm>
          <a:noFill/>
        </p:spPr>
        <p:txBody>
          <a:bodyPr wrap="square" numCol="1" anchor="t" anchorCtr="0" compatLnSpc="1">
            <a:prstTxWarp prst="textNoShape">
              <a:avLst/>
            </a:prstTxWarp>
          </a:bodyPr>
          <a:lstStyle/>
          <a:p>
            <a:pPr eaLnBrk="1" hangingPunct="1"/>
            <a:r>
              <a:rPr lang="en-US" smtClean="0">
                <a:latin typeface="Regular"/>
              </a:rPr>
              <a:t>A process running in user mode enters the kernel mode as a result of a system call or an interrupt, and returns to user mode when that completes. </a:t>
            </a:r>
          </a:p>
          <a:p>
            <a:pPr eaLnBrk="1" hangingPunct="1"/>
            <a:r>
              <a:rPr lang="en-US" smtClean="0">
                <a:latin typeface="Regular"/>
              </a:rPr>
              <a:t>While executing a system call , the process may need to wait for an event or for the resource that is currently unavailable. </a:t>
            </a:r>
          </a:p>
          <a:p>
            <a:pPr eaLnBrk="1" hangingPunct="1"/>
            <a:r>
              <a:rPr lang="en-US" smtClean="0">
                <a:latin typeface="Regular"/>
              </a:rPr>
              <a:t>It does so by calling sleep(), which puts the process on a queue of sleeping  processes, and changes its state to asleep.</a:t>
            </a:r>
          </a:p>
          <a:p>
            <a:pPr eaLnBrk="1" hangingPunct="1"/>
            <a:r>
              <a:rPr lang="en-US" smtClean="0">
                <a:latin typeface="Regular"/>
              </a:rPr>
              <a:t> When the event occurs or the resource  becomes available, the kernel wakes up the process, which now becomes ready to run and waits to be scheduled.</a:t>
            </a:r>
          </a:p>
          <a:p>
            <a:pPr eaLnBrk="1" hangingPunct="1"/>
            <a:r>
              <a:rPr lang="en-US" smtClean="0">
                <a:latin typeface="Regular"/>
              </a:rPr>
              <a:t>When a process is scheduled to run, it runs initially in the kernel mode,  where it  completes the context switch. Its next transition depends on what it is was doing  before it was switched out.</a:t>
            </a:r>
          </a:p>
          <a:p>
            <a:pPr eaLnBrk="1" hangingPunct="1"/>
            <a:r>
              <a:rPr lang="en-US" smtClean="0">
                <a:latin typeface="Regular"/>
              </a:rPr>
              <a:t>If the process was newly created or was executing user code(and was de scheduled to let a higher priority process run), it returns immediately  to user mode.</a:t>
            </a:r>
          </a:p>
          <a:p>
            <a:pPr eaLnBrk="1" hangingPunct="1"/>
            <a:r>
              <a:rPr lang="en-US" smtClean="0">
                <a:latin typeface="Regular"/>
              </a:rPr>
              <a:t>If it was blocked for the resource while executing a system call, it resumes  execution in the kernel mode.</a:t>
            </a:r>
          </a:p>
          <a:p>
            <a:pPr eaLnBrk="1" hangingPunct="1"/>
            <a:endParaRPr lang="en-US" smtClean="0">
              <a:latin typeface="Regular"/>
            </a:endParaRPr>
          </a:p>
          <a:p>
            <a:pPr eaLnBrk="1" hangingPunct="1"/>
            <a:endParaRPr lang="en-US" smtClean="0">
              <a:latin typeface="Regul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24930" name="Rectangle 3"/>
          <p:cNvSpPr>
            <a:spLocks noGrp="1" noChangeArrowheads="1"/>
          </p:cNvSpPr>
          <p:nvPr>
            <p:ph type="body" idx="1"/>
          </p:nvPr>
        </p:nvSpPr>
        <p:spPr bwMode="auto">
          <a:xfrm>
            <a:off x="912813" y="4344988"/>
            <a:ext cx="5032375" cy="4114800"/>
          </a:xfrm>
          <a:noFill/>
        </p:spPr>
        <p:txBody>
          <a:bodyPr wrap="square" numCol="1" anchor="t" anchorCtr="0" compatLnSpc="1">
            <a:prstTxWarp prst="textNoShape">
              <a:avLst/>
            </a:prstTxWarp>
          </a:bodyPr>
          <a:lstStyle/>
          <a:p>
            <a:pPr eaLnBrk="1" hangingPunct="1"/>
            <a:r>
              <a:rPr lang="en-US" dirty="0" smtClean="0">
                <a:latin typeface="Regular"/>
              </a:rPr>
              <a:t>The kernel keeps track of a process's creation time as well as the CPU time that it  consumes during its lifetime. Each clock tick, the kernel updates the amount of time that the current process has spent in system and in user mode. </a:t>
            </a:r>
          </a:p>
          <a:p>
            <a:pPr eaLnBrk="1" hangingPunct="1"/>
            <a:r>
              <a:rPr lang="en-US" dirty="0" smtClean="0">
                <a:latin typeface="Regular"/>
              </a:rPr>
              <a:t>In addition to these accounting timers, Linux supports process specific interval  timers. </a:t>
            </a:r>
          </a:p>
          <a:p>
            <a:pPr eaLnBrk="1" hangingPunct="1"/>
            <a:r>
              <a:rPr lang="en-US" dirty="0" smtClean="0">
                <a:latin typeface="Regular"/>
              </a:rPr>
              <a:t>A process can use these timers to send itself various signals each time that they expire. Three sorts of interval timers are supported: </a:t>
            </a:r>
          </a:p>
          <a:p>
            <a:pPr eaLnBrk="1" hangingPunct="1"/>
            <a:r>
              <a:rPr lang="en-US" b="1" dirty="0" smtClean="0">
                <a:latin typeface="Regular"/>
              </a:rPr>
              <a:t>Real : </a:t>
            </a:r>
            <a:r>
              <a:rPr lang="en-US" dirty="0" smtClean="0">
                <a:latin typeface="Regular"/>
              </a:rPr>
              <a:t>the timer ticks in real time, and when the timer has expired, the process is  sent a SIGALRM signal. </a:t>
            </a:r>
          </a:p>
          <a:p>
            <a:pPr eaLnBrk="1" hangingPunct="1"/>
            <a:r>
              <a:rPr lang="en-US" b="1" dirty="0" smtClean="0">
                <a:latin typeface="Regular"/>
              </a:rPr>
              <a:t>Virtual</a:t>
            </a:r>
            <a:r>
              <a:rPr lang="en-US" dirty="0" smtClean="0">
                <a:latin typeface="Regular"/>
              </a:rPr>
              <a:t> </a:t>
            </a:r>
          </a:p>
          <a:p>
            <a:pPr eaLnBrk="1" hangingPunct="1"/>
            <a:r>
              <a:rPr lang="en-US" dirty="0" smtClean="0">
                <a:latin typeface="Regular"/>
              </a:rPr>
              <a:t>     This timer only ticks when the process is running and when it expires it  sends a SIGVTALRM signal. </a:t>
            </a:r>
          </a:p>
          <a:p>
            <a:pPr eaLnBrk="1" hangingPunct="1"/>
            <a:r>
              <a:rPr lang="en-US" b="1" dirty="0" smtClean="0">
                <a:latin typeface="Regular"/>
              </a:rPr>
              <a:t>Profile </a:t>
            </a:r>
            <a:endParaRPr lang="en-US" dirty="0" smtClean="0">
              <a:latin typeface="Regular"/>
            </a:endParaRPr>
          </a:p>
          <a:p>
            <a:pPr eaLnBrk="1" hangingPunct="1"/>
            <a:r>
              <a:rPr lang="en-US" dirty="0" smtClean="0">
                <a:latin typeface="Regular"/>
              </a:rPr>
              <a:t>     This timer ticks both when the process is running and when the system is  executing on behalf of the process itself. SIGPROF is signaled when it expires. </a:t>
            </a:r>
          </a:p>
          <a:p>
            <a:pPr eaLnBrk="1" hangingPunct="1"/>
            <a:r>
              <a:rPr lang="en-US" dirty="0" smtClean="0">
                <a:latin typeface="Regular"/>
              </a:rPr>
              <a:t>      Every clock tick the current process's interval timers are decremented and, if they have expired, the appropriate signal is sent.</a:t>
            </a: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processes can use system calls to set up timers to send signals to themselves when the timers expire. These timers can be single-shot or periodic timers</a:t>
            </a:r>
          </a:p>
          <a:p>
            <a:pPr eaLnBrk="1" hangingPunct="1"/>
            <a:r>
              <a:rPr lang="en-US" dirty="0" smtClean="0">
                <a:latin typeface="Regular"/>
              </a:rPr>
              <a:t> </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26978" name="Rectangle 3"/>
          <p:cNvSpPr>
            <a:spLocks noGrp="1" noChangeArrowheads="1"/>
          </p:cNvSpPr>
          <p:nvPr>
            <p:ph type="body" idx="1"/>
          </p:nvPr>
        </p:nvSpPr>
        <p:spPr bwMode="auto">
          <a:xfrm>
            <a:off x="892175" y="4194175"/>
            <a:ext cx="5030788" cy="4273550"/>
          </a:xfrm>
          <a:noFill/>
        </p:spPr>
        <p:txBody>
          <a:bodyPr wrap="square" numCol="1" anchor="t" anchorCtr="0" compatLnSpc="1">
            <a:prstTxWarp prst="textNoShape">
              <a:avLst/>
            </a:prstTxWarp>
          </a:bodyPr>
          <a:lstStyle/>
          <a:p>
            <a:pPr eaLnBrk="1" hangingPunct="1">
              <a:lnSpc>
                <a:spcPct val="90000"/>
              </a:lnSpc>
            </a:pPr>
            <a:r>
              <a:rPr lang="en-US" smtClean="0">
                <a:latin typeface="Regular"/>
              </a:rPr>
              <a:t>All processes run partially in user mode and partially in system mode.. User mode  has far less privileges than system mode. Each time a process makes a system call it swaps from user mode to system mode and continues executing.</a:t>
            </a:r>
          </a:p>
          <a:p>
            <a:pPr eaLnBrk="1" hangingPunct="1">
              <a:lnSpc>
                <a:spcPct val="90000"/>
              </a:lnSpc>
            </a:pPr>
            <a:r>
              <a:rPr lang="en-US" smtClean="0">
                <a:latin typeface="Regular"/>
              </a:rPr>
              <a:t> At this point the kernel is executing on behalf of the process.. Each process decides to relinquish the CPU that it is running   on when it has to wait for some system event. For example, a process may have to  wait for a character to be read  from a file. This waiting happens within the system call, in system mode; the  process used a library function to open and read the file and it, in turn made  system calls to read bytes from the open file. In this case the waiting process will  be suspended and another, more deserving process will be chosen to run. </a:t>
            </a:r>
          </a:p>
          <a:p>
            <a:pPr eaLnBrk="1" hangingPunct="1">
              <a:lnSpc>
                <a:spcPct val="90000"/>
              </a:lnSpc>
            </a:pPr>
            <a:r>
              <a:rPr lang="en-US" smtClean="0">
                <a:latin typeface="Regular"/>
              </a:rPr>
              <a:t>Processes are always making system calls and so may often need to wait. Even  so, if a process executes until it waits then it still might use a disproportionate amount of CPU time and so Linux uses pre-emptive scheduling. In this scheme, each process is allowed to run for a small amount of time, 200ms, and, when this time has expired another process is selected to run and the original process is  made to wait for a little while until it can run again. This small amount of time is known as a time-slice. It is the scheduler that must select the most deserving  process to run out of all of the run able processes in the system. </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29026" name="Rectangle 3"/>
          <p:cNvSpPr>
            <a:spLocks noGrp="1" noChangeArrowheads="1"/>
          </p:cNvSpPr>
          <p:nvPr>
            <p:ph type="body" idx="1"/>
          </p:nvPr>
        </p:nvSpPr>
        <p:spPr bwMode="auto">
          <a:xfrm>
            <a:off x="912813" y="4344988"/>
            <a:ext cx="5032375" cy="4114800"/>
          </a:xfrm>
          <a:noFill/>
        </p:spPr>
        <p:txBody>
          <a:bodyPr wrap="square" numCol="1" anchor="t" anchorCtr="0" compatLnSpc="1">
            <a:prstTxWarp prst="textNoShape">
              <a:avLst/>
            </a:prstTxWarp>
          </a:bodyPr>
          <a:lstStyle/>
          <a:p>
            <a:pPr eaLnBrk="1" hangingPunct="1"/>
            <a:endParaRPr lang="hi-IN" dirty="0" smtClean="0">
              <a:ea typeface="Mangal" pitchFamily="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Slide Image Placeholder 1"/>
          <p:cNvSpPr>
            <a:spLocks noGrp="1" noRot="1" noChangeAspect="1"/>
          </p:cNvSpPr>
          <p:nvPr>
            <p:ph type="sldImg"/>
          </p:nvPr>
        </p:nvSpPr>
        <p:spPr bwMode="auto">
          <a:noFill/>
          <a:ln>
            <a:solidFill>
              <a:srgbClr val="000000"/>
            </a:solidFill>
            <a:miter lim="800000"/>
            <a:headEnd/>
            <a:tailEnd/>
          </a:ln>
        </p:spPr>
      </p:sp>
      <p:sp>
        <p:nvSpPr>
          <p:cNvPr id="131074"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31075"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p:cNvSpPr>
            <a:spLocks noGrp="1" noRot="1" noChangeAspect="1" noChangeArrowheads="1" noTextEdit="1"/>
          </p:cNvSpPr>
          <p:nvPr>
            <p:ph type="sldImg"/>
          </p:nvPr>
        </p:nvSpPr>
        <p:spPr bwMode="auto">
          <a:xfrm>
            <a:off x="1098550" y="676275"/>
            <a:ext cx="4602163" cy="3451225"/>
          </a:xfrm>
          <a:noFill/>
          <a:ln>
            <a:solidFill>
              <a:srgbClr val="000000"/>
            </a:solidFill>
            <a:miter lim="800000"/>
            <a:headEnd/>
            <a:tailEnd/>
          </a:ln>
        </p:spPr>
      </p:sp>
      <p:sp>
        <p:nvSpPr>
          <p:cNvPr id="133122" name="Rectangle 3"/>
          <p:cNvSpPr>
            <a:spLocks noGrp="1" noChangeArrowheads="1"/>
          </p:cNvSpPr>
          <p:nvPr>
            <p:ph type="body" idx="1"/>
          </p:nvPr>
        </p:nvSpPr>
        <p:spPr bwMode="auto">
          <a:xfrm>
            <a:off x="898525" y="4354513"/>
            <a:ext cx="5081588" cy="4129087"/>
          </a:xfrm>
          <a:noFill/>
        </p:spPr>
        <p:txBody>
          <a:bodyPr wrap="square" numCol="1" anchor="t" anchorCtr="0" compatLnSpc="1">
            <a:prstTxWarp prst="textNoShape">
              <a:avLst/>
            </a:prstTxWarp>
          </a:bodyPr>
          <a:lstStyle/>
          <a:p>
            <a:pPr eaLnBrk="1" hangingPunct="1"/>
            <a:r>
              <a:rPr lang="en-US" smtClean="0">
                <a:latin typeface="Regular"/>
              </a:rPr>
              <a:t>This is the “standard” process model that has been in use in various OS.</a:t>
            </a:r>
          </a:p>
          <a:p>
            <a:pPr eaLnBrk="1" hangingPunct="1"/>
            <a:endParaRPr lang="en-US" smtClean="0">
              <a:latin typeface="Regul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p:cNvSpPr>
            <a:spLocks noGrp="1" noRot="1" noChangeAspect="1" noChangeArrowheads="1" noTextEdit="1"/>
          </p:cNvSpPr>
          <p:nvPr>
            <p:ph type="sldImg"/>
          </p:nvPr>
        </p:nvSpPr>
        <p:spPr bwMode="auto">
          <a:xfrm>
            <a:off x="1098550" y="676275"/>
            <a:ext cx="4602163" cy="3451225"/>
          </a:xfrm>
          <a:noFill/>
          <a:ln>
            <a:solidFill>
              <a:srgbClr val="000000"/>
            </a:solidFill>
            <a:miter lim="800000"/>
            <a:headEnd/>
            <a:tailEnd/>
          </a:ln>
        </p:spPr>
      </p:sp>
      <p:sp>
        <p:nvSpPr>
          <p:cNvPr id="135170" name="Rectangle 3"/>
          <p:cNvSpPr>
            <a:spLocks noGrp="1" noChangeArrowheads="1"/>
          </p:cNvSpPr>
          <p:nvPr>
            <p:ph type="body" idx="1"/>
          </p:nvPr>
        </p:nvSpPr>
        <p:spPr bwMode="auto">
          <a:xfrm>
            <a:off x="898525" y="4354513"/>
            <a:ext cx="5081588" cy="4129087"/>
          </a:xfrm>
          <a:noFill/>
        </p:spPr>
        <p:txBody>
          <a:bodyPr wrap="square" numCol="1" anchor="t" anchorCtr="0" compatLnSpc="1">
            <a:prstTxWarp prst="textNoShape">
              <a:avLst/>
            </a:prstTxWarp>
          </a:bodyPr>
          <a:lstStyle/>
          <a:p>
            <a:pPr eaLnBrk="1" hangingPunct="1"/>
            <a:r>
              <a:rPr lang="en-US" smtClean="0">
                <a:latin typeface="Regular"/>
              </a:rPr>
              <a:t>Another useful analogy for threads is a book. Consider that you are reading a book, and your friend wants to read the same book. Instead of going out and buying another copy of the book, you and your friend take turns reading it. Each of you makes a note indicating what the last page was that you read.</a:t>
            </a:r>
          </a:p>
          <a:p>
            <a:pPr eaLnBrk="1" hangingPunct="1"/>
            <a:endParaRPr lang="en-US" smtClean="0">
              <a:latin typeface="Regular"/>
            </a:endParaRPr>
          </a:p>
          <a:p>
            <a:pPr eaLnBrk="1" hangingPunct="1"/>
            <a:r>
              <a:rPr lang="en-US" smtClean="0">
                <a:latin typeface="Regular"/>
              </a:rPr>
              <a:t>If you went and bought another book, this would be analogous to starting up another process – any notes or markups that were made to your book wouldn’t show up in your friend’s book.</a:t>
            </a:r>
          </a:p>
          <a:p>
            <a:pPr eaLnBrk="1" hangingPunct="1"/>
            <a:endParaRPr lang="en-US" smtClean="0">
              <a:latin typeface="Regular"/>
            </a:endParaRPr>
          </a:p>
          <a:p>
            <a:pPr eaLnBrk="1" hangingPunct="1"/>
            <a:r>
              <a:rPr lang="en-US" smtClean="0">
                <a:latin typeface="Regular"/>
              </a:rPr>
              <a:t>As we’ll see, working with threads is very similar to our one book analogy – if both you and your friend are making notes, changes, ripping out pages, etc in the book, one person’s actions may confuse the other person, who picks up a book that’s in a different state than what they left it in.</a:t>
            </a:r>
          </a:p>
          <a:p>
            <a:pPr eaLnBrk="1" hangingPunct="1"/>
            <a:endParaRPr lang="en-US" smtClean="0">
              <a:latin typeface="Regular"/>
            </a:endParaRPr>
          </a:p>
          <a:p>
            <a:pPr eaLnBrk="1" hangingPunct="1"/>
            <a:r>
              <a:rPr lang="en-US" smtClean="0">
                <a:latin typeface="Regular"/>
              </a:rPr>
              <a:t>single-threaded programs - that is, programs that only execute one path through their code "at a time".</a:t>
            </a:r>
          </a:p>
          <a:p>
            <a:pPr eaLnBrk="1" hangingPunct="1"/>
            <a:r>
              <a:rPr lang="en-US" smtClean="0">
                <a:latin typeface="Regular"/>
              </a:rPr>
              <a:t> Multithreaded programs may have several threads running through different code paths "simultaneously". </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38242"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41314"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dirty="0" smtClean="0"/>
              <a:t>Advantages:</a:t>
            </a:r>
            <a:br>
              <a:rPr lang="en-US" dirty="0" smtClean="0"/>
            </a:br>
            <a:r>
              <a:rPr lang="en-US" dirty="0" smtClean="0"/>
              <a:t/>
            </a:r>
            <a:br>
              <a:rPr lang="en-US" dirty="0" smtClean="0"/>
            </a:br>
            <a:r>
              <a:rPr lang="en-US" dirty="0" smtClean="0"/>
              <a:t>1. </a:t>
            </a:r>
            <a:r>
              <a:rPr lang="en-US" dirty="0" smtClean="0">
                <a:solidFill>
                  <a:srgbClr val="000066"/>
                </a:solidFill>
              </a:rPr>
              <a:t>Thread switching does not require kernel mode</a:t>
            </a:r>
            <a:br>
              <a:rPr lang="en-US" dirty="0" smtClean="0">
                <a:solidFill>
                  <a:srgbClr val="000066"/>
                </a:solidFill>
              </a:rPr>
            </a:br>
            <a:r>
              <a:rPr lang="en-US" dirty="0" smtClean="0">
                <a:solidFill>
                  <a:srgbClr val="000066"/>
                </a:solidFill>
              </a:rPr>
              <a:t/>
            </a:r>
            <a:br>
              <a:rPr lang="en-US" dirty="0" smtClean="0">
                <a:solidFill>
                  <a:srgbClr val="000066"/>
                </a:solidFill>
              </a:rPr>
            </a:br>
            <a:r>
              <a:rPr lang="en-US" dirty="0" smtClean="0">
                <a:solidFill>
                  <a:srgbClr val="000066"/>
                </a:solidFill>
              </a:rPr>
              <a:t>2. Scheduling can be application specific</a:t>
            </a:r>
            <a:br>
              <a:rPr lang="en-US" dirty="0" smtClean="0">
                <a:solidFill>
                  <a:srgbClr val="000066"/>
                </a:solidFill>
              </a:rPr>
            </a:br>
            <a:r>
              <a:rPr lang="en-US" dirty="0" smtClean="0">
                <a:solidFill>
                  <a:srgbClr val="000066"/>
                </a:solidFill>
              </a:rPr>
              <a:t/>
            </a:r>
            <a:br>
              <a:rPr lang="en-US" dirty="0" smtClean="0">
                <a:solidFill>
                  <a:srgbClr val="000066"/>
                </a:solidFill>
              </a:rPr>
            </a:br>
            <a:r>
              <a:rPr lang="en-US" dirty="0" smtClean="0">
                <a:solidFill>
                  <a:srgbClr val="000066"/>
                </a:solidFill>
              </a:rPr>
              <a:t>3. Can run on any OS</a:t>
            </a:r>
            <a:r>
              <a:rPr lang="en-US" dirty="0" smtClean="0"/>
              <a:t/>
            </a:r>
            <a:br>
              <a:rPr lang="en-US" dirty="0" smtClean="0"/>
            </a:br>
            <a:r>
              <a:rPr lang="en-US" dirty="0" smtClean="0"/>
              <a:t/>
            </a:r>
            <a:br>
              <a:rPr lang="en-US" dirty="0" smtClean="0"/>
            </a:br>
            <a:r>
              <a:rPr lang="en-US" dirty="0" smtClean="0"/>
              <a:t/>
            </a:r>
            <a:br>
              <a:rPr lang="en-US" dirty="0" smtClean="0"/>
            </a:br>
            <a:r>
              <a:rPr lang="en-US" dirty="0" smtClean="0"/>
              <a:t>Disadvantage:</a:t>
            </a:r>
            <a:br>
              <a:rPr lang="en-US" dirty="0" smtClean="0"/>
            </a:br>
            <a:r>
              <a:rPr lang="en-US" dirty="0" smtClean="0"/>
              <a:t/>
            </a:r>
            <a:br>
              <a:rPr lang="en-US" dirty="0" smtClean="0"/>
            </a:br>
            <a:r>
              <a:rPr lang="en-US" dirty="0" smtClean="0"/>
              <a:t>	</a:t>
            </a:r>
            <a:r>
              <a:rPr lang="en-US" dirty="0" smtClean="0">
                <a:solidFill>
                  <a:srgbClr val="FF0000"/>
                </a:solidFill>
              </a:rPr>
              <a:t>When it executes a system call, not only is that thread is blocked, but all the threads within the process are blocked</a:t>
            </a: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endParaRPr lang="en-US" dirty="0" smtClean="0"/>
          </a:p>
          <a:p>
            <a:pPr eaLnBrk="1" hangingPunct="1"/>
            <a:endParaRPr lang="en-US" dirty="0"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43362"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smtClean="0"/>
              <a:t>Transfer of control from one thread to another within the same process requires a mode switch to the kernel</a:t>
            </a:r>
            <a:br>
              <a:rPr lang="en-US" smtClean="0"/>
            </a:br>
            <a:r>
              <a:rPr lang="en-US" smtClean="0"/>
              <a:t>Examples:</a:t>
            </a:r>
          </a:p>
          <a:p>
            <a:r>
              <a:rPr lang="en-US" smtClean="0"/>
              <a:t>	</a:t>
            </a:r>
            <a:r>
              <a:rPr lang="en-US" sz="1000" smtClean="0"/>
              <a:t>- Windows 95/98/NT/2000    	- Solaris</a:t>
            </a:r>
          </a:p>
          <a:p>
            <a:r>
              <a:rPr lang="en-US" sz="1000" smtClean="0"/>
              <a:t>	- Tru64 UNIX         	- BeOS</a:t>
            </a:r>
          </a:p>
          <a:p>
            <a:r>
              <a:rPr lang="en-US" sz="1000" smtClean="0"/>
              <a:t>	- Linux</a:t>
            </a:r>
          </a:p>
          <a:p>
            <a:endParaRPr lang="hi-IN"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45410"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Slide Image Placeholder 1"/>
          <p:cNvSpPr>
            <a:spLocks noGrp="1" noRot="1" noChangeAspect="1"/>
          </p:cNvSpPr>
          <p:nvPr>
            <p:ph type="sldImg"/>
          </p:nvPr>
        </p:nvSpPr>
        <p:spPr bwMode="auto">
          <a:noFill/>
          <a:ln>
            <a:solidFill>
              <a:srgbClr val="000000"/>
            </a:solidFill>
            <a:miter lim="800000"/>
            <a:headEnd/>
            <a:tailEnd/>
          </a:ln>
        </p:spPr>
      </p:sp>
      <p:sp>
        <p:nvSpPr>
          <p:cNvPr id="147458"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latin typeface="Regular"/>
              </a:rPr>
              <a:t>Hands-on for an hour to be taken up to explore process related operations in Unix. </a:t>
            </a:r>
          </a:p>
          <a:p>
            <a:r>
              <a:rPr lang="en-US" smtClean="0">
                <a:latin typeface="Regular"/>
              </a:rPr>
              <a:t>Refer to Process Management: hands-on (1 hour) portion in the supporting document</a:t>
            </a:r>
          </a:p>
          <a:p>
            <a:endParaRPr lang="en-US" smtClean="0">
              <a:latin typeface="Regular"/>
            </a:endParaRPr>
          </a:p>
        </p:txBody>
      </p:sp>
      <p:sp>
        <p:nvSpPr>
          <p:cNvPr id="147459"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Slide Image Placeholder 1"/>
          <p:cNvSpPr>
            <a:spLocks noGrp="1" noRot="1" noChangeAspect="1" noTextEdit="1"/>
          </p:cNvSpPr>
          <p:nvPr>
            <p:ph type="sldImg"/>
          </p:nvPr>
        </p:nvSpPr>
        <p:spPr bwMode="auto">
          <a:noFill/>
          <a:ln>
            <a:solidFill>
              <a:srgbClr val="000000"/>
            </a:solidFill>
            <a:miter lim="800000"/>
            <a:headEnd/>
            <a:tailEnd/>
          </a:ln>
        </p:spPr>
      </p:sp>
      <p:sp>
        <p:nvSpPr>
          <p:cNvPr id="149506"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53602"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59746"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dirty="0" smtClean="0">
              <a:ea typeface="Mangal" pitchFamily="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61794"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smtClean="0">
                <a:latin typeface="Regular"/>
              </a:rPr>
              <a:t>Convoy effect short process behind long process</a:t>
            </a:r>
          </a:p>
          <a:p>
            <a:pPr eaLnBrk="1" hangingPunct="1"/>
            <a:endParaRPr lang="hi-IN" smtClean="0">
              <a:latin typeface="Regular"/>
              <a:ea typeface="Mangal" pitchFamily="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Rot="1" noChangeAspect="1" noTextEdit="1"/>
          </p:cNvSpPr>
          <p:nvPr>
            <p:ph type="sldImg"/>
          </p:nvPr>
        </p:nvSpPr>
        <p:spPr bwMode="auto">
          <a:noFill/>
          <a:ln>
            <a:solidFill>
              <a:srgbClr val="000000"/>
            </a:solidFill>
            <a:miter lim="800000"/>
            <a:headEnd/>
            <a:tailEnd/>
          </a:ln>
        </p:spPr>
      </p:sp>
      <p:sp>
        <p:nvSpPr>
          <p:cNvPr id="305155" name="Rectangle 3"/>
          <p:cNvSpPr>
            <a:spLocks noGrp="1"/>
          </p:cNvSpPr>
          <p:nvPr>
            <p:ph type="body" idx="1"/>
          </p:nvPr>
        </p:nvSpPr>
        <p:spPr bwMode="auto">
          <a:noFill/>
        </p:spPr>
        <p:txBody>
          <a:bodyPr wrap="square" numCol="1" anchor="t" anchorCtr="0" compatLnSpc="1">
            <a:prstTxWarp prst="textNoShape">
              <a:avLst/>
            </a:prstTxWarp>
          </a:bodyPr>
          <a:lstStyle/>
          <a:p>
            <a:r>
              <a:rPr lang="en-US" smtClean="0"/>
              <a:t>Non-preemptive </a:t>
            </a:r>
          </a:p>
          <a:p>
            <a:r>
              <a:rPr lang="en-US" smtClean="0"/>
              <a:t>      </a:t>
            </a:r>
            <a:r>
              <a:rPr lang="en-US" sz="1000" smtClean="0"/>
              <a:t>– once CPU is given to the process it cannot be preempted until completes  its CPU burst</a:t>
            </a:r>
          </a:p>
          <a:p>
            <a:r>
              <a:rPr lang="en-US" smtClean="0"/>
              <a:t>preemptive </a:t>
            </a:r>
          </a:p>
          <a:p>
            <a:r>
              <a:rPr lang="en-US" sz="1000" smtClean="0"/>
              <a:t>     – if a new process arrives with CPU burst length less than remaining time of current executing process, preempt.  This scheme is known as the : Shortest-Remaining-Time-First (SRTF).</a:t>
            </a:r>
          </a:p>
          <a:p>
            <a:r>
              <a:rPr lang="en-US" smtClean="0"/>
              <a:t>SJF is optimal </a:t>
            </a:r>
          </a:p>
          <a:p>
            <a:r>
              <a:rPr lang="en-US" sz="1000" smtClean="0"/>
              <a:t>    – gives minimum average waiting time for a given set of processes</a:t>
            </a:r>
          </a:p>
          <a:p>
            <a:endParaRPr lang="en-US" smtClean="0"/>
          </a:p>
          <a:p>
            <a:endParaRPr lang="en-US"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64866"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66914"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dirty="0" smtClean="0">
              <a:ea typeface="Mangal" pitchFamily="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This algorithm associates a priority with each process on some pre-determined basis. The CPU </a:t>
            </a:r>
            <a:r>
              <a:rPr lang="en-US" dirty="0" err="1" smtClean="0"/>
              <a:t>allo</a:t>
            </a:r>
            <a:endParaRPr lang="en-US" dirty="0" smtClean="0"/>
          </a:p>
          <a:p>
            <a:r>
              <a:rPr lang="en-US" dirty="0" err="1" smtClean="0"/>
              <a:t>cated</a:t>
            </a:r>
            <a:r>
              <a:rPr lang="en-US" dirty="0" smtClean="0"/>
              <a:t> to the process having highest priority(smallest integer is equal to highest priority).</a:t>
            </a:r>
          </a:p>
          <a:p>
            <a:endParaRPr lang="en-US" dirty="0" smtClean="0"/>
          </a:p>
          <a:p>
            <a:r>
              <a:rPr lang="en-US" dirty="0" smtClean="0"/>
              <a:t>The maximum</a:t>
            </a:r>
            <a:r>
              <a:rPr lang="en-US" baseline="0" dirty="0" smtClean="0"/>
              <a:t> priority </a:t>
            </a:r>
            <a:r>
              <a:rPr lang="en-US" baseline="0" dirty="0" err="1" smtClean="0"/>
              <a:t>processs</a:t>
            </a:r>
            <a:r>
              <a:rPr lang="en-US" baseline="0" dirty="0" smtClean="0"/>
              <a:t> will be allocated by the CPU.</a:t>
            </a:r>
            <a:endParaRPr lang="en-US" dirty="0"/>
          </a:p>
        </p:txBody>
      </p:sp>
      <p:sp>
        <p:nvSpPr>
          <p:cNvPr id="4" name="Footer Placeholder 3"/>
          <p:cNvSpPr>
            <a:spLocks noGrp="1"/>
          </p:cNvSpPr>
          <p:nvPr>
            <p:ph type="ftr" sz="quarter" idx="10"/>
          </p:nvPr>
        </p:nvSpPr>
        <p:spPr/>
        <p:txBody>
          <a:bodyPr/>
          <a:lstStyle/>
          <a:p>
            <a:pPr>
              <a:defRPr/>
            </a:pPr>
            <a:r>
              <a:rPr lang="en-US" smtClean="0"/>
              <a:t>Confidential © 2009 Wipro Ltd</a:t>
            </a:r>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2"/>
          <p:cNvSpPr>
            <a:spLocks noGrp="1" noRot="1" noChangeAspect="1" noTextEdit="1"/>
          </p:cNvSpPr>
          <p:nvPr>
            <p:ph type="sldImg"/>
          </p:nvPr>
        </p:nvSpPr>
        <p:spPr bwMode="auto">
          <a:noFill/>
          <a:ln>
            <a:solidFill>
              <a:srgbClr val="000000"/>
            </a:solidFill>
            <a:miter lim="800000"/>
            <a:headEnd/>
            <a:tailEnd/>
          </a:ln>
        </p:spPr>
      </p:sp>
      <p:sp>
        <p:nvSpPr>
          <p:cNvPr id="306179" name="Rectangle 3"/>
          <p:cNvSpPr>
            <a:spLocks noGrp="1"/>
          </p:cNvSpPr>
          <p:nvPr>
            <p:ph type="body" idx="1"/>
          </p:nvPr>
        </p:nvSpPr>
        <p:spPr bwMode="auto">
          <a:noFill/>
        </p:spPr>
        <p:txBody>
          <a:bodyPr wrap="square" numCol="1" anchor="t" anchorCtr="0" compatLnSpc="1">
            <a:prstTxWarp prst="textNoShape">
              <a:avLst/>
            </a:prstTxWarp>
          </a:bodyPr>
          <a:lstStyle/>
          <a:p>
            <a:r>
              <a:rPr lang="en-US" dirty="0" smtClean="0"/>
              <a:t>Each process gets a small unit of CPU time about 10-100 milliseconds.  After this time has elapsed, the process is preempted and added to the end of the ready queue.</a:t>
            </a:r>
          </a:p>
          <a:p>
            <a:r>
              <a:rPr lang="en-US" dirty="0" smtClean="0"/>
              <a:t> Performance</a:t>
            </a:r>
          </a:p>
          <a:p>
            <a:pPr lvl="1">
              <a:spcBef>
                <a:spcPct val="0"/>
              </a:spcBef>
              <a:buClr>
                <a:schemeClr val="bg1"/>
              </a:buClr>
              <a:buFont typeface="Wingdings" pitchFamily="2" charset="2"/>
              <a:buChar char="§"/>
            </a:pPr>
            <a:r>
              <a:rPr lang="en-US" dirty="0" smtClean="0"/>
              <a:t>q large </a:t>
            </a:r>
            <a:r>
              <a:rPr lang="en-US" dirty="0" smtClean="0">
                <a:sym typeface="Symbol" pitchFamily="18" charset="2"/>
              </a:rPr>
              <a:t> FIFO(first in first out)</a:t>
            </a:r>
          </a:p>
          <a:p>
            <a:pPr lvl="1">
              <a:spcBef>
                <a:spcPct val="0"/>
              </a:spcBef>
              <a:buClr>
                <a:schemeClr val="bg1"/>
              </a:buClr>
              <a:buFont typeface="Wingdings" pitchFamily="2" charset="2"/>
              <a:buChar char="§"/>
            </a:pPr>
            <a:r>
              <a:rPr lang="en-US" dirty="0" smtClean="0">
                <a:sym typeface="Symbol" pitchFamily="18" charset="2"/>
              </a:rPr>
              <a:t>q small </a:t>
            </a:r>
            <a:r>
              <a:rPr lang="en-US" dirty="0" smtClean="0"/>
              <a:t> q must be large with respect to context switch, otherwise overhead is too high.</a:t>
            </a:r>
          </a:p>
          <a:p>
            <a:endParaRPr lang="en-US" dirty="0" smtClean="0"/>
          </a:p>
          <a:p>
            <a:endParaRPr lang="en-US" dirty="0" smtClean="0"/>
          </a:p>
          <a:p>
            <a:endParaRPr lang="en-US" dirty="0" smtClean="0"/>
          </a:p>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smtClean="0"/>
              <a:t>Remember no process waits for more than (N-1)Q time units.</a:t>
            </a:r>
          </a:p>
          <a:p>
            <a:endParaRPr lang="en-US" dirty="0"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Slide Image Placeholder 1"/>
          <p:cNvSpPr>
            <a:spLocks noGrp="1" noRot="1" noChangeAspect="1"/>
          </p:cNvSpPr>
          <p:nvPr>
            <p:ph type="sldImg"/>
          </p:nvPr>
        </p:nvSpPr>
        <p:spPr bwMode="auto">
          <a:noFill/>
          <a:ln>
            <a:solidFill>
              <a:srgbClr val="000000"/>
            </a:solidFill>
            <a:miter lim="800000"/>
            <a:headEnd/>
            <a:tailEnd/>
          </a:ln>
        </p:spPr>
      </p:sp>
      <p:sp>
        <p:nvSpPr>
          <p:cNvPr id="174082"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74083"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Slide Image Placeholder 1"/>
          <p:cNvSpPr>
            <a:spLocks noGrp="1" noRot="1" noChangeAspect="1" noTextEdit="1"/>
          </p:cNvSpPr>
          <p:nvPr>
            <p:ph type="sldImg"/>
          </p:nvPr>
        </p:nvSpPr>
        <p:spPr bwMode="auto">
          <a:noFill/>
          <a:ln>
            <a:solidFill>
              <a:srgbClr val="000000"/>
            </a:solidFill>
            <a:miter lim="800000"/>
            <a:headEnd/>
            <a:tailEnd/>
          </a:ln>
        </p:spPr>
      </p:sp>
      <p:sp>
        <p:nvSpPr>
          <p:cNvPr id="17613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smtClean="0">
                <a:latin typeface="Regular"/>
              </a:rPr>
              <a:t>The file system resides permanently on secondary storage, which has the main requirement that it must be able to hold a large amount of data, permanently</a:t>
            </a:r>
            <a:r>
              <a:rPr lang="en-US" dirty="0" smtClean="0"/>
              <a:t>.</a:t>
            </a:r>
          </a:p>
          <a:p>
            <a:endParaRPr lang="en-US" dirty="0" smtClean="0"/>
          </a:p>
          <a:p>
            <a:endParaRPr lang="en-US" dirty="0"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Rot="1" noChangeAspect="1" noTextEdit="1"/>
          </p:cNvSpPr>
          <p:nvPr>
            <p:ph type="sldImg"/>
          </p:nvPr>
        </p:nvSpPr>
        <p:spPr bwMode="auto">
          <a:noFill/>
          <a:ln>
            <a:solidFill>
              <a:srgbClr val="000000"/>
            </a:solidFill>
            <a:miter lim="800000"/>
            <a:headEnd/>
            <a:tailEnd/>
          </a:ln>
        </p:spPr>
      </p:sp>
      <p:sp>
        <p:nvSpPr>
          <p:cNvPr id="307203" name="Rectangle 3"/>
          <p:cNvSpPr>
            <a:spLocks noGrp="1"/>
          </p:cNvSpPr>
          <p:nvPr>
            <p:ph type="body" idx="1"/>
          </p:nvPr>
        </p:nvSpPr>
        <p:spPr bwMode="auto">
          <a:noFill/>
        </p:spPr>
        <p:txBody>
          <a:bodyPr wrap="square" numCol="1" anchor="t" anchorCtr="0" compatLnSpc="1">
            <a:prstTxWarp prst="textNoShape">
              <a:avLst/>
            </a:prstTxWarp>
          </a:bodyPr>
          <a:lstStyle/>
          <a:p>
            <a:r>
              <a:rPr lang="en-US" smtClean="0"/>
              <a:t>Data</a:t>
            </a:r>
          </a:p>
          <a:p>
            <a:pPr lvl="2"/>
            <a:r>
              <a:rPr lang="en-US" smtClean="0"/>
              <a:t> Numeric, character, binary</a:t>
            </a:r>
          </a:p>
          <a:p>
            <a:pPr lvl="2"/>
            <a:endParaRPr lang="en-US" smtClean="0"/>
          </a:p>
          <a:p>
            <a:pPr>
              <a:buFont typeface="Georgia" pitchFamily="18" charset="0"/>
              <a:buNone/>
            </a:pPr>
            <a:r>
              <a:rPr lang="en-US" smtClean="0"/>
              <a:t>Program</a:t>
            </a:r>
          </a:p>
          <a:p>
            <a:pPr lvl="1"/>
            <a:r>
              <a:rPr lang="en-US" sz="800" smtClean="0"/>
              <a:t>  Source , object</a:t>
            </a:r>
          </a:p>
          <a:p>
            <a:endParaRPr lang="en-US" smtClean="0"/>
          </a:p>
          <a:p>
            <a:r>
              <a:rPr lang="en-US" smtClean="0"/>
              <a:t>Documents</a:t>
            </a:r>
          </a:p>
          <a:p>
            <a:endParaRPr lang="en-US"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Slide Image Placeholder 1"/>
          <p:cNvSpPr>
            <a:spLocks noGrp="1" noRot="1" noChangeAspect="1" noTextEdit="1"/>
          </p:cNvSpPr>
          <p:nvPr>
            <p:ph type="sldImg"/>
          </p:nvPr>
        </p:nvSpPr>
        <p:spPr bwMode="auto">
          <a:noFill/>
          <a:ln>
            <a:solidFill>
              <a:srgbClr val="000000"/>
            </a:solidFill>
            <a:miter lim="800000"/>
            <a:headEnd/>
            <a:tailEnd/>
          </a:ln>
        </p:spPr>
      </p:sp>
      <p:sp>
        <p:nvSpPr>
          <p:cNvPr id="179202"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
        <p:nvSpPr>
          <p:cNvPr id="179203"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0DD9CC79-E1FB-4823-A411-B46DCDEA6AA0}" type="slidenum">
              <a:rPr lang="en-US" sz="1200"/>
              <a:pPr algn="r"/>
              <a:t>79</a:t>
            </a:fld>
            <a:endParaRPr lang="en-US" sz="120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81250"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a:lnSpc>
                <a:spcPct val="80000"/>
              </a:lnSpc>
            </a:pPr>
            <a:r>
              <a:rPr lang="en-US" smtClean="0"/>
              <a:t>Name – only information kept in human-readable form</a:t>
            </a:r>
          </a:p>
          <a:p>
            <a:pPr>
              <a:lnSpc>
                <a:spcPct val="80000"/>
              </a:lnSpc>
            </a:pPr>
            <a:endParaRPr lang="en-US" smtClean="0"/>
          </a:p>
          <a:p>
            <a:pPr>
              <a:lnSpc>
                <a:spcPct val="80000"/>
              </a:lnSpc>
            </a:pPr>
            <a:r>
              <a:rPr lang="en-US" smtClean="0"/>
              <a:t>Type – needed for systems that support different types</a:t>
            </a:r>
          </a:p>
          <a:p>
            <a:pPr>
              <a:lnSpc>
                <a:spcPct val="80000"/>
              </a:lnSpc>
            </a:pPr>
            <a:endParaRPr lang="en-US" smtClean="0"/>
          </a:p>
          <a:p>
            <a:pPr>
              <a:lnSpc>
                <a:spcPct val="80000"/>
              </a:lnSpc>
            </a:pPr>
            <a:r>
              <a:rPr lang="en-US" smtClean="0"/>
              <a:t>Location – pointer to file location on device</a:t>
            </a:r>
          </a:p>
          <a:p>
            <a:pPr>
              <a:lnSpc>
                <a:spcPct val="80000"/>
              </a:lnSpc>
            </a:pPr>
            <a:endParaRPr lang="en-US" smtClean="0"/>
          </a:p>
          <a:p>
            <a:pPr>
              <a:lnSpc>
                <a:spcPct val="80000"/>
              </a:lnSpc>
            </a:pPr>
            <a:r>
              <a:rPr lang="en-US" smtClean="0"/>
              <a:t>Size – current file size</a:t>
            </a:r>
          </a:p>
          <a:p>
            <a:pPr>
              <a:lnSpc>
                <a:spcPct val="80000"/>
              </a:lnSpc>
            </a:pPr>
            <a:endParaRPr lang="en-US" smtClean="0"/>
          </a:p>
          <a:p>
            <a:pPr>
              <a:lnSpc>
                <a:spcPct val="80000"/>
              </a:lnSpc>
            </a:pPr>
            <a:r>
              <a:rPr lang="en-US" smtClean="0"/>
              <a:t>Protection – controls who can do read, write, execute</a:t>
            </a:r>
          </a:p>
          <a:p>
            <a:pPr>
              <a:lnSpc>
                <a:spcPct val="80000"/>
              </a:lnSpc>
            </a:pPr>
            <a:endParaRPr lang="en-US" smtClean="0"/>
          </a:p>
          <a:p>
            <a:pPr>
              <a:lnSpc>
                <a:spcPct val="80000"/>
              </a:lnSpc>
            </a:pPr>
            <a:r>
              <a:rPr lang="en-US" smtClean="0"/>
              <a:t>Time, date, and user identification – data for protection, security, and usage </a:t>
            </a:r>
          </a:p>
          <a:p>
            <a:pPr>
              <a:lnSpc>
                <a:spcPct val="80000"/>
              </a:lnSpc>
            </a:pPr>
            <a:r>
              <a:rPr lang="en-US" smtClean="0"/>
              <a:t>     monitoring</a:t>
            </a:r>
          </a:p>
          <a:p>
            <a:pPr>
              <a:lnSpc>
                <a:spcPct val="80000"/>
              </a:lnSpc>
            </a:pPr>
            <a:endParaRPr lang="en-US" smtClean="0"/>
          </a:p>
          <a:p>
            <a:pPr>
              <a:lnSpc>
                <a:spcPct val="80000"/>
              </a:lnSpc>
            </a:pPr>
            <a:r>
              <a:rPr lang="en-US" smtClean="0"/>
              <a:t>Information about files are kept in the directory structure, which is maintained on the disk</a:t>
            </a:r>
          </a:p>
          <a:p>
            <a:pPr eaLnBrk="1" hangingPunct="1"/>
            <a:endParaRPr lang="hi-IN" smtClean="0">
              <a:ea typeface="Mangal" pitchFamily="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83298"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r>
              <a:rPr lang="en-US" dirty="0" smtClean="0"/>
              <a:t>Create </a:t>
            </a:r>
          </a:p>
          <a:p>
            <a:r>
              <a:rPr lang="en-US" dirty="0" smtClean="0"/>
              <a:t>Write </a:t>
            </a:r>
          </a:p>
          <a:p>
            <a:r>
              <a:rPr lang="en-US" dirty="0" smtClean="0"/>
              <a:t>Read</a:t>
            </a:r>
          </a:p>
          <a:p>
            <a:r>
              <a:rPr lang="en-US" dirty="0" smtClean="0"/>
              <a:t>file seek – reposition within file</a:t>
            </a:r>
          </a:p>
          <a:p>
            <a:r>
              <a:rPr lang="en-US" dirty="0" smtClean="0"/>
              <a:t>Delete</a:t>
            </a:r>
          </a:p>
          <a:p>
            <a:r>
              <a:rPr lang="en-US" dirty="0" smtClean="0"/>
              <a:t>Truncate</a:t>
            </a:r>
            <a:endParaRPr lang="hi-IN" dirty="0" smtClean="0">
              <a:ea typeface="Mangal" pitchFamily="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85346"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smtClean="0"/>
              <a:t>Several pieces of data are needed to manage open files:</a:t>
            </a:r>
          </a:p>
          <a:p>
            <a:pPr eaLnBrk="1" hangingPunct="1"/>
            <a:endParaRPr lang="en-US" smtClean="0"/>
          </a:p>
          <a:p>
            <a:pPr marL="742950" lvl="1" indent="-285750"/>
            <a:r>
              <a:rPr lang="en-US" sz="800" smtClean="0"/>
              <a:t>File pointer:  pointer to last read/write location, per process that has the file open</a:t>
            </a:r>
          </a:p>
          <a:p>
            <a:pPr marL="742950" lvl="1" indent="-285750"/>
            <a:r>
              <a:rPr lang="en-US" sz="800" smtClean="0"/>
              <a:t>File-open count: counter of number of times a file is open – to allow removal of data from open-file table when last processes closes it</a:t>
            </a:r>
          </a:p>
          <a:p>
            <a:pPr marL="742950" lvl="1" indent="-285750"/>
            <a:r>
              <a:rPr lang="en-US" sz="800" smtClean="0"/>
              <a:t>Disk location of the file: cache of data access information</a:t>
            </a:r>
          </a:p>
          <a:p>
            <a:pPr marL="742950" lvl="1" indent="-285750"/>
            <a:r>
              <a:rPr lang="en-US" sz="800" smtClean="0"/>
              <a:t>Access rights: per-process access mode information</a:t>
            </a:r>
          </a:p>
          <a:p>
            <a:pPr eaLnBrk="1" hangingPunct="1"/>
            <a:endParaRPr lang="hi-IN"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Slide Image Placeholder 1"/>
          <p:cNvSpPr>
            <a:spLocks noGrp="1" noRot="1" noChangeAspect="1" noTextEdit="1"/>
          </p:cNvSpPr>
          <p:nvPr>
            <p:ph type="sldImg"/>
          </p:nvPr>
        </p:nvSpPr>
        <p:spPr bwMode="auto">
          <a:noFill/>
          <a:ln>
            <a:solidFill>
              <a:srgbClr val="000000"/>
            </a:solidFill>
            <a:miter lim="800000"/>
            <a:headEnd/>
            <a:tailEnd/>
          </a:ln>
        </p:spPr>
      </p:sp>
      <p:sp>
        <p:nvSpPr>
          <p:cNvPr id="187394"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89442"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Slide Image Placeholder 1"/>
          <p:cNvSpPr>
            <a:spLocks noGrp="1" noRot="1" noChangeAspect="1"/>
          </p:cNvSpPr>
          <p:nvPr>
            <p:ph type="sldImg"/>
          </p:nvPr>
        </p:nvSpPr>
        <p:spPr bwMode="auto">
          <a:noFill/>
          <a:ln>
            <a:solidFill>
              <a:srgbClr val="000000"/>
            </a:solidFill>
            <a:miter lim="800000"/>
            <a:headEnd/>
            <a:tailEnd/>
          </a:ln>
        </p:spPr>
      </p:sp>
      <p:sp>
        <p:nvSpPr>
          <p:cNvPr id="19149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Explain the characterstics of directory structure.</a:t>
            </a:r>
          </a:p>
        </p:txBody>
      </p:sp>
      <p:sp>
        <p:nvSpPr>
          <p:cNvPr id="191491"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93538"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Slide Image Placeholder 1"/>
          <p:cNvSpPr>
            <a:spLocks noGrp="1" noRot="1" noChangeAspect="1" noTextEdit="1"/>
          </p:cNvSpPr>
          <p:nvPr>
            <p:ph type="sldImg"/>
          </p:nvPr>
        </p:nvSpPr>
        <p:spPr bwMode="auto">
          <a:noFill/>
          <a:ln>
            <a:solidFill>
              <a:srgbClr val="000000"/>
            </a:solidFill>
            <a:miter lim="800000"/>
            <a:headEnd/>
            <a:tailEnd/>
          </a:ln>
        </p:spPr>
      </p:sp>
      <p:sp>
        <p:nvSpPr>
          <p:cNvPr id="19661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smtClean="0">
                <a:latin typeface="Regular"/>
              </a:rPr>
              <a:t>Files stored information, which is when required, may be read into the main memory.  There are several different ways in which the data stored in a file may be accessed for reading and writing.  The operating system is responsible for supporting these file access methods</a:t>
            </a:r>
            <a:r>
              <a:rPr lang="en-US" dirty="0" smtClean="0"/>
              <a:t>.</a:t>
            </a:r>
          </a:p>
          <a:p>
            <a:endParaRPr lang="en-US" dirty="0" smtClean="0"/>
          </a:p>
          <a:p>
            <a:r>
              <a:rPr lang="en-US" dirty="0" smtClean="0"/>
              <a:t>Sequential Access</a:t>
            </a:r>
          </a:p>
          <a:p>
            <a:pPr marL="1600200" lvl="3" indent="-228600">
              <a:lnSpc>
                <a:spcPct val="80000"/>
              </a:lnSpc>
              <a:buFont typeface="Wingdings" pitchFamily="2" charset="2"/>
              <a:buNone/>
            </a:pPr>
            <a:r>
              <a:rPr lang="en-US" dirty="0" smtClean="0"/>
              <a:t>read next</a:t>
            </a:r>
          </a:p>
          <a:p>
            <a:pPr marL="1600200" lvl="3" indent="-228600">
              <a:lnSpc>
                <a:spcPct val="80000"/>
              </a:lnSpc>
              <a:buFont typeface="Wingdings" pitchFamily="2" charset="2"/>
              <a:buNone/>
            </a:pPr>
            <a:r>
              <a:rPr lang="en-US" dirty="0" smtClean="0"/>
              <a:t>write next</a:t>
            </a:r>
          </a:p>
          <a:p>
            <a:pPr marL="1600200" lvl="3" indent="-228600">
              <a:lnSpc>
                <a:spcPct val="80000"/>
              </a:lnSpc>
              <a:buFont typeface="Wingdings" pitchFamily="2" charset="2"/>
              <a:buNone/>
            </a:pPr>
            <a:r>
              <a:rPr lang="en-US" dirty="0" smtClean="0"/>
              <a:t>reset</a:t>
            </a:r>
          </a:p>
          <a:p>
            <a:pPr marL="1600200" lvl="3" indent="-228600">
              <a:lnSpc>
                <a:spcPct val="80000"/>
              </a:lnSpc>
              <a:buFont typeface="Wingdings" pitchFamily="2" charset="2"/>
              <a:buNone/>
            </a:pPr>
            <a:r>
              <a:rPr lang="en-US" dirty="0" smtClean="0"/>
              <a:t>no read after last write (rewrite)</a:t>
            </a:r>
          </a:p>
          <a:p>
            <a:r>
              <a:rPr lang="en-US" dirty="0" smtClean="0"/>
              <a:t>Direct Access ( n = relative block number)</a:t>
            </a:r>
          </a:p>
          <a:p>
            <a:pPr marL="1600200" lvl="3" indent="-228600">
              <a:lnSpc>
                <a:spcPct val="80000"/>
              </a:lnSpc>
              <a:buFont typeface="Wingdings" pitchFamily="2" charset="2"/>
              <a:buNone/>
            </a:pPr>
            <a:r>
              <a:rPr lang="en-US" dirty="0" smtClean="0"/>
              <a:t>read n</a:t>
            </a:r>
          </a:p>
          <a:p>
            <a:pPr marL="1600200" lvl="3" indent="-228600">
              <a:lnSpc>
                <a:spcPct val="80000"/>
              </a:lnSpc>
              <a:buFont typeface="Wingdings" pitchFamily="2" charset="2"/>
              <a:buNone/>
            </a:pPr>
            <a:r>
              <a:rPr lang="en-US" dirty="0" smtClean="0"/>
              <a:t>write n</a:t>
            </a:r>
          </a:p>
          <a:p>
            <a:pPr marL="1600200" lvl="3" indent="-228600">
              <a:lnSpc>
                <a:spcPct val="80000"/>
              </a:lnSpc>
              <a:buFont typeface="Wingdings" pitchFamily="2" charset="2"/>
              <a:buNone/>
            </a:pPr>
            <a:r>
              <a:rPr lang="en-US" dirty="0" smtClean="0"/>
              <a:t>position to n</a:t>
            </a:r>
          </a:p>
          <a:p>
            <a:pPr marL="1600200" lvl="3" indent="-228600">
              <a:lnSpc>
                <a:spcPct val="80000"/>
              </a:lnSpc>
              <a:buFont typeface="Wingdings" pitchFamily="2" charset="2"/>
              <a:buNone/>
            </a:pPr>
            <a:r>
              <a:rPr lang="en-US" dirty="0" smtClean="0"/>
              <a:t>      read next</a:t>
            </a:r>
          </a:p>
          <a:p>
            <a:pPr marL="1600200" lvl="3" indent="-228600">
              <a:lnSpc>
                <a:spcPct val="80000"/>
              </a:lnSpc>
              <a:buFont typeface="Wingdings" pitchFamily="2" charset="2"/>
              <a:buNone/>
            </a:pPr>
            <a:r>
              <a:rPr lang="en-US" dirty="0" smtClean="0"/>
              <a:t>      write next</a:t>
            </a:r>
          </a:p>
          <a:p>
            <a:pPr marL="1600200" lvl="3" indent="-228600">
              <a:lnSpc>
                <a:spcPct val="80000"/>
              </a:lnSpc>
              <a:buFont typeface="Wingdings" pitchFamily="2" charset="2"/>
              <a:buNone/>
            </a:pPr>
            <a:r>
              <a:rPr lang="en-US" dirty="0" smtClean="0"/>
              <a:t>rewrite n</a:t>
            </a:r>
          </a:p>
          <a:p>
            <a:endParaRPr lang="en-US" dirty="0"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198658"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00706"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02754"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dirty="0" smtClean="0">
              <a:ea typeface="Mangal" pitchFamily="2"/>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04802"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06850"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Slide Image Placeholder 1"/>
          <p:cNvSpPr>
            <a:spLocks noGrp="1" noRot="1" noChangeAspect="1" noTextEdit="1"/>
          </p:cNvSpPr>
          <p:nvPr>
            <p:ph type="sldImg"/>
          </p:nvPr>
        </p:nvSpPr>
        <p:spPr bwMode="auto">
          <a:noFill/>
          <a:ln>
            <a:solidFill>
              <a:srgbClr val="000000"/>
            </a:solidFill>
            <a:miter lim="800000"/>
            <a:headEnd/>
            <a:tailEnd/>
          </a:ln>
        </p:spPr>
      </p:sp>
      <p:sp>
        <p:nvSpPr>
          <p:cNvPr id="208898"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Slide Image Placeholder 1"/>
          <p:cNvSpPr>
            <a:spLocks noGrp="1" noRot="1" noChangeAspect="1" noTextEdit="1"/>
          </p:cNvSpPr>
          <p:nvPr>
            <p:ph type="sldImg"/>
          </p:nvPr>
        </p:nvSpPr>
        <p:spPr bwMode="auto">
          <a:noFill/>
          <a:ln>
            <a:solidFill>
              <a:srgbClr val="000000"/>
            </a:solidFill>
            <a:miter lim="800000"/>
            <a:headEnd/>
            <a:tailEnd/>
          </a:ln>
        </p:spPr>
      </p:sp>
      <p:sp>
        <p:nvSpPr>
          <p:cNvPr id="210946"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Mounting File System</a:t>
            </a:r>
          </a:p>
          <a:p>
            <a:pPr marL="742950" lvl="1" indent="-285750"/>
            <a:endParaRPr lang="en-US" sz="800" smtClean="0"/>
          </a:p>
          <a:p>
            <a:pPr marL="742950" lvl="1" indent="-285750"/>
            <a:r>
              <a:rPr lang="en-US" sz="800" smtClean="0"/>
              <a:t>File tree is composed of File System</a:t>
            </a:r>
          </a:p>
          <a:p>
            <a:pPr marL="742950" lvl="1" indent="-285750"/>
            <a:endParaRPr lang="en-US" sz="800" smtClean="0"/>
          </a:p>
          <a:p>
            <a:pPr marL="742950" lvl="1" indent="-285750"/>
            <a:r>
              <a:rPr lang="en-US" sz="800" smtClean="0"/>
              <a:t>Use </a:t>
            </a:r>
            <a:r>
              <a:rPr lang="en-US" sz="800" i="1" smtClean="0"/>
              <a:t>mount </a:t>
            </a:r>
            <a:r>
              <a:rPr lang="en-US" sz="800" smtClean="0"/>
              <a:t>command to map a directory within the existing file tree (mount point) to the root of the new file system. </a:t>
            </a:r>
          </a:p>
          <a:p>
            <a:pPr marL="1143000" lvl="2" indent="-228600"/>
            <a:endParaRPr lang="en-US" i="1" smtClean="0"/>
          </a:p>
          <a:p>
            <a:pPr marL="1143000" lvl="2" indent="-228600"/>
            <a:r>
              <a:rPr lang="en-US" i="1" smtClean="0"/>
              <a:t>mount /dev/hda4 /usr  </a:t>
            </a:r>
          </a:p>
          <a:p>
            <a:pPr marL="742950" lvl="1" indent="-285750"/>
            <a:endParaRPr lang="en-US" sz="800" smtClean="0"/>
          </a:p>
          <a:p>
            <a:pPr marL="742950" lvl="1" indent="-285750"/>
            <a:r>
              <a:rPr lang="en-US" sz="800" smtClean="0"/>
              <a:t>Use </a:t>
            </a:r>
            <a:r>
              <a:rPr lang="en-US" sz="800" i="1" smtClean="0"/>
              <a:t>umount </a:t>
            </a:r>
            <a:r>
              <a:rPr lang="en-US" sz="800" smtClean="0"/>
              <a:t>command to detach the file system</a:t>
            </a:r>
          </a:p>
          <a:p>
            <a:pPr marL="1143000" lvl="2" indent="-228600"/>
            <a:endParaRPr lang="en-US" smtClean="0"/>
          </a:p>
          <a:p>
            <a:pPr marL="1143000" lvl="2" indent="-228600"/>
            <a:r>
              <a:rPr lang="en-US" smtClean="0"/>
              <a:t>Detaching will fail if the file system is busy</a:t>
            </a:r>
          </a:p>
          <a:p>
            <a:endParaRPr lang="en-US" smtClean="0"/>
          </a:p>
          <a:p>
            <a:endParaRPr lang="en-US"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Slide Image Placeholder 1"/>
          <p:cNvSpPr>
            <a:spLocks noGrp="1" noRot="1" noChangeAspect="1" noTextEdit="1"/>
          </p:cNvSpPr>
          <p:nvPr>
            <p:ph type="sldImg"/>
          </p:nvPr>
        </p:nvSpPr>
        <p:spPr bwMode="auto">
          <a:noFill/>
          <a:ln>
            <a:solidFill>
              <a:srgbClr val="000000"/>
            </a:solidFill>
            <a:miter lim="800000"/>
            <a:headEnd/>
            <a:tailEnd/>
          </a:ln>
        </p:spPr>
      </p:sp>
      <p:sp>
        <p:nvSpPr>
          <p:cNvPr id="212994"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Slide Image Placeholder 1"/>
          <p:cNvSpPr>
            <a:spLocks noGrp="1" noRot="1" noChangeAspect="1" noTextEdit="1"/>
          </p:cNvSpPr>
          <p:nvPr>
            <p:ph type="sldImg"/>
          </p:nvPr>
        </p:nvSpPr>
        <p:spPr bwMode="auto">
          <a:noFill/>
          <a:ln>
            <a:solidFill>
              <a:srgbClr val="000000"/>
            </a:solidFill>
            <a:miter lim="800000"/>
            <a:headEnd/>
            <a:tailEnd/>
          </a:ln>
        </p:spPr>
      </p:sp>
      <p:sp>
        <p:nvSpPr>
          <p:cNvPr id="215042" name="Notes Placeholder 2"/>
          <p:cNvSpPr>
            <a:spLocks noGrp="1"/>
          </p:cNvSpPr>
          <p:nvPr>
            <p:ph type="body" idx="1"/>
          </p:nvPr>
        </p:nvSpPr>
        <p:spPr bwMode="auto">
          <a:noFill/>
        </p:spPr>
        <p:txBody>
          <a:bodyPr wrap="square" numCol="1" anchor="t" anchorCtr="0" compatLnSpc="1">
            <a:prstTxWarp prst="textNoShape">
              <a:avLst/>
            </a:prstTxWarp>
          </a:bodyPr>
          <a:lstStyle/>
          <a:p>
            <a:pPr marL="0" lvl="1"/>
            <a:r>
              <a:rPr lang="en-US" smtClean="0">
                <a:latin typeface="Regular"/>
              </a:rPr>
              <a:t>These bits allow programs to access files that processes that would otherwise off limits to the user that runs them.</a:t>
            </a:r>
          </a:p>
          <a:p>
            <a:endParaRPr lang="en-US" smtClean="0">
              <a:latin typeface="Regul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Slide Image Placeholder 1"/>
          <p:cNvSpPr>
            <a:spLocks noGrp="1" noRot="1" noChangeAspect="1"/>
          </p:cNvSpPr>
          <p:nvPr>
            <p:ph type="sldImg"/>
          </p:nvPr>
        </p:nvSpPr>
        <p:spPr bwMode="auto">
          <a:noFill/>
          <a:ln>
            <a:solidFill>
              <a:srgbClr val="000000"/>
            </a:solidFill>
            <a:miter lim="800000"/>
            <a:headEnd/>
            <a:tailEnd/>
          </a:ln>
        </p:spPr>
      </p:sp>
      <p:sp>
        <p:nvSpPr>
          <p:cNvPr id="21709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latin typeface="Regular"/>
              </a:rPr>
              <a:t>Hands-on for 2 hours to be taken up to explore file related operations in Unix. </a:t>
            </a:r>
          </a:p>
          <a:p>
            <a:r>
              <a:rPr lang="en-US" smtClean="0">
                <a:latin typeface="Regular"/>
              </a:rPr>
              <a:t>Refer to File System: hands-on (2 hours) portion in the supporting document</a:t>
            </a:r>
          </a:p>
          <a:p>
            <a:endParaRPr lang="en-US" smtClean="0">
              <a:latin typeface="Regular"/>
            </a:endParaRPr>
          </a:p>
        </p:txBody>
      </p:sp>
      <p:sp>
        <p:nvSpPr>
          <p:cNvPr id="217091"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Slide Image Placeholder 1"/>
          <p:cNvSpPr>
            <a:spLocks noGrp="1" noRot="1" noChangeAspect="1" noTextEdit="1"/>
          </p:cNvSpPr>
          <p:nvPr>
            <p:ph type="sldImg"/>
          </p:nvPr>
        </p:nvSpPr>
        <p:spPr bwMode="auto">
          <a:noFill/>
          <a:ln>
            <a:solidFill>
              <a:srgbClr val="000000"/>
            </a:solidFill>
            <a:miter lim="800000"/>
            <a:headEnd/>
            <a:tailEnd/>
          </a:ln>
        </p:spPr>
      </p:sp>
      <p:sp>
        <p:nvSpPr>
          <p:cNvPr id="219138"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Slide Image Placeholder 1"/>
          <p:cNvSpPr>
            <a:spLocks noGrp="1" noRot="1" noChangeAspect="1"/>
          </p:cNvSpPr>
          <p:nvPr>
            <p:ph type="sldImg"/>
          </p:nvPr>
        </p:nvSpPr>
        <p:spPr bwMode="auto">
          <a:noFill/>
          <a:ln>
            <a:solidFill>
              <a:srgbClr val="000000"/>
            </a:solidFill>
            <a:miter lim="800000"/>
            <a:headEnd/>
            <a:tailEnd/>
          </a:ln>
        </p:spPr>
      </p:sp>
      <p:sp>
        <p:nvSpPr>
          <p:cNvPr id="222210"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22211"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Slide Image Placeholder 1"/>
          <p:cNvSpPr>
            <a:spLocks noGrp="1" noRot="1" noChangeAspect="1"/>
          </p:cNvSpPr>
          <p:nvPr>
            <p:ph type="sldImg"/>
          </p:nvPr>
        </p:nvSpPr>
        <p:spPr bwMode="auto">
          <a:noFill/>
          <a:ln>
            <a:solidFill>
              <a:srgbClr val="000000"/>
            </a:solidFill>
            <a:miter lim="800000"/>
            <a:headEnd/>
            <a:tailEnd/>
          </a:ln>
        </p:spPr>
      </p:sp>
      <p:sp>
        <p:nvSpPr>
          <p:cNvPr id="227330"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smtClean="0">
                <a:latin typeface="Regular"/>
              </a:rPr>
              <a:t>Dynamic relocation using a relocation register</a:t>
            </a:r>
          </a:p>
        </p:txBody>
      </p:sp>
      <p:sp>
        <p:nvSpPr>
          <p:cNvPr id="227331"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Rot="1" noChangeAspect="1" noTextEdit="1"/>
          </p:cNvSpPr>
          <p:nvPr>
            <p:ph type="sldImg"/>
          </p:nvPr>
        </p:nvSpPr>
        <p:spPr bwMode="auto">
          <a:noFill/>
          <a:ln>
            <a:solidFill>
              <a:srgbClr val="000000"/>
            </a:solidFill>
            <a:miter lim="800000"/>
            <a:headEnd/>
            <a:tailEnd/>
          </a:ln>
        </p:spPr>
      </p:sp>
      <p:sp>
        <p:nvSpPr>
          <p:cNvPr id="308227" name="Rectangle 3"/>
          <p:cNvSpPr>
            <a:spLocks noGrp="1"/>
          </p:cNvSpPr>
          <p:nvPr>
            <p:ph type="body" idx="1"/>
          </p:nvPr>
        </p:nvSpPr>
        <p:spPr bwMode="auto">
          <a:noFill/>
        </p:spPr>
        <p:txBody>
          <a:bodyPr wrap="square" numCol="1" anchor="t" anchorCtr="0" compatLnSpc="1">
            <a:prstTxWarp prst="textNoShape">
              <a:avLst/>
            </a:prstTxWarp>
          </a:bodyPr>
          <a:lstStyle/>
          <a:p>
            <a:r>
              <a:rPr lang="en-US" smtClean="0"/>
              <a:t>Routine is not loaded until it is called</a:t>
            </a:r>
          </a:p>
          <a:p>
            <a:endParaRPr lang="en-US" smtClean="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30402"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Programming design of overlay structure is complex usually implemented by user. Hence, no special support needed from operating system</a:t>
            </a:r>
          </a:p>
          <a:p>
            <a:endParaRPr lang="en-US" dirty="0" smtClean="0"/>
          </a:p>
          <a:p>
            <a:endParaRPr lang="en-US" dirty="0"/>
          </a:p>
        </p:txBody>
      </p:sp>
      <p:sp>
        <p:nvSpPr>
          <p:cNvPr id="4" name="Footer Placeholder 3"/>
          <p:cNvSpPr>
            <a:spLocks noGrp="1"/>
          </p:cNvSpPr>
          <p:nvPr>
            <p:ph type="ftr" sz="quarter" idx="10"/>
          </p:nvPr>
        </p:nvSpPr>
        <p:spPr/>
        <p:txBody>
          <a:bodyPr/>
          <a:lstStyle/>
          <a:p>
            <a:pPr>
              <a:defRPr/>
            </a:pPr>
            <a:r>
              <a:rPr lang="en-US" smtClean="0"/>
              <a:t>Confidential © 2009 Wipro Ltd</a:t>
            </a:r>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Rot="1" noChangeAspect="1" noTextEdit="1"/>
          </p:cNvSpPr>
          <p:nvPr>
            <p:ph type="sldImg"/>
          </p:nvPr>
        </p:nvSpPr>
        <p:spPr bwMode="auto">
          <a:noFill/>
          <a:ln>
            <a:solidFill>
              <a:srgbClr val="000000"/>
            </a:solidFill>
            <a:miter lim="800000"/>
            <a:headEnd/>
            <a:tailEnd/>
          </a:ln>
        </p:spPr>
      </p:sp>
      <p:sp>
        <p:nvSpPr>
          <p:cNvPr id="309251" name="Rectangle 3"/>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A process can be swapped temporarily out of memory to a backup storage, and then brought back into memory for continued execution</a:t>
            </a:r>
            <a:br>
              <a:rPr lang="en-US" dirty="0" smtClean="0"/>
            </a:br>
            <a:r>
              <a:rPr lang="en-US" dirty="0" smtClean="0"/>
              <a:t>Modified versions of swapping are found on many </a:t>
            </a:r>
            <a:r>
              <a:rPr lang="en-US" dirty="0" err="1" smtClean="0"/>
              <a:t>systems,.i.e</a:t>
            </a:r>
            <a:r>
              <a:rPr lang="en-US" dirty="0" smtClean="0"/>
              <a:t>., UNIX, Linux, and Windows</a:t>
            </a:r>
          </a:p>
          <a:p>
            <a:endParaRPr lang="en-US" dirty="0" smtClean="0"/>
          </a:p>
          <a:p>
            <a:endParaRPr lang="en-US" dirty="0" smtClean="0"/>
          </a:p>
          <a:p>
            <a:r>
              <a:rPr lang="en-US" dirty="0" smtClean="0"/>
              <a:t>Roll out, roll in – swapping variant used for priority-based scheduling algorithms;  less priority process is exchanged so that higher-priority process can be loaded and executed</a:t>
            </a:r>
            <a:br>
              <a:rPr lang="en-US" dirty="0" smtClean="0"/>
            </a:br>
            <a:endParaRPr lang="en-US" dirty="0" smtClean="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34498"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Slide Image Placeholder 1"/>
          <p:cNvSpPr>
            <a:spLocks noGrp="1" noRot="1" noChangeAspect="1"/>
          </p:cNvSpPr>
          <p:nvPr>
            <p:ph type="sldImg"/>
          </p:nvPr>
        </p:nvSpPr>
        <p:spPr bwMode="auto">
          <a:noFill/>
          <a:ln>
            <a:solidFill>
              <a:srgbClr val="000000"/>
            </a:solidFill>
            <a:miter lim="800000"/>
            <a:headEnd/>
            <a:tailEnd/>
          </a:ln>
        </p:spPr>
      </p:sp>
      <p:sp>
        <p:nvSpPr>
          <p:cNvPr id="236546"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36547"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40642"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Slide Image Placeholder 1"/>
          <p:cNvSpPr>
            <a:spLocks noGrp="1" noRot="1" noChangeAspect="1" noTextEdit="1"/>
          </p:cNvSpPr>
          <p:nvPr>
            <p:ph type="sldImg"/>
          </p:nvPr>
        </p:nvSpPr>
        <p:spPr bwMode="auto">
          <a:noFill/>
          <a:ln>
            <a:solidFill>
              <a:srgbClr val="000000"/>
            </a:solidFill>
            <a:miter lim="800000"/>
            <a:headEnd/>
            <a:tailEnd/>
          </a:ln>
        </p:spPr>
      </p:sp>
      <p:sp>
        <p:nvSpPr>
          <p:cNvPr id="242690"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Slide Image Placeholder 1"/>
          <p:cNvSpPr>
            <a:spLocks noGrp="1" noRot="1" noChangeAspect="1"/>
          </p:cNvSpPr>
          <p:nvPr>
            <p:ph type="sldImg"/>
          </p:nvPr>
        </p:nvSpPr>
        <p:spPr bwMode="auto">
          <a:noFill/>
          <a:ln>
            <a:solidFill>
              <a:srgbClr val="000000"/>
            </a:solidFill>
            <a:miter lim="800000"/>
            <a:headEnd/>
            <a:tailEnd/>
          </a:ln>
        </p:spPr>
      </p:sp>
      <p:sp>
        <p:nvSpPr>
          <p:cNvPr id="245762"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45763" name="Footer Placeholder 3"/>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Confidential © 2009 Wipro Ltd</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Rot="1" noChangeAspect="1" noTextEdit="1"/>
          </p:cNvSpPr>
          <p:nvPr>
            <p:ph type="sldImg"/>
          </p:nvPr>
        </p:nvSpPr>
        <p:spPr bwMode="auto">
          <a:noFill/>
          <a:ln>
            <a:solidFill>
              <a:srgbClr val="000000"/>
            </a:solidFill>
            <a:miter lim="800000"/>
            <a:headEnd/>
            <a:tailEnd/>
          </a:ln>
        </p:spPr>
      </p:sp>
      <p:sp>
        <p:nvSpPr>
          <p:cNvPr id="310275" name="Rectangle 3"/>
          <p:cNvSpPr>
            <a:spLocks noGrp="1"/>
          </p:cNvSpPr>
          <p:nvPr>
            <p:ph type="body" idx="1"/>
          </p:nvPr>
        </p:nvSpPr>
        <p:spPr bwMode="auto">
          <a:noFill/>
        </p:spPr>
        <p:txBody>
          <a:bodyPr wrap="square" numCol="1" anchor="t" anchorCtr="0" compatLnSpc="1">
            <a:prstTxWarp prst="textNoShape">
              <a:avLst/>
            </a:prstTxWarp>
          </a:bodyPr>
          <a:lstStyle/>
          <a:p>
            <a:r>
              <a:rPr lang="en-US" smtClean="0"/>
              <a:t>Divide physical memory into fixed-sized blocks called frames (size is power of 2, between 512 bytes and 8192 bytes)</a:t>
            </a:r>
          </a:p>
          <a:p>
            <a:r>
              <a:rPr lang="en-US" smtClean="0"/>
              <a:t>Set up a page table to translate logical to physical addresses</a:t>
            </a:r>
          </a:p>
          <a:p>
            <a:r>
              <a:rPr lang="en-US" smtClean="0"/>
              <a:t>Internal fragmentation</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49858"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dirty="0" smtClean="0">
              <a:ea typeface="Mangal" pitchFamily="2"/>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54978" name="Rectangle 3"/>
          <p:cNvSpPr>
            <a:spLocks noGrp="1" noChangeArrowheads="1"/>
          </p:cNvSpPr>
          <p:nvPr>
            <p:ph type="body" idx="1"/>
          </p:nvPr>
        </p:nvSpPr>
        <p:spPr bwMode="auto">
          <a:xfrm>
            <a:off x="912813" y="4344988"/>
            <a:ext cx="5032375" cy="4113212"/>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58050"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r>
              <a:rPr lang="en-US" smtClean="0">
                <a:latin typeface="Regular"/>
              </a:rPr>
              <a:t>The client-server example shown in the above figure is used to illustrate the </a:t>
            </a:r>
          </a:p>
          <a:p>
            <a:pPr eaLnBrk="1" hangingPunct="1"/>
            <a:r>
              <a:rPr lang="en-US" smtClean="0">
                <a:latin typeface="Regular"/>
              </a:rPr>
              <a:t>application of pipes.</a:t>
            </a:r>
          </a:p>
          <a:p>
            <a:pPr eaLnBrk="1" hangingPunct="1"/>
            <a:r>
              <a:rPr lang="en-US" smtClean="0">
                <a:latin typeface="Regular"/>
              </a:rPr>
              <a:t> The client reads a pathname from the standard input and writes it to the IPC</a:t>
            </a:r>
          </a:p>
          <a:p>
            <a:pPr eaLnBrk="1" hangingPunct="1"/>
            <a:r>
              <a:rPr lang="en-US" smtClean="0">
                <a:latin typeface="Regular"/>
              </a:rPr>
              <a:t>channel. The server reads this pathname from the IPC channel and tries to open</a:t>
            </a:r>
          </a:p>
          <a:p>
            <a:pPr eaLnBrk="1" hangingPunct="1"/>
            <a:r>
              <a:rPr lang="en-US" smtClean="0">
                <a:latin typeface="Regular"/>
              </a:rPr>
              <a:t>the file for reading. If the server can open the file, the server responds by reading </a:t>
            </a:r>
          </a:p>
          <a:p>
            <a:pPr eaLnBrk="1" hangingPunct="1"/>
            <a:r>
              <a:rPr lang="en-US" smtClean="0">
                <a:latin typeface="Regular"/>
              </a:rPr>
              <a:t>the file and writing it to the IPC channel; otherwise, the server responds with an </a:t>
            </a:r>
          </a:p>
          <a:p>
            <a:pPr eaLnBrk="1" hangingPunct="1"/>
            <a:r>
              <a:rPr lang="en-US" smtClean="0">
                <a:latin typeface="Regular"/>
              </a:rPr>
              <a:t>error message.</a:t>
            </a:r>
          </a:p>
          <a:p>
            <a:pPr eaLnBrk="1" hangingPunct="1"/>
            <a:r>
              <a:rPr lang="en-US" smtClean="0">
                <a:latin typeface="Regular"/>
              </a:rPr>
              <a:t>The client then reads from the IPC channel, writing what it receives to the </a:t>
            </a:r>
          </a:p>
          <a:p>
            <a:pPr eaLnBrk="1" hangingPunct="1"/>
            <a:r>
              <a:rPr lang="en-US" smtClean="0">
                <a:latin typeface="Regular"/>
              </a:rPr>
              <a:t>standard  output. If the file cannot be read by the server, the client reads an error</a:t>
            </a:r>
          </a:p>
          <a:p>
            <a:pPr eaLnBrk="1" hangingPunct="1"/>
            <a:r>
              <a:rPr lang="en-US" smtClean="0">
                <a:latin typeface="Regular"/>
              </a:rPr>
              <a:t>message from the IPC channel. Otherwise the client reads the contents of the</a:t>
            </a:r>
          </a:p>
          <a:p>
            <a:pPr eaLnBrk="1" hangingPunct="1"/>
            <a:r>
              <a:rPr lang="en-US" smtClean="0">
                <a:latin typeface="Regular"/>
              </a:rPr>
              <a:t>file.</a:t>
            </a:r>
          </a:p>
          <a:p>
            <a:pPr eaLnBrk="1" hangingPunct="1"/>
            <a:endParaRPr lang="en-US" smtClean="0">
              <a:latin typeface="Regular"/>
            </a:endParaRPr>
          </a:p>
          <a:p>
            <a:pPr eaLnBrk="1" hangingPunct="1"/>
            <a:endParaRPr lang="en-US" smtClean="0">
              <a:latin typeface="Regul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60098" name="Rectangle 3"/>
          <p:cNvSpPr>
            <a:spLocks noGrp="1" noChangeArrowheads="1"/>
          </p:cNvSpPr>
          <p:nvPr>
            <p:ph type="body" idx="1"/>
          </p:nvPr>
        </p:nvSpPr>
        <p:spPr bwMode="auto">
          <a:xfrm>
            <a:off x="912813" y="4344988"/>
            <a:ext cx="5032375" cy="4113212"/>
          </a:xfrm>
          <a:noFill/>
        </p:spPr>
        <p:txBody>
          <a:bodyPr wrap="square" numCol="1" anchor="t" anchorCtr="0" compatLnSpc="1">
            <a:prstTxWarp prst="textNoShape">
              <a:avLst/>
            </a:prstTxWarp>
          </a:bodyPr>
          <a:lstStyle/>
          <a:p>
            <a:r>
              <a:rPr lang="en-US" dirty="0" smtClean="0"/>
              <a:t>Pipes were the first widely used form of IPC, available both  within programs and from the shell</a:t>
            </a:r>
          </a:p>
          <a:p>
            <a:pPr eaLnBrk="1" hangingPunct="1"/>
            <a:endParaRPr lang="en-US" dirty="0" smtClean="0">
              <a:latin typeface="Regular"/>
            </a:endParaRPr>
          </a:p>
          <a:p>
            <a:pPr eaLnBrk="1" hangingPunct="1"/>
            <a:r>
              <a:rPr lang="en-US" smtClean="0">
                <a:latin typeface="Regular"/>
              </a:rPr>
              <a:t>Pipes have no names, and their biggest disadvantage is that they can be used</a:t>
            </a:r>
          </a:p>
          <a:p>
            <a:pPr eaLnBrk="1" hangingPunct="1"/>
            <a:r>
              <a:rPr lang="en-US" dirty="0" smtClean="0">
                <a:latin typeface="Regular"/>
              </a:rPr>
              <a:t>only between processes that have a parent process in common.</a:t>
            </a:r>
          </a:p>
          <a:p>
            <a:pPr eaLnBrk="1" hangingPunct="1"/>
            <a:r>
              <a:rPr lang="en-US" dirty="0" smtClean="0">
                <a:latin typeface="Regular"/>
              </a:rPr>
              <a:t>Two unrelated processes cannot create a pipe between them and use it</a:t>
            </a:r>
          </a:p>
          <a:p>
            <a:pPr eaLnBrk="1" hangingPunct="1"/>
            <a:r>
              <a:rPr lang="en-US" dirty="0" smtClean="0">
                <a:latin typeface="Regular"/>
              </a:rPr>
              <a:t>for IPC.</a:t>
            </a:r>
          </a:p>
          <a:p>
            <a:pPr eaLnBrk="1" hangingPunct="1"/>
            <a:endParaRPr lang="en-US" dirty="0" smtClean="0">
              <a:latin typeface="Regular"/>
            </a:endParaRPr>
          </a:p>
          <a:p>
            <a:pPr eaLnBrk="1" hangingPunct="1"/>
            <a:r>
              <a:rPr lang="en-US" dirty="0" smtClean="0">
                <a:latin typeface="Regular"/>
              </a:rPr>
              <a:t>FIFO stands for First In First Out and a Unix FIFO is similar to pipe.</a:t>
            </a:r>
          </a:p>
          <a:p>
            <a:pPr eaLnBrk="1" hangingPunct="1"/>
            <a:r>
              <a:rPr lang="en-US" dirty="0" smtClean="0">
                <a:latin typeface="Regular"/>
              </a:rPr>
              <a:t>It is one-way(half-duplex)flow of data. But unlike pipes, a FIFO has path name </a:t>
            </a:r>
          </a:p>
          <a:p>
            <a:pPr eaLnBrk="1" hangingPunct="1"/>
            <a:r>
              <a:rPr lang="en-US" dirty="0" smtClean="0">
                <a:latin typeface="Regular"/>
              </a:rPr>
              <a:t>associated with it, allowing unrelated process to access a single FIFO.</a:t>
            </a:r>
          </a:p>
          <a:p>
            <a:pPr eaLnBrk="1" hangingPunct="1"/>
            <a:r>
              <a:rPr lang="en-US" dirty="0" smtClean="0">
                <a:latin typeface="Regular"/>
              </a:rPr>
              <a:t>FIFO ’s are also called named pipes.</a:t>
            </a:r>
          </a:p>
          <a:p>
            <a:pPr eaLnBrk="1" hangingPunct="1"/>
            <a:endParaRPr lang="en-US" dirty="0" smtClean="0">
              <a:latin typeface="Regul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69"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63170" name="Rectangle 3"/>
          <p:cNvSpPr>
            <a:spLocks noGrp="1" noChangeArrowheads="1"/>
          </p:cNvSpPr>
          <p:nvPr>
            <p:ph type="body" idx="1"/>
          </p:nvPr>
        </p:nvSpPr>
        <p:spPr bwMode="auto">
          <a:xfrm>
            <a:off x="912813" y="4344988"/>
            <a:ext cx="5032375" cy="4113212"/>
          </a:xfrm>
          <a:noFill/>
        </p:spPr>
        <p:txBody>
          <a:bodyPr wrap="square" numCol="1" anchor="t" anchorCtr="0" compatLnSpc="1">
            <a:prstTxWarp prst="textNoShape">
              <a:avLst/>
            </a:prstTxWarp>
          </a:bodyPr>
          <a:lstStyle/>
          <a:p>
            <a:pPr eaLnBrk="1" hangingPunct="1"/>
            <a:r>
              <a:rPr lang="en-US" smtClean="0"/>
              <a:t>The Good thing about shared memory segments is that they are what they sound</a:t>
            </a:r>
          </a:p>
          <a:p>
            <a:pPr eaLnBrk="1" hangingPunct="1"/>
            <a:r>
              <a:rPr lang="en-US" smtClean="0"/>
              <a:t> like: a segment of memory that is shared between processes. </a:t>
            </a:r>
          </a:p>
          <a:p>
            <a:pPr eaLnBrk="1" hangingPunct="1"/>
            <a:r>
              <a:rPr lang="en-US" smtClean="0"/>
              <a:t>User can  just connect to the shared memory segment, and get a</a:t>
            </a:r>
          </a:p>
          <a:p>
            <a:pPr eaLnBrk="1" hangingPunct="1"/>
            <a:r>
              <a:rPr lang="en-US" smtClean="0"/>
              <a:t>pointer to the memory. User can read and write to this pointer and all changes </a:t>
            </a:r>
          </a:p>
          <a:p>
            <a:pPr eaLnBrk="1" hangingPunct="1"/>
            <a:r>
              <a:rPr lang="en-US" smtClean="0"/>
              <a:t>you make will be visible to everyone else connected to the segment. There is</a:t>
            </a:r>
          </a:p>
          <a:p>
            <a:pPr eaLnBrk="1" hangingPunct="1"/>
            <a:r>
              <a:rPr lang="en-US" smtClean="0"/>
              <a:t>nothing simpler.</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65218" name="Rectangle 3"/>
          <p:cNvSpPr>
            <a:spLocks noGrp="1" noChangeArrowheads="1"/>
          </p:cNvSpPr>
          <p:nvPr>
            <p:ph type="body" idx="1"/>
          </p:nvPr>
        </p:nvSpPr>
        <p:spPr bwMode="auto">
          <a:xfrm>
            <a:off x="912813" y="4344988"/>
            <a:ext cx="5032375" cy="4113212"/>
          </a:xfrm>
          <a:noFill/>
        </p:spPr>
        <p:txBody>
          <a:bodyPr wrap="square" numCol="1" anchor="t" anchorCtr="0" compatLnSpc="1">
            <a:prstTxWarp prst="textNoShape">
              <a:avLst/>
            </a:prstTxWarp>
          </a:bodyPr>
          <a:lstStyle/>
          <a:p>
            <a:pPr eaLnBrk="1" hangingPunct="1"/>
            <a:r>
              <a:rPr lang="en-US" smtClean="0">
                <a:latin typeface="Regular"/>
              </a:rPr>
              <a:t>Shared memory provides a very fast and versatile mechanism that allows </a:t>
            </a:r>
          </a:p>
          <a:p>
            <a:pPr eaLnBrk="1" hangingPunct="1"/>
            <a:r>
              <a:rPr lang="en-US" smtClean="0">
                <a:latin typeface="Regular"/>
              </a:rPr>
              <a:t>a large amount of data to be shared without copying or using system</a:t>
            </a:r>
          </a:p>
          <a:p>
            <a:pPr eaLnBrk="1" hangingPunct="1"/>
            <a:r>
              <a:rPr lang="en-US" smtClean="0">
                <a:latin typeface="Regular"/>
              </a:rPr>
              <a:t>Calls.</a:t>
            </a:r>
          </a:p>
          <a:p>
            <a:pPr eaLnBrk="1" hangingPunct="1"/>
            <a:r>
              <a:rPr lang="en-US" smtClean="0">
                <a:latin typeface="Regular"/>
              </a:rPr>
              <a:t>The implementation of shared memory depends heavily on the virtual </a:t>
            </a:r>
          </a:p>
          <a:p>
            <a:pPr eaLnBrk="1" hangingPunct="1"/>
            <a:r>
              <a:rPr lang="en-US" smtClean="0">
                <a:latin typeface="Regular"/>
              </a:rPr>
              <a:t>Architecture of the OS.</a:t>
            </a:r>
          </a:p>
          <a:p>
            <a:pPr eaLnBrk="1" hangingPunct="1"/>
            <a:r>
              <a:rPr lang="en-US" smtClean="0">
                <a:latin typeface="Regular"/>
              </a:rPr>
              <a:t>Some variant use a single page table to map the shared memory</a:t>
            </a:r>
          </a:p>
          <a:p>
            <a:pPr eaLnBrk="1" hangingPunct="1"/>
            <a:r>
              <a:rPr lang="en-US" smtClean="0">
                <a:latin typeface="Regular"/>
              </a:rPr>
              <a:t>Region and share the table with the process attached to it.</a:t>
            </a:r>
          </a:p>
          <a:p>
            <a:pPr eaLnBrk="1" hangingPunct="1"/>
            <a:endParaRPr lang="en-US" smtClean="0">
              <a:latin typeface="Regul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5"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67266" name="Rectangle 3"/>
          <p:cNvSpPr>
            <a:spLocks noGrp="1" noChangeArrowheads="1"/>
          </p:cNvSpPr>
          <p:nvPr>
            <p:ph type="body" idx="1"/>
          </p:nvPr>
        </p:nvSpPr>
        <p:spPr bwMode="auto">
          <a:xfrm>
            <a:off x="912813" y="4344988"/>
            <a:ext cx="5032375" cy="4113212"/>
          </a:xfrm>
          <a:noFill/>
        </p:spPr>
        <p:txBody>
          <a:bodyPr wrap="square" numCol="1" anchor="t" anchorCtr="0" compatLnSpc="1">
            <a:prstTxWarp prst="textNoShape">
              <a:avLst/>
            </a:prstTxWarp>
          </a:bodyPr>
          <a:lstStyle/>
          <a:p>
            <a:pPr eaLnBrk="1" hangingPunct="1"/>
            <a:r>
              <a:rPr lang="en-US" smtClean="0">
                <a:latin typeface="Regular"/>
              </a:rPr>
              <a:t>Its main limitation is that  it doesn’t provide synchronization</a:t>
            </a:r>
          </a:p>
          <a:p>
            <a:pPr eaLnBrk="1" hangingPunct="1"/>
            <a:r>
              <a:rPr lang="en-US" smtClean="0">
                <a:latin typeface="Regular"/>
              </a:rPr>
              <a:t>If two process attempt to modify the same shared memory region,</a:t>
            </a:r>
          </a:p>
          <a:p>
            <a:pPr eaLnBrk="1" hangingPunct="1"/>
            <a:r>
              <a:rPr lang="en-US" smtClean="0">
                <a:latin typeface="Regular"/>
              </a:rPr>
              <a:t>The kernel will not serialize the operations, and the data written</a:t>
            </a:r>
          </a:p>
          <a:p>
            <a:pPr eaLnBrk="1" hangingPunct="1"/>
            <a:r>
              <a:rPr lang="en-US" smtClean="0">
                <a:latin typeface="Regular"/>
              </a:rPr>
              <a:t>May be arbitrarily intermingled.</a:t>
            </a:r>
          </a:p>
          <a:p>
            <a:pPr eaLnBrk="1" hangingPunct="1"/>
            <a:r>
              <a:rPr lang="en-US" smtClean="0">
                <a:latin typeface="Regular"/>
              </a:rPr>
              <a:t>Processes sharing the shared memory must devise their own </a:t>
            </a:r>
          </a:p>
          <a:p>
            <a:pPr eaLnBrk="1" hangingPunct="1"/>
            <a:r>
              <a:rPr lang="en-US" smtClean="0">
                <a:latin typeface="Regular"/>
              </a:rPr>
              <a:t>Synchronization tool, and they usually do so using primitives </a:t>
            </a:r>
          </a:p>
          <a:p>
            <a:pPr eaLnBrk="1" hangingPunct="1"/>
            <a:r>
              <a:rPr lang="en-US" smtClean="0">
                <a:latin typeface="Regular"/>
              </a:rPr>
              <a:t>Such as semaphores.</a:t>
            </a:r>
          </a:p>
          <a:p>
            <a:pPr eaLnBrk="1" hangingPunct="1"/>
            <a:r>
              <a:rPr lang="en-US" smtClean="0">
                <a:latin typeface="Regular"/>
              </a:rPr>
              <a:t>These primitives involve one or more system calls that impose an </a:t>
            </a:r>
          </a:p>
          <a:p>
            <a:pPr eaLnBrk="1" hangingPunct="1"/>
            <a:r>
              <a:rPr lang="en-US" smtClean="0">
                <a:latin typeface="Regular"/>
              </a:rPr>
              <a:t>Overhead on shared memory performance.</a:t>
            </a:r>
          </a:p>
          <a:p>
            <a:pPr eaLnBrk="1" hangingPunct="1"/>
            <a:endParaRPr lang="en-US" smtClean="0">
              <a:latin typeface="Regular"/>
            </a:endParaRPr>
          </a:p>
          <a:p>
            <a:pPr eaLnBrk="1" hangingPunct="1"/>
            <a:endParaRPr lang="en-US" smtClean="0">
              <a:latin typeface="Regul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69314" name="Rectangle 3"/>
          <p:cNvSpPr>
            <a:spLocks noGrp="1" noChangeArrowheads="1"/>
          </p:cNvSpPr>
          <p:nvPr>
            <p:ph type="body" idx="1"/>
          </p:nvPr>
        </p:nvSpPr>
        <p:spPr bwMode="auto">
          <a:xfrm>
            <a:off x="912813" y="4344988"/>
            <a:ext cx="5032375" cy="4113212"/>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71362" name="Rectangle 3"/>
          <p:cNvSpPr>
            <a:spLocks noGrp="1" noChangeArrowheads="1"/>
          </p:cNvSpPr>
          <p:nvPr>
            <p:ph type="body" idx="1"/>
          </p:nvPr>
        </p:nvSpPr>
        <p:spPr bwMode="auto">
          <a:xfrm>
            <a:off x="912813" y="4343400"/>
            <a:ext cx="5032375" cy="4114800"/>
          </a:xfrm>
          <a:noFill/>
        </p:spPr>
        <p:txBody>
          <a:bodyPr wrap="square" numCol="1" anchor="t" anchorCtr="0" compatLnSpc="1">
            <a:prstTxWarp prst="textNoShape">
              <a:avLst/>
            </a:prstTxWarp>
          </a:bodyPr>
          <a:lstStyle/>
          <a:p>
            <a:pPr eaLnBrk="1" hangingPunct="1"/>
            <a:endParaRPr lang="hi-IN" smtClean="0">
              <a:ea typeface="Mangal" pitchFamily="2"/>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09" name="Rectangle 2"/>
          <p:cNvSpPr>
            <a:spLocks noGrp="1" noRot="1" noChangeAspect="1" noChangeArrowheads="1" noTextEdit="1"/>
          </p:cNvSpPr>
          <p:nvPr>
            <p:ph type="sldImg"/>
          </p:nvPr>
        </p:nvSpPr>
        <p:spPr bwMode="auto">
          <a:xfrm>
            <a:off x="1143000" y="685800"/>
            <a:ext cx="4573588" cy="3430588"/>
          </a:xfrm>
          <a:noFill/>
          <a:ln>
            <a:solidFill>
              <a:srgbClr val="000000"/>
            </a:solidFill>
            <a:miter lim="800000"/>
            <a:headEnd/>
            <a:tailEnd/>
          </a:ln>
        </p:spPr>
      </p:sp>
      <p:sp>
        <p:nvSpPr>
          <p:cNvPr id="273410" name="Rectangle 3"/>
          <p:cNvSpPr>
            <a:spLocks noGrp="1" noChangeArrowheads="1"/>
          </p:cNvSpPr>
          <p:nvPr>
            <p:ph type="body" idx="1"/>
          </p:nvPr>
        </p:nvSpPr>
        <p:spPr bwMode="auto">
          <a:xfrm>
            <a:off x="912813" y="4344988"/>
            <a:ext cx="5032375" cy="4113212"/>
          </a:xfrm>
          <a:noFill/>
        </p:spPr>
        <p:txBody>
          <a:bodyPr wrap="square" numCol="1" anchor="t" anchorCtr="0" compatLnSpc="1">
            <a:prstTxWarp prst="textNoShape">
              <a:avLst/>
            </a:prstTxWarp>
          </a:bodyPr>
          <a:lstStyle/>
          <a:p>
            <a:pPr eaLnBrk="1" hangingPunct="1"/>
            <a:r>
              <a:rPr lang="en-US" smtClean="0"/>
              <a:t>Semaphores may be used to implement several synchronization protocols</a:t>
            </a:r>
          </a:p>
          <a:p>
            <a:pPr eaLnBrk="1" hangingPunct="1"/>
            <a:r>
              <a:rPr lang="en-US" smtClean="0"/>
              <a:t>The P() operation decrements the value of semaphore and blocks</a:t>
            </a:r>
          </a:p>
          <a:p>
            <a:pPr eaLnBrk="1" hangingPunct="1"/>
            <a:r>
              <a:rPr lang="en-US" smtClean="0"/>
              <a:t>if its new value is less than zero. The V() operation increments its value;</a:t>
            </a:r>
          </a:p>
          <a:p>
            <a:pPr eaLnBrk="1" hangingPunct="1"/>
            <a:r>
              <a:rPr lang="en-US" smtClean="0"/>
              <a:t>If the resulting value becomes greater than or equal to zero.</a:t>
            </a:r>
          </a:p>
          <a:p>
            <a:pPr eaLnBrk="1" hangingPunct="1"/>
            <a:r>
              <a:rPr lang="en-US" smtClean="0"/>
              <a:t>The v() operator wakes up a waiting thread or process(if any).</a:t>
            </a:r>
          </a:p>
          <a:p>
            <a:pPr eaLnBrk="1" hangingPunct="1"/>
            <a:r>
              <a:rPr lang="en-US" smtClean="0"/>
              <a:t>The operations are atomic in nature.</a:t>
            </a:r>
          </a:p>
          <a:p>
            <a:pPr eaLnBrk="1" hangingPunct="1"/>
            <a:r>
              <a:rPr lang="en-US" smtClean="0"/>
              <a:t>In many UNIX systems, the kernel uses semaphores internally</a:t>
            </a:r>
          </a:p>
          <a:p>
            <a:pPr eaLnBrk="1" hangingPunct="1"/>
            <a:r>
              <a:rPr lang="en-US" smtClean="0"/>
              <a:t>to synchronize its operation.</a:t>
            </a:r>
          </a:p>
          <a:p>
            <a:pPr eaLnBrk="1" hangingPunct="1"/>
            <a:r>
              <a:rPr lang="en-US" smtClean="0"/>
              <a:t>semaphores can be thought of as really generic advisory locking mechanisms.</a:t>
            </a:r>
          </a:p>
          <a:p>
            <a:pPr eaLnBrk="1" hangingPunct="1"/>
            <a:r>
              <a:rPr lang="en-US" smtClean="0"/>
              <a:t>We can use them to control access to files, shared memory, and, well, just</a:t>
            </a:r>
          </a:p>
          <a:p>
            <a:pPr eaLnBrk="1" hangingPunct="1"/>
            <a:r>
              <a:rPr lang="en-US" smtClean="0"/>
              <a:t> about anything we want. The basic functionality of a semaphore is that we</a:t>
            </a:r>
          </a:p>
          <a:p>
            <a:pPr eaLnBrk="1" hangingPunct="1"/>
            <a:r>
              <a:rPr lang="en-US" smtClean="0"/>
              <a:t> can either set it, check it, or wait until it clears then set it ("test-n-set"). </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7" name="Slide Image Placeholder 1"/>
          <p:cNvSpPr>
            <a:spLocks noGrp="1" noRot="1" noChangeAspect="1" noTextEdit="1"/>
          </p:cNvSpPr>
          <p:nvPr>
            <p:ph type="sldImg"/>
          </p:nvPr>
        </p:nvSpPr>
        <p:spPr bwMode="auto">
          <a:noFill/>
          <a:ln>
            <a:solidFill>
              <a:srgbClr val="000000"/>
            </a:solidFill>
            <a:miter lim="800000"/>
            <a:headEnd/>
            <a:tailEnd/>
          </a:ln>
        </p:spPr>
      </p:sp>
      <p:sp>
        <p:nvSpPr>
          <p:cNvPr id="275458"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6" descr="e:\My Documents\1 Temple\1 Wipro\1 On-going Jobs\Corporate ppt\Abstract\corp ppt_Intro.jpg"/>
          <p:cNvPicPr>
            <a:picLocks noChangeAspect="1" noChangeArrowheads="1"/>
          </p:cNvPicPr>
          <p:nvPr/>
        </p:nvPicPr>
        <p:blipFill>
          <a:blip r:embed="rId2" cstate="print"/>
          <a:srcRect/>
          <a:stretch>
            <a:fillRect/>
          </a:stretch>
        </p:blipFill>
        <p:spPr bwMode="auto">
          <a:xfrm>
            <a:off x="0" y="4267200"/>
            <a:ext cx="9144000" cy="2590800"/>
          </a:xfrm>
          <a:prstGeom prst="rect">
            <a:avLst/>
          </a:prstGeom>
          <a:noFill/>
          <a:ln w="9525">
            <a:noFill/>
            <a:miter lim="800000"/>
            <a:headEnd/>
            <a:tailEnd/>
          </a:ln>
        </p:spPr>
      </p:pic>
      <p:cxnSp>
        <p:nvCxnSpPr>
          <p:cNvPr id="4" name="Straight Connector 3"/>
          <p:cNvCxnSpPr/>
          <p:nvPr/>
        </p:nvCxnSpPr>
        <p:spPr>
          <a:xfrm rot="5400000">
            <a:off x="1676401" y="2971800"/>
            <a:ext cx="3352800" cy="3175"/>
          </a:xfrm>
          <a:prstGeom prst="line">
            <a:avLst/>
          </a:prstGeom>
          <a:ln w="3175">
            <a:solidFill>
              <a:schemeClr val="bg1">
                <a:lumMod val="75000"/>
              </a:schemeClr>
            </a:solidFill>
          </a:ln>
        </p:spPr>
        <p:style>
          <a:lnRef idx="3">
            <a:schemeClr val="accent3"/>
          </a:lnRef>
          <a:fillRef idx="0">
            <a:schemeClr val="accent3"/>
          </a:fillRef>
          <a:effectRef idx="2">
            <a:schemeClr val="accent3"/>
          </a:effectRef>
          <a:fontRef idx="minor">
            <a:schemeClr val="tx1"/>
          </a:fontRef>
        </p:style>
      </p:cxnSp>
      <p:pic>
        <p:nvPicPr>
          <p:cNvPr id="5" name="Picture 2" descr="E:\My Documents\1 Temple\1 Wipro\1 On-going Jobs\Corporate ppt\z+ final\TMPLTS\WIPRO-LOW RES JPG.jpg"/>
          <p:cNvPicPr>
            <a:picLocks noChangeAspect="1" noChangeArrowheads="1"/>
          </p:cNvPicPr>
          <p:nvPr userDrawn="1"/>
        </p:nvPicPr>
        <p:blipFill>
          <a:blip r:embed="rId3" cstate="print"/>
          <a:srcRect/>
          <a:stretch>
            <a:fillRect/>
          </a:stretch>
        </p:blipFill>
        <p:spPr bwMode="auto">
          <a:xfrm>
            <a:off x="381000" y="1371600"/>
            <a:ext cx="2743200" cy="2743200"/>
          </a:xfrm>
          <a:prstGeom prst="rect">
            <a:avLst/>
          </a:prstGeom>
          <a:noFill/>
          <a:ln w="9525">
            <a:noFill/>
            <a:miter lim="800000"/>
            <a:headEnd/>
            <a:tailEnd/>
          </a:ln>
        </p:spPr>
      </p:pic>
      <p:sp>
        <p:nvSpPr>
          <p:cNvPr id="6"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2" name="Title 1"/>
          <p:cNvSpPr>
            <a:spLocks noGrp="1"/>
          </p:cNvSpPr>
          <p:nvPr>
            <p:ph type="ctrTitle"/>
          </p:nvPr>
        </p:nvSpPr>
        <p:spPr>
          <a:xfrm>
            <a:off x="3352800" y="1906044"/>
            <a:ext cx="5791200" cy="1981200"/>
          </a:xfrm>
        </p:spPr>
        <p:txBody>
          <a:bodyPr>
            <a:normAutofit/>
          </a:bodyPr>
          <a:lstStyle>
            <a:lvl1pPr algn="r">
              <a:defRPr sz="3200" b="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reaker Slide Green">
    <p:spTree>
      <p:nvGrpSpPr>
        <p:cNvPr id="1" name=""/>
        <p:cNvGrpSpPr/>
        <p:nvPr/>
      </p:nvGrpSpPr>
      <p:grpSpPr>
        <a:xfrm>
          <a:off x="0" y="0"/>
          <a:ext cx="0" cy="0"/>
          <a:chOff x="0" y="0"/>
          <a:chExt cx="0" cy="0"/>
        </a:xfrm>
      </p:grpSpPr>
      <p:pic>
        <p:nvPicPr>
          <p:cNvPr id="4" name="Picture 2" descr="e:\My Documents\1 Temple\1 Wipro\1 On-going Jobs\Corporate ppt\Abstract\corp ppt_8.jpg"/>
          <p:cNvPicPr>
            <a:picLocks noChangeAspect="1" noChangeArrowheads="1"/>
          </p:cNvPicPr>
          <p:nvPr/>
        </p:nvPicPr>
        <p:blipFill>
          <a:blip r:embed="rId2" cstate="print"/>
          <a:srcRect/>
          <a:stretch>
            <a:fillRect/>
          </a:stretch>
        </p:blipFill>
        <p:spPr bwMode="auto">
          <a:xfrm>
            <a:off x="0" y="5029200"/>
            <a:ext cx="9144000" cy="1828800"/>
          </a:xfrm>
          <a:prstGeom prst="rect">
            <a:avLst/>
          </a:prstGeom>
          <a:noFill/>
          <a:ln w="9525">
            <a:noFill/>
            <a:miter lim="800000"/>
            <a:headEnd/>
            <a:tailEnd/>
          </a:ln>
        </p:spPr>
      </p:pic>
      <p:pic>
        <p:nvPicPr>
          <p:cNvPr id="5" name="Picture 2" descr="D:\Ashish\Corporate Brand Mgmt\Brand Identity Logo\Wipro Logo JPEG Image - White Background.jpg"/>
          <p:cNvPicPr>
            <a:picLocks noChangeAspect="1" noChangeArrowheads="1"/>
          </p:cNvPicPr>
          <p:nvPr userDrawn="1"/>
        </p:nvPicPr>
        <p:blipFill>
          <a:blip r:embed="rId3" cstate="print"/>
          <a:srcRect/>
          <a:stretch>
            <a:fillRect/>
          </a:stretch>
        </p:blipFill>
        <p:spPr bwMode="auto">
          <a:xfrm>
            <a:off x="7643813" y="276225"/>
            <a:ext cx="1247775" cy="1411288"/>
          </a:xfrm>
          <a:prstGeom prst="rect">
            <a:avLst/>
          </a:prstGeom>
          <a:noFill/>
          <a:ln w="9525">
            <a:noFill/>
            <a:miter lim="800000"/>
            <a:headEnd/>
            <a:tailEnd/>
          </a:ln>
        </p:spPr>
      </p:pic>
      <p:sp>
        <p:nvSpPr>
          <p:cNvPr id="6"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7"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08F4618B-62B1-4769-AA9D-D9F8669F1CBD}" type="slidenum">
              <a:rPr lang="en-US" sz="1000" b="1" smtClean="0"/>
              <a:pPr>
                <a:defRPr/>
              </a:pPr>
              <a:t>‹#›</a:t>
            </a:fld>
            <a:endParaRPr lang="en-US" sz="800" b="1" dirty="0"/>
          </a:p>
        </p:txBody>
      </p:sp>
      <p:sp>
        <p:nvSpPr>
          <p:cNvPr id="16" name="Title 1"/>
          <p:cNvSpPr>
            <a:spLocks noGrp="1"/>
          </p:cNvSpPr>
          <p:nvPr>
            <p:ph type="title"/>
          </p:nvPr>
        </p:nvSpPr>
        <p:spPr>
          <a:xfrm>
            <a:off x="1219200" y="3517900"/>
            <a:ext cx="7772400" cy="1362075"/>
          </a:xfrm>
        </p:spPr>
        <p:txBody>
          <a:bodyPr/>
          <a:lstStyle>
            <a:lvl1pPr algn="r">
              <a:defRPr sz="2800" b="1">
                <a:latin typeface="Gill Sans MT" pitchFamily="34" charset="0"/>
              </a:defRPr>
            </a:lvl1pPr>
          </a:lstStyle>
          <a:p>
            <a:r>
              <a:rPr lang="en-US" smtClean="0"/>
              <a:t>Click to edit Master title style</a:t>
            </a:r>
            <a:endParaRPr lang="en-US" dirty="0"/>
          </a:p>
        </p:txBody>
      </p:sp>
      <p:sp>
        <p:nvSpPr>
          <p:cNvPr id="17" name="Text Placeholder 2"/>
          <p:cNvSpPr>
            <a:spLocks noGrp="1"/>
          </p:cNvSpPr>
          <p:nvPr>
            <p:ph type="body" idx="1"/>
          </p:nvPr>
        </p:nvSpPr>
        <p:spPr>
          <a:xfrm>
            <a:off x="1212564" y="4419600"/>
            <a:ext cx="7772400" cy="444500"/>
          </a:xfrm>
        </p:spPr>
        <p:txBody>
          <a:bodyPr/>
          <a:lstStyle>
            <a:lvl1pPr marL="342900" marR="0" indent="-342900" algn="r" defTabSz="914400" rtl="0" eaLnBrk="0" fontAlgn="base" latinLnBrk="0" hangingPunct="0">
              <a:lnSpc>
                <a:spcPct val="100000"/>
              </a:lnSpc>
              <a:spcBef>
                <a:spcPct val="20000"/>
              </a:spcBef>
              <a:spcAft>
                <a:spcPct val="0"/>
              </a:spcAft>
              <a:buClrTx/>
              <a:buSzTx/>
              <a:buFont typeface="Arial" pitchFamily="34" charset="0"/>
              <a:buNone/>
              <a:tabLst/>
              <a:defRPr sz="2000">
                <a:solidFill>
                  <a:schemeClr val="bg1">
                    <a:lumMod val="50000"/>
                  </a:schemeClr>
                </a:solidFill>
                <a:latin typeface="Gill Sans MT" pitchFamily="34" charset="0"/>
              </a:defRPr>
            </a:lvl1pPr>
          </a:lstStyle>
          <a:p>
            <a:pPr lvl="0"/>
            <a:r>
              <a:rPr lang="en-US" smtClean="0"/>
              <a:t>Click to edit Master text styles</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reaker Slide Yellow">
    <p:spTree>
      <p:nvGrpSpPr>
        <p:cNvPr id="1" name=""/>
        <p:cNvGrpSpPr/>
        <p:nvPr/>
      </p:nvGrpSpPr>
      <p:grpSpPr>
        <a:xfrm>
          <a:off x="0" y="0"/>
          <a:ext cx="0" cy="0"/>
          <a:chOff x="0" y="0"/>
          <a:chExt cx="0" cy="0"/>
        </a:xfrm>
      </p:grpSpPr>
      <p:pic>
        <p:nvPicPr>
          <p:cNvPr id="4" name="Picture 5" descr="e:\My Documents\1 Temple\1 Wipro\1 On-going Jobs\Corporate ppt\Abstract\corp ppt_1.jpg"/>
          <p:cNvPicPr>
            <a:picLocks noChangeAspect="1" noChangeArrowheads="1"/>
          </p:cNvPicPr>
          <p:nvPr/>
        </p:nvPicPr>
        <p:blipFill>
          <a:blip r:embed="rId2" cstate="print"/>
          <a:srcRect/>
          <a:stretch>
            <a:fillRect/>
          </a:stretch>
        </p:blipFill>
        <p:spPr bwMode="auto">
          <a:xfrm>
            <a:off x="0" y="4953000"/>
            <a:ext cx="9144000" cy="1905000"/>
          </a:xfrm>
          <a:prstGeom prst="rect">
            <a:avLst/>
          </a:prstGeom>
          <a:noFill/>
          <a:ln w="9525">
            <a:noFill/>
            <a:miter lim="800000"/>
            <a:headEnd/>
            <a:tailEnd/>
          </a:ln>
        </p:spPr>
      </p:pic>
      <p:pic>
        <p:nvPicPr>
          <p:cNvPr id="7" name="Picture 2" descr="D:\Ashish\Corporate Brand Mgmt\Brand Identity Logo\Wipro Logo JPEG Image - White Background.jpg"/>
          <p:cNvPicPr>
            <a:picLocks noChangeAspect="1" noChangeArrowheads="1"/>
          </p:cNvPicPr>
          <p:nvPr userDrawn="1"/>
        </p:nvPicPr>
        <p:blipFill>
          <a:blip r:embed="rId3" cstate="print"/>
          <a:srcRect/>
          <a:stretch>
            <a:fillRect/>
          </a:stretch>
        </p:blipFill>
        <p:spPr bwMode="auto">
          <a:xfrm>
            <a:off x="7643813" y="276225"/>
            <a:ext cx="1247775" cy="1411288"/>
          </a:xfrm>
          <a:prstGeom prst="rect">
            <a:avLst/>
          </a:prstGeom>
          <a:noFill/>
          <a:ln w="9525">
            <a:noFill/>
            <a:miter lim="800000"/>
            <a:headEnd/>
            <a:tailEnd/>
          </a:ln>
        </p:spPr>
      </p:pic>
      <p:sp>
        <p:nvSpPr>
          <p:cNvPr id="8"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9"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9C8EEC9B-B041-4331-96F0-9F1C78518644}" type="slidenum">
              <a:rPr lang="en-US" sz="1000" b="1" smtClean="0"/>
              <a:pPr>
                <a:defRPr/>
              </a:pPr>
              <a:t>‹#›</a:t>
            </a:fld>
            <a:endParaRPr lang="en-US" sz="800" b="1" dirty="0"/>
          </a:p>
        </p:txBody>
      </p:sp>
      <p:sp>
        <p:nvSpPr>
          <p:cNvPr id="5" name="Title 1"/>
          <p:cNvSpPr>
            <a:spLocks noGrp="1"/>
          </p:cNvSpPr>
          <p:nvPr>
            <p:ph type="title"/>
          </p:nvPr>
        </p:nvSpPr>
        <p:spPr>
          <a:xfrm>
            <a:off x="1219200" y="3517900"/>
            <a:ext cx="7772400" cy="1362075"/>
          </a:xfrm>
        </p:spPr>
        <p:txBody>
          <a:bodyPr/>
          <a:lstStyle>
            <a:lvl1pPr algn="r">
              <a:defRPr sz="2800" b="1">
                <a:latin typeface="Gill Sans MT" pitchFamily="34" charset="0"/>
              </a:defRPr>
            </a:lvl1pPr>
          </a:lstStyle>
          <a:p>
            <a:r>
              <a:rPr lang="en-US" smtClean="0"/>
              <a:t>Click to edit Master title style</a:t>
            </a:r>
            <a:endParaRPr lang="en-US" dirty="0"/>
          </a:p>
        </p:txBody>
      </p:sp>
      <p:sp>
        <p:nvSpPr>
          <p:cNvPr id="6" name="Text Placeholder 2"/>
          <p:cNvSpPr>
            <a:spLocks noGrp="1"/>
          </p:cNvSpPr>
          <p:nvPr>
            <p:ph type="body" idx="1"/>
          </p:nvPr>
        </p:nvSpPr>
        <p:spPr>
          <a:xfrm>
            <a:off x="1212564" y="4419600"/>
            <a:ext cx="7772400" cy="444500"/>
          </a:xfrm>
        </p:spPr>
        <p:txBody>
          <a:bodyPr/>
          <a:lstStyle>
            <a:lvl1pPr marL="342900" marR="0" indent="-342900" algn="r" defTabSz="914400" rtl="0" eaLnBrk="0" fontAlgn="base" latinLnBrk="0" hangingPunct="0">
              <a:lnSpc>
                <a:spcPct val="100000"/>
              </a:lnSpc>
              <a:spcBef>
                <a:spcPct val="20000"/>
              </a:spcBef>
              <a:spcAft>
                <a:spcPct val="0"/>
              </a:spcAft>
              <a:buClrTx/>
              <a:buSzTx/>
              <a:buFont typeface="Arial" pitchFamily="34" charset="0"/>
              <a:buNone/>
              <a:tabLst/>
              <a:defRPr sz="2000">
                <a:solidFill>
                  <a:schemeClr val="bg1">
                    <a:lumMod val="50000"/>
                  </a:schemeClr>
                </a:solidFill>
                <a:latin typeface="Gill Sans MT" pitchFamily="34" charset="0"/>
              </a:defRPr>
            </a:lvl1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reaker Slide Red">
    <p:spTree>
      <p:nvGrpSpPr>
        <p:cNvPr id="1" name=""/>
        <p:cNvGrpSpPr/>
        <p:nvPr/>
      </p:nvGrpSpPr>
      <p:grpSpPr>
        <a:xfrm>
          <a:off x="0" y="0"/>
          <a:ext cx="0" cy="0"/>
          <a:chOff x="0" y="0"/>
          <a:chExt cx="0" cy="0"/>
        </a:xfrm>
      </p:grpSpPr>
      <p:pic>
        <p:nvPicPr>
          <p:cNvPr id="4" name="Picture 2" descr="e:\My Documents\1 Temple\1 Wipro\1 On-going Jobs\Corporate ppt\Abstract\corp ppt_5.jpg"/>
          <p:cNvPicPr>
            <a:picLocks noChangeAspect="1" noChangeArrowheads="1"/>
          </p:cNvPicPr>
          <p:nvPr/>
        </p:nvPicPr>
        <p:blipFill>
          <a:blip r:embed="rId2" cstate="print"/>
          <a:srcRect/>
          <a:stretch>
            <a:fillRect/>
          </a:stretch>
        </p:blipFill>
        <p:spPr bwMode="auto">
          <a:xfrm>
            <a:off x="0" y="4953000"/>
            <a:ext cx="9144000" cy="1905000"/>
          </a:xfrm>
          <a:prstGeom prst="rect">
            <a:avLst/>
          </a:prstGeom>
          <a:noFill/>
          <a:ln w="9525">
            <a:noFill/>
            <a:miter lim="800000"/>
            <a:headEnd/>
            <a:tailEnd/>
          </a:ln>
        </p:spPr>
      </p:pic>
      <p:pic>
        <p:nvPicPr>
          <p:cNvPr id="5" name="Picture 2" descr="D:\Ashish\Corporate Brand Mgmt\Brand Identity Logo\Wipro Logo JPEG Image - White Background.jpg"/>
          <p:cNvPicPr>
            <a:picLocks noChangeAspect="1" noChangeArrowheads="1"/>
          </p:cNvPicPr>
          <p:nvPr userDrawn="1"/>
        </p:nvPicPr>
        <p:blipFill>
          <a:blip r:embed="rId3" cstate="print"/>
          <a:srcRect/>
          <a:stretch>
            <a:fillRect/>
          </a:stretch>
        </p:blipFill>
        <p:spPr bwMode="auto">
          <a:xfrm>
            <a:off x="7643813" y="276225"/>
            <a:ext cx="1247775" cy="1411288"/>
          </a:xfrm>
          <a:prstGeom prst="rect">
            <a:avLst/>
          </a:prstGeom>
          <a:noFill/>
          <a:ln w="9525">
            <a:noFill/>
            <a:miter lim="800000"/>
            <a:headEnd/>
            <a:tailEnd/>
          </a:ln>
        </p:spPr>
      </p:pic>
      <p:sp>
        <p:nvSpPr>
          <p:cNvPr id="6"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7"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348EBC72-7A3D-47B1-AB73-80E1F2650DE2}" type="slidenum">
              <a:rPr lang="en-US" sz="1000" b="1" smtClean="0"/>
              <a:pPr>
                <a:defRPr/>
              </a:pPr>
              <a:t>‹#›</a:t>
            </a:fld>
            <a:endParaRPr lang="en-US" sz="800" b="1" dirty="0"/>
          </a:p>
        </p:txBody>
      </p:sp>
      <p:sp>
        <p:nvSpPr>
          <p:cNvPr id="16" name="Title 1"/>
          <p:cNvSpPr>
            <a:spLocks noGrp="1"/>
          </p:cNvSpPr>
          <p:nvPr>
            <p:ph type="title"/>
          </p:nvPr>
        </p:nvSpPr>
        <p:spPr>
          <a:xfrm>
            <a:off x="1219200" y="3517900"/>
            <a:ext cx="7772400" cy="1362075"/>
          </a:xfrm>
        </p:spPr>
        <p:txBody>
          <a:bodyPr/>
          <a:lstStyle>
            <a:lvl1pPr algn="r">
              <a:defRPr sz="2800" b="1">
                <a:latin typeface="Gill Sans MT" pitchFamily="34" charset="0"/>
              </a:defRPr>
            </a:lvl1pPr>
          </a:lstStyle>
          <a:p>
            <a:r>
              <a:rPr lang="en-US" smtClean="0"/>
              <a:t>Click to edit Master title style</a:t>
            </a:r>
            <a:endParaRPr lang="en-US" dirty="0"/>
          </a:p>
        </p:txBody>
      </p:sp>
      <p:sp>
        <p:nvSpPr>
          <p:cNvPr id="17" name="Text Placeholder 2"/>
          <p:cNvSpPr>
            <a:spLocks noGrp="1"/>
          </p:cNvSpPr>
          <p:nvPr>
            <p:ph type="body" idx="1"/>
          </p:nvPr>
        </p:nvSpPr>
        <p:spPr>
          <a:xfrm>
            <a:off x="1212564" y="4419600"/>
            <a:ext cx="7772400" cy="444500"/>
          </a:xfrm>
        </p:spPr>
        <p:txBody>
          <a:bodyPr/>
          <a:lstStyle>
            <a:lvl1pPr marL="342900" marR="0" indent="-342900" algn="r" defTabSz="914400" rtl="0" eaLnBrk="0" fontAlgn="base" latinLnBrk="0" hangingPunct="0">
              <a:lnSpc>
                <a:spcPct val="100000"/>
              </a:lnSpc>
              <a:spcBef>
                <a:spcPct val="20000"/>
              </a:spcBef>
              <a:spcAft>
                <a:spcPct val="0"/>
              </a:spcAft>
              <a:buClrTx/>
              <a:buSzTx/>
              <a:buFont typeface="Arial" pitchFamily="34" charset="0"/>
              <a:buNone/>
              <a:tabLst/>
              <a:defRPr sz="2000">
                <a:solidFill>
                  <a:schemeClr val="bg1">
                    <a:lumMod val="50000"/>
                  </a:schemeClr>
                </a:solidFill>
                <a:latin typeface="Gill Sans MT" pitchFamily="34" charset="0"/>
              </a:defRPr>
            </a:lvl1pPr>
          </a:lstStyle>
          <a:p>
            <a:pPr lvl="0"/>
            <a:r>
              <a:rPr lang="en-US" smtClean="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Breaker Slide Violet">
    <p:spTree>
      <p:nvGrpSpPr>
        <p:cNvPr id="1" name=""/>
        <p:cNvGrpSpPr/>
        <p:nvPr/>
      </p:nvGrpSpPr>
      <p:grpSpPr>
        <a:xfrm>
          <a:off x="0" y="0"/>
          <a:ext cx="0" cy="0"/>
          <a:chOff x="0" y="0"/>
          <a:chExt cx="0" cy="0"/>
        </a:xfrm>
      </p:grpSpPr>
      <p:pic>
        <p:nvPicPr>
          <p:cNvPr id="4" name="Picture 2" descr="e:\My Documents\1 Temple\1 Wipro\1 On-going Jobs\Corporate ppt\Abstract\corp ppt_4.jpg"/>
          <p:cNvPicPr>
            <a:picLocks noChangeAspect="1" noChangeArrowheads="1"/>
          </p:cNvPicPr>
          <p:nvPr/>
        </p:nvPicPr>
        <p:blipFill>
          <a:blip r:embed="rId2" cstate="print"/>
          <a:srcRect/>
          <a:stretch>
            <a:fillRect/>
          </a:stretch>
        </p:blipFill>
        <p:spPr bwMode="auto">
          <a:xfrm>
            <a:off x="0" y="4953000"/>
            <a:ext cx="9144000" cy="1908175"/>
          </a:xfrm>
          <a:prstGeom prst="rect">
            <a:avLst/>
          </a:prstGeom>
          <a:noFill/>
          <a:ln w="9525">
            <a:noFill/>
            <a:miter lim="800000"/>
            <a:headEnd/>
            <a:tailEnd/>
          </a:ln>
        </p:spPr>
      </p:pic>
      <p:pic>
        <p:nvPicPr>
          <p:cNvPr id="5" name="Picture 2" descr="D:\Ashish\Corporate Brand Mgmt\Brand Identity Logo\Wipro Logo JPEG Image - White Background.jpg"/>
          <p:cNvPicPr>
            <a:picLocks noChangeAspect="1" noChangeArrowheads="1"/>
          </p:cNvPicPr>
          <p:nvPr userDrawn="1"/>
        </p:nvPicPr>
        <p:blipFill>
          <a:blip r:embed="rId3" cstate="print"/>
          <a:srcRect/>
          <a:stretch>
            <a:fillRect/>
          </a:stretch>
        </p:blipFill>
        <p:spPr bwMode="auto">
          <a:xfrm>
            <a:off x="7643813" y="276225"/>
            <a:ext cx="1247775" cy="1411288"/>
          </a:xfrm>
          <a:prstGeom prst="rect">
            <a:avLst/>
          </a:prstGeom>
          <a:noFill/>
          <a:ln w="9525">
            <a:noFill/>
            <a:miter lim="800000"/>
            <a:headEnd/>
            <a:tailEnd/>
          </a:ln>
        </p:spPr>
      </p:pic>
      <p:sp>
        <p:nvSpPr>
          <p:cNvPr id="6"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solidFill>
                  <a:schemeClr val="bg1"/>
                </a:solidFill>
              </a:rPr>
              <a:t>© 2011 Wipro Ltd</a:t>
            </a:r>
          </a:p>
        </p:txBody>
      </p:sp>
      <p:sp>
        <p:nvSpPr>
          <p:cNvPr id="7"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EF338416-677C-4098-BDF2-4F6E974B9936}" type="slidenum">
              <a:rPr lang="en-US" sz="1000" b="1" smtClean="0">
                <a:solidFill>
                  <a:schemeClr val="bg1"/>
                </a:solidFill>
              </a:rPr>
              <a:pPr>
                <a:defRPr/>
              </a:pPr>
              <a:t>‹#›</a:t>
            </a:fld>
            <a:endParaRPr lang="en-US" sz="800" b="1" dirty="0">
              <a:solidFill>
                <a:schemeClr val="bg1"/>
              </a:solidFill>
            </a:endParaRPr>
          </a:p>
        </p:txBody>
      </p:sp>
      <p:sp>
        <p:nvSpPr>
          <p:cNvPr id="18" name="Title 1"/>
          <p:cNvSpPr>
            <a:spLocks noGrp="1"/>
          </p:cNvSpPr>
          <p:nvPr>
            <p:ph type="title"/>
          </p:nvPr>
        </p:nvSpPr>
        <p:spPr>
          <a:xfrm>
            <a:off x="1219200" y="3517900"/>
            <a:ext cx="7772400" cy="1362075"/>
          </a:xfrm>
        </p:spPr>
        <p:txBody>
          <a:bodyPr/>
          <a:lstStyle>
            <a:lvl1pPr algn="r">
              <a:defRPr sz="2800" b="1">
                <a:latin typeface="Gill Sans MT" pitchFamily="34" charset="0"/>
              </a:defRPr>
            </a:lvl1pPr>
          </a:lstStyle>
          <a:p>
            <a:r>
              <a:rPr lang="en-US" smtClean="0"/>
              <a:t>Click to edit Master title style</a:t>
            </a:r>
            <a:endParaRPr lang="en-US" dirty="0"/>
          </a:p>
        </p:txBody>
      </p:sp>
      <p:sp>
        <p:nvSpPr>
          <p:cNvPr id="19" name="Text Placeholder 2"/>
          <p:cNvSpPr>
            <a:spLocks noGrp="1"/>
          </p:cNvSpPr>
          <p:nvPr>
            <p:ph type="body" idx="1"/>
          </p:nvPr>
        </p:nvSpPr>
        <p:spPr>
          <a:xfrm>
            <a:off x="1212564" y="4419600"/>
            <a:ext cx="7772400" cy="444500"/>
          </a:xfrm>
        </p:spPr>
        <p:txBody>
          <a:bodyPr/>
          <a:lstStyle>
            <a:lvl1pPr marL="342900" marR="0" indent="-342900" algn="r" defTabSz="914400" rtl="0" eaLnBrk="0" fontAlgn="base" latinLnBrk="0" hangingPunct="0">
              <a:lnSpc>
                <a:spcPct val="100000"/>
              </a:lnSpc>
              <a:spcBef>
                <a:spcPct val="20000"/>
              </a:spcBef>
              <a:spcAft>
                <a:spcPct val="0"/>
              </a:spcAft>
              <a:buClrTx/>
              <a:buSzTx/>
              <a:buFont typeface="Arial" pitchFamily="34" charset="0"/>
              <a:buNone/>
              <a:tabLst/>
              <a:defRPr sz="2000">
                <a:solidFill>
                  <a:schemeClr val="bg1">
                    <a:lumMod val="50000"/>
                  </a:schemeClr>
                </a:solidFill>
                <a:latin typeface="Gill Sans MT" pitchFamily="34" charset="0"/>
              </a:defRPr>
            </a:lvl1pPr>
          </a:lstStyle>
          <a:p>
            <a:pPr lvl="0"/>
            <a:r>
              <a:rPr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reaker Slide Blue">
    <p:spTree>
      <p:nvGrpSpPr>
        <p:cNvPr id="1" name=""/>
        <p:cNvGrpSpPr/>
        <p:nvPr/>
      </p:nvGrpSpPr>
      <p:grpSpPr>
        <a:xfrm>
          <a:off x="0" y="0"/>
          <a:ext cx="0" cy="0"/>
          <a:chOff x="0" y="0"/>
          <a:chExt cx="0" cy="0"/>
        </a:xfrm>
      </p:grpSpPr>
      <p:pic>
        <p:nvPicPr>
          <p:cNvPr id="4" name="Picture 2" descr="e:\My Documents\1 Temple\1 Wipro\1 On-going Jobs\Corporate ppt\Abstract\corp ppt_3.jpg"/>
          <p:cNvPicPr>
            <a:picLocks noChangeAspect="1" noChangeArrowheads="1"/>
          </p:cNvPicPr>
          <p:nvPr userDrawn="1"/>
        </p:nvPicPr>
        <p:blipFill>
          <a:blip r:embed="rId2" cstate="print"/>
          <a:srcRect/>
          <a:stretch>
            <a:fillRect/>
          </a:stretch>
        </p:blipFill>
        <p:spPr bwMode="auto">
          <a:xfrm>
            <a:off x="0" y="4876800"/>
            <a:ext cx="9144000" cy="1981200"/>
          </a:xfrm>
          <a:prstGeom prst="rect">
            <a:avLst/>
          </a:prstGeom>
          <a:noFill/>
          <a:ln w="9525">
            <a:noFill/>
            <a:miter lim="800000"/>
            <a:headEnd/>
            <a:tailEnd/>
          </a:ln>
        </p:spPr>
      </p:pic>
      <p:pic>
        <p:nvPicPr>
          <p:cNvPr id="5" name="Picture 2" descr="D:\Ashish\Corporate Brand Mgmt\Brand Identity Logo\Wipro Logo JPEG Image - White Background.jpg"/>
          <p:cNvPicPr>
            <a:picLocks noChangeAspect="1" noChangeArrowheads="1"/>
          </p:cNvPicPr>
          <p:nvPr userDrawn="1"/>
        </p:nvPicPr>
        <p:blipFill>
          <a:blip r:embed="rId3" cstate="print"/>
          <a:srcRect/>
          <a:stretch>
            <a:fillRect/>
          </a:stretch>
        </p:blipFill>
        <p:spPr bwMode="auto">
          <a:xfrm>
            <a:off x="7643813" y="276225"/>
            <a:ext cx="1247775" cy="1411288"/>
          </a:xfrm>
          <a:prstGeom prst="rect">
            <a:avLst/>
          </a:prstGeom>
          <a:noFill/>
          <a:ln w="9525">
            <a:noFill/>
            <a:miter lim="800000"/>
            <a:headEnd/>
            <a:tailEnd/>
          </a:ln>
        </p:spPr>
      </p:pic>
      <p:sp>
        <p:nvSpPr>
          <p:cNvPr id="6"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7"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8B1ABEF6-13AF-43AD-A321-25188816E2DC}" type="slidenum">
              <a:rPr lang="en-US" sz="1000" b="1" smtClean="0"/>
              <a:pPr>
                <a:defRPr/>
              </a:pPr>
              <a:t>‹#›</a:t>
            </a:fld>
            <a:endParaRPr lang="en-US" sz="800" b="1" dirty="0"/>
          </a:p>
        </p:txBody>
      </p:sp>
      <p:sp>
        <p:nvSpPr>
          <p:cNvPr id="17" name="Title 1"/>
          <p:cNvSpPr>
            <a:spLocks noGrp="1"/>
          </p:cNvSpPr>
          <p:nvPr>
            <p:ph type="title"/>
          </p:nvPr>
        </p:nvSpPr>
        <p:spPr>
          <a:xfrm>
            <a:off x="1219200" y="3517900"/>
            <a:ext cx="7772400" cy="1362075"/>
          </a:xfrm>
        </p:spPr>
        <p:txBody>
          <a:bodyPr/>
          <a:lstStyle>
            <a:lvl1pPr algn="r">
              <a:defRPr sz="2800" b="1">
                <a:latin typeface="Gill Sans MT" pitchFamily="34" charset="0"/>
              </a:defRPr>
            </a:lvl1pPr>
          </a:lstStyle>
          <a:p>
            <a:r>
              <a:rPr lang="en-US" smtClean="0"/>
              <a:t>Click to edit Master title style</a:t>
            </a:r>
            <a:endParaRPr lang="en-US" dirty="0"/>
          </a:p>
        </p:txBody>
      </p:sp>
      <p:sp>
        <p:nvSpPr>
          <p:cNvPr id="18" name="Text Placeholder 2"/>
          <p:cNvSpPr>
            <a:spLocks noGrp="1"/>
          </p:cNvSpPr>
          <p:nvPr>
            <p:ph type="body" idx="1"/>
          </p:nvPr>
        </p:nvSpPr>
        <p:spPr>
          <a:xfrm>
            <a:off x="1212564" y="4419600"/>
            <a:ext cx="7772400" cy="444500"/>
          </a:xfrm>
        </p:spPr>
        <p:txBody>
          <a:bodyPr/>
          <a:lstStyle>
            <a:lvl1pPr marL="342900" marR="0" indent="-342900" algn="r" defTabSz="914400" rtl="0" eaLnBrk="0" fontAlgn="base" latinLnBrk="0" hangingPunct="0">
              <a:lnSpc>
                <a:spcPct val="100000"/>
              </a:lnSpc>
              <a:spcBef>
                <a:spcPct val="20000"/>
              </a:spcBef>
              <a:spcAft>
                <a:spcPct val="0"/>
              </a:spcAft>
              <a:buClrTx/>
              <a:buSzTx/>
              <a:buFont typeface="Arial" pitchFamily="34" charset="0"/>
              <a:buNone/>
              <a:tabLst/>
              <a:defRPr sz="2000">
                <a:solidFill>
                  <a:schemeClr val="bg1">
                    <a:lumMod val="50000"/>
                  </a:schemeClr>
                </a:solidFill>
                <a:latin typeface="Gill Sans MT" pitchFamily="34" charset="0"/>
              </a:defRPr>
            </a:lvl1pPr>
          </a:lstStyle>
          <a:p>
            <a:pPr lvl="0"/>
            <a:r>
              <a:rPr lang="en-US" smtClean="0"/>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Green">
    <p:spTree>
      <p:nvGrpSpPr>
        <p:cNvPr id="1" name=""/>
        <p:cNvGrpSpPr/>
        <p:nvPr/>
      </p:nvGrpSpPr>
      <p:grpSpPr>
        <a:xfrm>
          <a:off x="0" y="0"/>
          <a:ext cx="0" cy="0"/>
          <a:chOff x="0" y="0"/>
          <a:chExt cx="0" cy="0"/>
        </a:xfrm>
      </p:grpSpPr>
      <p:pic>
        <p:nvPicPr>
          <p:cNvPr id="4" name="Picture 2" descr="E:\My Documents\1 Temple\1 Wipro\1 On-going Jobs\Corporate ppt\z+ final\TMPLTS\8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5" name="Footer Placeholder 3"/>
          <p:cNvSpPr txBox="1">
            <a:spLocks/>
          </p:cNvSpPr>
          <p:nvPr/>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6" name="Slide Number Placeholder 6"/>
          <p:cNvSpPr txBox="1">
            <a:spLocks/>
          </p:cNvSpPr>
          <p:nvPr/>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B3B7B0FF-E961-430C-9BC0-F82EFFE86396}" type="slidenum">
              <a:rPr lang="en-US" sz="1000" b="1" smtClean="0"/>
              <a:pPr>
                <a:defRPr/>
              </a:pPr>
              <a:t>‹#›</a:t>
            </a:fld>
            <a:endParaRPr lang="en-US" sz="800" b="1" dirty="0"/>
          </a:p>
        </p:txBody>
      </p:sp>
      <p:sp>
        <p:nvSpPr>
          <p:cNvPr id="15" name="Content Placeholder 2"/>
          <p:cNvSpPr>
            <a:spLocks noGrp="1"/>
          </p:cNvSpPr>
          <p:nvPr>
            <p:ph idx="1"/>
          </p:nvPr>
        </p:nvSpPr>
        <p:spPr>
          <a:xfrm>
            <a:off x="457200" y="1371600"/>
            <a:ext cx="8229600" cy="5029200"/>
          </a:xfrm>
        </p:spPr>
        <p:txBody>
          <a:bodyPr/>
          <a:lstStyle>
            <a:lvl1pPr>
              <a:defRPr sz="2000">
                <a:latin typeface="Gill Sans MT" pitchFamily="34" charset="0"/>
              </a:defRPr>
            </a:lvl1pPr>
            <a:lvl2pPr>
              <a:defRPr sz="1800">
                <a:latin typeface="Gill Sans MT" pitchFamily="34" charset="0"/>
              </a:defRPr>
            </a:lvl2pPr>
            <a:lvl3pPr>
              <a:defRPr sz="1600">
                <a:latin typeface="Gill Sans MT" pitchFamily="34" charset="0"/>
              </a:defRPr>
            </a:lvl3pPr>
            <a:lvl4pPr>
              <a:defRPr sz="1400">
                <a:latin typeface="Gill Sans MT" pitchFamily="34" charset="0"/>
              </a:defRPr>
            </a:lvl4pPr>
            <a:lvl5pPr>
              <a:defRPr sz="1200">
                <a:latin typeface="Gill Sans MT"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Title 1"/>
          <p:cNvSpPr>
            <a:spLocks noGrp="1"/>
          </p:cNvSpPr>
          <p:nvPr>
            <p:ph type="title"/>
          </p:nvPr>
        </p:nvSpPr>
        <p:spPr>
          <a:xfrm>
            <a:off x="3541" y="0"/>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Yellow">
    <p:spTree>
      <p:nvGrpSpPr>
        <p:cNvPr id="1" name=""/>
        <p:cNvGrpSpPr/>
        <p:nvPr/>
      </p:nvGrpSpPr>
      <p:grpSpPr>
        <a:xfrm>
          <a:off x="0" y="0"/>
          <a:ext cx="0" cy="0"/>
          <a:chOff x="0" y="0"/>
          <a:chExt cx="0" cy="0"/>
        </a:xfrm>
      </p:grpSpPr>
      <p:pic>
        <p:nvPicPr>
          <p:cNvPr id="4" name="Picture 2" descr="E:\My Documents\1 Temple\1 Wipro\1 On-going Jobs\Corporate ppt\z+ final\TMPLTS\6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5"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6"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8D21FB4D-2117-4372-959A-C3FB45079FA7}" type="slidenum">
              <a:rPr lang="en-US" sz="1000" b="1" smtClean="0"/>
              <a:pPr>
                <a:defRPr/>
              </a:pPr>
              <a:t>‹#›</a:t>
            </a:fld>
            <a:endParaRPr lang="en-US" sz="800" b="1" dirty="0"/>
          </a:p>
        </p:txBody>
      </p:sp>
      <p:sp>
        <p:nvSpPr>
          <p:cNvPr id="13" name="Content Placeholder 2"/>
          <p:cNvSpPr>
            <a:spLocks noGrp="1"/>
          </p:cNvSpPr>
          <p:nvPr>
            <p:ph idx="1"/>
          </p:nvPr>
        </p:nvSpPr>
        <p:spPr>
          <a:xfrm>
            <a:off x="457200" y="1371600"/>
            <a:ext cx="8229600" cy="5029200"/>
          </a:xfrm>
        </p:spPr>
        <p:txBody>
          <a:bodyPr/>
          <a:lstStyle>
            <a:lvl1pPr>
              <a:defRPr sz="2000">
                <a:latin typeface="Gill Sans MT" pitchFamily="34" charset="0"/>
              </a:defRPr>
            </a:lvl1pPr>
            <a:lvl2pPr>
              <a:defRPr sz="1800">
                <a:latin typeface="Gill Sans MT" pitchFamily="34" charset="0"/>
              </a:defRPr>
            </a:lvl2pPr>
            <a:lvl3pPr>
              <a:defRPr sz="1600">
                <a:latin typeface="Gill Sans MT" pitchFamily="34" charset="0"/>
              </a:defRPr>
            </a:lvl3pPr>
            <a:lvl4pPr>
              <a:defRPr sz="1400">
                <a:latin typeface="Gill Sans MT" pitchFamily="34" charset="0"/>
              </a:defRPr>
            </a:lvl4pPr>
            <a:lvl5pPr>
              <a:defRPr sz="1200">
                <a:latin typeface="Gill Sans MT"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Title 1"/>
          <p:cNvSpPr>
            <a:spLocks noGrp="1"/>
          </p:cNvSpPr>
          <p:nvPr>
            <p:ph type="title"/>
          </p:nvPr>
        </p:nvSpPr>
        <p:spPr>
          <a:xfrm>
            <a:off x="0" y="0"/>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Red">
    <p:spTree>
      <p:nvGrpSpPr>
        <p:cNvPr id="1" name=""/>
        <p:cNvGrpSpPr/>
        <p:nvPr/>
      </p:nvGrpSpPr>
      <p:grpSpPr>
        <a:xfrm>
          <a:off x="0" y="0"/>
          <a:ext cx="0" cy="0"/>
          <a:chOff x="0" y="0"/>
          <a:chExt cx="0" cy="0"/>
        </a:xfrm>
      </p:grpSpPr>
      <p:pic>
        <p:nvPicPr>
          <p:cNvPr id="4" name="Picture 2" descr="E:\My Documents\1 Temple\1 Wipro\1 On-going Jobs\Corporate ppt\z+ final\TMPLTS\4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5"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6"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9D304574-CE23-405C-9830-6B296F2CE0D9}" type="slidenum">
              <a:rPr lang="en-US" sz="1000" b="1" smtClean="0"/>
              <a:pPr>
                <a:defRPr/>
              </a:pPr>
              <a:t>‹#›</a:t>
            </a:fld>
            <a:endParaRPr lang="en-US" sz="800" b="1" dirty="0"/>
          </a:p>
        </p:txBody>
      </p:sp>
      <p:sp>
        <p:nvSpPr>
          <p:cNvPr id="14" name="Content Placeholder 2"/>
          <p:cNvSpPr>
            <a:spLocks noGrp="1"/>
          </p:cNvSpPr>
          <p:nvPr>
            <p:ph idx="1"/>
          </p:nvPr>
        </p:nvSpPr>
        <p:spPr>
          <a:xfrm>
            <a:off x="457200" y="1371600"/>
            <a:ext cx="8229600" cy="5029200"/>
          </a:xfrm>
        </p:spPr>
        <p:txBody>
          <a:bodyPr/>
          <a:lstStyle>
            <a:lvl1pPr>
              <a:defRPr sz="2000">
                <a:latin typeface="Gill Sans MT" pitchFamily="34" charset="0"/>
              </a:defRPr>
            </a:lvl1pPr>
            <a:lvl2pPr>
              <a:defRPr sz="1800">
                <a:latin typeface="Gill Sans MT" pitchFamily="34" charset="0"/>
              </a:defRPr>
            </a:lvl2pPr>
            <a:lvl3pPr>
              <a:defRPr sz="1600">
                <a:latin typeface="Gill Sans MT" pitchFamily="34" charset="0"/>
              </a:defRPr>
            </a:lvl3pPr>
            <a:lvl4pPr>
              <a:defRPr sz="1400">
                <a:latin typeface="Gill Sans MT" pitchFamily="34" charset="0"/>
              </a:defRPr>
            </a:lvl4pPr>
            <a:lvl5pPr>
              <a:defRPr sz="1200">
                <a:latin typeface="Gill Sans MT"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8" name="Title 1"/>
          <p:cNvSpPr>
            <a:spLocks noGrp="1"/>
          </p:cNvSpPr>
          <p:nvPr>
            <p:ph type="title"/>
          </p:nvPr>
        </p:nvSpPr>
        <p:spPr>
          <a:xfrm>
            <a:off x="0" y="0"/>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Violet">
    <p:spTree>
      <p:nvGrpSpPr>
        <p:cNvPr id="1" name=""/>
        <p:cNvGrpSpPr/>
        <p:nvPr/>
      </p:nvGrpSpPr>
      <p:grpSpPr>
        <a:xfrm>
          <a:off x="0" y="0"/>
          <a:ext cx="0" cy="0"/>
          <a:chOff x="0" y="0"/>
          <a:chExt cx="0" cy="0"/>
        </a:xfrm>
      </p:grpSpPr>
      <p:pic>
        <p:nvPicPr>
          <p:cNvPr id="4" name="Picture 2" descr="E:\My Documents\1 Temple\1 Wipro\1 On-going Jobs\Corporate ppt\z+ final\TMPLTS\3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5"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solidFill>
                  <a:schemeClr val="bg1"/>
                </a:solidFill>
              </a:rPr>
              <a:t>© 2011 Wipro Ltd </a:t>
            </a:r>
          </a:p>
        </p:txBody>
      </p:sp>
      <p:sp>
        <p:nvSpPr>
          <p:cNvPr id="6"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F1E7B786-7C6D-4DB2-8463-15BE70910C75}" type="slidenum">
              <a:rPr lang="en-US" sz="1000" b="1" smtClean="0">
                <a:solidFill>
                  <a:schemeClr val="bg1"/>
                </a:solidFill>
              </a:rPr>
              <a:pPr>
                <a:defRPr/>
              </a:pPr>
              <a:t>‹#›</a:t>
            </a:fld>
            <a:endParaRPr lang="en-US" sz="800" b="1" dirty="0">
              <a:solidFill>
                <a:schemeClr val="bg1"/>
              </a:solidFill>
            </a:endParaRPr>
          </a:p>
        </p:txBody>
      </p:sp>
      <p:sp>
        <p:nvSpPr>
          <p:cNvPr id="13" name="Content Placeholder 2"/>
          <p:cNvSpPr>
            <a:spLocks noGrp="1"/>
          </p:cNvSpPr>
          <p:nvPr>
            <p:ph idx="1"/>
          </p:nvPr>
        </p:nvSpPr>
        <p:spPr>
          <a:xfrm>
            <a:off x="457200" y="1371600"/>
            <a:ext cx="8229600" cy="5029200"/>
          </a:xfrm>
        </p:spPr>
        <p:txBody>
          <a:bodyPr/>
          <a:lstStyle>
            <a:lvl1pPr>
              <a:defRPr sz="2000">
                <a:latin typeface="Gill Sans MT" pitchFamily="34" charset="0"/>
              </a:defRPr>
            </a:lvl1pPr>
            <a:lvl2pPr>
              <a:defRPr sz="1800">
                <a:latin typeface="Gill Sans MT" pitchFamily="34" charset="0"/>
              </a:defRPr>
            </a:lvl2pPr>
            <a:lvl3pPr>
              <a:defRPr sz="1600">
                <a:latin typeface="Gill Sans MT" pitchFamily="34" charset="0"/>
              </a:defRPr>
            </a:lvl3pPr>
            <a:lvl4pPr>
              <a:defRPr sz="1400">
                <a:latin typeface="Gill Sans MT" pitchFamily="34" charset="0"/>
              </a:defRPr>
            </a:lvl4pPr>
            <a:lvl5pPr>
              <a:defRPr sz="1200">
                <a:latin typeface="Gill Sans MT"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6" name="Title 1"/>
          <p:cNvSpPr>
            <a:spLocks noGrp="1"/>
          </p:cNvSpPr>
          <p:nvPr>
            <p:ph type="title"/>
          </p:nvPr>
        </p:nvSpPr>
        <p:spPr>
          <a:xfrm>
            <a:off x="0" y="0"/>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Blue">
    <p:spTree>
      <p:nvGrpSpPr>
        <p:cNvPr id="1" name=""/>
        <p:cNvGrpSpPr/>
        <p:nvPr/>
      </p:nvGrpSpPr>
      <p:grpSpPr>
        <a:xfrm>
          <a:off x="0" y="0"/>
          <a:ext cx="0" cy="0"/>
          <a:chOff x="0" y="0"/>
          <a:chExt cx="0" cy="0"/>
        </a:xfrm>
      </p:grpSpPr>
      <p:pic>
        <p:nvPicPr>
          <p:cNvPr id="4" name="Picture 2" descr="E:\My Documents\1 Temple\1 Wipro\1 On-going Jobs\Corporate ppt\z+ final\TMPLTS\1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5"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6"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DFF6EC2-4490-4C1A-A9CB-A61E52BDDC82}" type="slidenum">
              <a:rPr lang="en-US" sz="1000" b="1" smtClean="0"/>
              <a:pPr>
                <a:defRPr/>
              </a:pPr>
              <a:t>‹#›</a:t>
            </a:fld>
            <a:endParaRPr lang="en-US" sz="800" b="1" dirty="0"/>
          </a:p>
        </p:txBody>
      </p:sp>
      <p:sp>
        <p:nvSpPr>
          <p:cNvPr id="13" name="Content Placeholder 2"/>
          <p:cNvSpPr>
            <a:spLocks noGrp="1"/>
          </p:cNvSpPr>
          <p:nvPr>
            <p:ph idx="1"/>
          </p:nvPr>
        </p:nvSpPr>
        <p:spPr>
          <a:xfrm>
            <a:off x="457200" y="1371600"/>
            <a:ext cx="8229600" cy="5029200"/>
          </a:xfrm>
        </p:spPr>
        <p:txBody>
          <a:bodyPr/>
          <a:lstStyle>
            <a:lvl1pPr>
              <a:defRPr sz="2000">
                <a:latin typeface="Gill Sans MT" pitchFamily="34" charset="0"/>
              </a:defRPr>
            </a:lvl1pPr>
            <a:lvl2pPr>
              <a:defRPr sz="1800">
                <a:latin typeface="Gill Sans MT" pitchFamily="34" charset="0"/>
              </a:defRPr>
            </a:lvl2pPr>
            <a:lvl3pPr>
              <a:defRPr sz="1600">
                <a:latin typeface="Gill Sans MT" pitchFamily="34" charset="0"/>
              </a:defRPr>
            </a:lvl3pPr>
            <a:lvl4pPr>
              <a:defRPr sz="1400">
                <a:latin typeface="Gill Sans MT" pitchFamily="34" charset="0"/>
              </a:defRPr>
            </a:lvl4pPr>
            <a:lvl5pPr>
              <a:defRPr sz="1200">
                <a:latin typeface="Gill Sans MT"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Title 1"/>
          <p:cNvSpPr>
            <a:spLocks noGrp="1"/>
          </p:cNvSpPr>
          <p:nvPr>
            <p:ph type="title"/>
          </p:nvPr>
        </p:nvSpPr>
        <p:spPr>
          <a:xfrm>
            <a:off x="0" y="0"/>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Green">
    <p:spTree>
      <p:nvGrpSpPr>
        <p:cNvPr id="1" name=""/>
        <p:cNvGrpSpPr/>
        <p:nvPr/>
      </p:nvGrpSpPr>
      <p:grpSpPr>
        <a:xfrm>
          <a:off x="0" y="0"/>
          <a:ext cx="0" cy="0"/>
          <a:chOff x="0" y="0"/>
          <a:chExt cx="0" cy="0"/>
        </a:xfrm>
      </p:grpSpPr>
      <p:pic>
        <p:nvPicPr>
          <p:cNvPr id="5" name="Picture 2" descr="E:\My Documents\1 Temple\1 Wipro\1 On-going Jobs\Corporate ppt\z+ final\TMPLTS\8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6"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7"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4495DD28-A540-4C31-831E-80FF48236AC0}" type="slidenum">
              <a:rPr lang="en-US" sz="1000" b="1" smtClean="0"/>
              <a:pPr>
                <a:defRPr/>
              </a:pPr>
              <a:t>‹#›</a:t>
            </a:fld>
            <a:endParaRPr lang="en-US" sz="800" b="1" dirty="0"/>
          </a:p>
        </p:txBody>
      </p:sp>
      <p:sp>
        <p:nvSpPr>
          <p:cNvPr id="8" name="Content Placeholder 2"/>
          <p:cNvSpPr>
            <a:spLocks noGrp="1"/>
          </p:cNvSpPr>
          <p:nvPr>
            <p:ph sz="half" idx="1"/>
          </p:nvPr>
        </p:nvSpPr>
        <p:spPr>
          <a:xfrm>
            <a:off x="457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3"/>
          <p:cNvSpPr>
            <a:spLocks noGrp="1"/>
          </p:cNvSpPr>
          <p:nvPr>
            <p:ph sz="half" idx="2"/>
          </p:nvPr>
        </p:nvSpPr>
        <p:spPr>
          <a:xfrm>
            <a:off x="4648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Title 1"/>
          <p:cNvSpPr>
            <a:spLocks noGrp="1"/>
          </p:cNvSpPr>
          <p:nvPr>
            <p:ph type="title"/>
          </p:nvPr>
        </p:nvSpPr>
        <p:spPr>
          <a:xfrm>
            <a:off x="0" y="0"/>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Yellow">
    <p:spTree>
      <p:nvGrpSpPr>
        <p:cNvPr id="1" name=""/>
        <p:cNvGrpSpPr/>
        <p:nvPr/>
      </p:nvGrpSpPr>
      <p:grpSpPr>
        <a:xfrm>
          <a:off x="0" y="0"/>
          <a:ext cx="0" cy="0"/>
          <a:chOff x="0" y="0"/>
          <a:chExt cx="0" cy="0"/>
        </a:xfrm>
      </p:grpSpPr>
      <p:pic>
        <p:nvPicPr>
          <p:cNvPr id="5" name="Picture 2" descr="E:\My Documents\1 Temple\1 Wipro\1 On-going Jobs\Corporate ppt\z+ final\TMPLTS\6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7"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8"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96E82836-122F-4FE1-8315-56B5928D2A9C}" type="slidenum">
              <a:rPr lang="en-US" sz="1000" b="1" smtClean="0"/>
              <a:pPr>
                <a:defRPr/>
              </a:pPr>
              <a:t>‹#›</a:t>
            </a:fld>
            <a:endParaRPr lang="en-US" sz="800" b="1" dirty="0"/>
          </a:p>
        </p:txBody>
      </p:sp>
      <p:sp>
        <p:nvSpPr>
          <p:cNvPr id="6" name="Content Placeholder 2"/>
          <p:cNvSpPr>
            <a:spLocks noGrp="1"/>
          </p:cNvSpPr>
          <p:nvPr>
            <p:ph sz="half" idx="1"/>
          </p:nvPr>
        </p:nvSpPr>
        <p:spPr>
          <a:xfrm>
            <a:off x="457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3"/>
          <p:cNvSpPr>
            <a:spLocks noGrp="1"/>
          </p:cNvSpPr>
          <p:nvPr>
            <p:ph sz="half" idx="2"/>
          </p:nvPr>
        </p:nvSpPr>
        <p:spPr>
          <a:xfrm>
            <a:off x="4648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2" name="Title 1"/>
          <p:cNvSpPr>
            <a:spLocks noGrp="1"/>
          </p:cNvSpPr>
          <p:nvPr>
            <p:ph type="title"/>
          </p:nvPr>
        </p:nvSpPr>
        <p:spPr>
          <a:xfrm>
            <a:off x="0" y="0"/>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Red">
    <p:spTree>
      <p:nvGrpSpPr>
        <p:cNvPr id="1" name=""/>
        <p:cNvGrpSpPr/>
        <p:nvPr/>
      </p:nvGrpSpPr>
      <p:grpSpPr>
        <a:xfrm>
          <a:off x="0" y="0"/>
          <a:ext cx="0" cy="0"/>
          <a:chOff x="0" y="0"/>
          <a:chExt cx="0" cy="0"/>
        </a:xfrm>
      </p:grpSpPr>
      <p:pic>
        <p:nvPicPr>
          <p:cNvPr id="5" name="Picture 2" descr="E:\My Documents\1 Temple\1 Wipro\1 On-going Jobs\Corporate ppt\z+ final\TMPLTS\4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6"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10"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986AB033-88C3-40AB-9ED1-9CD7BBB7DE68}" type="slidenum">
              <a:rPr lang="en-US" sz="1000" b="1" smtClean="0"/>
              <a:pPr>
                <a:defRPr/>
              </a:pPr>
              <a:t>‹#›</a:t>
            </a:fld>
            <a:endParaRPr lang="en-US" sz="800" b="1" dirty="0"/>
          </a:p>
        </p:txBody>
      </p:sp>
      <p:sp>
        <p:nvSpPr>
          <p:cNvPr id="7" name="Content Placeholder 2"/>
          <p:cNvSpPr>
            <a:spLocks noGrp="1"/>
          </p:cNvSpPr>
          <p:nvPr>
            <p:ph sz="half" idx="1"/>
          </p:nvPr>
        </p:nvSpPr>
        <p:spPr>
          <a:xfrm>
            <a:off x="457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Content Placeholder 3"/>
          <p:cNvSpPr>
            <a:spLocks noGrp="1"/>
          </p:cNvSpPr>
          <p:nvPr>
            <p:ph sz="half" idx="2"/>
          </p:nvPr>
        </p:nvSpPr>
        <p:spPr>
          <a:xfrm>
            <a:off x="4648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Title 1"/>
          <p:cNvSpPr>
            <a:spLocks noGrp="1"/>
          </p:cNvSpPr>
          <p:nvPr>
            <p:ph type="title"/>
          </p:nvPr>
        </p:nvSpPr>
        <p:spPr>
          <a:xfrm>
            <a:off x="0" y="0"/>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Violet">
    <p:spTree>
      <p:nvGrpSpPr>
        <p:cNvPr id="1" name=""/>
        <p:cNvGrpSpPr/>
        <p:nvPr/>
      </p:nvGrpSpPr>
      <p:grpSpPr>
        <a:xfrm>
          <a:off x="0" y="0"/>
          <a:ext cx="0" cy="0"/>
          <a:chOff x="0" y="0"/>
          <a:chExt cx="0" cy="0"/>
        </a:xfrm>
      </p:grpSpPr>
      <p:pic>
        <p:nvPicPr>
          <p:cNvPr id="5" name="Picture 2" descr="E:\My Documents\1 Temple\1 Wipro\1 On-going Jobs\Corporate ppt\z+ final\TMPLTS\3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8"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solidFill>
                  <a:schemeClr val="bg1"/>
                </a:solidFill>
              </a:rPr>
              <a:t>© 2011 Wipro Ltd</a:t>
            </a:r>
          </a:p>
        </p:txBody>
      </p:sp>
      <p:sp>
        <p:nvSpPr>
          <p:cNvPr id="9"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635FECDE-0922-41E2-830C-605E41C31AFB}" type="slidenum">
              <a:rPr lang="en-US" sz="1000" b="1" smtClean="0">
                <a:solidFill>
                  <a:schemeClr val="bg1"/>
                </a:solidFill>
              </a:rPr>
              <a:pPr>
                <a:defRPr/>
              </a:pPr>
              <a:t>‹#›</a:t>
            </a:fld>
            <a:endParaRPr lang="en-US" sz="800" b="1" dirty="0">
              <a:solidFill>
                <a:schemeClr val="bg1"/>
              </a:solidFill>
            </a:endParaRPr>
          </a:p>
        </p:txBody>
      </p:sp>
      <p:sp>
        <p:nvSpPr>
          <p:cNvPr id="6" name="Content Placeholder 2"/>
          <p:cNvSpPr>
            <a:spLocks noGrp="1"/>
          </p:cNvSpPr>
          <p:nvPr>
            <p:ph sz="half" idx="1"/>
          </p:nvPr>
        </p:nvSpPr>
        <p:spPr>
          <a:xfrm>
            <a:off x="457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sz="half" idx="2"/>
          </p:nvPr>
        </p:nvSpPr>
        <p:spPr>
          <a:xfrm>
            <a:off x="4648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Title 1"/>
          <p:cNvSpPr>
            <a:spLocks noGrp="1"/>
          </p:cNvSpPr>
          <p:nvPr>
            <p:ph type="title"/>
          </p:nvPr>
        </p:nvSpPr>
        <p:spPr>
          <a:xfrm>
            <a:off x="0" y="0"/>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Blue">
    <p:spTree>
      <p:nvGrpSpPr>
        <p:cNvPr id="1" name=""/>
        <p:cNvGrpSpPr/>
        <p:nvPr/>
      </p:nvGrpSpPr>
      <p:grpSpPr>
        <a:xfrm>
          <a:off x="0" y="0"/>
          <a:ext cx="0" cy="0"/>
          <a:chOff x="0" y="0"/>
          <a:chExt cx="0" cy="0"/>
        </a:xfrm>
      </p:grpSpPr>
      <p:pic>
        <p:nvPicPr>
          <p:cNvPr id="5" name="Picture 2" descr="E:\My Documents\1 Temple\1 Wipro\1 On-going Jobs\Corporate ppt\z+ final\TMPLTS\1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9"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10"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ECAED13B-2356-44F4-A6CD-D76B2B091954}" type="slidenum">
              <a:rPr lang="en-US" sz="1000" b="1" smtClean="0"/>
              <a:pPr>
                <a:defRPr/>
              </a:pPr>
              <a:t>‹#›</a:t>
            </a:fld>
            <a:endParaRPr lang="en-US" sz="800" b="1" dirty="0"/>
          </a:p>
        </p:txBody>
      </p:sp>
      <p:sp>
        <p:nvSpPr>
          <p:cNvPr id="6" name="Content Placeholder 2"/>
          <p:cNvSpPr>
            <a:spLocks noGrp="1"/>
          </p:cNvSpPr>
          <p:nvPr>
            <p:ph sz="half" idx="1"/>
          </p:nvPr>
        </p:nvSpPr>
        <p:spPr>
          <a:xfrm>
            <a:off x="457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3"/>
          <p:cNvSpPr>
            <a:spLocks noGrp="1"/>
          </p:cNvSpPr>
          <p:nvPr>
            <p:ph sz="half" idx="2"/>
          </p:nvPr>
        </p:nvSpPr>
        <p:spPr>
          <a:xfrm>
            <a:off x="4648200" y="1637778"/>
            <a:ext cx="4038600" cy="4525963"/>
          </a:xfrm>
        </p:spPr>
        <p:txBody>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1"/>
          <p:cNvSpPr>
            <a:spLocks noGrp="1"/>
          </p:cNvSpPr>
          <p:nvPr>
            <p:ph type="title"/>
          </p:nvPr>
        </p:nvSpPr>
        <p:spPr>
          <a:xfrm>
            <a:off x="0" y="0"/>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Green">
    <p:spTree>
      <p:nvGrpSpPr>
        <p:cNvPr id="1" name=""/>
        <p:cNvGrpSpPr/>
        <p:nvPr/>
      </p:nvGrpSpPr>
      <p:grpSpPr>
        <a:xfrm>
          <a:off x="0" y="0"/>
          <a:ext cx="0" cy="0"/>
          <a:chOff x="0" y="0"/>
          <a:chExt cx="0" cy="0"/>
        </a:xfrm>
      </p:grpSpPr>
      <p:pic>
        <p:nvPicPr>
          <p:cNvPr id="5" name="Picture 2" descr="E:\My Documents\1 Temple\1 Wipro\1 On-going Jobs\Corporate ppt\z+ final\TMPLTS\8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cxnSp>
        <p:nvCxnSpPr>
          <p:cNvPr id="6" name="Straight Connector 5"/>
          <p:cNvCxnSpPr/>
          <p:nvPr/>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Footer Placeholder 3"/>
          <p:cNvSpPr txBox="1">
            <a:spLocks/>
          </p:cNvSpPr>
          <p:nvPr/>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8" name="Slide Number Placeholder 6"/>
          <p:cNvSpPr txBox="1">
            <a:spLocks/>
          </p:cNvSpPr>
          <p:nvPr/>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9B98245B-9BD6-4497-8EA5-F6E36A839902}" type="slidenum">
              <a:rPr lang="en-US" sz="1000" b="1" smtClean="0"/>
              <a:pPr>
                <a:defRPr/>
              </a:pPr>
              <a:t>‹#›</a:t>
            </a:fld>
            <a:endParaRPr lang="en-US" sz="800" b="1" dirty="0"/>
          </a:p>
        </p:txBody>
      </p:sp>
      <p:sp>
        <p:nvSpPr>
          <p:cNvPr id="11" name="Title 1"/>
          <p:cNvSpPr>
            <a:spLocks noGrp="1"/>
          </p:cNvSpPr>
          <p:nvPr>
            <p:ph type="title"/>
          </p:nvPr>
        </p:nvSpPr>
        <p:spPr>
          <a:xfrm>
            <a:off x="228600" y="1295400"/>
            <a:ext cx="3008313" cy="1009650"/>
          </a:xfrm>
        </p:spPr>
        <p:txBody>
          <a:bodyPr anchor="b"/>
          <a:lstStyle>
            <a:lvl1pPr algn="l">
              <a:defRPr sz="2000" b="1"/>
            </a:lvl1pPr>
          </a:lstStyle>
          <a:p>
            <a:r>
              <a:rPr lang="en-US" smtClean="0"/>
              <a:t>Click to edit Master title style</a:t>
            </a:r>
            <a:endParaRPr lang="en-US" dirty="0"/>
          </a:p>
        </p:txBody>
      </p:sp>
      <p:sp>
        <p:nvSpPr>
          <p:cNvPr id="12" name="Content Placeholder 2"/>
          <p:cNvSpPr>
            <a:spLocks noGrp="1"/>
          </p:cNvSpPr>
          <p:nvPr>
            <p:ph idx="1"/>
          </p:nvPr>
        </p:nvSpPr>
        <p:spPr>
          <a:xfrm>
            <a:off x="3346450" y="1295399"/>
            <a:ext cx="5111750" cy="5105401"/>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Text Placeholder 3"/>
          <p:cNvSpPr>
            <a:spLocks noGrp="1"/>
          </p:cNvSpPr>
          <p:nvPr>
            <p:ph type="body" sz="half" idx="2"/>
          </p:nvPr>
        </p:nvSpPr>
        <p:spPr>
          <a:xfrm>
            <a:off x="228600" y="2305051"/>
            <a:ext cx="3008313" cy="4095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Yellow">
    <p:spTree>
      <p:nvGrpSpPr>
        <p:cNvPr id="1" name=""/>
        <p:cNvGrpSpPr/>
        <p:nvPr/>
      </p:nvGrpSpPr>
      <p:grpSpPr>
        <a:xfrm>
          <a:off x="0" y="0"/>
          <a:ext cx="0" cy="0"/>
          <a:chOff x="0" y="0"/>
          <a:chExt cx="0" cy="0"/>
        </a:xfrm>
      </p:grpSpPr>
      <p:pic>
        <p:nvPicPr>
          <p:cNvPr id="5" name="Picture 2" descr="E:\My Documents\1 Temple\1 Wipro\1 On-going Jobs\Corporate ppt\z+ final\TMPLTS\6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cxnSp>
        <p:nvCxnSpPr>
          <p:cNvPr id="6" name="Straight Connector 5"/>
          <p:cNvCxnSpPr/>
          <p:nvPr userDrawn="1"/>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11"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0E411516-8D56-4A87-9139-0C71D744D5B4}" type="slidenum">
              <a:rPr lang="en-US" sz="1000" b="1" smtClean="0"/>
              <a:pPr>
                <a:defRPr/>
              </a:pPr>
              <a:t>‹#›</a:t>
            </a:fld>
            <a:endParaRPr lang="en-US" sz="800" b="1" dirty="0"/>
          </a:p>
        </p:txBody>
      </p:sp>
      <p:sp>
        <p:nvSpPr>
          <p:cNvPr id="8" name="Title 1"/>
          <p:cNvSpPr>
            <a:spLocks noGrp="1"/>
          </p:cNvSpPr>
          <p:nvPr>
            <p:ph type="title"/>
          </p:nvPr>
        </p:nvSpPr>
        <p:spPr>
          <a:xfrm>
            <a:off x="228600" y="1295400"/>
            <a:ext cx="3008313" cy="1009650"/>
          </a:xfrm>
        </p:spPr>
        <p:txBody>
          <a:bodyPr anchor="b"/>
          <a:lstStyle>
            <a:lvl1pPr algn="l">
              <a:defRPr sz="2000" b="1"/>
            </a:lvl1pPr>
          </a:lstStyle>
          <a:p>
            <a:r>
              <a:rPr lang="en-US" smtClean="0"/>
              <a:t>Click to edit Master title style</a:t>
            </a:r>
            <a:endParaRPr lang="en-US" dirty="0"/>
          </a:p>
        </p:txBody>
      </p:sp>
      <p:sp>
        <p:nvSpPr>
          <p:cNvPr id="9" name="Content Placeholder 2"/>
          <p:cNvSpPr>
            <a:spLocks noGrp="1"/>
          </p:cNvSpPr>
          <p:nvPr>
            <p:ph idx="1"/>
          </p:nvPr>
        </p:nvSpPr>
        <p:spPr>
          <a:xfrm>
            <a:off x="3346450" y="1295399"/>
            <a:ext cx="5111750" cy="5105401"/>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Text Placeholder 3"/>
          <p:cNvSpPr>
            <a:spLocks noGrp="1"/>
          </p:cNvSpPr>
          <p:nvPr>
            <p:ph type="body" sz="half" idx="2"/>
          </p:nvPr>
        </p:nvSpPr>
        <p:spPr>
          <a:xfrm>
            <a:off x="228600" y="2305051"/>
            <a:ext cx="3008313" cy="4095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Red">
    <p:spTree>
      <p:nvGrpSpPr>
        <p:cNvPr id="1" name=""/>
        <p:cNvGrpSpPr/>
        <p:nvPr/>
      </p:nvGrpSpPr>
      <p:grpSpPr>
        <a:xfrm>
          <a:off x="0" y="0"/>
          <a:ext cx="0" cy="0"/>
          <a:chOff x="0" y="0"/>
          <a:chExt cx="0" cy="0"/>
        </a:xfrm>
      </p:grpSpPr>
      <p:pic>
        <p:nvPicPr>
          <p:cNvPr id="5" name="Picture 2" descr="E:\My Documents\1 Temple\1 Wipro\1 On-going Jobs\Corporate ppt\z+ final\TMPLTS\4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cxnSp>
        <p:nvCxnSpPr>
          <p:cNvPr id="6" name="Straight Connector 5"/>
          <p:cNvCxnSpPr/>
          <p:nvPr userDrawn="1"/>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8"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1C6475EF-45F3-43C0-9889-1E297E69F2F8}" type="slidenum">
              <a:rPr lang="en-US" sz="1000" b="1" smtClean="0"/>
              <a:pPr>
                <a:defRPr/>
              </a:pPr>
              <a:t>‹#›</a:t>
            </a:fld>
            <a:endParaRPr lang="en-US" sz="800" b="1" dirty="0"/>
          </a:p>
        </p:txBody>
      </p:sp>
      <p:sp>
        <p:nvSpPr>
          <p:cNvPr id="10" name="Title 1"/>
          <p:cNvSpPr>
            <a:spLocks noGrp="1"/>
          </p:cNvSpPr>
          <p:nvPr>
            <p:ph type="title"/>
          </p:nvPr>
        </p:nvSpPr>
        <p:spPr>
          <a:xfrm>
            <a:off x="228600" y="1295400"/>
            <a:ext cx="3008313" cy="1009650"/>
          </a:xfrm>
        </p:spPr>
        <p:txBody>
          <a:bodyPr anchor="b"/>
          <a:lstStyle>
            <a:lvl1pPr algn="l">
              <a:defRPr sz="2000" b="1"/>
            </a:lvl1pPr>
          </a:lstStyle>
          <a:p>
            <a:r>
              <a:rPr lang="en-US" smtClean="0"/>
              <a:t>Click to edit Master title style</a:t>
            </a:r>
            <a:endParaRPr lang="en-US" dirty="0"/>
          </a:p>
        </p:txBody>
      </p:sp>
      <p:sp>
        <p:nvSpPr>
          <p:cNvPr id="11" name="Content Placeholder 2"/>
          <p:cNvSpPr>
            <a:spLocks noGrp="1"/>
          </p:cNvSpPr>
          <p:nvPr>
            <p:ph idx="1"/>
          </p:nvPr>
        </p:nvSpPr>
        <p:spPr>
          <a:xfrm>
            <a:off x="3346450" y="1295399"/>
            <a:ext cx="5111750" cy="5105401"/>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2" name="Text Placeholder 3"/>
          <p:cNvSpPr>
            <a:spLocks noGrp="1"/>
          </p:cNvSpPr>
          <p:nvPr>
            <p:ph type="body" sz="half" idx="2"/>
          </p:nvPr>
        </p:nvSpPr>
        <p:spPr>
          <a:xfrm>
            <a:off x="228600" y="2305051"/>
            <a:ext cx="3008313" cy="4095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Violet">
    <p:spTree>
      <p:nvGrpSpPr>
        <p:cNvPr id="1" name=""/>
        <p:cNvGrpSpPr/>
        <p:nvPr/>
      </p:nvGrpSpPr>
      <p:grpSpPr>
        <a:xfrm>
          <a:off x="0" y="0"/>
          <a:ext cx="0" cy="0"/>
          <a:chOff x="0" y="0"/>
          <a:chExt cx="0" cy="0"/>
        </a:xfrm>
      </p:grpSpPr>
      <p:pic>
        <p:nvPicPr>
          <p:cNvPr id="5" name="Picture 2" descr="E:\My Documents\1 Temple\1 Wipro\1 On-going Jobs\Corporate ppt\z+ final\TMPLTS\3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cxnSp>
        <p:nvCxnSpPr>
          <p:cNvPr id="6" name="Straight Connector 5"/>
          <p:cNvCxnSpPr/>
          <p:nvPr userDrawn="1"/>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solidFill>
                  <a:schemeClr val="bg1"/>
                </a:solidFill>
              </a:rPr>
              <a:t>© 2011 Wipro Ltd </a:t>
            </a:r>
          </a:p>
        </p:txBody>
      </p:sp>
      <p:sp>
        <p:nvSpPr>
          <p:cNvPr id="11"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7495CB30-7F52-4045-8DBE-DD8A0D9A64E7}" type="slidenum">
              <a:rPr lang="en-US" sz="1000" b="1" smtClean="0">
                <a:solidFill>
                  <a:schemeClr val="bg1"/>
                </a:solidFill>
              </a:rPr>
              <a:pPr>
                <a:defRPr/>
              </a:pPr>
              <a:t>‹#›</a:t>
            </a:fld>
            <a:endParaRPr lang="en-US" sz="800" b="1" dirty="0">
              <a:solidFill>
                <a:schemeClr val="bg1"/>
              </a:solidFill>
            </a:endParaRPr>
          </a:p>
        </p:txBody>
      </p:sp>
      <p:sp>
        <p:nvSpPr>
          <p:cNvPr id="8" name="Title 1"/>
          <p:cNvSpPr>
            <a:spLocks noGrp="1"/>
          </p:cNvSpPr>
          <p:nvPr>
            <p:ph type="title"/>
          </p:nvPr>
        </p:nvSpPr>
        <p:spPr>
          <a:xfrm>
            <a:off x="228600" y="1295400"/>
            <a:ext cx="3008313" cy="1009650"/>
          </a:xfrm>
        </p:spPr>
        <p:txBody>
          <a:bodyPr anchor="b"/>
          <a:lstStyle>
            <a:lvl1pPr algn="l">
              <a:defRPr sz="2000" b="1"/>
            </a:lvl1pPr>
          </a:lstStyle>
          <a:p>
            <a:r>
              <a:rPr lang="en-US" smtClean="0"/>
              <a:t>Click to edit Master title style</a:t>
            </a:r>
            <a:endParaRPr lang="en-US" dirty="0"/>
          </a:p>
        </p:txBody>
      </p:sp>
      <p:sp>
        <p:nvSpPr>
          <p:cNvPr id="9" name="Content Placeholder 2"/>
          <p:cNvSpPr>
            <a:spLocks noGrp="1"/>
          </p:cNvSpPr>
          <p:nvPr>
            <p:ph idx="1"/>
          </p:nvPr>
        </p:nvSpPr>
        <p:spPr>
          <a:xfrm>
            <a:off x="3346450" y="1295399"/>
            <a:ext cx="5111750" cy="5105401"/>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Text Placeholder 3"/>
          <p:cNvSpPr>
            <a:spLocks noGrp="1"/>
          </p:cNvSpPr>
          <p:nvPr>
            <p:ph type="body" sz="half" idx="2"/>
          </p:nvPr>
        </p:nvSpPr>
        <p:spPr>
          <a:xfrm>
            <a:off x="228600" y="2305051"/>
            <a:ext cx="3008313" cy="4095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Caption Blue">
    <p:spTree>
      <p:nvGrpSpPr>
        <p:cNvPr id="1" name=""/>
        <p:cNvGrpSpPr/>
        <p:nvPr/>
      </p:nvGrpSpPr>
      <p:grpSpPr>
        <a:xfrm>
          <a:off x="0" y="0"/>
          <a:ext cx="0" cy="0"/>
          <a:chOff x="0" y="0"/>
          <a:chExt cx="0" cy="0"/>
        </a:xfrm>
      </p:grpSpPr>
      <p:pic>
        <p:nvPicPr>
          <p:cNvPr id="5" name="Picture 2" descr="E:\My Documents\1 Temple\1 Wipro\1 On-going Jobs\Corporate ppt\z+ final\TMPLTS\1a.gif"/>
          <p:cNvPicPr>
            <a:picLocks noChangeAspect="1" noChangeArrowheads="1"/>
          </p:cNvPicPr>
          <p:nvPr userDrawn="1"/>
        </p:nvPicPr>
        <p:blipFill>
          <a:blip r:embed="rId2" cstate="print"/>
          <a:srcRect/>
          <a:stretch>
            <a:fillRect/>
          </a:stretch>
        </p:blipFill>
        <p:spPr bwMode="auto">
          <a:xfrm>
            <a:off x="0" y="6324600"/>
            <a:ext cx="9144000" cy="533400"/>
          </a:xfrm>
          <a:prstGeom prst="rect">
            <a:avLst/>
          </a:prstGeom>
          <a:noFill/>
          <a:ln w="9525">
            <a:noFill/>
            <a:miter lim="800000"/>
            <a:headEnd/>
            <a:tailEnd/>
          </a:ln>
        </p:spPr>
      </p:pic>
      <p:cxnSp>
        <p:nvCxnSpPr>
          <p:cNvPr id="6" name="Straight Connector 5"/>
          <p:cNvCxnSpPr/>
          <p:nvPr userDrawn="1"/>
        </p:nvCxnSpPr>
        <p:spPr>
          <a:xfrm>
            <a:off x="0" y="914400"/>
            <a:ext cx="7543800" cy="158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a:t>
            </a:r>
          </a:p>
        </p:txBody>
      </p:sp>
      <p:sp>
        <p:nvSpPr>
          <p:cNvPr id="11" name="Slide Number Placeholder 6"/>
          <p:cNvSpPr txBox="1">
            <a:spLocks/>
          </p:cNvSpPr>
          <p:nvPr userDrawn="1"/>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5194D43F-11E1-4DFE-8B8D-DA222FBA5B52}" type="slidenum">
              <a:rPr lang="en-US" sz="1000" b="1" smtClean="0"/>
              <a:pPr>
                <a:defRPr/>
              </a:pPr>
              <a:t>‹#›</a:t>
            </a:fld>
            <a:endParaRPr lang="en-US" sz="800" b="1" dirty="0"/>
          </a:p>
        </p:txBody>
      </p:sp>
      <p:sp>
        <p:nvSpPr>
          <p:cNvPr id="8" name="Title 1"/>
          <p:cNvSpPr>
            <a:spLocks noGrp="1"/>
          </p:cNvSpPr>
          <p:nvPr>
            <p:ph type="title"/>
          </p:nvPr>
        </p:nvSpPr>
        <p:spPr>
          <a:xfrm>
            <a:off x="228600" y="1295400"/>
            <a:ext cx="3008313" cy="1009650"/>
          </a:xfrm>
        </p:spPr>
        <p:txBody>
          <a:bodyPr anchor="b"/>
          <a:lstStyle>
            <a:lvl1pPr algn="l">
              <a:defRPr sz="2000" b="1"/>
            </a:lvl1pPr>
          </a:lstStyle>
          <a:p>
            <a:r>
              <a:rPr lang="en-US" smtClean="0"/>
              <a:t>Click to edit Master title style</a:t>
            </a:r>
            <a:endParaRPr lang="en-US" dirty="0"/>
          </a:p>
        </p:txBody>
      </p:sp>
      <p:sp>
        <p:nvSpPr>
          <p:cNvPr id="9" name="Content Placeholder 2"/>
          <p:cNvSpPr>
            <a:spLocks noGrp="1"/>
          </p:cNvSpPr>
          <p:nvPr>
            <p:ph idx="1"/>
          </p:nvPr>
        </p:nvSpPr>
        <p:spPr>
          <a:xfrm>
            <a:off x="3346450" y="1295399"/>
            <a:ext cx="5111750" cy="5105401"/>
          </a:xfrm>
        </p:spPr>
        <p:txBody>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Text Placeholder 3"/>
          <p:cNvSpPr>
            <a:spLocks noGrp="1"/>
          </p:cNvSpPr>
          <p:nvPr>
            <p:ph type="body" sz="half" idx="2"/>
          </p:nvPr>
        </p:nvSpPr>
        <p:spPr>
          <a:xfrm>
            <a:off x="228600" y="2305051"/>
            <a:ext cx="3008313" cy="4095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nding Slide">
    <p:spTree>
      <p:nvGrpSpPr>
        <p:cNvPr id="1" name=""/>
        <p:cNvGrpSpPr/>
        <p:nvPr/>
      </p:nvGrpSpPr>
      <p:grpSpPr>
        <a:xfrm>
          <a:off x="0" y="0"/>
          <a:ext cx="0" cy="0"/>
          <a:chOff x="0" y="0"/>
          <a:chExt cx="0" cy="0"/>
        </a:xfrm>
      </p:grpSpPr>
      <p:pic>
        <p:nvPicPr>
          <p:cNvPr id="3" name="Picture 6" descr="e:\My Documents\1 Temple\1 Wipro\1 On-going Jobs\Corporate ppt\Abstract\corp ppt_Intro.jpg"/>
          <p:cNvPicPr>
            <a:picLocks noChangeAspect="1" noChangeArrowheads="1"/>
          </p:cNvPicPr>
          <p:nvPr/>
        </p:nvPicPr>
        <p:blipFill>
          <a:blip r:embed="rId2" cstate="print"/>
          <a:srcRect/>
          <a:stretch>
            <a:fillRect/>
          </a:stretch>
        </p:blipFill>
        <p:spPr bwMode="auto">
          <a:xfrm>
            <a:off x="0" y="4191000"/>
            <a:ext cx="9144000" cy="2667000"/>
          </a:xfrm>
          <a:prstGeom prst="rect">
            <a:avLst/>
          </a:prstGeom>
          <a:noFill/>
          <a:ln w="9525">
            <a:noFill/>
            <a:miter lim="800000"/>
            <a:headEnd/>
            <a:tailEnd/>
          </a:ln>
        </p:spPr>
      </p:pic>
      <p:cxnSp>
        <p:nvCxnSpPr>
          <p:cNvPr id="4" name="Straight Connector 3"/>
          <p:cNvCxnSpPr/>
          <p:nvPr/>
        </p:nvCxnSpPr>
        <p:spPr>
          <a:xfrm rot="5400000">
            <a:off x="1676401" y="2971800"/>
            <a:ext cx="3352800" cy="3175"/>
          </a:xfrm>
          <a:prstGeom prst="line">
            <a:avLst/>
          </a:prstGeom>
          <a:ln w="3175">
            <a:solidFill>
              <a:schemeClr val="bg1">
                <a:lumMod val="75000"/>
              </a:schemeClr>
            </a:solidFill>
          </a:ln>
        </p:spPr>
        <p:style>
          <a:lnRef idx="3">
            <a:schemeClr val="accent3"/>
          </a:lnRef>
          <a:fillRef idx="0">
            <a:schemeClr val="accent3"/>
          </a:fillRef>
          <a:effectRef idx="2">
            <a:schemeClr val="accent3"/>
          </a:effectRef>
          <a:fontRef idx="minor">
            <a:schemeClr val="tx1"/>
          </a:fontRef>
        </p:style>
      </p:cxnSp>
      <p:pic>
        <p:nvPicPr>
          <p:cNvPr id="5" name="Picture 2" descr="E:\My Documents\1 Temple\1 Wipro\1 On-going Jobs\Corporate ppt\z+ final\TMPLTS\WIPRO-LOW RES JPG.jpg"/>
          <p:cNvPicPr>
            <a:picLocks noChangeAspect="1" noChangeArrowheads="1"/>
          </p:cNvPicPr>
          <p:nvPr userDrawn="1"/>
        </p:nvPicPr>
        <p:blipFill>
          <a:blip r:embed="rId3" cstate="print"/>
          <a:srcRect/>
          <a:stretch>
            <a:fillRect/>
          </a:stretch>
        </p:blipFill>
        <p:spPr bwMode="auto">
          <a:xfrm>
            <a:off x="381000" y="1371600"/>
            <a:ext cx="2743200" cy="2743200"/>
          </a:xfrm>
          <a:prstGeom prst="rect">
            <a:avLst/>
          </a:prstGeom>
          <a:noFill/>
          <a:ln w="9525">
            <a:noFill/>
            <a:miter lim="800000"/>
            <a:headEnd/>
            <a:tailEnd/>
          </a:ln>
        </p:spPr>
      </p:pic>
      <p:sp>
        <p:nvSpPr>
          <p:cNvPr id="6" name="Footer Placeholder 3"/>
          <p:cNvSpPr txBox="1">
            <a:spLocks/>
          </p:cNvSpPr>
          <p:nvPr userDrawn="1"/>
        </p:nvSpPr>
        <p:spPr bwMode="auto">
          <a:xfrm>
            <a:off x="2514600" y="6553200"/>
            <a:ext cx="3962400" cy="441325"/>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2" name="Title 1"/>
          <p:cNvSpPr>
            <a:spLocks noGrp="1"/>
          </p:cNvSpPr>
          <p:nvPr>
            <p:ph type="ctrTitle"/>
          </p:nvPr>
        </p:nvSpPr>
        <p:spPr>
          <a:xfrm>
            <a:off x="3352800" y="1447800"/>
            <a:ext cx="5791200" cy="1981200"/>
          </a:xfrm>
        </p:spPr>
        <p:txBody>
          <a:bodyPr>
            <a:normAutofit/>
          </a:bodyPr>
          <a:lstStyle>
            <a:lvl1pPr algn="r">
              <a:defRPr sz="3200" b="1">
                <a:latin typeface="Gill Sans MT" pitchFamily="34" charset="0"/>
              </a:defRPr>
            </a:lvl1pPr>
          </a:lstStyle>
          <a:p>
            <a:r>
              <a:rPr lang="en-US" smtClean="0"/>
              <a:t>Click to edit Master title style</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ongent Yellow">
    <p:spTree>
      <p:nvGrpSpPr>
        <p:cNvPr id="1" name=""/>
        <p:cNvGrpSpPr/>
        <p:nvPr/>
      </p:nvGrpSpPr>
      <p:grpSpPr>
        <a:xfrm>
          <a:off x="0" y="0"/>
          <a:ext cx="0" cy="0"/>
          <a:chOff x="0" y="0"/>
          <a:chExt cx="0" cy="0"/>
        </a:xfrm>
      </p:grpSpPr>
      <p:pic>
        <p:nvPicPr>
          <p:cNvPr id="4" name="Picture 2" descr="E:\My Documents\1 Temple\1 Wipro\1 On-going Jobs\Corporate ppt\z+ final\TMPLTS\6a.gif"/>
          <p:cNvPicPr>
            <a:picLocks noChangeAspect="1" noChangeArrowheads="1"/>
          </p:cNvPicPr>
          <p:nvPr/>
        </p:nvPicPr>
        <p:blipFill>
          <a:blip r:embed="rId2" cstate="print"/>
          <a:srcRect/>
          <a:stretch>
            <a:fillRect/>
          </a:stretch>
        </p:blipFill>
        <p:spPr bwMode="auto">
          <a:xfrm>
            <a:off x="0" y="6324600"/>
            <a:ext cx="9144000" cy="533400"/>
          </a:xfrm>
          <a:prstGeom prst="rect">
            <a:avLst/>
          </a:prstGeom>
          <a:noFill/>
          <a:ln w="9525">
            <a:noFill/>
            <a:miter lim="800000"/>
            <a:headEnd/>
            <a:tailEnd/>
          </a:ln>
        </p:spPr>
      </p:pic>
      <p:sp>
        <p:nvSpPr>
          <p:cNvPr id="5"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2009 Wipro Ltd – Internal &amp; Restricted</a:t>
            </a:r>
          </a:p>
        </p:txBody>
      </p:sp>
      <p:sp>
        <p:nvSpPr>
          <p:cNvPr id="6" name="Slide Number Placeholder 6"/>
          <p:cNvSpPr txBox="1">
            <a:spLocks/>
          </p:cNvSpPr>
          <p:nvPr/>
        </p:nvSpPr>
        <p:spPr>
          <a:xfrm>
            <a:off x="-28575" y="6624638"/>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3835FD46-EC58-478C-ACE7-AE7EE3DD7015}" type="slidenum">
              <a:rPr lang="en-US" sz="800" smtClean="0"/>
              <a:pPr>
                <a:defRPr/>
              </a:pPr>
              <a:t>‹#›</a:t>
            </a:fld>
            <a:endParaRPr lang="en-US" sz="800" dirty="0"/>
          </a:p>
        </p:txBody>
      </p:sp>
      <p:sp>
        <p:nvSpPr>
          <p:cNvPr id="13" name="Content Placeholder 2"/>
          <p:cNvSpPr>
            <a:spLocks noGrp="1"/>
          </p:cNvSpPr>
          <p:nvPr>
            <p:ph idx="1"/>
          </p:nvPr>
        </p:nvSpPr>
        <p:spPr>
          <a:xfrm>
            <a:off x="457200" y="1295400"/>
            <a:ext cx="8229600" cy="5029200"/>
          </a:xfrm>
        </p:spPr>
        <p:txBody>
          <a:bodyPr/>
          <a:lstStyle>
            <a:lvl1pPr>
              <a:defRPr sz="2000">
                <a:latin typeface="Gill Sans MT" pitchFamily="34" charset="0"/>
              </a:defRPr>
            </a:lvl1pPr>
            <a:lvl2pPr>
              <a:defRPr sz="1800">
                <a:latin typeface="Gill Sans MT" pitchFamily="34" charset="0"/>
              </a:defRPr>
            </a:lvl2pPr>
            <a:lvl3pPr>
              <a:defRPr sz="1600">
                <a:latin typeface="Gill Sans MT" pitchFamily="34" charset="0"/>
              </a:defRPr>
            </a:lvl3pPr>
            <a:lvl4pPr>
              <a:defRPr sz="1400">
                <a:latin typeface="Gill Sans MT" pitchFamily="34" charset="0"/>
              </a:defRPr>
            </a:lvl4pPr>
            <a:lvl5pPr>
              <a:defRPr sz="1200">
                <a:latin typeface="Gill Sans MT" pitchFamily="34"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Title 1"/>
          <p:cNvSpPr>
            <a:spLocks noGrp="1"/>
          </p:cNvSpPr>
          <p:nvPr>
            <p:ph type="title"/>
          </p:nvPr>
        </p:nvSpPr>
        <p:spPr>
          <a:xfrm>
            <a:off x="3541" y="301152"/>
            <a:ext cx="7563358" cy="914400"/>
          </a:xfrm>
        </p:spPr>
        <p:txBody>
          <a:bodyPr>
            <a:normAutofit/>
          </a:bodyPr>
          <a:lstStyle>
            <a:lvl1pPr algn="l">
              <a:defRPr sz="3200">
                <a:latin typeface="Gill Sans MT" pitchFamily="34" charset="0"/>
              </a:defRPr>
            </a:lvl1pPr>
          </a:lstStyle>
          <a:p>
            <a:r>
              <a:rPr lang="en-US" smtClean="0"/>
              <a:t>Click to edit Master title style</a:t>
            </a:r>
            <a:endParaRPr lang="en-US" dirty="0"/>
          </a:p>
        </p:txBody>
      </p:sp>
    </p:spTree>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5" name="Straight Connector 14"/>
          <p:cNvCxnSpPr/>
          <p:nvPr/>
        </p:nvCxnSpPr>
        <p:spPr>
          <a:xfrm>
            <a:off x="0" y="914400"/>
            <a:ext cx="7467600" cy="158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27" name="Title Placeholder 1"/>
          <p:cNvSpPr>
            <a:spLocks noGrp="1"/>
          </p:cNvSpPr>
          <p:nvPr>
            <p:ph type="title"/>
          </p:nvPr>
        </p:nvSpPr>
        <p:spPr bwMode="auto">
          <a:xfrm>
            <a:off x="0" y="0"/>
            <a:ext cx="7696200" cy="914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Text Placeholder 2"/>
          <p:cNvSpPr>
            <a:spLocks noGrp="1"/>
          </p:cNvSpPr>
          <p:nvPr>
            <p:ph type="body" idx="1"/>
          </p:nvPr>
        </p:nvSpPr>
        <p:spPr bwMode="auto">
          <a:xfrm>
            <a:off x="457200" y="1371600"/>
            <a:ext cx="82296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pic>
        <p:nvPicPr>
          <p:cNvPr id="1029" name="Picture 2" descr="D:\Ashish\Corporate Brand Mgmt\Brand Identity Logo\Wipro Logo JPEG Image - White Background.jpg"/>
          <p:cNvPicPr>
            <a:picLocks noChangeAspect="1" noChangeArrowheads="1"/>
          </p:cNvPicPr>
          <p:nvPr/>
        </p:nvPicPr>
        <p:blipFill>
          <a:blip r:embed="rId25" cstate="print"/>
          <a:srcRect/>
          <a:stretch>
            <a:fillRect/>
          </a:stretch>
        </p:blipFill>
        <p:spPr bwMode="auto">
          <a:xfrm>
            <a:off x="8024813" y="152400"/>
            <a:ext cx="942975" cy="1066800"/>
          </a:xfrm>
          <a:prstGeom prst="rect">
            <a:avLst/>
          </a:prstGeom>
          <a:noFill/>
          <a:ln w="9525">
            <a:noFill/>
            <a:miter lim="800000"/>
            <a:headEnd/>
            <a:tailEnd/>
          </a:ln>
        </p:spPr>
      </p:pic>
      <p:sp>
        <p:nvSpPr>
          <p:cNvPr id="9" name="Footer Placeholder 3"/>
          <p:cNvSpPr txBox="1">
            <a:spLocks/>
          </p:cNvSpPr>
          <p:nvPr/>
        </p:nvSpPr>
        <p:spPr bwMode="auto">
          <a:xfrm>
            <a:off x="2514600" y="6627813"/>
            <a:ext cx="3962400" cy="366712"/>
          </a:xfrm>
          <a:prstGeom prst="rect">
            <a:avLst/>
          </a:prstGeom>
          <a:noFill/>
          <a:ln>
            <a:miter lim="800000"/>
            <a:headEnd/>
            <a:tailEnd/>
          </a:ln>
        </p:spPr>
        <p:txBody>
          <a:bodyPr anchor="ctr"/>
          <a:lstStyle>
            <a:lvl1pPr algn="ctr">
              <a:defRPr sz="1000" dirty="0" smtClean="0">
                <a:latin typeface="Gill Sans MT" pitchFamily="34" charset="0"/>
              </a:defRPr>
            </a:lvl1pPr>
          </a:lstStyle>
          <a:p>
            <a:pPr>
              <a:defRPr/>
            </a:pPr>
            <a:r>
              <a:rPr lang="en-US" sz="800"/>
              <a:t>© 2011 Wipro Ltd  </a:t>
            </a:r>
          </a:p>
        </p:txBody>
      </p:sp>
      <p:sp>
        <p:nvSpPr>
          <p:cNvPr id="11" name="Slide Number Placeholder 6"/>
          <p:cNvSpPr txBox="1">
            <a:spLocks/>
          </p:cNvSpPr>
          <p:nvPr/>
        </p:nvSpPr>
        <p:spPr>
          <a:xfrm>
            <a:off x="-28575" y="6553200"/>
            <a:ext cx="2133600" cy="365125"/>
          </a:xfrm>
          <a:prstGeom prst="rect">
            <a:avLst/>
          </a:prstGeom>
        </p:spPr>
        <p:txBody>
          <a:bodyPr anchor="ctr"/>
          <a:lstStyle>
            <a:lvl1pPr algn="l">
              <a:defRPr sz="900">
                <a:solidFill>
                  <a:schemeClr val="tx1"/>
                </a:solidFill>
                <a:latin typeface="Gill Sans MT" pitchFamily="34" charset="0"/>
              </a:defRPr>
            </a:lvl1pPr>
          </a:lstStyle>
          <a:p>
            <a:pPr>
              <a:defRPr/>
            </a:pPr>
            <a:fld id="{4876F710-57D0-407B-8DA8-7A18D99C5C02}" type="slidenum">
              <a:rPr lang="en-US" sz="1000" b="1" smtClean="0"/>
              <a:pPr>
                <a:defRPr/>
              </a:pPr>
              <a:t>‹#›</a:t>
            </a:fld>
            <a:endParaRPr lang="en-US" sz="800" b="1" dirty="0"/>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 id="2147483692" r:id="rId21"/>
    <p:sldLayoutId id="2147483693" r:id="rId22"/>
    <p:sldLayoutId id="2147483694" r:id="rId23"/>
  </p:sldLayoutIdLst>
  <p:hf sldNum="0" hdr="0" ftr="0" dt="0"/>
  <p:txStyles>
    <p:titleStyle>
      <a:lvl1pPr algn="l" rtl="0" fontAlgn="base">
        <a:spcBef>
          <a:spcPct val="0"/>
        </a:spcBef>
        <a:spcAft>
          <a:spcPct val="0"/>
        </a:spcAft>
        <a:defRPr sz="2800" kern="1200">
          <a:solidFill>
            <a:schemeClr val="tx1"/>
          </a:solidFill>
          <a:latin typeface="Gill Sans MT" pitchFamily="34" charset="0"/>
          <a:ea typeface="+mj-ea"/>
          <a:cs typeface="+mj-cs"/>
        </a:defRPr>
      </a:lvl1pPr>
      <a:lvl2pPr algn="l" rtl="0" fontAlgn="base">
        <a:spcBef>
          <a:spcPct val="0"/>
        </a:spcBef>
        <a:spcAft>
          <a:spcPct val="0"/>
        </a:spcAft>
        <a:defRPr sz="2800">
          <a:solidFill>
            <a:schemeClr val="tx1"/>
          </a:solidFill>
          <a:latin typeface="Gill Sans MT" pitchFamily="34" charset="0"/>
        </a:defRPr>
      </a:lvl2pPr>
      <a:lvl3pPr algn="l" rtl="0" fontAlgn="base">
        <a:spcBef>
          <a:spcPct val="0"/>
        </a:spcBef>
        <a:spcAft>
          <a:spcPct val="0"/>
        </a:spcAft>
        <a:defRPr sz="2800">
          <a:solidFill>
            <a:schemeClr val="tx1"/>
          </a:solidFill>
          <a:latin typeface="Gill Sans MT" pitchFamily="34" charset="0"/>
        </a:defRPr>
      </a:lvl3pPr>
      <a:lvl4pPr algn="l" rtl="0" fontAlgn="base">
        <a:spcBef>
          <a:spcPct val="0"/>
        </a:spcBef>
        <a:spcAft>
          <a:spcPct val="0"/>
        </a:spcAft>
        <a:defRPr sz="2800">
          <a:solidFill>
            <a:schemeClr val="tx1"/>
          </a:solidFill>
          <a:latin typeface="Gill Sans MT" pitchFamily="34" charset="0"/>
        </a:defRPr>
      </a:lvl4pPr>
      <a:lvl5pPr algn="l" rtl="0" fontAlgn="base">
        <a:spcBef>
          <a:spcPct val="0"/>
        </a:spcBef>
        <a:spcAft>
          <a:spcPct val="0"/>
        </a:spcAft>
        <a:defRPr sz="2800">
          <a:solidFill>
            <a:schemeClr val="tx1"/>
          </a:solidFill>
          <a:latin typeface="Gill Sans MT"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Wingdings" pitchFamily="2" charset="2"/>
        <a:buChar char="§"/>
        <a:defRPr sz="2000" kern="1200">
          <a:solidFill>
            <a:schemeClr val="tx1"/>
          </a:solidFill>
          <a:latin typeface="Gill Sans MT" pitchFamily="34" charset="0"/>
          <a:ea typeface="+mn-ea"/>
          <a:cs typeface="+mn-cs"/>
        </a:defRPr>
      </a:lvl1pPr>
      <a:lvl2pPr marL="742950" indent="-285750" algn="l" rtl="0" fontAlgn="base">
        <a:spcBef>
          <a:spcPct val="20000"/>
        </a:spcBef>
        <a:spcAft>
          <a:spcPct val="0"/>
        </a:spcAft>
        <a:buFont typeface="Gill Sans MT" pitchFamily="34" charset="0"/>
        <a:buChar char="–"/>
        <a:defRPr sz="2800" kern="1200">
          <a:solidFill>
            <a:schemeClr val="tx1"/>
          </a:solidFill>
          <a:latin typeface="Gill Sans MT" pitchFamily="34" charset="0"/>
          <a:ea typeface="+mn-ea"/>
          <a:cs typeface="+mn-cs"/>
        </a:defRPr>
      </a:lvl2pPr>
      <a:lvl3pPr marL="1143000" indent="-228600" algn="l" rtl="0" fontAlgn="base">
        <a:spcBef>
          <a:spcPct val="20000"/>
        </a:spcBef>
        <a:spcAft>
          <a:spcPct val="0"/>
        </a:spcAft>
        <a:buFont typeface="Arial" charset="0"/>
        <a:buChar char="•"/>
        <a:defRPr sz="1600" kern="1200">
          <a:solidFill>
            <a:schemeClr val="tx1"/>
          </a:solidFill>
          <a:latin typeface="Gill Sans MT" pitchFamily="34" charset="0"/>
          <a:ea typeface="+mn-ea"/>
          <a:cs typeface="+mn-cs"/>
        </a:defRPr>
      </a:lvl3pPr>
      <a:lvl4pPr marL="1600200" indent="-228600" algn="l" rtl="0" fontAlgn="base">
        <a:spcBef>
          <a:spcPct val="20000"/>
        </a:spcBef>
        <a:spcAft>
          <a:spcPct val="0"/>
        </a:spcAft>
        <a:buFont typeface="Arial" charset="0"/>
        <a:buChar char="-"/>
        <a:defRPr sz="1600" kern="1200">
          <a:solidFill>
            <a:schemeClr val="tx1"/>
          </a:solidFill>
          <a:latin typeface="Gill Sans MT" pitchFamily="34" charset="0"/>
          <a:ea typeface="+mn-ea"/>
          <a:cs typeface="+mn-cs"/>
        </a:defRPr>
      </a:lvl4pPr>
      <a:lvl5pPr marL="2057400" indent="-228600" algn="l" rtl="0" fontAlgn="base">
        <a:spcBef>
          <a:spcPct val="20000"/>
        </a:spcBef>
        <a:spcAft>
          <a:spcPct val="0"/>
        </a:spcAft>
        <a:buFont typeface="Arial" charset="0"/>
        <a:buChar char="»"/>
        <a:defRPr sz="1400" kern="1200">
          <a:solidFill>
            <a:schemeClr val="tx1"/>
          </a:solidFill>
          <a:latin typeface="Gill Sans MT"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8.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8.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8.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8.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8.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8.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8.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8.xml"/></Relationships>
</file>

<file path=ppt/slides/_rels/slide136.xml.rels><?xml version="1.0" encoding="UTF-8" standalone="yes"?>
<Relationships xmlns="http://schemas.openxmlformats.org/package/2006/relationships"><Relationship Id="rId3" Type="http://schemas.openxmlformats.org/officeDocument/2006/relationships/hyperlink" Target="http://www.tldp.org/LDP/tlk/kernel/processes.html" TargetMode="External"/><Relationship Id="rId2" Type="http://schemas.openxmlformats.org/officeDocument/2006/relationships/hyperlink" Target="http://www.csc.gatech.edu/~copeland/305500/pdf/ch02_computer_struct_notes.pdf" TargetMode="External"/><Relationship Id="rId1" Type="http://schemas.openxmlformats.org/officeDocument/2006/relationships/slideLayout" Target="../slideLayouts/slideLayout8.xml"/><Relationship Id="rId6" Type="http://schemas.openxmlformats.org/officeDocument/2006/relationships/hyperlink" Target="http://www.cse.buffalo.edu/~bina/cse421/fall2002/memoryOct15.ppt" TargetMode="External"/><Relationship Id="rId5" Type="http://schemas.openxmlformats.org/officeDocument/2006/relationships/hyperlink" Target="http://www.massey.ac.nz/~mjjohnso/notes/59305/mod8.html" TargetMode="External"/><Relationship Id="rId4" Type="http://schemas.openxmlformats.org/officeDocument/2006/relationships/hyperlink" Target="http://www.cse.sc.edu/~rose/311/ppt/ch08.ppt" TargetMode="External"/></Relationships>
</file>

<file path=ppt/slides/_rels/slide137.xml.rels><?xml version="1.0" encoding="UTF-8" standalone="yes"?>
<Relationships xmlns="http://schemas.openxmlformats.org/package/2006/relationships"><Relationship Id="rId3" Type="http://schemas.openxmlformats.org/officeDocument/2006/relationships/hyperlink" Target="http://www.cse.buffalo.edu/~bina/cse321/fall2009/UnixProcessesOct15.ppt" TargetMode="External"/><Relationship Id="rId2" Type="http://schemas.openxmlformats.org/officeDocument/2006/relationships/hyperlink" Target="http://www.cs.rochester.edu/~sandhya/csc256/lectures/lecture09-11-memory.pdf" TargetMode="External"/><Relationship Id="rId1" Type="http://schemas.openxmlformats.org/officeDocument/2006/relationships/slideLayout" Target="../slideLayouts/slideLayout8.xml"/><Relationship Id="rId5" Type="http://schemas.openxmlformats.org/officeDocument/2006/relationships/hyperlink" Target="http://digital.cs.usu.edu/~watson/cs3100/slides/Processes.ppt" TargetMode="External"/><Relationship Id="rId4" Type="http://schemas.openxmlformats.org/officeDocument/2006/relationships/hyperlink" Target="http://www.cs.gordon.edu/courses/cs312/lectures/mem_management.ppt" TargetMode="Externa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ctrTitle"/>
          </p:nvPr>
        </p:nvSpPr>
        <p:spPr>
          <a:xfrm>
            <a:off x="3429000" y="2133600"/>
            <a:ext cx="5715000" cy="1981200"/>
          </a:xfrm>
        </p:spPr>
        <p:txBody>
          <a:bodyPr/>
          <a:lstStyle/>
          <a:p>
            <a:r>
              <a:rPr lang="en-US" b="1" dirty="0" smtClean="0"/>
              <a:t>Operating Systems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6"/>
          <p:cNvSpPr>
            <a:spLocks noGrp="1"/>
          </p:cNvSpPr>
          <p:nvPr>
            <p:ph type="title"/>
          </p:nvPr>
        </p:nvSpPr>
        <p:spPr>
          <a:xfrm>
            <a:off x="0" y="0"/>
            <a:ext cx="7562850" cy="914400"/>
          </a:xfrm>
        </p:spPr>
        <p:txBody>
          <a:bodyPr/>
          <a:lstStyle/>
          <a:p>
            <a:r>
              <a:rPr lang="en-US" dirty="0" smtClean="0"/>
              <a:t>Agenda</a:t>
            </a:r>
          </a:p>
        </p:txBody>
      </p:sp>
      <p:sp>
        <p:nvSpPr>
          <p:cNvPr id="29698" name="Rectangle 128"/>
          <p:cNvSpPr>
            <a:spLocks noChangeArrowheads="1"/>
          </p:cNvSpPr>
          <p:nvPr/>
        </p:nvSpPr>
        <p:spPr bwMode="auto">
          <a:xfrm>
            <a:off x="762000" y="2743200"/>
            <a:ext cx="731838" cy="523875"/>
          </a:xfrm>
          <a:prstGeom prst="rect">
            <a:avLst/>
          </a:prstGeom>
          <a:solidFill>
            <a:srgbClr val="FF0000">
              <a:alpha val="59999"/>
            </a:srgbClr>
          </a:solidFill>
          <a:ln w="9525">
            <a:noFill/>
            <a:miter lim="800000"/>
            <a:headEnd/>
            <a:tailEnd/>
          </a:ln>
        </p:spPr>
        <p:txBody>
          <a:bodyPr wrap="none" anchor="ctr"/>
          <a:lstStyle/>
          <a:p>
            <a:pPr algn="ctr"/>
            <a:r>
              <a:rPr lang="en-US" sz="2400" b="1" dirty="0">
                <a:latin typeface="Gill Sans MT" pitchFamily="34" charset="0"/>
              </a:rPr>
              <a:t>3</a:t>
            </a:r>
          </a:p>
        </p:txBody>
      </p:sp>
      <p:sp>
        <p:nvSpPr>
          <p:cNvPr id="29699" name="Rectangle 129"/>
          <p:cNvSpPr>
            <a:spLocks noChangeArrowheads="1"/>
          </p:cNvSpPr>
          <p:nvPr/>
        </p:nvSpPr>
        <p:spPr bwMode="auto">
          <a:xfrm>
            <a:off x="762000" y="3321050"/>
            <a:ext cx="731838" cy="565150"/>
          </a:xfrm>
          <a:prstGeom prst="rect">
            <a:avLst/>
          </a:prstGeom>
          <a:solidFill>
            <a:srgbClr val="660066">
              <a:alpha val="59999"/>
            </a:srgbClr>
          </a:solidFill>
          <a:ln w="9525">
            <a:noFill/>
            <a:miter lim="800000"/>
            <a:headEnd/>
            <a:tailEnd/>
          </a:ln>
        </p:spPr>
        <p:txBody>
          <a:bodyPr wrap="none" anchor="ctr"/>
          <a:lstStyle/>
          <a:p>
            <a:pPr algn="ctr"/>
            <a:r>
              <a:rPr lang="en-US" sz="2400" b="1" dirty="0">
                <a:latin typeface="Gill Sans MT" pitchFamily="34" charset="0"/>
              </a:rPr>
              <a:t>4</a:t>
            </a:r>
          </a:p>
        </p:txBody>
      </p:sp>
      <p:sp>
        <p:nvSpPr>
          <p:cNvPr id="29700" name="Rectangle 135"/>
          <p:cNvSpPr>
            <a:spLocks noChangeArrowheads="1"/>
          </p:cNvSpPr>
          <p:nvPr/>
        </p:nvSpPr>
        <p:spPr bwMode="auto">
          <a:xfrm>
            <a:off x="1447800" y="3321050"/>
            <a:ext cx="6934200" cy="565150"/>
          </a:xfrm>
          <a:prstGeom prst="rect">
            <a:avLst/>
          </a:prstGeom>
          <a:solidFill>
            <a:srgbClr val="660066">
              <a:alpha val="39999"/>
            </a:srgbClr>
          </a:solidFill>
          <a:ln w="9525">
            <a:noFill/>
            <a:miter lim="800000"/>
            <a:headEnd/>
            <a:tailEnd/>
          </a:ln>
        </p:spPr>
        <p:txBody>
          <a:bodyPr wrap="none" anchor="ctr"/>
          <a:lstStyle/>
          <a:p>
            <a:r>
              <a:rPr lang="en-US" sz="2400" b="1" dirty="0">
                <a:latin typeface="Gill Sans MT" pitchFamily="34" charset="0"/>
              </a:rPr>
              <a:t>CPU Scheduling                                 	     </a:t>
            </a:r>
            <a:endParaRPr lang="en-US" sz="2000" b="1" dirty="0">
              <a:latin typeface="Gill Sans MT" pitchFamily="34" charset="0"/>
            </a:endParaRPr>
          </a:p>
        </p:txBody>
      </p:sp>
      <p:sp>
        <p:nvSpPr>
          <p:cNvPr id="29701" name="Rectangle 144"/>
          <p:cNvSpPr>
            <a:spLocks noChangeArrowheads="1"/>
          </p:cNvSpPr>
          <p:nvPr/>
        </p:nvSpPr>
        <p:spPr bwMode="auto">
          <a:xfrm>
            <a:off x="784225" y="1524000"/>
            <a:ext cx="706438" cy="565150"/>
          </a:xfrm>
          <a:prstGeom prst="rect">
            <a:avLst/>
          </a:prstGeom>
          <a:solidFill>
            <a:srgbClr val="33CC33">
              <a:alpha val="59999"/>
            </a:srgbClr>
          </a:solidFill>
          <a:ln w="9525" algn="ctr">
            <a:noFill/>
            <a:miter lim="800000"/>
            <a:headEnd/>
            <a:tailEnd/>
          </a:ln>
        </p:spPr>
        <p:txBody>
          <a:bodyPr wrap="none" anchor="ctr"/>
          <a:lstStyle/>
          <a:p>
            <a:pPr algn="ctr"/>
            <a:r>
              <a:rPr lang="en-US" sz="2400" b="1" dirty="0">
                <a:latin typeface="Gill Sans MT" pitchFamily="34" charset="0"/>
              </a:rPr>
              <a:t>1</a:t>
            </a:r>
          </a:p>
        </p:txBody>
      </p:sp>
      <p:sp>
        <p:nvSpPr>
          <p:cNvPr id="29702" name="Rectangle 146"/>
          <p:cNvSpPr>
            <a:spLocks noChangeArrowheads="1"/>
          </p:cNvSpPr>
          <p:nvPr/>
        </p:nvSpPr>
        <p:spPr bwMode="auto">
          <a:xfrm>
            <a:off x="1481138" y="1524000"/>
            <a:ext cx="6900862" cy="565150"/>
          </a:xfrm>
          <a:prstGeom prst="rect">
            <a:avLst/>
          </a:prstGeom>
          <a:solidFill>
            <a:srgbClr val="33CC33">
              <a:alpha val="39999"/>
            </a:srgbClr>
          </a:solidFill>
          <a:ln w="9525">
            <a:noFill/>
            <a:miter lim="800000"/>
            <a:headEnd/>
            <a:tailEnd/>
          </a:ln>
        </p:spPr>
        <p:txBody>
          <a:bodyPr wrap="none" anchor="ctr"/>
          <a:lstStyle/>
          <a:p>
            <a:r>
              <a:rPr lang="en-US" sz="2400" b="1" dirty="0">
                <a:latin typeface="Gill Sans MT" pitchFamily="34" charset="0"/>
              </a:rPr>
              <a:t>Introduction                                        	     </a:t>
            </a:r>
            <a:r>
              <a:rPr lang="en-US" sz="2000" b="1" dirty="0" smtClean="0">
                <a:latin typeface="Gill Sans MT" pitchFamily="34" charset="0"/>
              </a:rPr>
              <a:t> </a:t>
            </a:r>
            <a:endParaRPr lang="en-US" sz="2000" b="1" dirty="0">
              <a:latin typeface="Gill Sans MT" pitchFamily="34" charset="0"/>
            </a:endParaRPr>
          </a:p>
        </p:txBody>
      </p:sp>
      <p:sp>
        <p:nvSpPr>
          <p:cNvPr id="29703" name="Rectangle 155"/>
          <p:cNvSpPr>
            <a:spLocks noChangeArrowheads="1"/>
          </p:cNvSpPr>
          <p:nvPr/>
        </p:nvSpPr>
        <p:spPr bwMode="auto">
          <a:xfrm>
            <a:off x="744538" y="2133600"/>
            <a:ext cx="731837" cy="565150"/>
          </a:xfrm>
          <a:prstGeom prst="rect">
            <a:avLst/>
          </a:prstGeom>
          <a:solidFill>
            <a:srgbClr val="FFFF00">
              <a:alpha val="59999"/>
            </a:srgbClr>
          </a:solidFill>
          <a:ln w="9525">
            <a:noFill/>
            <a:miter lim="800000"/>
            <a:headEnd/>
            <a:tailEnd/>
          </a:ln>
        </p:spPr>
        <p:txBody>
          <a:bodyPr wrap="none" anchor="ctr"/>
          <a:lstStyle/>
          <a:p>
            <a:pPr algn="ctr"/>
            <a:r>
              <a:rPr lang="en-US" sz="2400" b="1" dirty="0">
                <a:latin typeface="Gill Sans MT" pitchFamily="34" charset="0"/>
              </a:rPr>
              <a:t>2</a:t>
            </a:r>
          </a:p>
        </p:txBody>
      </p:sp>
      <p:sp>
        <p:nvSpPr>
          <p:cNvPr id="29704" name="Rectangle 157"/>
          <p:cNvSpPr>
            <a:spLocks noChangeArrowheads="1"/>
          </p:cNvSpPr>
          <p:nvPr/>
        </p:nvSpPr>
        <p:spPr bwMode="auto">
          <a:xfrm>
            <a:off x="1447800" y="2133600"/>
            <a:ext cx="6934200" cy="565150"/>
          </a:xfrm>
          <a:prstGeom prst="rect">
            <a:avLst/>
          </a:prstGeom>
          <a:solidFill>
            <a:srgbClr val="FFFF00">
              <a:alpha val="39999"/>
            </a:srgbClr>
          </a:solidFill>
          <a:ln w="9525">
            <a:noFill/>
            <a:miter lim="800000"/>
            <a:headEnd/>
            <a:tailEnd/>
          </a:ln>
        </p:spPr>
        <p:txBody>
          <a:bodyPr wrap="none" anchor="ctr"/>
          <a:lstStyle/>
          <a:p>
            <a:r>
              <a:rPr lang="en-US" sz="2400" b="1" dirty="0">
                <a:latin typeface="Gill Sans MT" pitchFamily="34" charset="0"/>
              </a:rPr>
              <a:t>Functions of Operating Systems        	     </a:t>
            </a:r>
            <a:endParaRPr lang="en-US" sz="2000" b="1" dirty="0">
              <a:latin typeface="Gill Sans MT" pitchFamily="34" charset="0"/>
            </a:endParaRPr>
          </a:p>
        </p:txBody>
      </p:sp>
      <p:sp>
        <p:nvSpPr>
          <p:cNvPr id="29705" name="Rectangle 163"/>
          <p:cNvSpPr>
            <a:spLocks noChangeArrowheads="1"/>
          </p:cNvSpPr>
          <p:nvPr/>
        </p:nvSpPr>
        <p:spPr bwMode="auto">
          <a:xfrm>
            <a:off x="1447800" y="2743200"/>
            <a:ext cx="6934200" cy="523875"/>
          </a:xfrm>
          <a:prstGeom prst="rect">
            <a:avLst/>
          </a:prstGeom>
          <a:solidFill>
            <a:srgbClr val="FF0000">
              <a:alpha val="39999"/>
            </a:srgbClr>
          </a:solidFill>
          <a:ln w="9525">
            <a:noFill/>
            <a:miter lim="800000"/>
            <a:headEnd/>
            <a:tailEnd/>
          </a:ln>
        </p:spPr>
        <p:txBody>
          <a:bodyPr wrap="none" anchor="ctr"/>
          <a:lstStyle/>
          <a:p>
            <a:r>
              <a:rPr lang="en-US" sz="2400" b="1" dirty="0">
                <a:latin typeface="Gill Sans MT" pitchFamily="34" charset="0"/>
              </a:rPr>
              <a:t>Process Management                        	     </a:t>
            </a:r>
            <a:endParaRPr lang="en-US" sz="2000" b="1" dirty="0">
              <a:latin typeface="Gill Sans MT" pitchFamily="34" charset="0"/>
            </a:endParaRPr>
          </a:p>
        </p:txBody>
      </p:sp>
      <p:sp>
        <p:nvSpPr>
          <p:cNvPr id="29706" name="Rectangle 168"/>
          <p:cNvSpPr>
            <a:spLocks noChangeArrowheads="1"/>
          </p:cNvSpPr>
          <p:nvPr/>
        </p:nvSpPr>
        <p:spPr bwMode="auto">
          <a:xfrm>
            <a:off x="762000" y="3962400"/>
            <a:ext cx="731838" cy="523875"/>
          </a:xfrm>
          <a:prstGeom prst="rect">
            <a:avLst/>
          </a:prstGeom>
          <a:solidFill>
            <a:srgbClr val="0066FF">
              <a:alpha val="59999"/>
            </a:srgbClr>
          </a:solidFill>
          <a:ln w="9525">
            <a:noFill/>
            <a:miter lim="800000"/>
            <a:headEnd/>
            <a:tailEnd/>
          </a:ln>
        </p:spPr>
        <p:txBody>
          <a:bodyPr wrap="none" anchor="ctr"/>
          <a:lstStyle/>
          <a:p>
            <a:pPr algn="ctr"/>
            <a:r>
              <a:rPr lang="en-US" sz="2400" b="1" dirty="0">
                <a:latin typeface="Gill Sans MT" pitchFamily="34" charset="0"/>
              </a:rPr>
              <a:t>5</a:t>
            </a:r>
          </a:p>
        </p:txBody>
      </p:sp>
      <p:sp>
        <p:nvSpPr>
          <p:cNvPr id="29707" name="Rectangle 170"/>
          <p:cNvSpPr>
            <a:spLocks noChangeArrowheads="1"/>
          </p:cNvSpPr>
          <p:nvPr/>
        </p:nvSpPr>
        <p:spPr bwMode="auto">
          <a:xfrm>
            <a:off x="1447800" y="3962400"/>
            <a:ext cx="6934200" cy="523875"/>
          </a:xfrm>
          <a:prstGeom prst="rect">
            <a:avLst/>
          </a:prstGeom>
          <a:solidFill>
            <a:srgbClr val="0066FF">
              <a:alpha val="39999"/>
            </a:srgbClr>
          </a:solidFill>
          <a:ln w="9525">
            <a:noFill/>
            <a:miter lim="800000"/>
            <a:headEnd/>
            <a:tailEnd/>
          </a:ln>
        </p:spPr>
        <p:txBody>
          <a:bodyPr wrap="none" anchor="ctr"/>
          <a:lstStyle/>
          <a:p>
            <a:r>
              <a:rPr lang="en-US" sz="2400" b="1" dirty="0">
                <a:latin typeface="Gill Sans MT" pitchFamily="34" charset="0"/>
                <a:ea typeface="Arial Unicode MS" pitchFamily="34" charset="-128"/>
                <a:cs typeface="Arial Unicode MS" pitchFamily="34" charset="-128"/>
              </a:rPr>
              <a:t>File Management                               	     </a:t>
            </a:r>
            <a:endParaRPr lang="en-US" sz="2000" b="1" dirty="0">
              <a:latin typeface="Gill Sans MT" pitchFamily="34" charset="0"/>
              <a:ea typeface="Arial Unicode MS" pitchFamily="34" charset="-128"/>
              <a:cs typeface="Arial Unicode MS" pitchFamily="34" charset="-128"/>
            </a:endParaRPr>
          </a:p>
        </p:txBody>
      </p:sp>
      <p:sp>
        <p:nvSpPr>
          <p:cNvPr id="29708" name="Rectangle 144"/>
          <p:cNvSpPr>
            <a:spLocks noChangeArrowheads="1"/>
          </p:cNvSpPr>
          <p:nvPr/>
        </p:nvSpPr>
        <p:spPr bwMode="auto">
          <a:xfrm>
            <a:off x="762000" y="4572000"/>
            <a:ext cx="706438" cy="533400"/>
          </a:xfrm>
          <a:prstGeom prst="rect">
            <a:avLst/>
          </a:prstGeom>
          <a:solidFill>
            <a:srgbClr val="33CC33">
              <a:alpha val="59999"/>
            </a:srgbClr>
          </a:solidFill>
          <a:ln w="9525" algn="ctr">
            <a:noFill/>
            <a:miter lim="800000"/>
            <a:headEnd/>
            <a:tailEnd/>
          </a:ln>
        </p:spPr>
        <p:txBody>
          <a:bodyPr wrap="none" anchor="ctr"/>
          <a:lstStyle/>
          <a:p>
            <a:pPr algn="ctr"/>
            <a:r>
              <a:rPr lang="en-US" sz="2400" b="1" dirty="0">
                <a:latin typeface="Gill Sans MT" pitchFamily="34" charset="0"/>
              </a:rPr>
              <a:t>6</a:t>
            </a:r>
          </a:p>
        </p:txBody>
      </p:sp>
      <p:sp>
        <p:nvSpPr>
          <p:cNvPr id="29709" name="Rectangle 146"/>
          <p:cNvSpPr>
            <a:spLocks noChangeArrowheads="1"/>
          </p:cNvSpPr>
          <p:nvPr/>
        </p:nvSpPr>
        <p:spPr bwMode="auto">
          <a:xfrm>
            <a:off x="1447800" y="4572000"/>
            <a:ext cx="6934200" cy="533400"/>
          </a:xfrm>
          <a:prstGeom prst="rect">
            <a:avLst/>
          </a:prstGeom>
          <a:solidFill>
            <a:srgbClr val="33CC33">
              <a:alpha val="39999"/>
            </a:srgbClr>
          </a:solidFill>
          <a:ln w="9525">
            <a:noFill/>
            <a:miter lim="800000"/>
            <a:headEnd/>
            <a:tailEnd/>
          </a:ln>
        </p:spPr>
        <p:txBody>
          <a:bodyPr wrap="none" anchor="ctr"/>
          <a:lstStyle/>
          <a:p>
            <a:r>
              <a:rPr lang="en-US" sz="2400" b="1" dirty="0">
                <a:latin typeface="Gill Sans MT" pitchFamily="34" charset="0"/>
              </a:rPr>
              <a:t>Memory Management                       	     </a:t>
            </a:r>
            <a:endParaRPr lang="en-US" sz="2000" b="1" dirty="0">
              <a:latin typeface="Gill Sans MT" pitchFamily="34" charset="0"/>
            </a:endParaRPr>
          </a:p>
        </p:txBody>
      </p:sp>
      <p:sp>
        <p:nvSpPr>
          <p:cNvPr id="29710" name="Rectangle 155"/>
          <p:cNvSpPr>
            <a:spLocks noChangeArrowheads="1"/>
          </p:cNvSpPr>
          <p:nvPr/>
        </p:nvSpPr>
        <p:spPr bwMode="auto">
          <a:xfrm>
            <a:off x="762000" y="5149850"/>
            <a:ext cx="706438" cy="565150"/>
          </a:xfrm>
          <a:prstGeom prst="rect">
            <a:avLst/>
          </a:prstGeom>
          <a:solidFill>
            <a:srgbClr val="FFFF00">
              <a:alpha val="59999"/>
            </a:srgbClr>
          </a:solidFill>
          <a:ln w="9525">
            <a:noFill/>
            <a:miter lim="800000"/>
            <a:headEnd/>
            <a:tailEnd/>
          </a:ln>
        </p:spPr>
        <p:txBody>
          <a:bodyPr wrap="none" anchor="ctr"/>
          <a:lstStyle/>
          <a:p>
            <a:pPr algn="ctr"/>
            <a:r>
              <a:rPr lang="en-US" sz="2400" b="1" dirty="0">
                <a:latin typeface="Gill Sans MT" pitchFamily="34" charset="0"/>
              </a:rPr>
              <a:t>7</a:t>
            </a:r>
          </a:p>
        </p:txBody>
      </p:sp>
      <p:sp>
        <p:nvSpPr>
          <p:cNvPr id="29711" name="Rectangle 157"/>
          <p:cNvSpPr>
            <a:spLocks noChangeArrowheads="1"/>
          </p:cNvSpPr>
          <p:nvPr/>
        </p:nvSpPr>
        <p:spPr bwMode="auto">
          <a:xfrm>
            <a:off x="1447800" y="5149850"/>
            <a:ext cx="6934200" cy="565150"/>
          </a:xfrm>
          <a:prstGeom prst="rect">
            <a:avLst/>
          </a:prstGeom>
          <a:solidFill>
            <a:srgbClr val="FFFF00">
              <a:alpha val="39999"/>
            </a:srgbClr>
          </a:solidFill>
          <a:ln w="9525">
            <a:noFill/>
            <a:miter lim="800000"/>
            <a:headEnd/>
            <a:tailEnd/>
          </a:ln>
        </p:spPr>
        <p:txBody>
          <a:bodyPr wrap="none" anchor="ctr"/>
          <a:lstStyle/>
          <a:p>
            <a:r>
              <a:rPr lang="en-US" sz="2400" b="1" dirty="0">
                <a:latin typeface="Gill Sans MT" pitchFamily="34" charset="0"/>
              </a:rPr>
              <a:t>Memory Management (Advanced)       	     </a:t>
            </a:r>
            <a:endParaRPr lang="en-US" sz="2000" b="1" dirty="0">
              <a:latin typeface="Gill Sans MT"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9"/>
          <p:cNvSpPr>
            <a:spLocks noGrp="1"/>
          </p:cNvSpPr>
          <p:nvPr>
            <p:ph type="title"/>
          </p:nvPr>
        </p:nvSpPr>
        <p:spPr>
          <a:xfrm>
            <a:off x="4191000" y="3517900"/>
            <a:ext cx="4800600" cy="1362075"/>
          </a:xfrm>
        </p:spPr>
        <p:txBody>
          <a:bodyPr/>
          <a:lstStyle/>
          <a:p>
            <a:r>
              <a:rPr lang="en-US" dirty="0" smtClean="0"/>
              <a:t>Introduction</a:t>
            </a:r>
            <a:r>
              <a:rPr lang="en-US" sz="3200" dirty="0" smtClean="0"/>
              <a:t/>
            </a:r>
            <a:br>
              <a:rPr lang="en-US" sz="3200" dirty="0" smtClean="0"/>
            </a:br>
            <a:r>
              <a:rPr lang="en-US" sz="3200" dirty="0" smtClean="0"/>
              <a:t> </a:t>
            </a:r>
            <a:r>
              <a:rPr lang="en-US" sz="2400" b="0" dirty="0" smtClean="0">
                <a:solidFill>
                  <a:schemeClr val="tx1">
                    <a:lumMod val="50000"/>
                    <a:lumOff val="50000"/>
                  </a:schemeClr>
                </a:solidFill>
              </a:rPr>
              <a:t>Module 1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Content Placeholder 1"/>
          <p:cNvSpPr>
            <a:spLocks noGrp="1"/>
          </p:cNvSpPr>
          <p:nvPr>
            <p:ph idx="1"/>
          </p:nvPr>
        </p:nvSpPr>
        <p:spPr>
          <a:xfrm>
            <a:off x="457200" y="1371600"/>
            <a:ext cx="8153400" cy="4876800"/>
          </a:xfrm>
        </p:spPr>
        <p:txBody>
          <a:bodyPr/>
          <a:lstStyle/>
          <a:p>
            <a:pPr>
              <a:buFont typeface="Wingdings" pitchFamily="2" charset="2"/>
              <a:buNone/>
            </a:pPr>
            <a:r>
              <a:rPr lang="en-US" sz="2400" dirty="0" smtClean="0"/>
              <a:t>At the end of this module, you will be able to:</a:t>
            </a:r>
          </a:p>
          <a:p>
            <a:pPr>
              <a:buFont typeface="Wingdings" pitchFamily="2" charset="2"/>
              <a:buNone/>
            </a:pPr>
            <a:endParaRPr lang="en-US" sz="2400" dirty="0" smtClean="0"/>
          </a:p>
          <a:p>
            <a:pPr lvl="1">
              <a:buFont typeface="Wingdings" pitchFamily="2" charset="2"/>
              <a:buChar char="§"/>
            </a:pPr>
            <a:r>
              <a:rPr lang="en-GB" sz="2400" dirty="0" smtClean="0"/>
              <a:t>Recognize the need of Operating Systems</a:t>
            </a:r>
          </a:p>
          <a:p>
            <a:pPr lvl="1">
              <a:buFont typeface="Wingdings" pitchFamily="2" charset="2"/>
              <a:buChar char="§"/>
            </a:pPr>
            <a:r>
              <a:rPr lang="en-GB" sz="2400" dirty="0" smtClean="0"/>
              <a:t>Identify Computer System Components</a:t>
            </a:r>
          </a:p>
          <a:p>
            <a:pPr lvl="1">
              <a:buFont typeface="Wingdings" pitchFamily="2" charset="2"/>
              <a:buChar char="§"/>
            </a:pPr>
            <a:r>
              <a:rPr lang="en-GB" sz="2400" dirty="0" smtClean="0"/>
              <a:t>Recognize Functions of Operating Systems </a:t>
            </a:r>
          </a:p>
          <a:p>
            <a:pPr lvl="1">
              <a:buFont typeface="Wingdings" pitchFamily="2" charset="2"/>
              <a:buChar char="§"/>
            </a:pPr>
            <a:r>
              <a:rPr lang="en-GB" sz="2400" dirty="0" smtClean="0"/>
              <a:t>Explain various types of Operating System </a:t>
            </a:r>
          </a:p>
          <a:p>
            <a:pPr lvl="1">
              <a:buFont typeface="Wingdings" pitchFamily="2" charset="2"/>
              <a:buChar char="§"/>
            </a:pPr>
            <a:endParaRPr lang="en-US" dirty="0" smtClean="0"/>
          </a:p>
        </p:txBody>
      </p:sp>
      <p:sp>
        <p:nvSpPr>
          <p:cNvPr id="33794" name="Title 2"/>
          <p:cNvSpPr>
            <a:spLocks noGrp="1"/>
          </p:cNvSpPr>
          <p:nvPr>
            <p:ph type="title"/>
          </p:nvPr>
        </p:nvSpPr>
        <p:spPr>
          <a:xfrm>
            <a:off x="3175" y="0"/>
            <a:ext cx="7564438" cy="914400"/>
          </a:xfrm>
        </p:spPr>
        <p:txBody>
          <a:bodyPr/>
          <a:lstStyle/>
          <a:p>
            <a:r>
              <a:rPr lang="en-US" dirty="0" smtClean="0"/>
              <a:t>Objectives</a:t>
            </a:r>
          </a:p>
        </p:txBody>
      </p:sp>
      <p:sp>
        <p:nvSpPr>
          <p:cNvPr id="33795" name="Text Placeholder 8"/>
          <p:cNvSpPr txBox="1">
            <a:spLocks/>
          </p:cNvSpPr>
          <p:nvPr/>
        </p:nvSpPr>
        <p:spPr bwMode="auto">
          <a:xfrm>
            <a:off x="4038600" y="6248400"/>
            <a:ext cx="5105400" cy="457200"/>
          </a:xfrm>
          <a:prstGeom prst="rect">
            <a:avLst/>
          </a:prstGeom>
          <a:noFill/>
          <a:ln w="9525" algn="ctr">
            <a:noFill/>
            <a:miter lim="800000"/>
            <a:headEnd/>
            <a:tailEnd/>
          </a:ln>
        </p:spPr>
        <p:txBody>
          <a:bodyPr/>
          <a:lstStyle/>
          <a:p>
            <a:pPr marL="342900" indent="-342900" algn="r">
              <a:spcBef>
                <a:spcPct val="20000"/>
              </a:spcBef>
              <a:buFont typeface="Wingdings" pitchFamily="2" charset="2"/>
              <a:buNone/>
            </a:pPr>
            <a:r>
              <a:rPr lang="en-GB" dirty="0">
                <a:solidFill>
                  <a:srgbClr val="7F7F7F"/>
                </a:solidFill>
              </a:rPr>
              <a:t>Duration: 1 hr</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0" y="304800"/>
            <a:ext cx="7564438" cy="914400"/>
          </a:xfrm>
        </p:spPr>
        <p:txBody>
          <a:bodyPr anchor="t"/>
          <a:lstStyle/>
          <a:p>
            <a:pPr algn="just"/>
            <a:r>
              <a:rPr lang="en-US" dirty="0" smtClean="0"/>
              <a:t>Conceptual View of System Components</a:t>
            </a:r>
          </a:p>
        </p:txBody>
      </p:sp>
      <p:pic>
        <p:nvPicPr>
          <p:cNvPr id="35842" name="Picture 20"/>
          <p:cNvPicPr>
            <a:picLocks noChangeAspect="1" noChangeArrowheads="1"/>
          </p:cNvPicPr>
          <p:nvPr/>
        </p:nvPicPr>
        <p:blipFill>
          <a:blip r:embed="rId3" cstate="print"/>
          <a:srcRect l="6995" t="7478" r="7574" b="5096"/>
          <a:stretch>
            <a:fillRect/>
          </a:stretch>
        </p:blipFill>
        <p:spPr bwMode="auto">
          <a:xfrm>
            <a:off x="609600" y="1371600"/>
            <a:ext cx="7772400" cy="4848225"/>
          </a:xfrm>
          <a:prstGeom prst="rect">
            <a:avLst/>
          </a:prstGeom>
          <a:noFill/>
          <a:ln w="57150" cmpd="thickThin">
            <a:solidFill>
              <a:schemeClr val="tx1"/>
            </a:solidFill>
            <a:miter lim="800000"/>
            <a:headEnd/>
            <a:tailEnd/>
          </a:ln>
        </p:spPr>
      </p:pic>
      <p:sp>
        <p:nvSpPr>
          <p:cNvPr id="4" name="TextBox 3"/>
          <p:cNvSpPr txBox="1"/>
          <p:nvPr/>
        </p:nvSpPr>
        <p:spPr bwMode="auto">
          <a:xfrm>
            <a:off x="2819400" y="6477000"/>
            <a:ext cx="5410200" cy="400050"/>
          </a:xfrm>
          <a:prstGeom prst="rect">
            <a:avLst/>
          </a:prstGeom>
          <a:noFill/>
          <a:ln w="9525">
            <a:noFill/>
            <a:miter lim="800000"/>
            <a:headEnd/>
            <a:tailEnd/>
          </a:ln>
        </p:spPr>
        <p:txBody>
          <a:bodyPr>
            <a:spAutoFit/>
          </a:bodyPr>
          <a:lstStyle/>
          <a:p>
            <a:pPr algn="r" eaLnBrk="0" hangingPunct="0">
              <a:spcBef>
                <a:spcPct val="20000"/>
              </a:spcBef>
              <a:buFont typeface="Arial" charset="0"/>
              <a:buNone/>
              <a:defRPr/>
            </a:pPr>
            <a:endParaRPr lang="en-US" sz="2000" dirty="0">
              <a:solidFill>
                <a:schemeClr val="tx1">
                  <a:tint val="75000"/>
                </a:schemeClr>
              </a:solidFill>
              <a:latin typeface="Gill Sans MT"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p:txBody>
          <a:bodyPr/>
          <a:lstStyle/>
          <a:p>
            <a:pPr marL="457200" indent="-457200">
              <a:defRPr/>
            </a:pPr>
            <a:r>
              <a:rPr lang="en-US" dirty="0" smtClean="0"/>
              <a:t>Hardware </a:t>
            </a:r>
          </a:p>
          <a:p>
            <a:pPr marL="457200" indent="-457200">
              <a:buFont typeface="Wingdings" pitchFamily="2" charset="2"/>
              <a:buNone/>
              <a:defRPr/>
            </a:pPr>
            <a:r>
              <a:rPr lang="en-US" sz="1800" dirty="0" smtClean="0"/>
              <a:t>        – provides basic computing resources (CPU, memory, I/O devices)</a:t>
            </a:r>
          </a:p>
          <a:p>
            <a:pPr>
              <a:buFont typeface="Arial" pitchFamily="34" charset="0"/>
              <a:buChar char="•"/>
              <a:defRPr/>
            </a:pPr>
            <a:endParaRPr lang="en-US" dirty="0" smtClean="0"/>
          </a:p>
          <a:p>
            <a:pPr>
              <a:defRPr/>
            </a:pPr>
            <a:r>
              <a:rPr lang="en-US" dirty="0" smtClean="0"/>
              <a:t>Operating system </a:t>
            </a:r>
          </a:p>
          <a:p>
            <a:pPr>
              <a:buFont typeface="Wingdings" pitchFamily="2" charset="2"/>
              <a:buNone/>
              <a:defRPr/>
            </a:pPr>
            <a:r>
              <a:rPr lang="en-US" sz="1800" dirty="0" smtClean="0"/>
              <a:t>        – controls and manage the use of hardware among the various application programs for the various users</a:t>
            </a:r>
          </a:p>
          <a:p>
            <a:pPr>
              <a:buFont typeface="Arial" pitchFamily="34" charset="0"/>
              <a:buChar char="•"/>
              <a:defRPr/>
            </a:pPr>
            <a:endParaRPr lang="en-US" dirty="0" smtClean="0"/>
          </a:p>
          <a:p>
            <a:pPr>
              <a:buFont typeface="Arial" pitchFamily="34" charset="0"/>
              <a:buChar char="•"/>
              <a:defRPr/>
            </a:pPr>
            <a:r>
              <a:rPr lang="en-US" dirty="0" smtClean="0"/>
              <a:t>Applications programs</a:t>
            </a:r>
          </a:p>
          <a:p>
            <a:pPr>
              <a:buFont typeface="Wingdings" pitchFamily="2" charset="2"/>
              <a:buNone/>
              <a:defRPr/>
            </a:pPr>
            <a:r>
              <a:rPr lang="en-US" sz="1800" dirty="0" smtClean="0"/>
              <a:t>       – define the ways in which the system resources are used to solve the computing problems of the users (video games ,compilers, database systems,, business programs)</a:t>
            </a:r>
          </a:p>
          <a:p>
            <a:pPr>
              <a:buFont typeface="Arial" pitchFamily="34" charset="0"/>
              <a:buChar char="•"/>
              <a:defRPr/>
            </a:pPr>
            <a:endParaRPr lang="en-US" dirty="0" smtClean="0"/>
          </a:p>
          <a:p>
            <a:pPr>
              <a:defRPr/>
            </a:pPr>
            <a:r>
              <a:rPr lang="en-US" dirty="0" smtClean="0"/>
              <a:t>Users (computers, machines, people)</a:t>
            </a:r>
          </a:p>
        </p:txBody>
      </p:sp>
      <p:sp>
        <p:nvSpPr>
          <p:cNvPr id="37890" name="Rectangle 2"/>
          <p:cNvSpPr>
            <a:spLocks noGrp="1" noChangeArrowheads="1"/>
          </p:cNvSpPr>
          <p:nvPr>
            <p:ph type="title"/>
          </p:nvPr>
        </p:nvSpPr>
        <p:spPr>
          <a:xfrm>
            <a:off x="0" y="228600"/>
            <a:ext cx="7564438" cy="914400"/>
          </a:xfrm>
        </p:spPr>
        <p:txBody>
          <a:bodyPr anchor="t"/>
          <a:lstStyle/>
          <a:p>
            <a:pPr algn="just"/>
            <a:r>
              <a:rPr lang="en-US" dirty="0" smtClean="0"/>
              <a:t>Computer System Components</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p:cNvSpPr>
            <a:spLocks noGrp="1" noChangeArrowheads="1"/>
          </p:cNvSpPr>
          <p:nvPr>
            <p:ph idx="1"/>
          </p:nvPr>
        </p:nvSpPr>
        <p:spPr/>
        <p:txBody>
          <a:bodyPr/>
          <a:lstStyle/>
          <a:p>
            <a:pPr algn="just"/>
            <a:r>
              <a:rPr lang="en-US" dirty="0" smtClean="0"/>
              <a:t>A program that acts as an intermediary between a user of a computer and the hardware</a:t>
            </a:r>
          </a:p>
          <a:p>
            <a:pPr algn="just"/>
            <a:endParaRPr lang="en-US" dirty="0" smtClean="0"/>
          </a:p>
          <a:p>
            <a:pPr algn="just"/>
            <a:r>
              <a:rPr lang="en-US" dirty="0" smtClean="0"/>
              <a:t>Operating system goals:</a:t>
            </a:r>
          </a:p>
          <a:p>
            <a:pPr lvl="1" algn="just"/>
            <a:r>
              <a:rPr lang="en-US" dirty="0" smtClean="0"/>
              <a:t>Execute user programs and assist user to solve problems </a:t>
            </a:r>
          </a:p>
          <a:p>
            <a:pPr lvl="1" algn="just"/>
            <a:r>
              <a:rPr lang="en-US" dirty="0" smtClean="0"/>
              <a:t>Make the computer system easy to use</a:t>
            </a:r>
          </a:p>
          <a:p>
            <a:pPr lvl="1"/>
            <a:r>
              <a:rPr lang="en-US" dirty="0" smtClean="0"/>
              <a:t>Use the computer hardware in an proficient manner</a:t>
            </a:r>
          </a:p>
          <a:p>
            <a:pPr lvl="1"/>
            <a:r>
              <a:rPr lang="en-US" dirty="0" smtClean="0"/>
              <a:t>Provides information protection</a:t>
            </a:r>
          </a:p>
          <a:p>
            <a:pPr lvl="1"/>
            <a:r>
              <a:rPr lang="en-US" dirty="0" smtClean="0"/>
              <a:t>Gives each user a slice of the resources</a:t>
            </a:r>
          </a:p>
        </p:txBody>
      </p:sp>
      <p:sp>
        <p:nvSpPr>
          <p:cNvPr id="39938" name="Rectangle 2"/>
          <p:cNvSpPr>
            <a:spLocks noGrp="1" noChangeArrowheads="1"/>
          </p:cNvSpPr>
          <p:nvPr>
            <p:ph type="title"/>
          </p:nvPr>
        </p:nvSpPr>
        <p:spPr>
          <a:xfrm>
            <a:off x="0" y="304800"/>
            <a:ext cx="7564438" cy="914400"/>
          </a:xfrm>
        </p:spPr>
        <p:txBody>
          <a:bodyPr anchor="t"/>
          <a:lstStyle/>
          <a:p>
            <a:pPr algn="just"/>
            <a:r>
              <a:rPr lang="en-US" dirty="0" smtClean="0"/>
              <a:t>Goals of Operating System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3"/>
          <p:cNvSpPr>
            <a:spLocks noGrp="1" noChangeArrowheads="1"/>
          </p:cNvSpPr>
          <p:nvPr>
            <p:ph idx="1"/>
          </p:nvPr>
        </p:nvSpPr>
        <p:spPr/>
        <p:txBody>
          <a:bodyPr/>
          <a:lstStyle/>
          <a:p>
            <a:r>
              <a:rPr lang="en-US" dirty="0" smtClean="0"/>
              <a:t>Resource allocator </a:t>
            </a:r>
          </a:p>
          <a:p>
            <a:pPr>
              <a:buFont typeface="Wingdings" pitchFamily="2" charset="2"/>
              <a:buNone/>
            </a:pPr>
            <a:r>
              <a:rPr lang="en-US" sz="1800" dirty="0" smtClean="0"/>
              <a:t>      – manages and allocates resources</a:t>
            </a:r>
          </a:p>
          <a:p>
            <a:endParaRPr lang="en-US" dirty="0" smtClean="0"/>
          </a:p>
          <a:p>
            <a:r>
              <a:rPr lang="en-US" dirty="0" smtClean="0"/>
              <a:t>Control program</a:t>
            </a:r>
          </a:p>
          <a:p>
            <a:pPr>
              <a:buFont typeface="Wingdings" pitchFamily="2" charset="2"/>
              <a:buNone/>
            </a:pPr>
            <a:r>
              <a:rPr lang="en-US" sz="1800" dirty="0" smtClean="0"/>
              <a:t>     – controls the execution of user programs and operations of I/O devices </a:t>
            </a:r>
          </a:p>
          <a:p>
            <a:endParaRPr lang="en-US" dirty="0" smtClean="0"/>
          </a:p>
          <a:p>
            <a:r>
              <a:rPr lang="en-US" dirty="0" smtClean="0"/>
              <a:t>Kernel </a:t>
            </a:r>
          </a:p>
          <a:p>
            <a:pPr>
              <a:buFont typeface="Wingdings" pitchFamily="2" charset="2"/>
              <a:buNone/>
            </a:pPr>
            <a:r>
              <a:rPr lang="en-US" sz="1800" dirty="0" smtClean="0"/>
              <a:t>    – the one program running at all times (all else being application programs)</a:t>
            </a:r>
          </a:p>
        </p:txBody>
      </p:sp>
      <p:sp>
        <p:nvSpPr>
          <p:cNvPr id="41986" name="Rectangle 2"/>
          <p:cNvSpPr>
            <a:spLocks noGrp="1" noChangeArrowheads="1"/>
          </p:cNvSpPr>
          <p:nvPr>
            <p:ph type="title"/>
          </p:nvPr>
        </p:nvSpPr>
        <p:spPr>
          <a:xfrm>
            <a:off x="0" y="228600"/>
            <a:ext cx="7564438" cy="914400"/>
          </a:xfrm>
        </p:spPr>
        <p:txBody>
          <a:bodyPr anchor="t"/>
          <a:lstStyle/>
          <a:p>
            <a:pPr algn="just"/>
            <a:r>
              <a:rPr lang="en-US" dirty="0" smtClean="0"/>
              <a:t>Functions of Operating Systems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3"/>
          <p:cNvSpPr>
            <a:spLocks noGrp="1" noChangeArrowheads="1"/>
          </p:cNvSpPr>
          <p:nvPr>
            <p:ph idx="1"/>
          </p:nvPr>
        </p:nvSpPr>
        <p:spPr/>
        <p:txBody>
          <a:bodyPr/>
          <a:lstStyle/>
          <a:p>
            <a:r>
              <a:rPr lang="en-US" dirty="0" smtClean="0"/>
              <a:t>General Purpose Operating System (GPOS)</a:t>
            </a:r>
          </a:p>
          <a:p>
            <a:pPr lvl="1"/>
            <a:r>
              <a:rPr lang="en-US" dirty="0" smtClean="0"/>
              <a:t>Desktop System</a:t>
            </a:r>
          </a:p>
          <a:p>
            <a:endParaRPr lang="en-US" sz="2400" dirty="0" smtClean="0"/>
          </a:p>
          <a:p>
            <a:r>
              <a:rPr lang="en-US" dirty="0" smtClean="0"/>
              <a:t>Real-Time Operating System (RTOS) </a:t>
            </a:r>
          </a:p>
          <a:p>
            <a:pPr lvl="1"/>
            <a:r>
              <a:rPr lang="en-US" dirty="0" smtClean="0"/>
              <a:t>Time sharing Operating Systems</a:t>
            </a:r>
          </a:p>
          <a:p>
            <a:pPr>
              <a:buFont typeface="Wingdings" pitchFamily="2" charset="2"/>
              <a:buNone/>
            </a:pPr>
            <a:endParaRPr lang="en-US" sz="1600" dirty="0" smtClean="0"/>
          </a:p>
        </p:txBody>
      </p:sp>
      <p:sp>
        <p:nvSpPr>
          <p:cNvPr id="44034" name="Rectangle 2"/>
          <p:cNvSpPr>
            <a:spLocks noGrp="1" noChangeArrowheads="1"/>
          </p:cNvSpPr>
          <p:nvPr>
            <p:ph type="title"/>
          </p:nvPr>
        </p:nvSpPr>
        <p:spPr>
          <a:xfrm>
            <a:off x="0" y="152400"/>
            <a:ext cx="7564438" cy="914400"/>
          </a:xfrm>
        </p:spPr>
        <p:txBody>
          <a:bodyPr/>
          <a:lstStyle/>
          <a:p>
            <a:pPr algn="just"/>
            <a:r>
              <a:rPr lang="en-US" dirty="0" smtClean="0"/>
              <a:t>Types of OS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3"/>
          <p:cNvSpPr>
            <a:spLocks noGrp="1" noChangeArrowheads="1"/>
          </p:cNvSpPr>
          <p:nvPr>
            <p:ph idx="1"/>
          </p:nvPr>
        </p:nvSpPr>
        <p:spPr/>
        <p:txBody>
          <a:bodyPr/>
          <a:lstStyle/>
          <a:p>
            <a:pPr algn="just"/>
            <a:r>
              <a:rPr lang="en-US" dirty="0" smtClean="0"/>
              <a:t>The CPU is multiplexed among several jobs that are kept in memory and on disk.</a:t>
            </a:r>
          </a:p>
          <a:p>
            <a:pPr algn="just"/>
            <a:endParaRPr lang="en-US" dirty="0" smtClean="0"/>
          </a:p>
          <a:p>
            <a:pPr algn="just"/>
            <a:r>
              <a:rPr lang="en-US" dirty="0" smtClean="0"/>
              <a:t>A job swapped in and out of memory to the disk.</a:t>
            </a:r>
          </a:p>
          <a:p>
            <a:pPr algn="just"/>
            <a:endParaRPr lang="en-US" dirty="0" smtClean="0"/>
          </a:p>
          <a:p>
            <a:pPr algn="just"/>
            <a:r>
              <a:rPr lang="en-US" dirty="0" smtClean="0"/>
              <a:t>On-line communication between the user and the system is provided; when the operating system finishes the execution of one command, it seeks the next  command from the user.</a:t>
            </a:r>
          </a:p>
          <a:p>
            <a:endParaRPr lang="en-US" dirty="0" smtClean="0"/>
          </a:p>
        </p:txBody>
      </p:sp>
      <p:sp>
        <p:nvSpPr>
          <p:cNvPr id="46082" name="Rectangle 2"/>
          <p:cNvSpPr>
            <a:spLocks noGrp="1" noChangeArrowheads="1"/>
          </p:cNvSpPr>
          <p:nvPr>
            <p:ph type="title"/>
          </p:nvPr>
        </p:nvSpPr>
        <p:spPr>
          <a:xfrm>
            <a:off x="0" y="228600"/>
            <a:ext cx="7564438" cy="914400"/>
          </a:xfrm>
        </p:spPr>
        <p:txBody>
          <a:bodyPr anchor="t"/>
          <a:lstStyle/>
          <a:p>
            <a:r>
              <a:rPr lang="en-US" sz="2800" dirty="0" smtClean="0"/>
              <a:t>Time-Sharing Systems –Interactive Computing </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3"/>
          <p:cNvSpPr>
            <a:spLocks noGrp="1" noChangeArrowheads="1"/>
          </p:cNvSpPr>
          <p:nvPr>
            <p:ph idx="1"/>
          </p:nvPr>
        </p:nvSpPr>
        <p:spPr>
          <a:xfrm>
            <a:off x="381000" y="1143000"/>
            <a:ext cx="8229600" cy="5029200"/>
          </a:xfrm>
        </p:spPr>
        <p:txBody>
          <a:bodyPr/>
          <a:lstStyle/>
          <a:p>
            <a:r>
              <a:rPr lang="en-US" dirty="0" smtClean="0"/>
              <a:t>Personal computers </a:t>
            </a:r>
          </a:p>
          <a:p>
            <a:pPr>
              <a:buFont typeface="Wingdings" pitchFamily="2" charset="2"/>
              <a:buNone/>
            </a:pPr>
            <a:r>
              <a:rPr lang="en-US" sz="1800" dirty="0" smtClean="0"/>
              <a:t>     – computer system dedicated to a single user</a:t>
            </a:r>
          </a:p>
          <a:p>
            <a:endParaRPr lang="en-US" dirty="0" smtClean="0"/>
          </a:p>
          <a:p>
            <a:r>
              <a:rPr lang="en-US" dirty="0" smtClean="0"/>
              <a:t>Input/output devices </a:t>
            </a:r>
          </a:p>
          <a:p>
            <a:pPr>
              <a:buFont typeface="Wingdings" pitchFamily="2" charset="2"/>
              <a:buNone/>
            </a:pPr>
            <a:r>
              <a:rPr lang="en-US" sz="1800" dirty="0" smtClean="0"/>
              <a:t>    – keyboards, display screens, printers</a:t>
            </a:r>
          </a:p>
          <a:p>
            <a:endParaRPr lang="en-US" dirty="0" smtClean="0"/>
          </a:p>
          <a:p>
            <a:r>
              <a:rPr lang="en-US" dirty="0" smtClean="0"/>
              <a:t>User convenience and responsiveness</a:t>
            </a:r>
          </a:p>
          <a:p>
            <a:pPr algn="just"/>
            <a:endParaRPr lang="en-US" dirty="0" smtClean="0"/>
          </a:p>
          <a:p>
            <a:pPr algn="just"/>
            <a:r>
              <a:rPr lang="en-US" dirty="0" smtClean="0"/>
              <a:t>Can adopt technology developed for larger operating system often individuals have sole use of computer and do not need high-end CPU utilization of protection features.</a:t>
            </a:r>
          </a:p>
          <a:p>
            <a:pPr algn="just"/>
            <a:endParaRPr lang="en-US" dirty="0" smtClean="0"/>
          </a:p>
          <a:p>
            <a:pPr algn="just"/>
            <a:r>
              <a:rPr lang="en-US" dirty="0" smtClean="0"/>
              <a:t>May run several different types of operating systems (Windows, Mac OS, UNIX, Linux)</a:t>
            </a:r>
          </a:p>
        </p:txBody>
      </p:sp>
      <p:sp>
        <p:nvSpPr>
          <p:cNvPr id="48130" name="Rectangle 2"/>
          <p:cNvSpPr>
            <a:spLocks noGrp="1" noChangeArrowheads="1"/>
          </p:cNvSpPr>
          <p:nvPr>
            <p:ph type="title"/>
          </p:nvPr>
        </p:nvSpPr>
        <p:spPr>
          <a:xfrm>
            <a:off x="0" y="228600"/>
            <a:ext cx="7564438" cy="914400"/>
          </a:xfrm>
        </p:spPr>
        <p:txBody>
          <a:bodyPr anchor="t"/>
          <a:lstStyle/>
          <a:p>
            <a:r>
              <a:rPr lang="en-US" dirty="0" smtClean="0"/>
              <a:t>Desktop Systems</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3"/>
          <p:cNvSpPr>
            <a:spLocks noGrp="1" noChangeArrowheads="1"/>
          </p:cNvSpPr>
          <p:nvPr>
            <p:ph idx="1"/>
          </p:nvPr>
        </p:nvSpPr>
        <p:spPr/>
        <p:txBody>
          <a:bodyPr/>
          <a:lstStyle/>
          <a:p>
            <a:r>
              <a:rPr lang="en-US" dirty="0" smtClean="0"/>
              <a:t>Often used as a control device in a dedicated application</a:t>
            </a:r>
          </a:p>
          <a:p>
            <a:pPr lvl="1"/>
            <a:r>
              <a:rPr lang="en-US" dirty="0" smtClean="0"/>
              <a:t>controlling scientific experiments</a:t>
            </a:r>
          </a:p>
          <a:p>
            <a:pPr lvl="1"/>
            <a:r>
              <a:rPr lang="en-US" dirty="0" smtClean="0"/>
              <a:t>medical imaging systems,</a:t>
            </a:r>
          </a:p>
          <a:p>
            <a:pPr lvl="1"/>
            <a:r>
              <a:rPr lang="en-US" dirty="0" smtClean="0"/>
              <a:t>industrial control systems</a:t>
            </a:r>
          </a:p>
          <a:p>
            <a:pPr lvl="1"/>
            <a:r>
              <a:rPr lang="en-US" dirty="0" smtClean="0"/>
              <a:t>few display systems</a:t>
            </a:r>
          </a:p>
          <a:p>
            <a:endParaRPr lang="en-US" dirty="0" smtClean="0"/>
          </a:p>
          <a:p>
            <a:r>
              <a:rPr lang="en-US" dirty="0" smtClean="0"/>
              <a:t>Well-defined fixed-time constraints</a:t>
            </a:r>
          </a:p>
          <a:p>
            <a:endParaRPr lang="en-US" dirty="0" smtClean="0"/>
          </a:p>
          <a:p>
            <a:r>
              <a:rPr lang="en-US" dirty="0" smtClean="0"/>
              <a:t>Real-Time systems may be either hard or soft real-time</a:t>
            </a:r>
          </a:p>
        </p:txBody>
      </p:sp>
      <p:sp>
        <p:nvSpPr>
          <p:cNvPr id="50178" name="Rectangle 2"/>
          <p:cNvSpPr>
            <a:spLocks noGrp="1" noChangeArrowheads="1"/>
          </p:cNvSpPr>
          <p:nvPr>
            <p:ph type="title"/>
          </p:nvPr>
        </p:nvSpPr>
        <p:spPr>
          <a:xfrm>
            <a:off x="0" y="304800"/>
            <a:ext cx="7564438" cy="914400"/>
          </a:xfrm>
        </p:spPr>
        <p:txBody>
          <a:bodyPr anchor="t"/>
          <a:lstStyle/>
          <a:p>
            <a:r>
              <a:rPr lang="en-US" dirty="0" smtClean="0"/>
              <a:t>Real-Time Systems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3"/>
          <p:cNvSpPr>
            <a:spLocks noGrp="1" noChangeArrowheads="1"/>
          </p:cNvSpPr>
          <p:nvPr>
            <p:ph idx="1"/>
          </p:nvPr>
        </p:nvSpPr>
        <p:spPr/>
        <p:txBody>
          <a:bodyPr/>
          <a:lstStyle/>
          <a:p>
            <a:r>
              <a:rPr lang="en-US" dirty="0" smtClean="0"/>
              <a:t>Hard real-time</a:t>
            </a:r>
          </a:p>
          <a:p>
            <a:pPr lvl="1" algn="just"/>
            <a:r>
              <a:rPr lang="en-US" dirty="0" smtClean="0"/>
              <a:t>Secondary storage maybe absent or limited, data stored in short term memory, or read-only memory (ROM)</a:t>
            </a:r>
          </a:p>
          <a:p>
            <a:pPr lvl="1" algn="just"/>
            <a:r>
              <a:rPr lang="en-US" dirty="0" smtClean="0"/>
              <a:t>Conflicts with time-sharing systems, and not supported by general-purpose operating systems</a:t>
            </a:r>
          </a:p>
          <a:p>
            <a:pPr lvl="1" algn="just"/>
            <a:endParaRPr lang="en-US" dirty="0" smtClean="0"/>
          </a:p>
          <a:p>
            <a:pPr algn="just"/>
            <a:r>
              <a:rPr lang="en-US" dirty="0" smtClean="0"/>
              <a:t>Soft real-time</a:t>
            </a:r>
          </a:p>
          <a:p>
            <a:pPr lvl="1" algn="just"/>
            <a:r>
              <a:rPr lang="en-US" dirty="0" smtClean="0"/>
              <a:t>Limited utility in industrial control of robotics</a:t>
            </a:r>
          </a:p>
          <a:p>
            <a:pPr lvl="1" algn="just"/>
            <a:r>
              <a:rPr lang="en-US" dirty="0" smtClean="0"/>
              <a:t>Useful in applications (multimedia, virtual reality) requiring advanced operating-system features</a:t>
            </a:r>
          </a:p>
        </p:txBody>
      </p:sp>
      <p:sp>
        <p:nvSpPr>
          <p:cNvPr id="52226" name="Rectangle 2"/>
          <p:cNvSpPr>
            <a:spLocks noGrp="1" noChangeArrowheads="1"/>
          </p:cNvSpPr>
          <p:nvPr>
            <p:ph type="title"/>
          </p:nvPr>
        </p:nvSpPr>
        <p:spPr>
          <a:xfrm>
            <a:off x="0" y="228600"/>
            <a:ext cx="7564438" cy="914400"/>
          </a:xfrm>
        </p:spPr>
        <p:txBody>
          <a:bodyPr anchor="t"/>
          <a:lstStyle/>
          <a:p>
            <a:r>
              <a:rPr lang="en-US" dirty="0" smtClean="0"/>
              <a:t>Real-Time Systems (Contd.).</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3"/>
          <p:cNvSpPr>
            <a:spLocks noGrp="1" noChangeArrowheads="1"/>
          </p:cNvSpPr>
          <p:nvPr>
            <p:ph idx="1"/>
          </p:nvPr>
        </p:nvSpPr>
        <p:spPr/>
        <p:txBody>
          <a:bodyPr/>
          <a:lstStyle/>
          <a:p>
            <a:r>
              <a:rPr lang="en-US" dirty="0" smtClean="0"/>
              <a:t>Personal Digital Assistants (PDAs)</a:t>
            </a:r>
          </a:p>
          <a:p>
            <a:endParaRPr lang="en-US" dirty="0" smtClean="0"/>
          </a:p>
          <a:p>
            <a:r>
              <a:rPr lang="en-US" dirty="0" smtClean="0"/>
              <a:t>Cellular telephones</a:t>
            </a:r>
          </a:p>
          <a:p>
            <a:endParaRPr lang="en-US" dirty="0" smtClean="0"/>
          </a:p>
          <a:p>
            <a:r>
              <a:rPr lang="en-US" dirty="0" smtClean="0"/>
              <a:t>Issues:</a:t>
            </a:r>
          </a:p>
          <a:p>
            <a:pPr lvl="1"/>
            <a:r>
              <a:rPr lang="en-US" dirty="0" smtClean="0"/>
              <a:t>Limited memory</a:t>
            </a:r>
          </a:p>
          <a:p>
            <a:pPr lvl="1"/>
            <a:r>
              <a:rPr lang="en-US" dirty="0" smtClean="0"/>
              <a:t>Slow processors</a:t>
            </a:r>
          </a:p>
          <a:p>
            <a:pPr lvl="1"/>
            <a:r>
              <a:rPr lang="en-US" dirty="0" smtClean="0"/>
              <a:t>Small display screens</a:t>
            </a:r>
          </a:p>
        </p:txBody>
      </p:sp>
      <p:sp>
        <p:nvSpPr>
          <p:cNvPr id="54274" name="Rectangle 2"/>
          <p:cNvSpPr>
            <a:spLocks noGrp="1" noChangeArrowheads="1"/>
          </p:cNvSpPr>
          <p:nvPr>
            <p:ph type="title"/>
          </p:nvPr>
        </p:nvSpPr>
        <p:spPr>
          <a:xfrm>
            <a:off x="0" y="228600"/>
            <a:ext cx="7564438" cy="914400"/>
          </a:xfrm>
        </p:spPr>
        <p:txBody>
          <a:bodyPr anchor="t"/>
          <a:lstStyle/>
          <a:p>
            <a:r>
              <a:rPr lang="en-US" dirty="0" smtClean="0"/>
              <a:t>Handheld Systems</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a:spLocks noGrp="1" noChangeArrowheads="1"/>
          </p:cNvSpPr>
          <p:nvPr>
            <p:ph idx="1"/>
          </p:nvPr>
        </p:nvSpPr>
        <p:spPr/>
        <p:txBody>
          <a:bodyPr/>
          <a:lstStyle/>
          <a:p>
            <a:r>
              <a:rPr lang="en-US" sz="2400" dirty="0" smtClean="0"/>
              <a:t>Mainframe</a:t>
            </a:r>
          </a:p>
          <a:p>
            <a:endParaRPr lang="en-US" sz="2400" dirty="0" smtClean="0"/>
          </a:p>
          <a:p>
            <a:r>
              <a:rPr lang="en-US" sz="2400" dirty="0" smtClean="0"/>
              <a:t>Parallel processor</a:t>
            </a:r>
          </a:p>
          <a:p>
            <a:endParaRPr lang="en-US" sz="2400" dirty="0" smtClean="0"/>
          </a:p>
          <a:p>
            <a:r>
              <a:rPr lang="en-US" sz="2400" dirty="0" smtClean="0"/>
              <a:t>Distributed systems</a:t>
            </a:r>
          </a:p>
          <a:p>
            <a:endParaRPr lang="en-US" sz="2400" dirty="0" smtClean="0"/>
          </a:p>
          <a:p>
            <a:r>
              <a:rPr lang="en-US" sz="2400" dirty="0" smtClean="0"/>
              <a:t>Client Sever models</a:t>
            </a:r>
            <a:endParaRPr lang="hi-IN" sz="2400" dirty="0" smtClean="0">
              <a:ea typeface="Mangal" pitchFamily="2"/>
            </a:endParaRPr>
          </a:p>
        </p:txBody>
      </p:sp>
      <p:sp>
        <p:nvSpPr>
          <p:cNvPr id="56322" name="Rectangle 2"/>
          <p:cNvSpPr>
            <a:spLocks noGrp="1" noChangeArrowheads="1"/>
          </p:cNvSpPr>
          <p:nvPr>
            <p:ph type="title"/>
          </p:nvPr>
        </p:nvSpPr>
        <p:spPr>
          <a:xfrm>
            <a:off x="3175" y="0"/>
            <a:ext cx="7564438" cy="914400"/>
          </a:xfrm>
        </p:spPr>
        <p:txBody>
          <a:bodyPr/>
          <a:lstStyle/>
          <a:p>
            <a:r>
              <a:rPr lang="en-US" smtClean="0"/>
              <a:t>Other OS types</a:t>
            </a:r>
            <a:endParaRPr lang="hi-IN" smtClean="0">
              <a:ea typeface="Mangal" pitchFamily="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Content Placeholder 1"/>
          <p:cNvSpPr>
            <a:spLocks noGrp="1"/>
          </p:cNvSpPr>
          <p:nvPr>
            <p:ph idx="1"/>
          </p:nvPr>
        </p:nvSpPr>
        <p:spPr/>
        <p:txBody>
          <a:bodyPr/>
          <a:lstStyle/>
          <a:p>
            <a:pPr>
              <a:buFont typeface="Wingdings" pitchFamily="2" charset="2"/>
              <a:buNone/>
            </a:pPr>
            <a:r>
              <a:rPr lang="en-GB" sz="2400" dirty="0" smtClean="0"/>
              <a:t>In this module, we discussed:</a:t>
            </a:r>
          </a:p>
          <a:p>
            <a:endParaRPr lang="en-GB" sz="2400" dirty="0" smtClean="0"/>
          </a:p>
          <a:p>
            <a:r>
              <a:rPr lang="en-GB" sz="2400" dirty="0" smtClean="0"/>
              <a:t>Role of Operating System</a:t>
            </a:r>
          </a:p>
          <a:p>
            <a:r>
              <a:rPr lang="en-GB" sz="2400" dirty="0" smtClean="0"/>
              <a:t>Abstract view of Operating System</a:t>
            </a:r>
          </a:p>
          <a:p>
            <a:r>
              <a:rPr lang="en-GB" sz="2400" dirty="0" smtClean="0"/>
              <a:t>Different types of Operating System</a:t>
            </a:r>
          </a:p>
          <a:p>
            <a:pPr>
              <a:buFont typeface="Arial" charset="0"/>
              <a:buNone/>
            </a:pPr>
            <a:endParaRPr lang="en-GB" dirty="0" smtClean="0"/>
          </a:p>
          <a:p>
            <a:endParaRPr lang="en-US" dirty="0" smtClean="0"/>
          </a:p>
        </p:txBody>
      </p:sp>
      <p:sp>
        <p:nvSpPr>
          <p:cNvPr id="58370" name="Title 2"/>
          <p:cNvSpPr>
            <a:spLocks noGrp="1"/>
          </p:cNvSpPr>
          <p:nvPr>
            <p:ph type="title"/>
          </p:nvPr>
        </p:nvSpPr>
        <p:spPr>
          <a:xfrm>
            <a:off x="3175" y="0"/>
            <a:ext cx="7564438" cy="914400"/>
          </a:xfrm>
        </p:spPr>
        <p:txBody>
          <a:bodyPr/>
          <a:lstStyle/>
          <a:p>
            <a:r>
              <a:rPr lang="en-US" smtClean="0"/>
              <a:t>Summary</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9"/>
          <p:cNvSpPr>
            <a:spLocks noGrp="1"/>
          </p:cNvSpPr>
          <p:nvPr>
            <p:ph type="title"/>
          </p:nvPr>
        </p:nvSpPr>
        <p:spPr>
          <a:xfrm>
            <a:off x="457200" y="3517900"/>
            <a:ext cx="8534400" cy="1362075"/>
          </a:xfrm>
        </p:spPr>
        <p:txBody>
          <a:bodyPr/>
          <a:lstStyle/>
          <a:p>
            <a:r>
              <a:rPr lang="en-US" dirty="0" smtClean="0"/>
              <a:t>Functions of Operating System</a:t>
            </a:r>
            <a:r>
              <a:rPr lang="en-US" sz="3200" dirty="0" smtClean="0"/>
              <a:t/>
            </a:r>
            <a:br>
              <a:rPr lang="en-US" sz="3200" dirty="0" smtClean="0"/>
            </a:br>
            <a:r>
              <a:rPr lang="en-US" sz="2400" dirty="0" smtClean="0">
                <a:solidFill>
                  <a:schemeClr val="tx1">
                    <a:lumMod val="50000"/>
                    <a:lumOff val="50000"/>
                  </a:schemeClr>
                </a:solidFill>
              </a:rPr>
              <a:t> Module 2</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Content Placeholder 1"/>
          <p:cNvSpPr>
            <a:spLocks noGrp="1"/>
          </p:cNvSpPr>
          <p:nvPr>
            <p:ph idx="1"/>
          </p:nvPr>
        </p:nvSpPr>
        <p:spPr>
          <a:xfrm>
            <a:off x="533400" y="1143000"/>
            <a:ext cx="8077200" cy="4876800"/>
          </a:xfrm>
        </p:spPr>
        <p:txBody>
          <a:bodyPr/>
          <a:lstStyle/>
          <a:p>
            <a:endParaRPr lang="en-US" dirty="0" smtClean="0"/>
          </a:p>
          <a:p>
            <a:pPr>
              <a:buFont typeface="Arial" charset="0"/>
              <a:buNone/>
            </a:pPr>
            <a:r>
              <a:rPr lang="en-US" sz="2400" dirty="0" smtClean="0"/>
              <a:t>At the end of this session, you will be able to:</a:t>
            </a:r>
          </a:p>
          <a:p>
            <a:endParaRPr lang="en-US" sz="2400" dirty="0" smtClean="0"/>
          </a:p>
          <a:p>
            <a:r>
              <a:rPr lang="en-US" sz="2400" dirty="0" smtClean="0"/>
              <a:t>Explain the functions performed by an OS</a:t>
            </a:r>
          </a:p>
          <a:p>
            <a:r>
              <a:rPr lang="en-US" sz="2400" dirty="0" smtClean="0"/>
              <a:t>Explain File Management in Operating Systems</a:t>
            </a:r>
          </a:p>
          <a:p>
            <a:r>
              <a:rPr lang="en-US" sz="2400" dirty="0" smtClean="0"/>
              <a:t>Describe the concept of Interrupts</a:t>
            </a:r>
          </a:p>
          <a:p>
            <a:r>
              <a:rPr lang="en-US" sz="2400" dirty="0" smtClean="0"/>
              <a:t>Explain the I/O Structure</a:t>
            </a:r>
          </a:p>
          <a:p>
            <a:r>
              <a:rPr lang="en-US" sz="2400" dirty="0" smtClean="0"/>
              <a:t>Identify Security and Protection in OS</a:t>
            </a:r>
          </a:p>
          <a:p>
            <a:endParaRPr lang="en-US" dirty="0" smtClean="0"/>
          </a:p>
        </p:txBody>
      </p:sp>
      <p:sp>
        <p:nvSpPr>
          <p:cNvPr id="62466" name="Title 2"/>
          <p:cNvSpPr>
            <a:spLocks noGrp="1"/>
          </p:cNvSpPr>
          <p:nvPr>
            <p:ph type="title"/>
          </p:nvPr>
        </p:nvSpPr>
        <p:spPr>
          <a:xfrm>
            <a:off x="0" y="0"/>
            <a:ext cx="7562850" cy="914400"/>
          </a:xfrm>
        </p:spPr>
        <p:txBody>
          <a:bodyPr/>
          <a:lstStyle/>
          <a:p>
            <a:r>
              <a:rPr lang="en-US" smtClean="0"/>
              <a:t>Objectives</a:t>
            </a:r>
          </a:p>
        </p:txBody>
      </p:sp>
      <p:sp>
        <p:nvSpPr>
          <p:cNvPr id="62467" name="Text Placeholder 8"/>
          <p:cNvSpPr txBox="1">
            <a:spLocks/>
          </p:cNvSpPr>
          <p:nvPr/>
        </p:nvSpPr>
        <p:spPr bwMode="auto">
          <a:xfrm>
            <a:off x="4038600" y="6248400"/>
            <a:ext cx="5105400" cy="457200"/>
          </a:xfrm>
          <a:prstGeom prst="rect">
            <a:avLst/>
          </a:prstGeom>
          <a:noFill/>
          <a:ln w="9525" algn="ctr">
            <a:noFill/>
            <a:miter lim="800000"/>
            <a:headEnd/>
            <a:tailEnd/>
          </a:ln>
        </p:spPr>
        <p:txBody>
          <a:bodyPr/>
          <a:lstStyle/>
          <a:p>
            <a:pPr marL="342900" indent="-342900" algn="r">
              <a:spcBef>
                <a:spcPct val="20000"/>
              </a:spcBef>
              <a:buFont typeface="Wingdings" pitchFamily="2" charset="2"/>
              <a:buNone/>
            </a:pPr>
            <a:r>
              <a:rPr lang="en-GB" sz="2000">
                <a:solidFill>
                  <a:srgbClr val="7F7F7F"/>
                </a:solidFill>
                <a:latin typeface="Gill Sans MT" pitchFamily="34" charset="0"/>
              </a:rPr>
              <a:t>Duration: 2 hrs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Content Placeholder 4"/>
          <p:cNvSpPr>
            <a:spLocks noGrp="1"/>
          </p:cNvSpPr>
          <p:nvPr>
            <p:ph idx="1"/>
          </p:nvPr>
        </p:nvSpPr>
        <p:spPr/>
        <p:txBody>
          <a:bodyPr/>
          <a:lstStyle/>
          <a:p>
            <a:pPr algn="just"/>
            <a:r>
              <a:rPr lang="en-US" dirty="0" smtClean="0"/>
              <a:t>An operating system performs large number of functions. Each function is carried out by a component of the operating system.</a:t>
            </a:r>
          </a:p>
          <a:p>
            <a:pPr algn="just">
              <a:buNone/>
            </a:pPr>
            <a:endParaRPr lang="en-US" sz="1400" dirty="0" smtClean="0"/>
          </a:p>
          <a:p>
            <a:r>
              <a:rPr lang="en-US" dirty="0" smtClean="0"/>
              <a:t>The components of an operating system are:</a:t>
            </a:r>
          </a:p>
          <a:p>
            <a:pPr lvl="1">
              <a:buFont typeface="Wingdings" pitchFamily="2" charset="2"/>
              <a:buChar char="Ø"/>
            </a:pPr>
            <a:r>
              <a:rPr lang="en-US" dirty="0" smtClean="0"/>
              <a:t>Process management sub system</a:t>
            </a:r>
          </a:p>
          <a:p>
            <a:pPr lvl="1">
              <a:buFont typeface="Wingdings" pitchFamily="2" charset="2"/>
              <a:buChar char="Ø"/>
            </a:pPr>
            <a:r>
              <a:rPr lang="en-US" dirty="0" smtClean="0"/>
              <a:t>Memory management sub system</a:t>
            </a:r>
          </a:p>
          <a:p>
            <a:pPr lvl="1">
              <a:buFont typeface="Wingdings" pitchFamily="2" charset="2"/>
              <a:buChar char="Ø"/>
            </a:pPr>
            <a:r>
              <a:rPr lang="en-US" dirty="0" smtClean="0"/>
              <a:t>File management sub system</a:t>
            </a:r>
          </a:p>
          <a:p>
            <a:pPr lvl="1">
              <a:buFont typeface="Wingdings" pitchFamily="2" charset="2"/>
              <a:buChar char="Ø"/>
            </a:pPr>
            <a:r>
              <a:rPr lang="en-US" dirty="0" smtClean="0"/>
              <a:t>I/O system management sub system</a:t>
            </a:r>
          </a:p>
          <a:p>
            <a:pPr lvl="1">
              <a:buFont typeface="Wingdings" pitchFamily="2" charset="2"/>
              <a:buChar char="Ø"/>
            </a:pPr>
            <a:r>
              <a:rPr lang="en-US" dirty="0" smtClean="0"/>
              <a:t>Secondary storage management sub system</a:t>
            </a:r>
          </a:p>
          <a:p>
            <a:pPr lvl="1">
              <a:buFont typeface="Wingdings" pitchFamily="2" charset="2"/>
              <a:buChar char="Ø"/>
            </a:pPr>
            <a:r>
              <a:rPr lang="en-US" dirty="0" smtClean="0"/>
              <a:t>Network management sub system</a:t>
            </a:r>
          </a:p>
          <a:p>
            <a:pPr lvl="1">
              <a:buFont typeface="Wingdings" pitchFamily="2" charset="2"/>
              <a:buChar char="Ø"/>
            </a:pPr>
            <a:r>
              <a:rPr lang="en-US" dirty="0" smtClean="0"/>
              <a:t>Protection sub system</a:t>
            </a:r>
          </a:p>
          <a:p>
            <a:pPr lvl="1">
              <a:buFont typeface="Wingdings" pitchFamily="2" charset="2"/>
              <a:buChar char="Ø"/>
            </a:pPr>
            <a:r>
              <a:rPr lang="en-US" dirty="0" smtClean="0"/>
              <a:t>User interface sub system</a:t>
            </a:r>
          </a:p>
        </p:txBody>
      </p:sp>
      <p:sp>
        <p:nvSpPr>
          <p:cNvPr id="64514" name="Title 3"/>
          <p:cNvSpPr>
            <a:spLocks noGrp="1"/>
          </p:cNvSpPr>
          <p:nvPr>
            <p:ph type="title"/>
          </p:nvPr>
        </p:nvSpPr>
        <p:spPr>
          <a:xfrm>
            <a:off x="0" y="0"/>
            <a:ext cx="7562850" cy="914400"/>
          </a:xfrm>
        </p:spPr>
        <p:txBody>
          <a:bodyPr/>
          <a:lstStyle/>
          <a:p>
            <a:r>
              <a:rPr lang="en-US" dirty="0" smtClean="0"/>
              <a:t>Operating System Functionalities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3"/>
          <p:cNvSpPr>
            <a:spLocks noGrp="1" noChangeArrowheads="1"/>
          </p:cNvSpPr>
          <p:nvPr>
            <p:ph idx="1"/>
          </p:nvPr>
        </p:nvSpPr>
        <p:spPr>
          <a:xfrm>
            <a:off x="381000" y="1219200"/>
            <a:ext cx="8229600" cy="5029200"/>
          </a:xfrm>
        </p:spPr>
        <p:txBody>
          <a:bodyPr/>
          <a:lstStyle/>
          <a:p>
            <a:endParaRPr lang="en-US" dirty="0" smtClean="0"/>
          </a:p>
          <a:p>
            <a:r>
              <a:rPr lang="en-US" dirty="0" smtClean="0"/>
              <a:t>The main functionalities of File management system are:</a:t>
            </a:r>
          </a:p>
          <a:p>
            <a:pPr lvl="1"/>
            <a:endParaRPr lang="en-US" dirty="0" smtClean="0"/>
          </a:p>
          <a:p>
            <a:pPr lvl="1"/>
            <a:r>
              <a:rPr lang="en-US" dirty="0" smtClean="0"/>
              <a:t>The creation and deletion of files</a:t>
            </a:r>
          </a:p>
          <a:p>
            <a:pPr lvl="1"/>
            <a:r>
              <a:rPr lang="en-US" dirty="0" smtClean="0"/>
              <a:t>The creation and deletion of directories</a:t>
            </a:r>
          </a:p>
          <a:p>
            <a:pPr lvl="1"/>
            <a:r>
              <a:rPr lang="en-US" dirty="0" smtClean="0"/>
              <a:t>The support of primitives for manipulating files and directories</a:t>
            </a:r>
          </a:p>
          <a:p>
            <a:pPr lvl="1"/>
            <a:r>
              <a:rPr lang="en-US" dirty="0" smtClean="0"/>
              <a:t>The mapping of files onto secondary storage</a:t>
            </a:r>
          </a:p>
          <a:p>
            <a:pPr lvl="1"/>
            <a:r>
              <a:rPr lang="en-US" dirty="0" smtClean="0"/>
              <a:t>The back up of files on permanent storage media</a:t>
            </a:r>
          </a:p>
          <a:p>
            <a:endParaRPr lang="en-US" dirty="0" smtClean="0"/>
          </a:p>
          <a:p>
            <a:endParaRPr lang="en-US" dirty="0" smtClean="0"/>
          </a:p>
        </p:txBody>
      </p:sp>
      <p:sp>
        <p:nvSpPr>
          <p:cNvPr id="66562" name="Rectangle 2"/>
          <p:cNvSpPr>
            <a:spLocks noGrp="1" noChangeArrowheads="1"/>
          </p:cNvSpPr>
          <p:nvPr>
            <p:ph type="title"/>
          </p:nvPr>
        </p:nvSpPr>
        <p:spPr>
          <a:xfrm>
            <a:off x="0" y="304800"/>
            <a:ext cx="7562850" cy="914400"/>
          </a:xfrm>
        </p:spPr>
        <p:txBody>
          <a:bodyPr anchor="t"/>
          <a:lstStyle/>
          <a:p>
            <a:r>
              <a:rPr lang="en-US" dirty="0" smtClean="0"/>
              <a:t>File Management</a:t>
            </a:r>
            <a:r>
              <a:rPr lang="en-US" sz="2000" dirty="0" smtClean="0"/>
              <a:t/>
            </a:r>
            <a:br>
              <a:rPr lang="en-US" sz="2000" dirty="0" smtClean="0"/>
            </a:br>
            <a:endParaRPr lang="en-US" sz="2000"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3"/>
          <p:cNvSpPr>
            <a:spLocks noGrp="1" noChangeArrowheads="1"/>
          </p:cNvSpPr>
          <p:nvPr>
            <p:ph idx="1"/>
          </p:nvPr>
        </p:nvSpPr>
        <p:spPr/>
        <p:txBody>
          <a:bodyPr/>
          <a:lstStyle/>
          <a:p>
            <a:endParaRPr lang="en-US" dirty="0" smtClean="0"/>
          </a:p>
          <a:p>
            <a:pPr algn="just"/>
            <a:r>
              <a:rPr lang="en-US" dirty="0" smtClean="0"/>
              <a:t>Program to be executed, it need to be in primary memory.</a:t>
            </a:r>
          </a:p>
          <a:p>
            <a:pPr algn="just"/>
            <a:endParaRPr lang="en-US" dirty="0" smtClean="0"/>
          </a:p>
          <a:p>
            <a:pPr algn="just"/>
            <a:r>
              <a:rPr lang="en-US" dirty="0" smtClean="0"/>
              <a:t>Major task of OS</a:t>
            </a:r>
          </a:p>
          <a:p>
            <a:pPr lvl="1" algn="just"/>
            <a:r>
              <a:rPr lang="en-US" dirty="0" smtClean="0"/>
              <a:t>keep track of which part of memory are currently being used and by which program</a:t>
            </a:r>
          </a:p>
          <a:p>
            <a:pPr lvl="1" algn="just"/>
            <a:r>
              <a:rPr lang="en-US" dirty="0" smtClean="0"/>
              <a:t>decide which process are loaded into memory when memory space becomes available</a:t>
            </a:r>
          </a:p>
          <a:p>
            <a:pPr lvl="1" algn="just"/>
            <a:r>
              <a:rPr lang="en-US" dirty="0" smtClean="0"/>
              <a:t>Allocate and reallocated memory space as needed</a:t>
            </a:r>
          </a:p>
          <a:p>
            <a:endParaRPr lang="en-US" dirty="0" smtClean="0"/>
          </a:p>
        </p:txBody>
      </p:sp>
      <p:sp>
        <p:nvSpPr>
          <p:cNvPr id="68610" name="Rectangle 2"/>
          <p:cNvSpPr>
            <a:spLocks noGrp="1" noChangeArrowheads="1"/>
          </p:cNvSpPr>
          <p:nvPr>
            <p:ph type="title"/>
          </p:nvPr>
        </p:nvSpPr>
        <p:spPr>
          <a:xfrm>
            <a:off x="0" y="304800"/>
            <a:ext cx="7562850" cy="914400"/>
          </a:xfrm>
        </p:spPr>
        <p:txBody>
          <a:bodyPr anchor="t"/>
          <a:lstStyle/>
          <a:p>
            <a:r>
              <a:rPr lang="en-US" dirty="0" smtClean="0"/>
              <a:t>Main-Memory Management</a:t>
            </a:r>
            <a:r>
              <a:rPr lang="en-US" sz="2000" dirty="0" smtClean="0"/>
              <a:t/>
            </a:r>
            <a:br>
              <a:rPr lang="en-US" sz="2000" dirty="0" smtClean="0"/>
            </a:br>
            <a:endParaRPr lang="en-US" sz="20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3"/>
          <p:cNvSpPr>
            <a:spLocks noGrp="1"/>
          </p:cNvSpPr>
          <p:nvPr>
            <p:ph idx="1"/>
          </p:nvPr>
        </p:nvSpPr>
        <p:spPr>
          <a:xfrm>
            <a:off x="381000" y="1143000"/>
            <a:ext cx="8229600" cy="5029200"/>
          </a:xfrm>
        </p:spPr>
        <p:txBody>
          <a:bodyPr/>
          <a:lstStyle/>
          <a:p>
            <a:pPr algn="just"/>
            <a:r>
              <a:rPr lang="en-US" dirty="0" smtClean="0"/>
              <a:t>A process is a program in execution.  A process needs certain resources, including CPU time, memory, files, and I/O devices, to accomplish its task</a:t>
            </a:r>
          </a:p>
          <a:p>
            <a:pPr algn="just"/>
            <a:endParaRPr lang="en-US" dirty="0" smtClean="0"/>
          </a:p>
          <a:p>
            <a:pPr algn="just"/>
            <a:r>
              <a:rPr lang="en-US" dirty="0" smtClean="0"/>
              <a:t>The operating system is responsible for the following activities in connection with process management</a:t>
            </a:r>
          </a:p>
          <a:p>
            <a:pPr lvl="1" algn="just"/>
            <a:endParaRPr lang="en-US" dirty="0" smtClean="0"/>
          </a:p>
          <a:p>
            <a:pPr lvl="1" algn="just"/>
            <a:r>
              <a:rPr lang="en-US" dirty="0" smtClean="0"/>
              <a:t>Process creation and deletion</a:t>
            </a:r>
          </a:p>
          <a:p>
            <a:pPr lvl="1"/>
            <a:r>
              <a:rPr lang="en-US" dirty="0" smtClean="0"/>
              <a:t>Process continuation and suspension </a:t>
            </a:r>
          </a:p>
          <a:p>
            <a:pPr lvl="1"/>
            <a:r>
              <a:rPr lang="en-US" dirty="0" smtClean="0"/>
              <a:t>Provision of mechanisms for:</a:t>
            </a:r>
          </a:p>
          <a:p>
            <a:pPr lvl="2">
              <a:buFontTx/>
              <a:buChar char="–"/>
            </a:pPr>
            <a:r>
              <a:rPr lang="en-US" dirty="0" smtClean="0"/>
              <a:t>process synchronization</a:t>
            </a:r>
          </a:p>
          <a:p>
            <a:pPr lvl="2">
              <a:buFontTx/>
              <a:buChar char="–"/>
            </a:pPr>
            <a:r>
              <a:rPr lang="en-US" dirty="0" smtClean="0"/>
              <a:t>process communication</a:t>
            </a:r>
          </a:p>
          <a:p>
            <a:endParaRPr lang="en-US" dirty="0" smtClean="0"/>
          </a:p>
        </p:txBody>
      </p:sp>
      <p:sp>
        <p:nvSpPr>
          <p:cNvPr id="70658" name="Rectangle 2"/>
          <p:cNvSpPr>
            <a:spLocks noGrp="1"/>
          </p:cNvSpPr>
          <p:nvPr>
            <p:ph type="title"/>
          </p:nvPr>
        </p:nvSpPr>
        <p:spPr>
          <a:xfrm>
            <a:off x="0" y="0"/>
            <a:ext cx="7562850" cy="914400"/>
          </a:xfrm>
        </p:spPr>
        <p:txBody>
          <a:bodyPr/>
          <a:lstStyle/>
          <a:p>
            <a:r>
              <a:rPr lang="en-US" smtClean="0"/>
              <a:t>Process Management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3"/>
          <p:cNvSpPr>
            <a:spLocks noGrp="1" noChangeArrowheads="1"/>
          </p:cNvSpPr>
          <p:nvPr>
            <p:ph idx="1"/>
          </p:nvPr>
        </p:nvSpPr>
        <p:spPr>
          <a:xfrm>
            <a:off x="457200" y="1143000"/>
            <a:ext cx="8229600" cy="5029200"/>
          </a:xfrm>
        </p:spPr>
        <p:txBody>
          <a:bodyPr/>
          <a:lstStyle/>
          <a:p>
            <a:pPr algn="just"/>
            <a:r>
              <a:rPr lang="en-US" sz="1600" b="1" dirty="0" smtClean="0"/>
              <a:t>After I/O starts, control returns to user program only upon I/O completion.</a:t>
            </a:r>
          </a:p>
          <a:p>
            <a:pPr lvl="1" algn="just"/>
            <a:endParaRPr lang="en-US" dirty="0" smtClean="0"/>
          </a:p>
          <a:p>
            <a:pPr lvl="1" algn="just"/>
            <a:r>
              <a:rPr lang="en-US" dirty="0" smtClean="0"/>
              <a:t>Wait instruction idles the CPU until the occurrence of next interrupt</a:t>
            </a:r>
          </a:p>
          <a:p>
            <a:pPr lvl="1" algn="just"/>
            <a:r>
              <a:rPr lang="en-US" dirty="0" smtClean="0"/>
              <a:t>Wait loop (memory access contention)</a:t>
            </a:r>
          </a:p>
          <a:p>
            <a:pPr lvl="1" algn="just"/>
            <a:r>
              <a:rPr lang="en-US" dirty="0" smtClean="0"/>
              <a:t>At most one I/O request is outstanding at a time, no simultaneous I/O processing</a:t>
            </a:r>
          </a:p>
          <a:p>
            <a:pPr algn="just"/>
            <a:endParaRPr lang="en-US" sz="1600" b="1" dirty="0" smtClean="0"/>
          </a:p>
          <a:p>
            <a:pPr algn="just"/>
            <a:r>
              <a:rPr lang="en-US" sz="1600" b="1" dirty="0" smtClean="0"/>
              <a:t>After I/O starts, control returns to user program without waiting for I/O completion</a:t>
            </a:r>
            <a:endParaRPr lang="en-US" sz="1600" dirty="0" smtClean="0"/>
          </a:p>
          <a:p>
            <a:pPr lvl="1" algn="just"/>
            <a:endParaRPr lang="en-US" dirty="0" smtClean="0"/>
          </a:p>
          <a:p>
            <a:pPr lvl="1" algn="just"/>
            <a:r>
              <a:rPr lang="en-US" dirty="0" smtClean="0"/>
              <a:t>System call – request to the operating system to allow user to wait for completion of I/O </a:t>
            </a:r>
          </a:p>
          <a:p>
            <a:pPr lvl="1" algn="just"/>
            <a:r>
              <a:rPr lang="en-US" dirty="0" smtClean="0"/>
              <a:t>Device-status table maintains a details of each I/O device such as device type, its address, and state</a:t>
            </a:r>
          </a:p>
          <a:p>
            <a:pPr lvl="1" algn="just"/>
            <a:r>
              <a:rPr lang="en-US" dirty="0" smtClean="0"/>
              <a:t>Operating system looks into I/O device table to find device status such that to modify table entry to include interrupt</a:t>
            </a:r>
          </a:p>
        </p:txBody>
      </p:sp>
      <p:sp>
        <p:nvSpPr>
          <p:cNvPr id="72706" name="Rectangle 2"/>
          <p:cNvSpPr>
            <a:spLocks noGrp="1" noChangeArrowheads="1"/>
          </p:cNvSpPr>
          <p:nvPr>
            <p:ph type="title"/>
          </p:nvPr>
        </p:nvSpPr>
        <p:spPr>
          <a:xfrm>
            <a:off x="0" y="304800"/>
            <a:ext cx="7562850" cy="914400"/>
          </a:xfrm>
        </p:spPr>
        <p:txBody>
          <a:bodyPr anchor="t"/>
          <a:lstStyle/>
          <a:p>
            <a:r>
              <a:rPr lang="en-US" dirty="0" smtClean="0"/>
              <a:t>I/O Management - structure</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3"/>
          <p:cNvSpPr>
            <a:spLocks noGrp="1" noChangeArrowheads="1"/>
          </p:cNvSpPr>
          <p:nvPr>
            <p:ph idx="1"/>
          </p:nvPr>
        </p:nvSpPr>
        <p:spPr/>
        <p:txBody>
          <a:bodyPr/>
          <a:lstStyle/>
          <a:p>
            <a:r>
              <a:rPr lang="en-US" dirty="0" smtClean="0"/>
              <a:t>Each program needs an input and generates output. </a:t>
            </a:r>
          </a:p>
          <a:p>
            <a:endParaRPr lang="en-US" dirty="0" smtClean="0"/>
          </a:p>
          <a:p>
            <a:r>
              <a:rPr lang="en-US" dirty="0" smtClean="0"/>
              <a:t>User desires that the I/O has been performed without any details.</a:t>
            </a:r>
          </a:p>
          <a:p>
            <a:pPr>
              <a:buNone/>
            </a:pPr>
            <a:endParaRPr lang="en-US" sz="1400" dirty="0" smtClean="0"/>
          </a:p>
          <a:p>
            <a:r>
              <a:rPr lang="en-US" dirty="0" smtClean="0"/>
              <a:t>User looks for convenience to run programs.</a:t>
            </a:r>
          </a:p>
          <a:p>
            <a:endParaRPr lang="en-US" dirty="0" smtClean="0"/>
          </a:p>
          <a:p>
            <a:r>
              <a:rPr lang="en-US" dirty="0" smtClean="0"/>
              <a:t>Hides  the user the details of underlying H/W for the I/O.</a:t>
            </a:r>
          </a:p>
          <a:p>
            <a:pPr>
              <a:buNone/>
            </a:pPr>
            <a:endParaRPr lang="en-US" dirty="0" smtClean="0"/>
          </a:p>
          <a:p>
            <a:pPr>
              <a:buFont typeface="Wingdings" pitchFamily="2" charset="2"/>
              <a:buNone/>
            </a:pPr>
            <a:endParaRPr lang="en-US" dirty="0" smtClean="0"/>
          </a:p>
        </p:txBody>
      </p:sp>
      <p:sp>
        <p:nvSpPr>
          <p:cNvPr id="74754" name="Rectangle 2"/>
          <p:cNvSpPr>
            <a:spLocks noGrp="1" noChangeArrowheads="1"/>
          </p:cNvSpPr>
          <p:nvPr>
            <p:ph type="title"/>
          </p:nvPr>
        </p:nvSpPr>
        <p:spPr>
          <a:xfrm>
            <a:off x="0" y="381000"/>
            <a:ext cx="7562850" cy="914400"/>
          </a:xfrm>
        </p:spPr>
        <p:txBody>
          <a:bodyPr anchor="t">
            <a:normAutofit fontScale="90000"/>
          </a:bodyPr>
          <a:lstStyle/>
          <a:p>
            <a:r>
              <a:rPr lang="en-US" dirty="0" smtClean="0"/>
              <a:t>I/ O Management - Operations</a:t>
            </a:r>
            <a:br>
              <a:rPr lang="en-US" dirty="0" smtClean="0"/>
            </a:br>
            <a:endParaRPr lang="en-US"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p:cNvSpPr>
            <a:spLocks noGrp="1" noChangeArrowheads="1"/>
          </p:cNvSpPr>
          <p:nvPr>
            <p:ph idx="1"/>
          </p:nvPr>
        </p:nvSpPr>
        <p:spPr/>
        <p:txBody>
          <a:bodyPr/>
          <a:lstStyle/>
          <a:p>
            <a:r>
              <a:rPr lang="en-US" dirty="0" smtClean="0"/>
              <a:t>Login</a:t>
            </a:r>
          </a:p>
          <a:p>
            <a:endParaRPr lang="en-US" dirty="0" smtClean="0"/>
          </a:p>
          <a:p>
            <a:r>
              <a:rPr lang="en-US" dirty="0" smtClean="0"/>
              <a:t>User name</a:t>
            </a:r>
          </a:p>
          <a:p>
            <a:endParaRPr lang="en-US" dirty="0" smtClean="0"/>
          </a:p>
          <a:p>
            <a:r>
              <a:rPr lang="en-US" dirty="0" smtClean="0"/>
              <a:t>Password</a:t>
            </a:r>
          </a:p>
          <a:p>
            <a:endParaRPr lang="en-US" dirty="0" smtClean="0"/>
          </a:p>
          <a:p>
            <a:r>
              <a:rPr lang="en-US" dirty="0" smtClean="0"/>
              <a:t>Environment variables</a:t>
            </a:r>
          </a:p>
          <a:p>
            <a:endParaRPr lang="en-US" dirty="0" smtClean="0"/>
          </a:p>
          <a:p>
            <a:r>
              <a:rPr lang="en-US" dirty="0" smtClean="0"/>
              <a:t>Profile files</a:t>
            </a:r>
          </a:p>
          <a:p>
            <a:endParaRPr lang="en-US" dirty="0" smtClean="0"/>
          </a:p>
        </p:txBody>
      </p:sp>
      <p:sp>
        <p:nvSpPr>
          <p:cNvPr id="76802" name="Rectangle 2"/>
          <p:cNvSpPr>
            <a:spLocks noGrp="1" noChangeArrowheads="1"/>
          </p:cNvSpPr>
          <p:nvPr>
            <p:ph type="title"/>
          </p:nvPr>
        </p:nvSpPr>
        <p:spPr>
          <a:xfrm>
            <a:off x="0" y="152400"/>
            <a:ext cx="7562850" cy="914400"/>
          </a:xfrm>
        </p:spPr>
        <p:txBody>
          <a:bodyPr anchor="t"/>
          <a:lstStyle/>
          <a:p>
            <a:r>
              <a:rPr lang="en-US" dirty="0" smtClean="0"/>
              <a:t>Security Management &amp; User management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3"/>
          <p:cNvSpPr>
            <a:spLocks noGrp="1" noChangeArrowheads="1"/>
          </p:cNvSpPr>
          <p:nvPr>
            <p:ph idx="1"/>
          </p:nvPr>
        </p:nvSpPr>
        <p:spPr/>
        <p:txBody>
          <a:bodyPr/>
          <a:lstStyle/>
          <a:p>
            <a:pPr>
              <a:buFont typeface="Wingdings" pitchFamily="2" charset="2"/>
              <a:buNone/>
            </a:pPr>
            <a:r>
              <a:rPr lang="en-US" dirty="0" smtClean="0"/>
              <a:t>     User Management:</a:t>
            </a:r>
          </a:p>
          <a:p>
            <a:endParaRPr lang="en-US" dirty="0" smtClean="0"/>
          </a:p>
          <a:p>
            <a:r>
              <a:rPr lang="en-US" dirty="0" smtClean="0"/>
              <a:t>All users will have unique identifier typically, user name in the system</a:t>
            </a:r>
          </a:p>
          <a:p>
            <a:endParaRPr lang="en-US" dirty="0" smtClean="0"/>
          </a:p>
          <a:p>
            <a:r>
              <a:rPr lang="en-US" dirty="0" smtClean="0"/>
              <a:t>Different types of users are as follows</a:t>
            </a:r>
          </a:p>
          <a:p>
            <a:pPr lvl="1"/>
            <a:r>
              <a:rPr lang="en-US" dirty="0" smtClean="0"/>
              <a:t>Regular Users</a:t>
            </a:r>
          </a:p>
          <a:p>
            <a:pPr lvl="1"/>
            <a:r>
              <a:rPr lang="en-US" dirty="0" smtClean="0"/>
              <a:t>Administrator's</a:t>
            </a:r>
          </a:p>
          <a:p>
            <a:pPr lvl="1"/>
            <a:r>
              <a:rPr lang="en-US" dirty="0" smtClean="0"/>
              <a:t>Guest Users</a:t>
            </a:r>
          </a:p>
          <a:p>
            <a:endParaRPr lang="en-US" dirty="0" smtClean="0"/>
          </a:p>
          <a:p>
            <a:endParaRPr lang="en-US" dirty="0" smtClean="0"/>
          </a:p>
        </p:txBody>
      </p:sp>
      <p:sp>
        <p:nvSpPr>
          <p:cNvPr id="78850" name="Rectangle 2"/>
          <p:cNvSpPr>
            <a:spLocks noGrp="1" noChangeArrowheads="1"/>
          </p:cNvSpPr>
          <p:nvPr>
            <p:ph type="title"/>
          </p:nvPr>
        </p:nvSpPr>
        <p:spPr>
          <a:xfrm>
            <a:off x="0" y="304800"/>
            <a:ext cx="7562850" cy="914400"/>
          </a:xfrm>
        </p:spPr>
        <p:txBody>
          <a:bodyPr anchor="t"/>
          <a:lstStyle/>
          <a:p>
            <a:r>
              <a:rPr lang="en-US" dirty="0" smtClean="0"/>
              <a:t>Security Management (Contd.).</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3"/>
          <p:cNvSpPr>
            <a:spLocks noGrp="1" noChangeArrowheads="1"/>
          </p:cNvSpPr>
          <p:nvPr>
            <p:ph idx="1"/>
          </p:nvPr>
        </p:nvSpPr>
        <p:spPr/>
        <p:txBody>
          <a:bodyPr/>
          <a:lstStyle/>
          <a:p>
            <a:r>
              <a:rPr lang="en-US" dirty="0" smtClean="0"/>
              <a:t>CPU and I/O devices can run concurrently.</a:t>
            </a:r>
          </a:p>
          <a:p>
            <a:endParaRPr lang="en-US" dirty="0" smtClean="0"/>
          </a:p>
          <a:p>
            <a:r>
              <a:rPr lang="en-US" dirty="0" smtClean="0"/>
              <a:t>Every I/O device controller will be in charge of a particular device type.</a:t>
            </a:r>
          </a:p>
          <a:p>
            <a:endParaRPr lang="en-US" dirty="0" smtClean="0"/>
          </a:p>
          <a:p>
            <a:r>
              <a:rPr lang="en-US" dirty="0" smtClean="0"/>
              <a:t>Every device manager has a local buffer.</a:t>
            </a:r>
          </a:p>
          <a:p>
            <a:endParaRPr lang="en-US" dirty="0" smtClean="0"/>
          </a:p>
          <a:p>
            <a:r>
              <a:rPr lang="en-US" dirty="0" smtClean="0"/>
              <a:t>CPU moves data from/to main memory to/from local buffers</a:t>
            </a:r>
          </a:p>
          <a:p>
            <a:pPr>
              <a:buNone/>
            </a:pPr>
            <a:endParaRPr lang="en-US" dirty="0" smtClean="0"/>
          </a:p>
          <a:p>
            <a:pPr>
              <a:buNone/>
            </a:pPr>
            <a:endParaRPr lang="en-US" dirty="0" smtClean="0"/>
          </a:p>
        </p:txBody>
      </p:sp>
      <p:sp>
        <p:nvSpPr>
          <p:cNvPr id="80898" name="Rectangle 2"/>
          <p:cNvSpPr>
            <a:spLocks noGrp="1" noChangeArrowheads="1"/>
          </p:cNvSpPr>
          <p:nvPr>
            <p:ph type="title"/>
          </p:nvPr>
        </p:nvSpPr>
        <p:spPr>
          <a:xfrm>
            <a:off x="0" y="304800"/>
            <a:ext cx="7562850" cy="914400"/>
          </a:xfrm>
        </p:spPr>
        <p:txBody>
          <a:bodyPr anchor="t"/>
          <a:lstStyle/>
          <a:p>
            <a:r>
              <a:rPr lang="en-US" dirty="0" smtClean="0"/>
              <a:t>Computer System Operation</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3"/>
          <p:cNvSpPr>
            <a:spLocks noGrp="1" noChangeArrowheads="1"/>
          </p:cNvSpPr>
          <p:nvPr>
            <p:ph idx="1"/>
          </p:nvPr>
        </p:nvSpPr>
        <p:spPr>
          <a:xfrm>
            <a:off x="457200" y="1143000"/>
            <a:ext cx="8229600" cy="5257800"/>
          </a:xfrm>
        </p:spPr>
        <p:txBody>
          <a:bodyPr/>
          <a:lstStyle/>
          <a:p>
            <a:pPr>
              <a:buFont typeface="Wingdings" pitchFamily="2" charset="2"/>
              <a:buNone/>
            </a:pPr>
            <a:r>
              <a:rPr lang="en-US" dirty="0" smtClean="0"/>
              <a:t>Common Functions :</a:t>
            </a:r>
          </a:p>
          <a:p>
            <a:pPr>
              <a:buFont typeface="Wingdings" pitchFamily="2" charset="2"/>
              <a:buNone/>
            </a:pPr>
            <a:endParaRPr lang="en-US" dirty="0" smtClean="0"/>
          </a:p>
          <a:p>
            <a:pPr algn="just"/>
            <a:r>
              <a:rPr lang="en-US" dirty="0" smtClean="0"/>
              <a:t>Transfer of control to interrupt service routine through interrupt vector, control having addresses of all the service routines.</a:t>
            </a:r>
          </a:p>
          <a:p>
            <a:pPr algn="just"/>
            <a:endParaRPr lang="en-US" dirty="0" smtClean="0"/>
          </a:p>
          <a:p>
            <a:pPr algn="just"/>
            <a:r>
              <a:rPr lang="en-US" dirty="0" smtClean="0"/>
              <a:t>Architecture needs to save address of the interrupted instruction.</a:t>
            </a:r>
          </a:p>
          <a:p>
            <a:pPr algn="just"/>
            <a:endParaRPr lang="en-US" dirty="0" smtClean="0"/>
          </a:p>
          <a:p>
            <a:pPr algn="just"/>
            <a:r>
              <a:rPr lang="en-US" dirty="0" smtClean="0"/>
              <a:t>Disabling incoming interrupts, especially when another interrupt is being processed to prevent a lost interrupt.</a:t>
            </a:r>
          </a:p>
          <a:p>
            <a:pPr>
              <a:buNone/>
            </a:pPr>
            <a:endParaRPr lang="en-US" dirty="0" smtClean="0"/>
          </a:p>
        </p:txBody>
      </p:sp>
      <p:sp>
        <p:nvSpPr>
          <p:cNvPr id="82946" name="Rectangle 2"/>
          <p:cNvSpPr>
            <a:spLocks noGrp="1" noChangeArrowheads="1"/>
          </p:cNvSpPr>
          <p:nvPr>
            <p:ph type="title"/>
          </p:nvPr>
        </p:nvSpPr>
        <p:spPr>
          <a:xfrm>
            <a:off x="0" y="228600"/>
            <a:ext cx="7562850" cy="914400"/>
          </a:xfrm>
        </p:spPr>
        <p:txBody>
          <a:bodyPr anchor="t"/>
          <a:lstStyle/>
          <a:p>
            <a:r>
              <a:rPr lang="en-US" dirty="0" smtClean="0"/>
              <a:t>Interrupts</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3"/>
          <p:cNvSpPr>
            <a:spLocks noGrp="1" noChangeArrowheads="1"/>
          </p:cNvSpPr>
          <p:nvPr>
            <p:ph idx="1"/>
          </p:nvPr>
        </p:nvSpPr>
        <p:spPr/>
        <p:txBody>
          <a:bodyPr/>
          <a:lstStyle/>
          <a:p>
            <a:pPr algn="just"/>
            <a:r>
              <a:rPr lang="en-US" dirty="0" smtClean="0"/>
              <a:t>The Operating System needs to maintain state of the CPU by storing register values and the program counter particulars.</a:t>
            </a:r>
          </a:p>
          <a:p>
            <a:pPr algn="just"/>
            <a:endParaRPr lang="en-US" dirty="0" smtClean="0"/>
          </a:p>
          <a:p>
            <a:pPr algn="just"/>
            <a:r>
              <a:rPr lang="en-US" dirty="0" smtClean="0"/>
              <a:t>Require to determine type of interrupt such as</a:t>
            </a:r>
          </a:p>
          <a:p>
            <a:pPr lvl="1" algn="just">
              <a:buFontTx/>
              <a:buChar char="•"/>
            </a:pPr>
            <a:r>
              <a:rPr lang="en-US" dirty="0" smtClean="0"/>
              <a:t>polling</a:t>
            </a:r>
          </a:p>
          <a:p>
            <a:pPr lvl="1" algn="just">
              <a:buFontTx/>
              <a:buChar char="•"/>
            </a:pPr>
            <a:r>
              <a:rPr lang="en-US" dirty="0" smtClean="0"/>
              <a:t>vectored interrupt system</a:t>
            </a:r>
          </a:p>
          <a:p>
            <a:pPr algn="just"/>
            <a:endParaRPr lang="en-US" dirty="0" smtClean="0"/>
          </a:p>
          <a:p>
            <a:pPr algn="just"/>
            <a:r>
              <a:rPr lang="en-US" dirty="0" smtClean="0"/>
              <a:t>Separate segments of code will determine what action need to be taken for each type of interrupt.</a:t>
            </a:r>
          </a:p>
        </p:txBody>
      </p:sp>
      <p:sp>
        <p:nvSpPr>
          <p:cNvPr id="84994" name="Rectangle 2"/>
          <p:cNvSpPr>
            <a:spLocks noGrp="1" noChangeArrowheads="1"/>
          </p:cNvSpPr>
          <p:nvPr>
            <p:ph type="title"/>
          </p:nvPr>
        </p:nvSpPr>
        <p:spPr>
          <a:xfrm>
            <a:off x="0" y="228600"/>
            <a:ext cx="7562850" cy="914400"/>
          </a:xfrm>
        </p:spPr>
        <p:txBody>
          <a:bodyPr anchor="t"/>
          <a:lstStyle/>
          <a:p>
            <a:r>
              <a:rPr lang="en-US" dirty="0" smtClean="0"/>
              <a:t>Interrupt Handling</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3"/>
          <p:cNvSpPr>
            <a:spLocks noGrp="1" noChangeArrowheads="1"/>
          </p:cNvSpPr>
          <p:nvPr>
            <p:ph idx="1"/>
          </p:nvPr>
        </p:nvSpPr>
        <p:spPr/>
        <p:txBody>
          <a:bodyPr/>
          <a:lstStyle/>
          <a:p>
            <a:r>
              <a:rPr lang="en-US" dirty="0" smtClean="0"/>
              <a:t>Main memory </a:t>
            </a:r>
          </a:p>
          <a:p>
            <a:pPr>
              <a:buFont typeface="Wingdings" pitchFamily="2" charset="2"/>
              <a:buNone/>
            </a:pPr>
            <a:endParaRPr lang="en-US" dirty="0" smtClean="0"/>
          </a:p>
          <a:p>
            <a:endParaRPr lang="en-US" dirty="0" smtClean="0"/>
          </a:p>
          <a:p>
            <a:r>
              <a:rPr lang="en-US" dirty="0" smtClean="0"/>
              <a:t>Secondary storage </a:t>
            </a:r>
          </a:p>
          <a:p>
            <a:pPr>
              <a:buFont typeface="Wingdings" pitchFamily="2" charset="2"/>
              <a:buNone/>
            </a:pPr>
            <a:endParaRPr lang="en-US" sz="1800" dirty="0" smtClean="0"/>
          </a:p>
          <a:p>
            <a:endParaRPr lang="en-US" dirty="0" smtClean="0"/>
          </a:p>
          <a:p>
            <a:r>
              <a:rPr lang="en-US" dirty="0" smtClean="0"/>
              <a:t>Magnetic disks </a:t>
            </a:r>
          </a:p>
        </p:txBody>
      </p:sp>
      <p:sp>
        <p:nvSpPr>
          <p:cNvPr id="87042" name="Rectangle 2"/>
          <p:cNvSpPr>
            <a:spLocks noGrp="1" noChangeArrowheads="1"/>
          </p:cNvSpPr>
          <p:nvPr>
            <p:ph type="title"/>
          </p:nvPr>
        </p:nvSpPr>
        <p:spPr>
          <a:xfrm>
            <a:off x="0" y="228600"/>
            <a:ext cx="7562850" cy="914400"/>
          </a:xfrm>
        </p:spPr>
        <p:txBody>
          <a:bodyPr anchor="t"/>
          <a:lstStyle/>
          <a:p>
            <a:r>
              <a:rPr lang="en-US" dirty="0" smtClean="0"/>
              <a:t>Storage Structure</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89" name="Picture 3"/>
          <p:cNvPicPr>
            <a:picLocks noGrp="1" noChangeAspect="1" noChangeArrowheads="1"/>
          </p:cNvPicPr>
          <p:nvPr>
            <p:ph idx="1"/>
          </p:nvPr>
        </p:nvPicPr>
        <p:blipFill>
          <a:blip r:embed="rId3" cstate="print"/>
          <a:srcRect/>
          <a:stretch>
            <a:fillRect/>
          </a:stretch>
        </p:blipFill>
        <p:spPr>
          <a:xfrm>
            <a:off x="2071688" y="1371600"/>
            <a:ext cx="5000625" cy="5029200"/>
          </a:xfrm>
        </p:spPr>
      </p:pic>
      <p:sp>
        <p:nvSpPr>
          <p:cNvPr id="89090" name="Rectangle 2"/>
          <p:cNvSpPr>
            <a:spLocks noGrp="1"/>
          </p:cNvSpPr>
          <p:nvPr>
            <p:ph type="title"/>
          </p:nvPr>
        </p:nvSpPr>
        <p:spPr>
          <a:xfrm>
            <a:off x="0" y="0"/>
            <a:ext cx="7562850" cy="914400"/>
          </a:xfrm>
        </p:spPr>
        <p:txBody>
          <a:bodyPr/>
          <a:lstStyle/>
          <a:p>
            <a:r>
              <a:rPr lang="en-US" smtClean="0"/>
              <a:t>Moving-Head Disk Mechanism</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3"/>
          <p:cNvSpPr>
            <a:spLocks noGrp="1" noChangeArrowheads="1"/>
          </p:cNvSpPr>
          <p:nvPr>
            <p:ph idx="1"/>
          </p:nvPr>
        </p:nvSpPr>
        <p:spPr/>
        <p:txBody>
          <a:bodyPr/>
          <a:lstStyle/>
          <a:p>
            <a:r>
              <a:rPr lang="en-US" dirty="0" smtClean="0"/>
              <a:t>Used for high-speed I/O devices</a:t>
            </a:r>
          </a:p>
          <a:p>
            <a:endParaRPr lang="en-US" dirty="0" smtClean="0"/>
          </a:p>
          <a:p>
            <a:pPr algn="just"/>
            <a:r>
              <a:rPr lang="en-US" dirty="0" smtClean="0"/>
              <a:t>Device controller transfers blocks of data from buffer storage directly to main memory without CPU intervention</a:t>
            </a:r>
          </a:p>
          <a:p>
            <a:pPr algn="just"/>
            <a:endParaRPr lang="en-US" dirty="0" smtClean="0"/>
          </a:p>
          <a:p>
            <a:pPr algn="just"/>
            <a:r>
              <a:rPr lang="en-US" dirty="0" smtClean="0"/>
              <a:t>Only on interrupt is generated per block, rather than the one interrupt per byte</a:t>
            </a:r>
          </a:p>
        </p:txBody>
      </p:sp>
      <p:sp>
        <p:nvSpPr>
          <p:cNvPr id="91138" name="Rectangle 2"/>
          <p:cNvSpPr>
            <a:spLocks noGrp="1" noChangeArrowheads="1"/>
          </p:cNvSpPr>
          <p:nvPr>
            <p:ph type="title"/>
          </p:nvPr>
        </p:nvSpPr>
        <p:spPr>
          <a:xfrm>
            <a:off x="0" y="228600"/>
            <a:ext cx="7562850" cy="914400"/>
          </a:xfrm>
        </p:spPr>
        <p:txBody>
          <a:bodyPr anchor="t"/>
          <a:lstStyle/>
          <a:p>
            <a:r>
              <a:rPr lang="en-US" dirty="0" smtClean="0"/>
              <a:t>Direct Memory Access Structure</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3"/>
          <p:cNvSpPr>
            <a:spLocks noGrp="1" noChangeArrowheads="1"/>
          </p:cNvSpPr>
          <p:nvPr>
            <p:ph idx="1"/>
          </p:nvPr>
        </p:nvSpPr>
        <p:spPr/>
        <p:txBody>
          <a:bodyPr/>
          <a:lstStyle/>
          <a:p>
            <a:r>
              <a:rPr lang="en-US" dirty="0" smtClean="0"/>
              <a:t>Storage systems organized in hierarchy</a:t>
            </a:r>
          </a:p>
          <a:p>
            <a:pPr lvl="1">
              <a:buFontTx/>
              <a:buChar char="•"/>
            </a:pPr>
            <a:r>
              <a:rPr lang="en-US" dirty="0" smtClean="0"/>
              <a:t>Speed</a:t>
            </a:r>
          </a:p>
          <a:p>
            <a:pPr lvl="1">
              <a:buFontTx/>
              <a:buChar char="•"/>
            </a:pPr>
            <a:r>
              <a:rPr lang="en-US" dirty="0" smtClean="0"/>
              <a:t>Cost</a:t>
            </a:r>
          </a:p>
          <a:p>
            <a:pPr lvl="1">
              <a:buFontTx/>
              <a:buChar char="•"/>
            </a:pPr>
            <a:r>
              <a:rPr lang="en-US" dirty="0" smtClean="0"/>
              <a:t>Volatility</a:t>
            </a:r>
          </a:p>
          <a:p>
            <a:endParaRPr lang="en-US" dirty="0" smtClean="0"/>
          </a:p>
          <a:p>
            <a:r>
              <a:rPr lang="en-US" dirty="0" smtClean="0"/>
              <a:t>Caching – copying information into faster storage system</a:t>
            </a:r>
          </a:p>
        </p:txBody>
      </p:sp>
      <p:sp>
        <p:nvSpPr>
          <p:cNvPr id="93186" name="Rectangle 2"/>
          <p:cNvSpPr>
            <a:spLocks noGrp="1" noChangeArrowheads="1"/>
          </p:cNvSpPr>
          <p:nvPr>
            <p:ph type="title"/>
          </p:nvPr>
        </p:nvSpPr>
        <p:spPr>
          <a:xfrm>
            <a:off x="0" y="304800"/>
            <a:ext cx="7562850" cy="914400"/>
          </a:xfrm>
        </p:spPr>
        <p:txBody>
          <a:bodyPr anchor="t"/>
          <a:lstStyle/>
          <a:p>
            <a:r>
              <a:rPr lang="en-US" dirty="0" smtClean="0"/>
              <a:t>Storage Hierarchy</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3"/>
          <p:cNvSpPr>
            <a:spLocks noGrp="1"/>
          </p:cNvSpPr>
          <p:nvPr>
            <p:ph idx="1"/>
          </p:nvPr>
        </p:nvSpPr>
        <p:spPr/>
        <p:txBody>
          <a:bodyPr/>
          <a:lstStyle/>
          <a:p>
            <a:r>
              <a:rPr lang="en-US" dirty="0" smtClean="0"/>
              <a:t>High-speed memory is used to hold data accessed recently</a:t>
            </a:r>
          </a:p>
          <a:p>
            <a:endParaRPr lang="en-US" dirty="0" smtClean="0"/>
          </a:p>
          <a:p>
            <a:r>
              <a:rPr lang="en-US" dirty="0" smtClean="0"/>
              <a:t>Requires a cache management policy</a:t>
            </a:r>
          </a:p>
          <a:p>
            <a:endParaRPr lang="en-US" dirty="0" smtClean="0"/>
          </a:p>
          <a:p>
            <a:r>
              <a:rPr lang="en-US" dirty="0" smtClean="0"/>
              <a:t>Caching introduces one more level in storage hierarchy. </a:t>
            </a:r>
          </a:p>
          <a:p>
            <a:endParaRPr lang="en-US" dirty="0" smtClean="0"/>
          </a:p>
          <a:p>
            <a:pPr algn="just"/>
            <a:r>
              <a:rPr lang="en-US" dirty="0" smtClean="0"/>
              <a:t>Caching requires data that is concurrently stored in more than one level and when it need to be consistent</a:t>
            </a:r>
          </a:p>
          <a:p>
            <a:endParaRPr lang="en-US" dirty="0" smtClean="0"/>
          </a:p>
        </p:txBody>
      </p:sp>
      <p:sp>
        <p:nvSpPr>
          <p:cNvPr id="95234" name="Rectangle 2"/>
          <p:cNvSpPr>
            <a:spLocks noGrp="1"/>
          </p:cNvSpPr>
          <p:nvPr>
            <p:ph type="title"/>
          </p:nvPr>
        </p:nvSpPr>
        <p:spPr>
          <a:xfrm>
            <a:off x="0" y="0"/>
            <a:ext cx="7562850" cy="914400"/>
          </a:xfrm>
        </p:spPr>
        <p:txBody>
          <a:bodyPr/>
          <a:lstStyle/>
          <a:p>
            <a:r>
              <a:rPr lang="en-US" smtClean="0"/>
              <a:t>Caching</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3"/>
          <p:cNvSpPr>
            <a:spLocks noGrp="1" noChangeArrowheads="1"/>
          </p:cNvSpPr>
          <p:nvPr>
            <p:ph idx="1"/>
          </p:nvPr>
        </p:nvSpPr>
        <p:spPr/>
        <p:txBody>
          <a:bodyPr/>
          <a:lstStyle/>
          <a:p>
            <a:pPr algn="just"/>
            <a:r>
              <a:rPr lang="en-US" dirty="0" smtClean="0"/>
              <a:t>Every I/O instructions are usually privileged instructions</a:t>
            </a:r>
          </a:p>
          <a:p>
            <a:pPr lvl="1" algn="just"/>
            <a:r>
              <a:rPr lang="en-US" dirty="0" smtClean="0"/>
              <a:t>Need to ensure that a user program will not gain control of computer in monitor mode</a:t>
            </a:r>
          </a:p>
          <a:p>
            <a:pPr algn="just"/>
            <a:endParaRPr lang="en-US" sz="1400" dirty="0" smtClean="0"/>
          </a:p>
          <a:p>
            <a:pPr algn="just"/>
            <a:r>
              <a:rPr lang="en-US" dirty="0" smtClean="0"/>
              <a:t>Must provide memory protection at least for interrupt vector and interrupt service routines</a:t>
            </a:r>
          </a:p>
          <a:p>
            <a:pPr algn="just"/>
            <a:endParaRPr lang="en-US" dirty="0" smtClean="0"/>
          </a:p>
          <a:p>
            <a:pPr algn="just"/>
            <a:r>
              <a:rPr lang="en-US" dirty="0" smtClean="0"/>
              <a:t>To achieve memory protection added two registers, which will determine the range of legal addresses of a program may access such as</a:t>
            </a:r>
          </a:p>
          <a:p>
            <a:pPr lvl="1" algn="just"/>
            <a:r>
              <a:rPr lang="en-US" b="1" dirty="0" smtClean="0"/>
              <a:t>Base register</a:t>
            </a:r>
            <a:r>
              <a:rPr lang="en-US" dirty="0" smtClean="0"/>
              <a:t> </a:t>
            </a:r>
          </a:p>
          <a:p>
            <a:pPr lvl="1" algn="just"/>
            <a:r>
              <a:rPr lang="en-US" b="1" dirty="0" smtClean="0"/>
              <a:t>Limit register</a:t>
            </a:r>
            <a:r>
              <a:rPr lang="en-US" dirty="0" smtClean="0"/>
              <a:t> </a:t>
            </a:r>
          </a:p>
          <a:p>
            <a:pPr algn="just"/>
            <a:endParaRPr lang="en-US" dirty="0" smtClean="0"/>
          </a:p>
          <a:p>
            <a:pPr algn="just"/>
            <a:r>
              <a:rPr lang="en-US" dirty="0" smtClean="0"/>
              <a:t>Memory outside the defined range is protected</a:t>
            </a:r>
          </a:p>
        </p:txBody>
      </p:sp>
      <p:sp>
        <p:nvSpPr>
          <p:cNvPr id="97282" name="Rectangle 2"/>
          <p:cNvSpPr>
            <a:spLocks noGrp="1" noChangeArrowheads="1"/>
          </p:cNvSpPr>
          <p:nvPr>
            <p:ph type="title"/>
          </p:nvPr>
        </p:nvSpPr>
        <p:spPr>
          <a:xfrm>
            <a:off x="0" y="304800"/>
            <a:ext cx="7562850" cy="914400"/>
          </a:xfrm>
        </p:spPr>
        <p:txBody>
          <a:bodyPr anchor="t"/>
          <a:lstStyle/>
          <a:p>
            <a:r>
              <a:rPr lang="en-US" dirty="0" smtClean="0"/>
              <a:t>Memory &amp; I/O Protection</a:t>
            </a:r>
          </a:p>
        </p:txBody>
      </p:sp>
      <p:sp>
        <p:nvSpPr>
          <p:cNvPr id="97283" name="Date Placeholder 3"/>
          <p:cNvSpPr>
            <a:spLocks noGrp="1"/>
          </p:cNvSpPr>
          <p:nvPr>
            <p:ph type="dt" sz="quarter" idx="4294967295"/>
          </p:nvPr>
        </p:nvSpPr>
        <p:spPr bwMode="auto">
          <a:xfrm>
            <a:off x="8686800" y="6457950"/>
            <a:ext cx="457200" cy="323850"/>
          </a:xfrm>
          <a:prstGeom prst="rect">
            <a:avLst/>
          </a:prstGeom>
          <a:noFill/>
          <a:ln>
            <a:miter lim="800000"/>
            <a:headEnd/>
            <a:tailEnd/>
          </a:ln>
        </p:spPr>
        <p:txBody>
          <a:bodyPr/>
          <a:lstStyle/>
          <a:p>
            <a:fld id="{47B994EF-784F-4BB0-B43D-EA9A15B560AA}" type="slidenum">
              <a:rPr lang="en-US"/>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3"/>
          <p:cNvSpPr>
            <a:spLocks noGrp="1" noChangeArrowheads="1"/>
          </p:cNvSpPr>
          <p:nvPr>
            <p:ph idx="1"/>
          </p:nvPr>
        </p:nvSpPr>
        <p:spPr/>
        <p:txBody>
          <a:bodyPr/>
          <a:lstStyle/>
          <a:p>
            <a:pPr algn="just"/>
            <a:r>
              <a:rPr lang="en-US" dirty="0" smtClean="0"/>
              <a:t>Timer – interrupts computer system after specified period of time to ensure operating system retains the control.</a:t>
            </a:r>
          </a:p>
          <a:p>
            <a:pPr lvl="1" algn="just">
              <a:buNone/>
            </a:pPr>
            <a:endParaRPr lang="en-US" dirty="0" smtClean="0"/>
          </a:p>
          <a:p>
            <a:pPr algn="just"/>
            <a:r>
              <a:rPr lang="en-US" dirty="0" smtClean="0"/>
              <a:t>Timer is regularly used to implement time sharing</a:t>
            </a:r>
          </a:p>
          <a:p>
            <a:pPr algn="just"/>
            <a:endParaRPr lang="en-US" dirty="0" smtClean="0"/>
          </a:p>
          <a:p>
            <a:pPr algn="just"/>
            <a:r>
              <a:rPr lang="en-US" dirty="0" smtClean="0"/>
              <a:t>Timer is furthermore used to calculate the current time</a:t>
            </a:r>
          </a:p>
          <a:p>
            <a:pPr algn="just"/>
            <a:endParaRPr lang="en-US" dirty="0" smtClean="0"/>
          </a:p>
          <a:p>
            <a:pPr algn="just"/>
            <a:r>
              <a:rPr lang="en-US" dirty="0" smtClean="0"/>
              <a:t>Load-timer is a privileged instruction</a:t>
            </a:r>
          </a:p>
          <a:p>
            <a:endParaRPr lang="en-US" dirty="0" smtClean="0"/>
          </a:p>
          <a:p>
            <a:r>
              <a:rPr lang="en-US" dirty="0" smtClean="0"/>
              <a:t>After some period to guarantee</a:t>
            </a:r>
          </a:p>
        </p:txBody>
      </p:sp>
      <p:sp>
        <p:nvSpPr>
          <p:cNvPr id="101378" name="Rectangle 2"/>
          <p:cNvSpPr>
            <a:spLocks noGrp="1" noChangeArrowheads="1"/>
          </p:cNvSpPr>
          <p:nvPr>
            <p:ph type="title"/>
          </p:nvPr>
        </p:nvSpPr>
        <p:spPr>
          <a:xfrm>
            <a:off x="0" y="381000"/>
            <a:ext cx="7562850" cy="914400"/>
          </a:xfrm>
        </p:spPr>
        <p:txBody>
          <a:bodyPr anchor="t"/>
          <a:lstStyle/>
          <a:p>
            <a:r>
              <a:rPr lang="en-US" dirty="0" smtClean="0"/>
              <a:t>CPU Protection</a:t>
            </a:r>
          </a:p>
        </p:txBody>
      </p:sp>
      <p:sp>
        <p:nvSpPr>
          <p:cNvPr id="101379" name="Date Placeholder 3"/>
          <p:cNvSpPr>
            <a:spLocks noGrp="1"/>
          </p:cNvSpPr>
          <p:nvPr>
            <p:ph type="dt" sz="quarter" idx="4294967295"/>
          </p:nvPr>
        </p:nvSpPr>
        <p:spPr bwMode="auto">
          <a:xfrm>
            <a:off x="8686800" y="6457950"/>
            <a:ext cx="457200" cy="323850"/>
          </a:xfrm>
          <a:prstGeom prst="rect">
            <a:avLst/>
          </a:prstGeom>
          <a:noFill/>
          <a:ln>
            <a:miter lim="800000"/>
            <a:headEnd/>
            <a:tailEnd/>
          </a:ln>
        </p:spPr>
        <p:txBody>
          <a:bodyPr/>
          <a:lstStyle/>
          <a:p>
            <a:fld id="{987F3BA4-7F5F-4D5C-8FEE-FFAEF4477D22}" type="slidenum">
              <a:rPr lang="en-US"/>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3"/>
          <p:cNvSpPr>
            <a:spLocks noGrp="1" noChangeArrowheads="1"/>
          </p:cNvSpPr>
          <p:nvPr>
            <p:ph idx="1"/>
          </p:nvPr>
        </p:nvSpPr>
        <p:spPr/>
        <p:txBody>
          <a:bodyPr/>
          <a:lstStyle/>
          <a:p>
            <a:r>
              <a:rPr lang="en-US" dirty="0" smtClean="0"/>
              <a:t>Loading the operating system into memory is called booting the system</a:t>
            </a:r>
          </a:p>
          <a:p>
            <a:endParaRPr lang="en-US" dirty="0" smtClean="0"/>
          </a:p>
          <a:p>
            <a:pPr algn="just"/>
            <a:r>
              <a:rPr lang="en-US" dirty="0" smtClean="0"/>
              <a:t>The word booting is used because figuratively speaking the operating system pulls itself up by its bootstraps</a:t>
            </a:r>
          </a:p>
          <a:p>
            <a:endParaRPr lang="en-US" dirty="0" smtClean="0"/>
          </a:p>
          <a:p>
            <a:endParaRPr lang="en-US" dirty="0" smtClean="0"/>
          </a:p>
        </p:txBody>
      </p:sp>
      <p:sp>
        <p:nvSpPr>
          <p:cNvPr id="103426" name="Rectangle 2"/>
          <p:cNvSpPr>
            <a:spLocks noGrp="1" noChangeArrowheads="1"/>
          </p:cNvSpPr>
          <p:nvPr>
            <p:ph type="title"/>
          </p:nvPr>
        </p:nvSpPr>
        <p:spPr>
          <a:xfrm>
            <a:off x="0" y="228600"/>
            <a:ext cx="7562850" cy="914400"/>
          </a:xfrm>
        </p:spPr>
        <p:txBody>
          <a:bodyPr anchor="t"/>
          <a:lstStyle/>
          <a:p>
            <a:r>
              <a:rPr lang="en-US" dirty="0" smtClean="0"/>
              <a:t>Booting a system</a:t>
            </a:r>
            <a:r>
              <a:rPr lang="en-US" sz="1800" dirty="0" smtClean="0"/>
              <a:t> </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Content Placeholder 1"/>
          <p:cNvSpPr>
            <a:spLocks noGrp="1"/>
          </p:cNvSpPr>
          <p:nvPr>
            <p:ph idx="1"/>
          </p:nvPr>
        </p:nvSpPr>
        <p:spPr/>
        <p:txBody>
          <a:bodyPr/>
          <a:lstStyle/>
          <a:p>
            <a:pPr>
              <a:buFont typeface="Wingdings" pitchFamily="2" charset="2"/>
              <a:buNone/>
            </a:pPr>
            <a:r>
              <a:rPr lang="en-GB" sz="2400" dirty="0" smtClean="0"/>
              <a:t>In this module, we discussed :</a:t>
            </a:r>
          </a:p>
          <a:p>
            <a:endParaRPr lang="en-GB" sz="2400" dirty="0" smtClean="0"/>
          </a:p>
          <a:p>
            <a:r>
              <a:rPr lang="en-US" sz="2400" dirty="0" smtClean="0"/>
              <a:t>Operating System - functions</a:t>
            </a:r>
          </a:p>
          <a:p>
            <a:r>
              <a:rPr lang="en-US" sz="2400" dirty="0" smtClean="0"/>
              <a:t>Operating Systems - File Management </a:t>
            </a:r>
          </a:p>
          <a:p>
            <a:r>
              <a:rPr lang="en-US" sz="2400" dirty="0" smtClean="0"/>
              <a:t>Interrupts</a:t>
            </a:r>
          </a:p>
          <a:p>
            <a:r>
              <a:rPr lang="en-US" sz="2400" dirty="0" smtClean="0"/>
              <a:t>OS  - I/O Structure</a:t>
            </a:r>
          </a:p>
          <a:p>
            <a:r>
              <a:rPr lang="en-US" sz="2400" dirty="0" smtClean="0"/>
              <a:t>OS</a:t>
            </a:r>
            <a:r>
              <a:rPr lang="en-GB" sz="2400" dirty="0" smtClean="0"/>
              <a:t> - </a:t>
            </a:r>
            <a:r>
              <a:rPr lang="en-US" sz="2400" dirty="0" smtClean="0"/>
              <a:t>Security &amp; Protection</a:t>
            </a:r>
            <a:endParaRPr lang="en-GB" sz="2400" dirty="0" smtClean="0"/>
          </a:p>
          <a:p>
            <a:endParaRPr lang="en-US" dirty="0" smtClean="0"/>
          </a:p>
        </p:txBody>
      </p:sp>
      <p:sp>
        <p:nvSpPr>
          <p:cNvPr id="105474" name="Title 2"/>
          <p:cNvSpPr>
            <a:spLocks noGrp="1"/>
          </p:cNvSpPr>
          <p:nvPr>
            <p:ph type="title"/>
          </p:nvPr>
        </p:nvSpPr>
        <p:spPr>
          <a:xfrm>
            <a:off x="0" y="0"/>
            <a:ext cx="7562850" cy="914400"/>
          </a:xfrm>
        </p:spPr>
        <p:txBody>
          <a:bodyPr/>
          <a:lstStyle/>
          <a:p>
            <a:r>
              <a:rPr lang="en-US" smtClean="0"/>
              <a:t>Summary</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9"/>
          <p:cNvSpPr>
            <a:spLocks noGrp="1"/>
          </p:cNvSpPr>
          <p:nvPr>
            <p:ph type="title"/>
          </p:nvPr>
        </p:nvSpPr>
        <p:spPr>
          <a:xfrm>
            <a:off x="2057400" y="3124200"/>
            <a:ext cx="7086600" cy="1755775"/>
          </a:xfrm>
        </p:spPr>
        <p:txBody>
          <a:bodyPr/>
          <a:lstStyle/>
          <a:p>
            <a:r>
              <a:rPr lang="en-US" dirty="0" smtClean="0"/>
              <a:t>Process Management</a:t>
            </a:r>
            <a:r>
              <a:rPr lang="en-US" sz="3200" dirty="0" smtClean="0"/>
              <a:t/>
            </a:r>
            <a:br>
              <a:rPr lang="en-US" sz="3200" dirty="0" smtClean="0"/>
            </a:br>
            <a:r>
              <a:rPr lang="en-US" sz="3200" dirty="0" smtClean="0"/>
              <a:t> </a:t>
            </a:r>
            <a:r>
              <a:rPr lang="en-US" sz="2400" b="0" dirty="0" smtClean="0">
                <a:solidFill>
                  <a:schemeClr val="tx1">
                    <a:lumMod val="50000"/>
                    <a:lumOff val="50000"/>
                  </a:schemeClr>
                </a:solidFill>
              </a:rPr>
              <a:t>Module 3</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Content Placeholder 4"/>
          <p:cNvSpPr>
            <a:spLocks noGrp="1"/>
          </p:cNvSpPr>
          <p:nvPr>
            <p:ph idx="1"/>
          </p:nvPr>
        </p:nvSpPr>
        <p:spPr>
          <a:xfrm>
            <a:off x="457200" y="1371600"/>
            <a:ext cx="8153400" cy="4876800"/>
          </a:xfrm>
        </p:spPr>
        <p:txBody>
          <a:bodyPr/>
          <a:lstStyle/>
          <a:p>
            <a:pPr>
              <a:buFont typeface="Arial" charset="0"/>
              <a:buNone/>
            </a:pPr>
            <a:r>
              <a:rPr lang="en-US" sz="2400" dirty="0" smtClean="0"/>
              <a:t>At the end of this session, you will be able to:</a:t>
            </a:r>
          </a:p>
          <a:p>
            <a:endParaRPr lang="en-US" sz="2400" dirty="0" smtClean="0"/>
          </a:p>
          <a:p>
            <a:r>
              <a:rPr lang="en-US" sz="2400" dirty="0" smtClean="0"/>
              <a:t>Define Process model</a:t>
            </a:r>
          </a:p>
          <a:p>
            <a:r>
              <a:rPr lang="en-US" sz="2400" dirty="0" smtClean="0"/>
              <a:t>Describe Process States and Transitions</a:t>
            </a:r>
          </a:p>
          <a:p>
            <a:r>
              <a:rPr lang="en-US" sz="2400" dirty="0" smtClean="0"/>
              <a:t>Explain Process life cycle</a:t>
            </a:r>
          </a:p>
          <a:p>
            <a:r>
              <a:rPr lang="en-US" sz="2400" dirty="0" smtClean="0"/>
              <a:t>Define Threads</a:t>
            </a:r>
          </a:p>
          <a:p>
            <a:r>
              <a:rPr lang="en-US" sz="2400" dirty="0" smtClean="0"/>
              <a:t>Discuss user level threads library</a:t>
            </a:r>
          </a:p>
        </p:txBody>
      </p:sp>
      <p:sp>
        <p:nvSpPr>
          <p:cNvPr id="109570" name="Title 3"/>
          <p:cNvSpPr>
            <a:spLocks noGrp="1"/>
          </p:cNvSpPr>
          <p:nvPr>
            <p:ph type="title"/>
          </p:nvPr>
        </p:nvSpPr>
        <p:spPr>
          <a:xfrm>
            <a:off x="0" y="0"/>
            <a:ext cx="7562850" cy="914400"/>
          </a:xfrm>
        </p:spPr>
        <p:txBody>
          <a:bodyPr/>
          <a:lstStyle/>
          <a:p>
            <a:r>
              <a:rPr lang="en-US" smtClean="0"/>
              <a:t>Objectives</a:t>
            </a:r>
          </a:p>
        </p:txBody>
      </p:sp>
      <p:sp>
        <p:nvSpPr>
          <p:cNvPr id="109571" name="Text Placeholder 8"/>
          <p:cNvSpPr txBox="1">
            <a:spLocks/>
          </p:cNvSpPr>
          <p:nvPr/>
        </p:nvSpPr>
        <p:spPr bwMode="auto">
          <a:xfrm>
            <a:off x="4038600" y="6248400"/>
            <a:ext cx="5105400" cy="457200"/>
          </a:xfrm>
          <a:prstGeom prst="rect">
            <a:avLst/>
          </a:prstGeom>
          <a:noFill/>
          <a:ln w="9525" algn="ctr">
            <a:noFill/>
            <a:miter lim="800000"/>
            <a:headEnd/>
            <a:tailEnd/>
          </a:ln>
        </p:spPr>
        <p:txBody>
          <a:bodyPr/>
          <a:lstStyle/>
          <a:p>
            <a:pPr marL="342900" indent="-342900" algn="r">
              <a:spcBef>
                <a:spcPct val="20000"/>
              </a:spcBef>
              <a:buFont typeface="Wingdings" pitchFamily="2" charset="2"/>
              <a:buNone/>
            </a:pPr>
            <a:r>
              <a:rPr lang="en-GB">
                <a:solidFill>
                  <a:srgbClr val="7F7F7F"/>
                </a:solidFill>
              </a:rPr>
              <a:t>Duration: 3 hrs</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3"/>
          <p:cNvSpPr>
            <a:spLocks noGrp="1" noChangeArrowheads="1"/>
          </p:cNvSpPr>
          <p:nvPr>
            <p:ph idx="1"/>
          </p:nvPr>
        </p:nvSpPr>
        <p:spPr/>
        <p:txBody>
          <a:bodyPr/>
          <a:lstStyle/>
          <a:p>
            <a:r>
              <a:rPr lang="en-US" dirty="0" smtClean="0"/>
              <a:t>Processes carry out tasks within the operating system</a:t>
            </a:r>
          </a:p>
          <a:p>
            <a:endParaRPr lang="en-US" dirty="0" smtClean="0"/>
          </a:p>
          <a:p>
            <a:r>
              <a:rPr lang="en-US" dirty="0" smtClean="0"/>
              <a:t>A process can be thought of as a  program in execution</a:t>
            </a:r>
          </a:p>
          <a:p>
            <a:pPr>
              <a:buNone/>
            </a:pPr>
            <a:endParaRPr lang="en-US" dirty="0" smtClean="0"/>
          </a:p>
          <a:p>
            <a:r>
              <a:rPr lang="en-US" dirty="0" smtClean="0"/>
              <a:t>Examples for multiprocessing systems are : UNIX/LINUX</a:t>
            </a:r>
          </a:p>
          <a:p>
            <a:pPr>
              <a:buNone/>
            </a:pPr>
            <a:endParaRPr lang="en-US" dirty="0" smtClean="0"/>
          </a:p>
        </p:txBody>
      </p:sp>
      <p:sp>
        <p:nvSpPr>
          <p:cNvPr id="111618" name="Rectangle 2"/>
          <p:cNvSpPr>
            <a:spLocks noGrp="1" noChangeArrowheads="1"/>
          </p:cNvSpPr>
          <p:nvPr>
            <p:ph type="title"/>
          </p:nvPr>
        </p:nvSpPr>
        <p:spPr>
          <a:xfrm>
            <a:off x="0" y="228600"/>
            <a:ext cx="7562850" cy="914400"/>
          </a:xfrm>
        </p:spPr>
        <p:txBody>
          <a:bodyPr anchor="t"/>
          <a:lstStyle/>
          <a:p>
            <a:r>
              <a:rPr lang="en-US" dirty="0" smtClean="0"/>
              <a:t>Process Management</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3"/>
          <p:cNvSpPr>
            <a:spLocks noGrp="1" noChangeArrowheads="1"/>
          </p:cNvSpPr>
          <p:nvPr>
            <p:ph idx="1"/>
          </p:nvPr>
        </p:nvSpPr>
        <p:spPr/>
        <p:txBody>
          <a:bodyPr/>
          <a:lstStyle/>
          <a:p>
            <a:r>
              <a:rPr lang="en-US" dirty="0" smtClean="0"/>
              <a:t>Many resources are used by the process during its lifetime.</a:t>
            </a:r>
          </a:p>
          <a:p>
            <a:endParaRPr lang="en-US" dirty="0" smtClean="0"/>
          </a:p>
          <a:p>
            <a:pPr algn="just"/>
            <a:r>
              <a:rPr lang="en-US" dirty="0" smtClean="0"/>
              <a:t>Operating system need to keep track of the process itself and managing system resources along with other processes in the system fairly</a:t>
            </a:r>
          </a:p>
          <a:p>
            <a:endParaRPr lang="en-US" dirty="0" smtClean="0"/>
          </a:p>
          <a:p>
            <a:endParaRPr lang="en-US" dirty="0" smtClean="0"/>
          </a:p>
        </p:txBody>
      </p:sp>
      <p:sp>
        <p:nvSpPr>
          <p:cNvPr id="113666" name="Rectangle 2"/>
          <p:cNvSpPr>
            <a:spLocks noGrp="1" noChangeArrowheads="1"/>
          </p:cNvSpPr>
          <p:nvPr>
            <p:ph type="title"/>
          </p:nvPr>
        </p:nvSpPr>
        <p:spPr>
          <a:xfrm>
            <a:off x="0" y="304800"/>
            <a:ext cx="7562850" cy="914400"/>
          </a:xfrm>
        </p:spPr>
        <p:txBody>
          <a:bodyPr anchor="t"/>
          <a:lstStyle/>
          <a:p>
            <a:r>
              <a:rPr lang="en-US" dirty="0" smtClean="0"/>
              <a:t>Processes</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3"/>
          <p:cNvSpPr>
            <a:spLocks noGrp="1" noChangeArrowheads="1"/>
          </p:cNvSpPr>
          <p:nvPr>
            <p:ph idx="1"/>
          </p:nvPr>
        </p:nvSpPr>
        <p:spPr>
          <a:xfrm>
            <a:off x="381000" y="1143000"/>
            <a:ext cx="8458200" cy="5181600"/>
          </a:xfrm>
        </p:spPr>
        <p:txBody>
          <a:bodyPr/>
          <a:lstStyle/>
          <a:p>
            <a:pPr>
              <a:buFont typeface="Wingdings" pitchFamily="2" charset="2"/>
              <a:buNone/>
            </a:pPr>
            <a:r>
              <a:rPr lang="en-US" dirty="0" smtClean="0"/>
              <a:t>Process mode:</a:t>
            </a:r>
          </a:p>
          <a:p>
            <a:pPr>
              <a:buFont typeface="Wingdings" pitchFamily="2" charset="2"/>
              <a:buNone/>
            </a:pPr>
            <a:endParaRPr lang="en-US" dirty="0" smtClean="0"/>
          </a:p>
          <a:p>
            <a:pPr algn="just">
              <a:buFont typeface="Wingdings" pitchFamily="2" charset="2"/>
              <a:buNone/>
            </a:pPr>
            <a:r>
              <a:rPr lang="en-US" dirty="0" smtClean="0"/>
              <a:t>In case of UNIX, the computer hardware must provide two modes of execution</a:t>
            </a:r>
          </a:p>
          <a:p>
            <a:pPr algn="just"/>
            <a:r>
              <a:rPr lang="en-US" sz="1800" dirty="0" smtClean="0"/>
              <a:t>kernel mode</a:t>
            </a:r>
          </a:p>
          <a:p>
            <a:pPr algn="just"/>
            <a:r>
              <a:rPr lang="en-US" sz="1800" dirty="0" smtClean="0"/>
              <a:t>user mode</a:t>
            </a:r>
          </a:p>
          <a:p>
            <a:pPr algn="just">
              <a:buFont typeface="Wingdings" pitchFamily="2" charset="2"/>
              <a:buNone/>
            </a:pPr>
            <a:endParaRPr lang="en-US" dirty="0" smtClean="0"/>
          </a:p>
          <a:p>
            <a:pPr algn="just">
              <a:buFont typeface="Wingdings" pitchFamily="2" charset="2"/>
              <a:buNone/>
            </a:pPr>
            <a:r>
              <a:rPr lang="en-US" dirty="0" smtClean="0"/>
              <a:t>However, some computers will take more than two execution modes</a:t>
            </a:r>
          </a:p>
          <a:p>
            <a:pPr algn="just">
              <a:buFont typeface="Wingdings" pitchFamily="2" charset="2"/>
              <a:buNone/>
            </a:pPr>
            <a:endParaRPr lang="en-US" sz="1800" dirty="0" smtClean="0"/>
          </a:p>
          <a:p>
            <a:pPr algn="just">
              <a:buFont typeface="Wingdings" pitchFamily="2" charset="2"/>
              <a:buNone/>
            </a:pPr>
            <a:r>
              <a:rPr lang="en-US" sz="1800" dirty="0" err="1" smtClean="0"/>
              <a:t>eg</a:t>
            </a:r>
            <a:r>
              <a:rPr lang="en-US" sz="1800" dirty="0" smtClean="0"/>
              <a:t>:  Intel m/</a:t>
            </a:r>
            <a:r>
              <a:rPr lang="en-US" sz="1800" dirty="0" err="1" smtClean="0"/>
              <a:t>cs</a:t>
            </a:r>
            <a:endParaRPr lang="en-US" sz="1800" dirty="0" smtClean="0"/>
          </a:p>
          <a:p>
            <a:pPr algn="just">
              <a:buFont typeface="Wingdings" pitchFamily="2" charset="2"/>
              <a:buNone/>
            </a:pPr>
            <a:endParaRPr lang="en-US" dirty="0" smtClean="0"/>
          </a:p>
          <a:p>
            <a:pPr algn="just">
              <a:buFont typeface="Wingdings" pitchFamily="2" charset="2"/>
              <a:buNone/>
            </a:pPr>
            <a:r>
              <a:rPr lang="en-US" dirty="0" smtClean="0"/>
              <a:t>Each process has virtual address space , references to virtual memory are translated to physical memory locations using set of address translation maps</a:t>
            </a:r>
          </a:p>
          <a:p>
            <a:pPr>
              <a:buFont typeface="Wingdings" pitchFamily="2" charset="2"/>
              <a:buNone/>
            </a:pPr>
            <a:endParaRPr lang="en-US" dirty="0" smtClean="0"/>
          </a:p>
          <a:p>
            <a:pPr>
              <a:buFont typeface="Wingdings" pitchFamily="2" charset="2"/>
              <a:buNone/>
            </a:pPr>
            <a:endParaRPr lang="en-US" dirty="0" smtClean="0"/>
          </a:p>
        </p:txBody>
      </p:sp>
      <p:sp>
        <p:nvSpPr>
          <p:cNvPr id="115714" name="Rectangle 2"/>
          <p:cNvSpPr>
            <a:spLocks noGrp="1" noChangeArrowheads="1"/>
          </p:cNvSpPr>
          <p:nvPr>
            <p:ph type="title"/>
          </p:nvPr>
        </p:nvSpPr>
        <p:spPr>
          <a:xfrm>
            <a:off x="0" y="304800"/>
            <a:ext cx="7562850" cy="914400"/>
          </a:xfrm>
        </p:spPr>
        <p:txBody>
          <a:bodyPr anchor="t"/>
          <a:lstStyle/>
          <a:p>
            <a:r>
              <a:rPr lang="en-US" dirty="0" smtClean="0"/>
              <a:t>Process Execution</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3"/>
          <p:cNvSpPr>
            <a:spLocks noGrp="1" noChangeArrowheads="1"/>
          </p:cNvSpPr>
          <p:nvPr>
            <p:ph idx="1"/>
          </p:nvPr>
        </p:nvSpPr>
        <p:spPr/>
        <p:txBody>
          <a:bodyPr/>
          <a:lstStyle/>
          <a:p>
            <a:pPr algn="just"/>
            <a:r>
              <a:rPr lang="en-US" dirty="0" smtClean="0"/>
              <a:t>As a process executes it changes state according to its circumstances.</a:t>
            </a:r>
          </a:p>
          <a:p>
            <a:endParaRPr lang="en-US" dirty="0" smtClean="0"/>
          </a:p>
          <a:p>
            <a:r>
              <a:rPr lang="en-US" dirty="0" smtClean="0"/>
              <a:t>Standard Unix/Linux processes have the following states: </a:t>
            </a:r>
          </a:p>
          <a:p>
            <a:pPr>
              <a:buFont typeface="Wingdings" pitchFamily="2" charset="2"/>
              <a:buNone/>
            </a:pPr>
            <a:endParaRPr lang="en-US" dirty="0" smtClean="0"/>
          </a:p>
          <a:p>
            <a:pPr>
              <a:buFont typeface="Gill Sans MT" pitchFamily="34" charset="0"/>
              <a:buChar char="–"/>
            </a:pPr>
            <a:r>
              <a:rPr lang="en-US" sz="1800" dirty="0" smtClean="0"/>
              <a:t>Ready</a:t>
            </a:r>
          </a:p>
          <a:p>
            <a:pPr>
              <a:buFont typeface="Gill Sans MT" pitchFamily="34" charset="0"/>
              <a:buChar char="–"/>
            </a:pPr>
            <a:r>
              <a:rPr lang="en-US" sz="1800" dirty="0" smtClean="0"/>
              <a:t>Running</a:t>
            </a:r>
          </a:p>
          <a:p>
            <a:pPr>
              <a:buFont typeface="Gill Sans MT" pitchFamily="34" charset="0"/>
              <a:buChar char="–"/>
            </a:pPr>
            <a:r>
              <a:rPr lang="en-US" sz="1800" dirty="0" smtClean="0"/>
              <a:t>Wait</a:t>
            </a:r>
          </a:p>
          <a:p>
            <a:pPr>
              <a:buFont typeface="Gill Sans MT" pitchFamily="34" charset="0"/>
              <a:buChar char="–"/>
            </a:pPr>
            <a:r>
              <a:rPr lang="en-US" sz="1800" dirty="0" smtClean="0"/>
              <a:t>stopped</a:t>
            </a:r>
          </a:p>
          <a:p>
            <a:pPr>
              <a:buFont typeface="Gill Sans MT" pitchFamily="34" charset="0"/>
              <a:buChar char="–"/>
            </a:pPr>
            <a:r>
              <a:rPr lang="en-US" sz="1800" dirty="0" smtClean="0"/>
              <a:t>zombie</a:t>
            </a:r>
          </a:p>
          <a:p>
            <a:endParaRPr lang="en-US" dirty="0" smtClean="0"/>
          </a:p>
        </p:txBody>
      </p:sp>
      <p:sp>
        <p:nvSpPr>
          <p:cNvPr id="119810" name="Rectangle 2"/>
          <p:cNvSpPr>
            <a:spLocks noGrp="1" noChangeArrowheads="1"/>
          </p:cNvSpPr>
          <p:nvPr>
            <p:ph type="title"/>
          </p:nvPr>
        </p:nvSpPr>
        <p:spPr>
          <a:xfrm>
            <a:off x="0" y="304800"/>
            <a:ext cx="7562850" cy="914400"/>
          </a:xfrm>
        </p:spPr>
        <p:txBody>
          <a:bodyPr anchor="t"/>
          <a:lstStyle/>
          <a:p>
            <a:r>
              <a:rPr lang="en-US" dirty="0" smtClean="0"/>
              <a:t>Process Life cycle</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itle 33"/>
          <p:cNvSpPr>
            <a:spLocks noGrp="1"/>
          </p:cNvSpPr>
          <p:nvPr>
            <p:ph type="title"/>
          </p:nvPr>
        </p:nvSpPr>
        <p:spPr>
          <a:xfrm>
            <a:off x="0" y="0"/>
            <a:ext cx="7562850" cy="914400"/>
          </a:xfrm>
        </p:spPr>
        <p:txBody>
          <a:bodyPr/>
          <a:lstStyle/>
          <a:p>
            <a:r>
              <a:rPr lang="en-US" dirty="0" smtClean="0"/>
              <a:t>Process Life cycle (Contd.).</a:t>
            </a:r>
          </a:p>
        </p:txBody>
      </p:sp>
      <p:sp>
        <p:nvSpPr>
          <p:cNvPr id="121858" name="Oval 2"/>
          <p:cNvSpPr>
            <a:spLocks noChangeArrowheads="1"/>
          </p:cNvSpPr>
          <p:nvPr/>
        </p:nvSpPr>
        <p:spPr bwMode="auto">
          <a:xfrm>
            <a:off x="3886200" y="3314700"/>
            <a:ext cx="952500" cy="838200"/>
          </a:xfrm>
          <a:prstGeom prst="ellipse">
            <a:avLst/>
          </a:prstGeom>
          <a:noFill/>
          <a:ln w="9525">
            <a:solidFill>
              <a:schemeClr val="tx1"/>
            </a:solidFill>
            <a:miter lim="800000"/>
            <a:headEnd/>
            <a:tailEnd/>
          </a:ln>
        </p:spPr>
        <p:txBody>
          <a:bodyPr wrap="none" anchor="ctr"/>
          <a:lstStyle/>
          <a:p>
            <a:endParaRPr lang="en-US" sz="1200">
              <a:latin typeface="Gill Sans MT" pitchFamily="34" charset="0"/>
            </a:endParaRPr>
          </a:p>
        </p:txBody>
      </p:sp>
      <p:sp>
        <p:nvSpPr>
          <p:cNvPr id="121859" name="Text Box 4"/>
          <p:cNvSpPr txBox="1">
            <a:spLocks noChangeArrowheads="1"/>
          </p:cNvSpPr>
          <p:nvPr/>
        </p:nvSpPr>
        <p:spPr bwMode="auto">
          <a:xfrm>
            <a:off x="4098925" y="3413125"/>
            <a:ext cx="792163" cy="461963"/>
          </a:xfrm>
          <a:prstGeom prst="rect">
            <a:avLst/>
          </a:prstGeom>
          <a:noFill/>
          <a:ln w="9525">
            <a:noFill/>
            <a:miter lim="800000"/>
            <a:headEnd/>
            <a:tailEnd/>
          </a:ln>
        </p:spPr>
        <p:txBody>
          <a:bodyPr>
            <a:spAutoFit/>
          </a:bodyPr>
          <a:lstStyle/>
          <a:p>
            <a:r>
              <a:rPr lang="en-US" sz="1200">
                <a:latin typeface="Gill Sans MT" pitchFamily="34" charset="0"/>
              </a:rPr>
              <a:t>Kernel</a:t>
            </a:r>
          </a:p>
          <a:p>
            <a:r>
              <a:rPr lang="en-US" sz="1200">
                <a:latin typeface="Gill Sans MT" pitchFamily="34" charset="0"/>
              </a:rPr>
              <a:t>Running</a:t>
            </a:r>
          </a:p>
        </p:txBody>
      </p:sp>
      <p:sp>
        <p:nvSpPr>
          <p:cNvPr id="121860" name="Oval 5"/>
          <p:cNvSpPr>
            <a:spLocks noChangeArrowheads="1"/>
          </p:cNvSpPr>
          <p:nvPr/>
        </p:nvSpPr>
        <p:spPr bwMode="auto">
          <a:xfrm>
            <a:off x="3905250" y="2019300"/>
            <a:ext cx="952500" cy="838200"/>
          </a:xfrm>
          <a:prstGeom prst="ellipse">
            <a:avLst/>
          </a:prstGeom>
          <a:noFill/>
          <a:ln w="9525">
            <a:solidFill>
              <a:schemeClr val="tx1"/>
            </a:solidFill>
            <a:miter lim="800000"/>
            <a:headEnd/>
            <a:tailEnd/>
          </a:ln>
        </p:spPr>
        <p:txBody>
          <a:bodyPr wrap="none" anchor="ctr"/>
          <a:lstStyle/>
          <a:p>
            <a:endParaRPr lang="en-US" sz="1200">
              <a:latin typeface="Gill Sans MT" pitchFamily="34" charset="0"/>
            </a:endParaRPr>
          </a:p>
        </p:txBody>
      </p:sp>
      <p:sp>
        <p:nvSpPr>
          <p:cNvPr id="121861" name="Text Box 6"/>
          <p:cNvSpPr txBox="1">
            <a:spLocks noChangeArrowheads="1"/>
          </p:cNvSpPr>
          <p:nvPr/>
        </p:nvSpPr>
        <p:spPr bwMode="auto">
          <a:xfrm>
            <a:off x="4098925" y="2251075"/>
            <a:ext cx="792163" cy="461963"/>
          </a:xfrm>
          <a:prstGeom prst="rect">
            <a:avLst/>
          </a:prstGeom>
          <a:noFill/>
          <a:ln w="9525">
            <a:noFill/>
            <a:miter lim="800000"/>
            <a:headEnd/>
            <a:tailEnd/>
          </a:ln>
        </p:spPr>
        <p:txBody>
          <a:bodyPr>
            <a:spAutoFit/>
          </a:bodyPr>
          <a:lstStyle/>
          <a:p>
            <a:r>
              <a:rPr lang="en-US" sz="1200">
                <a:latin typeface="Gill Sans MT" pitchFamily="34" charset="0"/>
              </a:rPr>
              <a:t>User</a:t>
            </a:r>
          </a:p>
          <a:p>
            <a:r>
              <a:rPr lang="en-US" sz="1200">
                <a:latin typeface="Gill Sans MT" pitchFamily="34" charset="0"/>
              </a:rPr>
              <a:t>Running</a:t>
            </a:r>
          </a:p>
        </p:txBody>
      </p:sp>
      <p:sp>
        <p:nvSpPr>
          <p:cNvPr id="121862" name="Line 7"/>
          <p:cNvSpPr>
            <a:spLocks noChangeShapeType="1"/>
          </p:cNvSpPr>
          <p:nvPr/>
        </p:nvSpPr>
        <p:spPr bwMode="auto">
          <a:xfrm>
            <a:off x="4229100" y="2857500"/>
            <a:ext cx="0" cy="514350"/>
          </a:xfrm>
          <a:prstGeom prst="line">
            <a:avLst/>
          </a:prstGeom>
          <a:noFill/>
          <a:ln w="9525">
            <a:solidFill>
              <a:schemeClr val="tx1"/>
            </a:solidFill>
            <a:round/>
            <a:headEnd/>
            <a:tailEnd type="triangle" w="med" len="med"/>
          </a:ln>
        </p:spPr>
        <p:txBody>
          <a:bodyPr wrap="none" anchor="ctr"/>
          <a:lstStyle/>
          <a:p>
            <a:endParaRPr lang="en-US"/>
          </a:p>
        </p:txBody>
      </p:sp>
      <p:sp>
        <p:nvSpPr>
          <p:cNvPr id="121863" name="Line 8"/>
          <p:cNvSpPr>
            <a:spLocks noChangeShapeType="1"/>
          </p:cNvSpPr>
          <p:nvPr/>
        </p:nvSpPr>
        <p:spPr bwMode="auto">
          <a:xfrm flipV="1">
            <a:off x="4514850" y="2838450"/>
            <a:ext cx="0" cy="495300"/>
          </a:xfrm>
          <a:prstGeom prst="line">
            <a:avLst/>
          </a:prstGeom>
          <a:noFill/>
          <a:ln w="9525">
            <a:solidFill>
              <a:schemeClr val="tx1"/>
            </a:solidFill>
            <a:round/>
            <a:headEnd/>
            <a:tailEnd type="triangle" w="med" len="med"/>
          </a:ln>
        </p:spPr>
        <p:txBody>
          <a:bodyPr wrap="none" anchor="ctr"/>
          <a:lstStyle/>
          <a:p>
            <a:endParaRPr lang="en-US"/>
          </a:p>
        </p:txBody>
      </p:sp>
      <p:sp>
        <p:nvSpPr>
          <p:cNvPr id="121864" name="Oval 9"/>
          <p:cNvSpPr>
            <a:spLocks noChangeArrowheads="1"/>
          </p:cNvSpPr>
          <p:nvPr/>
        </p:nvSpPr>
        <p:spPr bwMode="auto">
          <a:xfrm>
            <a:off x="5581650" y="3257550"/>
            <a:ext cx="952500" cy="838200"/>
          </a:xfrm>
          <a:prstGeom prst="ellipse">
            <a:avLst/>
          </a:prstGeom>
          <a:noFill/>
          <a:ln w="9525">
            <a:solidFill>
              <a:schemeClr val="tx1"/>
            </a:solidFill>
            <a:miter lim="800000"/>
            <a:headEnd/>
            <a:tailEnd/>
          </a:ln>
        </p:spPr>
        <p:txBody>
          <a:bodyPr wrap="none" anchor="ctr"/>
          <a:lstStyle/>
          <a:p>
            <a:endParaRPr lang="en-US" sz="1200">
              <a:latin typeface="Gill Sans MT" pitchFamily="34" charset="0"/>
            </a:endParaRPr>
          </a:p>
        </p:txBody>
      </p:sp>
      <p:sp>
        <p:nvSpPr>
          <p:cNvPr id="121865" name="Text Box 10"/>
          <p:cNvSpPr txBox="1">
            <a:spLocks noChangeArrowheads="1"/>
          </p:cNvSpPr>
          <p:nvPr/>
        </p:nvSpPr>
        <p:spPr bwMode="auto">
          <a:xfrm>
            <a:off x="5737225" y="3582988"/>
            <a:ext cx="671513" cy="276225"/>
          </a:xfrm>
          <a:prstGeom prst="rect">
            <a:avLst/>
          </a:prstGeom>
          <a:noFill/>
          <a:ln w="9525">
            <a:noFill/>
            <a:miter lim="800000"/>
            <a:headEnd/>
            <a:tailEnd/>
          </a:ln>
        </p:spPr>
        <p:txBody>
          <a:bodyPr wrap="none">
            <a:spAutoFit/>
          </a:bodyPr>
          <a:lstStyle/>
          <a:p>
            <a:r>
              <a:rPr lang="en-US" sz="1200">
                <a:latin typeface="Gill Sans MT" pitchFamily="34" charset="0"/>
              </a:rPr>
              <a:t>Zombie</a:t>
            </a:r>
          </a:p>
        </p:txBody>
      </p:sp>
      <p:sp>
        <p:nvSpPr>
          <p:cNvPr id="121866" name="Line 11"/>
          <p:cNvSpPr>
            <a:spLocks noChangeShapeType="1"/>
          </p:cNvSpPr>
          <p:nvPr/>
        </p:nvSpPr>
        <p:spPr bwMode="auto">
          <a:xfrm>
            <a:off x="4838700" y="3733800"/>
            <a:ext cx="666750" cy="0"/>
          </a:xfrm>
          <a:prstGeom prst="line">
            <a:avLst/>
          </a:prstGeom>
          <a:noFill/>
          <a:ln w="9525">
            <a:solidFill>
              <a:schemeClr val="tx1"/>
            </a:solidFill>
            <a:round/>
            <a:headEnd/>
            <a:tailEnd type="triangle" w="med" len="med"/>
          </a:ln>
        </p:spPr>
        <p:txBody>
          <a:bodyPr wrap="none" anchor="ctr"/>
          <a:lstStyle/>
          <a:p>
            <a:endParaRPr lang="en-US"/>
          </a:p>
        </p:txBody>
      </p:sp>
      <p:sp>
        <p:nvSpPr>
          <p:cNvPr id="121867" name="Text Box 12"/>
          <p:cNvSpPr txBox="1">
            <a:spLocks noChangeArrowheads="1"/>
          </p:cNvSpPr>
          <p:nvPr/>
        </p:nvSpPr>
        <p:spPr bwMode="auto">
          <a:xfrm>
            <a:off x="4879975" y="3411538"/>
            <a:ext cx="420688" cy="276225"/>
          </a:xfrm>
          <a:prstGeom prst="rect">
            <a:avLst/>
          </a:prstGeom>
          <a:noFill/>
          <a:ln w="9525">
            <a:noFill/>
            <a:miter lim="800000"/>
            <a:headEnd/>
            <a:tailEnd/>
          </a:ln>
        </p:spPr>
        <p:txBody>
          <a:bodyPr wrap="none">
            <a:spAutoFit/>
          </a:bodyPr>
          <a:lstStyle/>
          <a:p>
            <a:r>
              <a:rPr lang="en-US" sz="1200">
                <a:latin typeface="Gill Sans MT" pitchFamily="34" charset="0"/>
              </a:rPr>
              <a:t>exit</a:t>
            </a:r>
          </a:p>
        </p:txBody>
      </p:sp>
      <p:sp>
        <p:nvSpPr>
          <p:cNvPr id="121868" name="Line 13"/>
          <p:cNvSpPr>
            <a:spLocks noChangeShapeType="1"/>
          </p:cNvSpPr>
          <p:nvPr/>
        </p:nvSpPr>
        <p:spPr bwMode="auto">
          <a:xfrm>
            <a:off x="6553200" y="3733800"/>
            <a:ext cx="514350" cy="0"/>
          </a:xfrm>
          <a:prstGeom prst="line">
            <a:avLst/>
          </a:prstGeom>
          <a:noFill/>
          <a:ln w="9525">
            <a:solidFill>
              <a:schemeClr val="tx1"/>
            </a:solidFill>
            <a:round/>
            <a:headEnd/>
            <a:tailEnd type="triangle" w="med" len="med"/>
          </a:ln>
        </p:spPr>
        <p:txBody>
          <a:bodyPr wrap="none" anchor="ctr"/>
          <a:lstStyle/>
          <a:p>
            <a:endParaRPr lang="en-US"/>
          </a:p>
        </p:txBody>
      </p:sp>
      <p:sp>
        <p:nvSpPr>
          <p:cNvPr id="121869" name="Text Box 14"/>
          <p:cNvSpPr txBox="1">
            <a:spLocks noChangeArrowheads="1"/>
          </p:cNvSpPr>
          <p:nvPr/>
        </p:nvSpPr>
        <p:spPr bwMode="auto">
          <a:xfrm>
            <a:off x="6556375" y="3544888"/>
            <a:ext cx="446088" cy="276225"/>
          </a:xfrm>
          <a:prstGeom prst="rect">
            <a:avLst/>
          </a:prstGeom>
          <a:noFill/>
          <a:ln w="9525">
            <a:noFill/>
            <a:miter lim="800000"/>
            <a:headEnd/>
            <a:tailEnd/>
          </a:ln>
        </p:spPr>
        <p:txBody>
          <a:bodyPr wrap="none">
            <a:spAutoFit/>
          </a:bodyPr>
          <a:lstStyle/>
          <a:p>
            <a:r>
              <a:rPr lang="en-US" sz="1200">
                <a:latin typeface="Gill Sans MT" pitchFamily="34" charset="0"/>
              </a:rPr>
              <a:t>wait</a:t>
            </a:r>
          </a:p>
        </p:txBody>
      </p:sp>
      <p:sp>
        <p:nvSpPr>
          <p:cNvPr id="121870" name="Oval 15"/>
          <p:cNvSpPr>
            <a:spLocks noChangeArrowheads="1"/>
          </p:cNvSpPr>
          <p:nvPr/>
        </p:nvSpPr>
        <p:spPr bwMode="auto">
          <a:xfrm>
            <a:off x="2609850" y="4171950"/>
            <a:ext cx="952500" cy="838200"/>
          </a:xfrm>
          <a:prstGeom prst="ellipse">
            <a:avLst/>
          </a:prstGeom>
          <a:noFill/>
          <a:ln w="9525">
            <a:solidFill>
              <a:schemeClr val="tx1"/>
            </a:solidFill>
            <a:miter lim="800000"/>
            <a:headEnd/>
            <a:tailEnd/>
          </a:ln>
        </p:spPr>
        <p:txBody>
          <a:bodyPr wrap="none" anchor="ctr"/>
          <a:lstStyle/>
          <a:p>
            <a:endParaRPr lang="en-US" sz="1200">
              <a:latin typeface="Gill Sans MT" pitchFamily="34" charset="0"/>
            </a:endParaRPr>
          </a:p>
        </p:txBody>
      </p:sp>
      <p:sp>
        <p:nvSpPr>
          <p:cNvPr id="121871" name="Line 16"/>
          <p:cNvSpPr>
            <a:spLocks noChangeShapeType="1"/>
          </p:cNvSpPr>
          <p:nvPr/>
        </p:nvSpPr>
        <p:spPr bwMode="auto">
          <a:xfrm flipH="1">
            <a:off x="3448050" y="3848100"/>
            <a:ext cx="419100" cy="438150"/>
          </a:xfrm>
          <a:prstGeom prst="line">
            <a:avLst/>
          </a:prstGeom>
          <a:noFill/>
          <a:ln w="9525">
            <a:solidFill>
              <a:schemeClr val="tx1"/>
            </a:solidFill>
            <a:round/>
            <a:headEnd/>
            <a:tailEnd type="triangle" w="med" len="med"/>
          </a:ln>
        </p:spPr>
        <p:txBody>
          <a:bodyPr wrap="none" anchor="ctr"/>
          <a:lstStyle/>
          <a:p>
            <a:endParaRPr lang="en-US"/>
          </a:p>
        </p:txBody>
      </p:sp>
      <p:sp>
        <p:nvSpPr>
          <p:cNvPr id="121872" name="Line 17"/>
          <p:cNvSpPr>
            <a:spLocks noChangeShapeType="1"/>
          </p:cNvSpPr>
          <p:nvPr/>
        </p:nvSpPr>
        <p:spPr bwMode="auto">
          <a:xfrm flipV="1">
            <a:off x="3238500" y="3581400"/>
            <a:ext cx="571500" cy="590550"/>
          </a:xfrm>
          <a:prstGeom prst="line">
            <a:avLst/>
          </a:prstGeom>
          <a:noFill/>
          <a:ln w="9525">
            <a:solidFill>
              <a:schemeClr val="tx1"/>
            </a:solidFill>
            <a:round/>
            <a:headEnd/>
            <a:tailEnd type="triangle" w="med" len="med"/>
          </a:ln>
        </p:spPr>
        <p:txBody>
          <a:bodyPr wrap="none" anchor="ctr"/>
          <a:lstStyle/>
          <a:p>
            <a:endParaRPr lang="en-US"/>
          </a:p>
        </p:txBody>
      </p:sp>
      <p:sp>
        <p:nvSpPr>
          <p:cNvPr id="121873" name="Text Box 18"/>
          <p:cNvSpPr txBox="1">
            <a:spLocks noChangeArrowheads="1"/>
          </p:cNvSpPr>
          <p:nvPr/>
        </p:nvSpPr>
        <p:spPr bwMode="auto">
          <a:xfrm>
            <a:off x="2803525" y="4400550"/>
            <a:ext cx="603250" cy="646113"/>
          </a:xfrm>
          <a:prstGeom prst="rect">
            <a:avLst/>
          </a:prstGeom>
          <a:noFill/>
          <a:ln w="9525">
            <a:noFill/>
            <a:miter lim="800000"/>
            <a:headEnd/>
            <a:tailEnd/>
          </a:ln>
        </p:spPr>
        <p:txBody>
          <a:bodyPr>
            <a:spAutoFit/>
          </a:bodyPr>
          <a:lstStyle/>
          <a:p>
            <a:r>
              <a:rPr lang="en-US" sz="1200">
                <a:latin typeface="Gill Sans MT" pitchFamily="34" charset="0"/>
              </a:rPr>
              <a:t>Ready</a:t>
            </a:r>
          </a:p>
          <a:p>
            <a:r>
              <a:rPr lang="en-US" sz="1200">
                <a:latin typeface="Gill Sans MT" pitchFamily="34" charset="0"/>
              </a:rPr>
              <a:t> to run</a:t>
            </a:r>
          </a:p>
        </p:txBody>
      </p:sp>
      <p:sp>
        <p:nvSpPr>
          <p:cNvPr id="121874" name="Oval 19"/>
          <p:cNvSpPr>
            <a:spLocks noChangeArrowheads="1"/>
          </p:cNvSpPr>
          <p:nvPr/>
        </p:nvSpPr>
        <p:spPr bwMode="auto">
          <a:xfrm>
            <a:off x="5562600" y="4267200"/>
            <a:ext cx="952500" cy="838200"/>
          </a:xfrm>
          <a:prstGeom prst="ellipse">
            <a:avLst/>
          </a:prstGeom>
          <a:noFill/>
          <a:ln w="9525">
            <a:solidFill>
              <a:schemeClr val="tx1"/>
            </a:solidFill>
            <a:miter lim="800000"/>
            <a:headEnd/>
            <a:tailEnd/>
          </a:ln>
        </p:spPr>
        <p:txBody>
          <a:bodyPr wrap="none" anchor="ctr"/>
          <a:lstStyle/>
          <a:p>
            <a:endParaRPr lang="en-US" sz="1200">
              <a:latin typeface="Gill Sans MT" pitchFamily="34" charset="0"/>
            </a:endParaRPr>
          </a:p>
        </p:txBody>
      </p:sp>
      <p:sp>
        <p:nvSpPr>
          <p:cNvPr id="121875" name="Line 20"/>
          <p:cNvSpPr>
            <a:spLocks noChangeShapeType="1"/>
          </p:cNvSpPr>
          <p:nvPr/>
        </p:nvSpPr>
        <p:spPr bwMode="auto">
          <a:xfrm>
            <a:off x="4800600" y="3962400"/>
            <a:ext cx="838200" cy="419100"/>
          </a:xfrm>
          <a:prstGeom prst="line">
            <a:avLst/>
          </a:prstGeom>
          <a:noFill/>
          <a:ln w="9525">
            <a:solidFill>
              <a:schemeClr val="tx1"/>
            </a:solidFill>
            <a:round/>
            <a:headEnd/>
            <a:tailEnd type="triangle" w="med" len="med"/>
          </a:ln>
        </p:spPr>
        <p:txBody>
          <a:bodyPr wrap="none" anchor="ctr"/>
          <a:lstStyle/>
          <a:p>
            <a:endParaRPr lang="en-US"/>
          </a:p>
        </p:txBody>
      </p:sp>
      <p:sp>
        <p:nvSpPr>
          <p:cNvPr id="121876" name="Line 21"/>
          <p:cNvSpPr>
            <a:spLocks noChangeShapeType="1"/>
          </p:cNvSpPr>
          <p:nvPr/>
        </p:nvSpPr>
        <p:spPr bwMode="auto">
          <a:xfrm flipH="1">
            <a:off x="3467100" y="4800600"/>
            <a:ext cx="2076450" cy="0"/>
          </a:xfrm>
          <a:prstGeom prst="line">
            <a:avLst/>
          </a:prstGeom>
          <a:noFill/>
          <a:ln w="9525">
            <a:solidFill>
              <a:schemeClr val="tx1"/>
            </a:solidFill>
            <a:round/>
            <a:headEnd/>
            <a:tailEnd type="triangle" w="med" len="med"/>
          </a:ln>
        </p:spPr>
        <p:txBody>
          <a:bodyPr wrap="none" anchor="ctr"/>
          <a:lstStyle/>
          <a:p>
            <a:endParaRPr lang="en-US"/>
          </a:p>
        </p:txBody>
      </p:sp>
      <p:sp>
        <p:nvSpPr>
          <p:cNvPr id="121877" name="Text Box 22"/>
          <p:cNvSpPr txBox="1">
            <a:spLocks noChangeArrowheads="1"/>
          </p:cNvSpPr>
          <p:nvPr/>
        </p:nvSpPr>
        <p:spPr bwMode="auto">
          <a:xfrm>
            <a:off x="5756275" y="4554538"/>
            <a:ext cx="568325" cy="276225"/>
          </a:xfrm>
          <a:prstGeom prst="rect">
            <a:avLst/>
          </a:prstGeom>
          <a:noFill/>
          <a:ln w="9525">
            <a:noFill/>
            <a:miter lim="800000"/>
            <a:headEnd/>
            <a:tailEnd/>
          </a:ln>
        </p:spPr>
        <p:txBody>
          <a:bodyPr wrap="none">
            <a:spAutoFit/>
          </a:bodyPr>
          <a:lstStyle/>
          <a:p>
            <a:r>
              <a:rPr lang="en-US" sz="1200">
                <a:latin typeface="Gill Sans MT" pitchFamily="34" charset="0"/>
              </a:rPr>
              <a:t>asleep</a:t>
            </a:r>
          </a:p>
        </p:txBody>
      </p:sp>
      <p:sp>
        <p:nvSpPr>
          <p:cNvPr id="121878" name="Text Box 23"/>
          <p:cNvSpPr txBox="1">
            <a:spLocks noChangeArrowheads="1"/>
          </p:cNvSpPr>
          <p:nvPr/>
        </p:nvSpPr>
        <p:spPr bwMode="auto">
          <a:xfrm>
            <a:off x="3336925" y="2859088"/>
            <a:ext cx="746125" cy="461962"/>
          </a:xfrm>
          <a:prstGeom prst="rect">
            <a:avLst/>
          </a:prstGeom>
          <a:noFill/>
          <a:ln w="9525">
            <a:noFill/>
            <a:miter lim="800000"/>
            <a:headEnd/>
            <a:tailEnd/>
          </a:ln>
        </p:spPr>
        <p:txBody>
          <a:bodyPr wrap="none">
            <a:spAutoFit/>
          </a:bodyPr>
          <a:lstStyle/>
          <a:p>
            <a:r>
              <a:rPr lang="en-US" sz="1200">
                <a:latin typeface="Gill Sans MT" pitchFamily="34" charset="0"/>
              </a:rPr>
              <a:t>syscall,</a:t>
            </a:r>
          </a:p>
          <a:p>
            <a:r>
              <a:rPr lang="en-US" sz="1200">
                <a:latin typeface="Gill Sans MT" pitchFamily="34" charset="0"/>
              </a:rPr>
              <a:t>interrupt</a:t>
            </a:r>
          </a:p>
        </p:txBody>
      </p:sp>
      <p:sp>
        <p:nvSpPr>
          <p:cNvPr id="121879" name="Text Box 24"/>
          <p:cNvSpPr txBox="1">
            <a:spLocks noChangeArrowheads="1"/>
          </p:cNvSpPr>
          <p:nvPr/>
        </p:nvSpPr>
        <p:spPr bwMode="auto">
          <a:xfrm>
            <a:off x="4613275" y="2840038"/>
            <a:ext cx="960438" cy="646112"/>
          </a:xfrm>
          <a:prstGeom prst="rect">
            <a:avLst/>
          </a:prstGeom>
          <a:noFill/>
          <a:ln w="9525">
            <a:noFill/>
            <a:miter lim="800000"/>
            <a:headEnd/>
            <a:tailEnd/>
          </a:ln>
        </p:spPr>
        <p:txBody>
          <a:bodyPr wrap="none">
            <a:spAutoFit/>
          </a:bodyPr>
          <a:lstStyle/>
          <a:p>
            <a:r>
              <a:rPr lang="en-US" sz="1200">
                <a:latin typeface="Gill Sans MT" pitchFamily="34" charset="0"/>
              </a:rPr>
              <a:t>Return from</a:t>
            </a:r>
          </a:p>
          <a:p>
            <a:r>
              <a:rPr lang="en-US" sz="1200">
                <a:latin typeface="Gill Sans MT" pitchFamily="34" charset="0"/>
              </a:rPr>
              <a:t>Sycall or</a:t>
            </a:r>
          </a:p>
          <a:p>
            <a:r>
              <a:rPr lang="en-US" sz="1200">
                <a:latin typeface="Gill Sans MT" pitchFamily="34" charset="0"/>
              </a:rPr>
              <a:t>interrupt</a:t>
            </a:r>
          </a:p>
        </p:txBody>
      </p:sp>
      <p:sp>
        <p:nvSpPr>
          <p:cNvPr id="121880" name="Oval 25"/>
          <p:cNvSpPr>
            <a:spLocks noChangeArrowheads="1"/>
          </p:cNvSpPr>
          <p:nvPr/>
        </p:nvSpPr>
        <p:spPr bwMode="auto">
          <a:xfrm>
            <a:off x="2286000" y="2781300"/>
            <a:ext cx="952500" cy="838200"/>
          </a:xfrm>
          <a:prstGeom prst="ellipse">
            <a:avLst/>
          </a:prstGeom>
          <a:noFill/>
          <a:ln w="9525">
            <a:solidFill>
              <a:schemeClr val="tx1"/>
            </a:solidFill>
            <a:miter lim="800000"/>
            <a:headEnd/>
            <a:tailEnd/>
          </a:ln>
        </p:spPr>
        <p:txBody>
          <a:bodyPr wrap="none" anchor="ctr"/>
          <a:lstStyle/>
          <a:p>
            <a:endParaRPr lang="en-US" sz="1200">
              <a:latin typeface="Gill Sans MT" pitchFamily="34" charset="0"/>
            </a:endParaRPr>
          </a:p>
        </p:txBody>
      </p:sp>
      <p:sp>
        <p:nvSpPr>
          <p:cNvPr id="121881" name="Line 26"/>
          <p:cNvSpPr>
            <a:spLocks noChangeShapeType="1"/>
          </p:cNvSpPr>
          <p:nvPr/>
        </p:nvSpPr>
        <p:spPr bwMode="auto">
          <a:xfrm>
            <a:off x="2914650" y="3619500"/>
            <a:ext cx="0" cy="552450"/>
          </a:xfrm>
          <a:prstGeom prst="line">
            <a:avLst/>
          </a:prstGeom>
          <a:noFill/>
          <a:ln w="9525">
            <a:solidFill>
              <a:schemeClr val="tx1"/>
            </a:solidFill>
            <a:round/>
            <a:headEnd/>
            <a:tailEnd type="triangle" w="med" len="med"/>
          </a:ln>
        </p:spPr>
        <p:txBody>
          <a:bodyPr wrap="none" anchor="ctr"/>
          <a:lstStyle/>
          <a:p>
            <a:endParaRPr lang="en-US"/>
          </a:p>
        </p:txBody>
      </p:sp>
      <p:sp>
        <p:nvSpPr>
          <p:cNvPr id="121882" name="Line 27"/>
          <p:cNvSpPr>
            <a:spLocks noChangeShapeType="1"/>
          </p:cNvSpPr>
          <p:nvPr/>
        </p:nvSpPr>
        <p:spPr bwMode="auto">
          <a:xfrm>
            <a:off x="3409950" y="2362200"/>
            <a:ext cx="476250" cy="0"/>
          </a:xfrm>
          <a:prstGeom prst="line">
            <a:avLst/>
          </a:prstGeom>
          <a:noFill/>
          <a:ln w="9525">
            <a:solidFill>
              <a:schemeClr val="tx1"/>
            </a:solidFill>
            <a:round/>
            <a:headEnd/>
            <a:tailEnd type="triangle" w="med" len="med"/>
          </a:ln>
        </p:spPr>
        <p:txBody>
          <a:bodyPr wrap="none" anchor="ctr"/>
          <a:lstStyle/>
          <a:p>
            <a:endParaRPr lang="en-US"/>
          </a:p>
        </p:txBody>
      </p:sp>
      <p:sp>
        <p:nvSpPr>
          <p:cNvPr id="121883" name="Text Box 28"/>
          <p:cNvSpPr txBox="1">
            <a:spLocks noChangeArrowheads="1"/>
          </p:cNvSpPr>
          <p:nvPr/>
        </p:nvSpPr>
        <p:spPr bwMode="auto">
          <a:xfrm>
            <a:off x="2441575" y="3011488"/>
            <a:ext cx="517525" cy="461962"/>
          </a:xfrm>
          <a:prstGeom prst="rect">
            <a:avLst/>
          </a:prstGeom>
          <a:noFill/>
          <a:ln w="9525">
            <a:noFill/>
            <a:miter lim="800000"/>
            <a:headEnd/>
            <a:tailEnd/>
          </a:ln>
        </p:spPr>
        <p:txBody>
          <a:bodyPr wrap="none">
            <a:spAutoFit/>
          </a:bodyPr>
          <a:lstStyle/>
          <a:p>
            <a:r>
              <a:rPr lang="en-US" sz="1200">
                <a:latin typeface="Gill Sans MT" pitchFamily="34" charset="0"/>
              </a:rPr>
              <a:t>Initial</a:t>
            </a:r>
          </a:p>
          <a:p>
            <a:r>
              <a:rPr lang="en-US" sz="1200">
                <a:latin typeface="Gill Sans MT" pitchFamily="34" charset="0"/>
              </a:rPr>
              <a:t>(idle)</a:t>
            </a:r>
          </a:p>
        </p:txBody>
      </p:sp>
      <p:sp>
        <p:nvSpPr>
          <p:cNvPr id="121884" name="Text Box 29"/>
          <p:cNvSpPr txBox="1">
            <a:spLocks noChangeArrowheads="1"/>
          </p:cNvSpPr>
          <p:nvPr/>
        </p:nvSpPr>
        <p:spPr bwMode="auto">
          <a:xfrm>
            <a:off x="4156075" y="4554538"/>
            <a:ext cx="657225" cy="276225"/>
          </a:xfrm>
          <a:prstGeom prst="rect">
            <a:avLst/>
          </a:prstGeom>
          <a:noFill/>
          <a:ln w="9525">
            <a:noFill/>
            <a:miter lim="800000"/>
            <a:headEnd/>
            <a:tailEnd/>
          </a:ln>
        </p:spPr>
        <p:txBody>
          <a:bodyPr wrap="none">
            <a:spAutoFit/>
          </a:bodyPr>
          <a:lstStyle/>
          <a:p>
            <a:r>
              <a:rPr lang="en-US" sz="1200">
                <a:latin typeface="Gill Sans MT" pitchFamily="34" charset="0"/>
              </a:rPr>
              <a:t>wakeup</a:t>
            </a:r>
          </a:p>
        </p:txBody>
      </p:sp>
      <p:sp>
        <p:nvSpPr>
          <p:cNvPr id="121885" name="Text Box 30"/>
          <p:cNvSpPr txBox="1">
            <a:spLocks noChangeArrowheads="1"/>
          </p:cNvSpPr>
          <p:nvPr/>
        </p:nvSpPr>
        <p:spPr bwMode="auto">
          <a:xfrm>
            <a:off x="3032125" y="3659188"/>
            <a:ext cx="582613" cy="276225"/>
          </a:xfrm>
          <a:prstGeom prst="rect">
            <a:avLst/>
          </a:prstGeom>
          <a:noFill/>
          <a:ln w="9525">
            <a:noFill/>
            <a:miter lim="800000"/>
            <a:headEnd/>
            <a:tailEnd/>
          </a:ln>
        </p:spPr>
        <p:txBody>
          <a:bodyPr wrap="none">
            <a:spAutoFit/>
          </a:bodyPr>
          <a:lstStyle/>
          <a:p>
            <a:r>
              <a:rPr lang="en-US" sz="1200">
                <a:latin typeface="Gill Sans MT" pitchFamily="34" charset="0"/>
              </a:rPr>
              <a:t>switch</a:t>
            </a:r>
          </a:p>
        </p:txBody>
      </p:sp>
      <p:sp>
        <p:nvSpPr>
          <p:cNvPr id="121886" name="Text Box 31"/>
          <p:cNvSpPr txBox="1">
            <a:spLocks noChangeArrowheads="1"/>
          </p:cNvSpPr>
          <p:nvPr/>
        </p:nvSpPr>
        <p:spPr bwMode="auto">
          <a:xfrm>
            <a:off x="3603625" y="4097338"/>
            <a:ext cx="582613" cy="276225"/>
          </a:xfrm>
          <a:prstGeom prst="rect">
            <a:avLst/>
          </a:prstGeom>
          <a:noFill/>
          <a:ln w="9525">
            <a:noFill/>
            <a:miter lim="800000"/>
            <a:headEnd/>
            <a:tailEnd/>
          </a:ln>
        </p:spPr>
        <p:txBody>
          <a:bodyPr wrap="none">
            <a:spAutoFit/>
          </a:bodyPr>
          <a:lstStyle/>
          <a:p>
            <a:r>
              <a:rPr lang="en-US" sz="1200">
                <a:latin typeface="Gill Sans MT" pitchFamily="34" charset="0"/>
              </a:rPr>
              <a:t>switch</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3"/>
          <p:cNvSpPr>
            <a:spLocks noGrp="1" noChangeArrowheads="1"/>
          </p:cNvSpPr>
          <p:nvPr>
            <p:ph idx="1"/>
          </p:nvPr>
        </p:nvSpPr>
        <p:spPr/>
        <p:txBody>
          <a:bodyPr/>
          <a:lstStyle/>
          <a:p>
            <a:pPr algn="just"/>
            <a:r>
              <a:rPr lang="en-US" dirty="0" smtClean="0"/>
              <a:t>The kernel keeps track of a processes creation time as well as the CPU time that it consumes during its lifetime</a:t>
            </a:r>
          </a:p>
          <a:p>
            <a:pPr algn="just">
              <a:buFont typeface="Wingdings" pitchFamily="2" charset="2"/>
              <a:buNone/>
            </a:pPr>
            <a:r>
              <a:rPr lang="en-US" dirty="0" smtClean="0"/>
              <a:t> </a:t>
            </a:r>
          </a:p>
          <a:p>
            <a:pPr algn="just"/>
            <a:r>
              <a:rPr lang="en-US" dirty="0" smtClean="0"/>
              <a:t>Each clock tick, the kernel updates the amount of time that the current process has spent in system and in user mode</a:t>
            </a:r>
          </a:p>
          <a:p>
            <a:pPr algn="just">
              <a:buFont typeface="Wingdings" pitchFamily="2" charset="2"/>
              <a:buNone/>
            </a:pPr>
            <a:r>
              <a:rPr lang="en-US" dirty="0" smtClean="0"/>
              <a:t> </a:t>
            </a:r>
          </a:p>
          <a:p>
            <a:pPr algn="just"/>
            <a:r>
              <a:rPr lang="en-US" dirty="0" smtClean="0"/>
              <a:t>Linux also supports process specific interval timers.</a:t>
            </a:r>
          </a:p>
          <a:p>
            <a:pPr algn="just"/>
            <a:endParaRPr lang="en-US" dirty="0" smtClean="0"/>
          </a:p>
          <a:p>
            <a:pPr algn="just"/>
            <a:r>
              <a:rPr lang="en-US" dirty="0" smtClean="0"/>
              <a:t>Processes use system calls to set up timers to send indications to themselves when the timers expire.</a:t>
            </a:r>
          </a:p>
          <a:p>
            <a:pPr>
              <a:buNone/>
            </a:pPr>
            <a:endParaRPr lang="en-US" dirty="0" smtClean="0"/>
          </a:p>
        </p:txBody>
      </p:sp>
      <p:sp>
        <p:nvSpPr>
          <p:cNvPr id="123906" name="Rectangle 2"/>
          <p:cNvSpPr>
            <a:spLocks noGrp="1" noChangeArrowheads="1"/>
          </p:cNvSpPr>
          <p:nvPr>
            <p:ph type="title"/>
          </p:nvPr>
        </p:nvSpPr>
        <p:spPr>
          <a:xfrm>
            <a:off x="0" y="228600"/>
            <a:ext cx="7562850" cy="914400"/>
          </a:xfrm>
        </p:spPr>
        <p:txBody>
          <a:bodyPr anchor="t"/>
          <a:lstStyle/>
          <a:p>
            <a:r>
              <a:rPr lang="en-US" dirty="0" smtClean="0"/>
              <a:t>Times and Timers</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3"/>
          <p:cNvSpPr>
            <a:spLocks noGrp="1" noChangeArrowheads="1"/>
          </p:cNvSpPr>
          <p:nvPr>
            <p:ph idx="1"/>
          </p:nvPr>
        </p:nvSpPr>
        <p:spPr/>
        <p:txBody>
          <a:bodyPr/>
          <a:lstStyle/>
          <a:p>
            <a:pPr algn="just"/>
            <a:r>
              <a:rPr lang="en-US" dirty="0" smtClean="0"/>
              <a:t>All processes run partially in user mode and partially in system mode</a:t>
            </a:r>
          </a:p>
          <a:p>
            <a:pPr algn="just"/>
            <a:endParaRPr lang="en-US" dirty="0" smtClean="0"/>
          </a:p>
          <a:p>
            <a:pPr algn="just"/>
            <a:r>
              <a:rPr lang="en-US" dirty="0" smtClean="0"/>
              <a:t>User mode has far less privileges than system mode. Each time a process makes a system call it swaps from user mode to system mode and continues execution</a:t>
            </a:r>
          </a:p>
          <a:p>
            <a:pPr algn="just"/>
            <a:endParaRPr lang="en-US" dirty="0" smtClean="0"/>
          </a:p>
          <a:p>
            <a:pPr algn="just"/>
            <a:r>
              <a:rPr lang="en-US" dirty="0" smtClean="0"/>
              <a:t>At this point the kernel is executing on behalf of the process</a:t>
            </a:r>
          </a:p>
          <a:p>
            <a:pPr algn="just"/>
            <a:endParaRPr lang="en-US" dirty="0" smtClean="0"/>
          </a:p>
          <a:p>
            <a:pPr algn="just"/>
            <a:r>
              <a:rPr lang="en-US" dirty="0" smtClean="0"/>
              <a:t>The program that selects the most justifiable process to execute of all of the executable processes in the system is known as Scheduler.</a:t>
            </a:r>
          </a:p>
          <a:p>
            <a:pPr>
              <a:buFont typeface="Wingdings" pitchFamily="2" charset="2"/>
              <a:buNone/>
            </a:pPr>
            <a:endParaRPr lang="en-US" dirty="0" smtClean="0"/>
          </a:p>
          <a:p>
            <a:endParaRPr lang="en-US" dirty="0" smtClean="0"/>
          </a:p>
        </p:txBody>
      </p:sp>
      <p:sp>
        <p:nvSpPr>
          <p:cNvPr id="125954" name="Rectangle 2"/>
          <p:cNvSpPr>
            <a:spLocks noGrp="1" noChangeArrowheads="1"/>
          </p:cNvSpPr>
          <p:nvPr>
            <p:ph type="title"/>
          </p:nvPr>
        </p:nvSpPr>
        <p:spPr>
          <a:xfrm>
            <a:off x="0" y="304800"/>
            <a:ext cx="7562850" cy="914400"/>
          </a:xfrm>
        </p:spPr>
        <p:txBody>
          <a:bodyPr anchor="t"/>
          <a:lstStyle/>
          <a:p>
            <a:r>
              <a:rPr lang="en-US" dirty="0" smtClean="0"/>
              <a:t>Process Scheduling</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3"/>
          <p:cNvSpPr>
            <a:spLocks noGrp="1" noChangeArrowheads="1"/>
          </p:cNvSpPr>
          <p:nvPr>
            <p:ph idx="1"/>
          </p:nvPr>
        </p:nvSpPr>
        <p:spPr>
          <a:xfrm>
            <a:off x="304800" y="1219200"/>
            <a:ext cx="8382000" cy="5410200"/>
          </a:xfrm>
        </p:spPr>
        <p:txBody>
          <a:bodyPr/>
          <a:lstStyle/>
          <a:p>
            <a:pPr algn="just"/>
            <a:r>
              <a:rPr lang="en-US" dirty="0" smtClean="0"/>
              <a:t>Parent process creates derived processes, which, in turn create other processes, forming a tree of processes</a:t>
            </a:r>
          </a:p>
          <a:p>
            <a:pPr algn="just"/>
            <a:endParaRPr lang="en-US" sz="1200" dirty="0" smtClean="0"/>
          </a:p>
          <a:p>
            <a:pPr algn="just"/>
            <a:r>
              <a:rPr lang="en-US" dirty="0" smtClean="0"/>
              <a:t>Resource sharing</a:t>
            </a:r>
          </a:p>
          <a:p>
            <a:pPr lvl="1" algn="just">
              <a:buFontTx/>
              <a:buChar char="•"/>
            </a:pPr>
            <a:r>
              <a:rPr lang="en-US" dirty="0" smtClean="0"/>
              <a:t>Parent and derived one will share all resources</a:t>
            </a:r>
          </a:p>
          <a:p>
            <a:pPr lvl="1" algn="just">
              <a:buFontTx/>
              <a:buChar char="•"/>
            </a:pPr>
            <a:r>
              <a:rPr lang="en-US" dirty="0" smtClean="0"/>
              <a:t>Derived one will share subset of parent’s resources</a:t>
            </a:r>
          </a:p>
          <a:p>
            <a:pPr lvl="1" algn="just">
              <a:buFontTx/>
              <a:buChar char="•"/>
            </a:pPr>
            <a:r>
              <a:rPr lang="en-US" dirty="0" smtClean="0"/>
              <a:t>Parent and Derived one will share no resources</a:t>
            </a:r>
          </a:p>
          <a:p>
            <a:pPr algn="just"/>
            <a:endParaRPr lang="en-US" sz="1100" dirty="0" smtClean="0"/>
          </a:p>
          <a:p>
            <a:pPr algn="just"/>
            <a:r>
              <a:rPr lang="en-US" dirty="0" smtClean="0"/>
              <a:t>Execution</a:t>
            </a:r>
          </a:p>
          <a:p>
            <a:pPr lvl="1" algn="just">
              <a:buFontTx/>
              <a:buChar char="•"/>
            </a:pPr>
            <a:r>
              <a:rPr lang="en-US" dirty="0" smtClean="0"/>
              <a:t>Parent and derived process run concurrently</a:t>
            </a:r>
          </a:p>
          <a:p>
            <a:pPr lvl="1" algn="just">
              <a:buFontTx/>
              <a:buChar char="•"/>
            </a:pPr>
            <a:r>
              <a:rPr lang="en-US" dirty="0" smtClean="0"/>
              <a:t>Parent waits until derived process terminate</a:t>
            </a:r>
          </a:p>
          <a:p>
            <a:pPr algn="just"/>
            <a:endParaRPr lang="en-US" sz="1200" dirty="0" smtClean="0"/>
          </a:p>
          <a:p>
            <a:pPr algn="just"/>
            <a:r>
              <a:rPr lang="en-US" dirty="0" smtClean="0"/>
              <a:t>Address space</a:t>
            </a:r>
          </a:p>
          <a:p>
            <a:pPr lvl="1" algn="just">
              <a:buFontTx/>
              <a:buChar char="•"/>
            </a:pPr>
            <a:r>
              <a:rPr lang="en-US" dirty="0" smtClean="0"/>
              <a:t>Derived process duplicate of parent.</a:t>
            </a:r>
          </a:p>
          <a:p>
            <a:pPr lvl="1">
              <a:buFontTx/>
              <a:buChar char="•"/>
            </a:pPr>
            <a:r>
              <a:rPr lang="en-US" dirty="0" smtClean="0"/>
              <a:t>Derived process has a program loaded into it</a:t>
            </a:r>
          </a:p>
        </p:txBody>
      </p:sp>
      <p:sp>
        <p:nvSpPr>
          <p:cNvPr id="128002" name="Rectangle 2"/>
          <p:cNvSpPr>
            <a:spLocks noGrp="1" noChangeArrowheads="1"/>
          </p:cNvSpPr>
          <p:nvPr>
            <p:ph type="title"/>
          </p:nvPr>
        </p:nvSpPr>
        <p:spPr>
          <a:xfrm>
            <a:off x="0" y="152400"/>
            <a:ext cx="7562850" cy="914400"/>
          </a:xfrm>
        </p:spPr>
        <p:txBody>
          <a:bodyPr anchor="t"/>
          <a:lstStyle/>
          <a:p>
            <a:r>
              <a:rPr lang="en-US" dirty="0" smtClean="0"/>
              <a:t>Process Creation</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Content Placeholder 1"/>
          <p:cNvSpPr>
            <a:spLocks noGrp="1"/>
          </p:cNvSpPr>
          <p:nvPr>
            <p:ph idx="1"/>
          </p:nvPr>
        </p:nvSpPr>
        <p:spPr/>
        <p:txBody>
          <a:bodyPr/>
          <a:lstStyle/>
          <a:p>
            <a:r>
              <a:rPr lang="en-US" dirty="0" smtClean="0"/>
              <a:t>Process: </a:t>
            </a:r>
          </a:p>
          <a:p>
            <a:pPr>
              <a:buFont typeface="Gill Sans MT" pitchFamily="34" charset="0"/>
              <a:buChar char="–"/>
            </a:pPr>
            <a:endParaRPr lang="en-US" sz="1100" dirty="0" smtClean="0"/>
          </a:p>
          <a:p>
            <a:pPr algn="just">
              <a:buFont typeface="Gill Sans MT" pitchFamily="34" charset="0"/>
              <a:buChar char="–"/>
            </a:pPr>
            <a:r>
              <a:rPr lang="en-US" sz="1800" dirty="0" smtClean="0"/>
              <a:t>In computing, a process is an instance of a computer program that is being sequentially executed by a computer system that has the ability to run several computer programs concurrently</a:t>
            </a:r>
          </a:p>
          <a:p>
            <a:pPr algn="just"/>
            <a:endParaRPr lang="en-US" sz="1200" dirty="0" smtClean="0"/>
          </a:p>
          <a:p>
            <a:pPr algn="just"/>
            <a:r>
              <a:rPr lang="en-US" dirty="0" smtClean="0"/>
              <a:t>Thread: </a:t>
            </a:r>
          </a:p>
          <a:p>
            <a:pPr algn="just">
              <a:buFont typeface="Gill Sans MT" pitchFamily="34" charset="0"/>
              <a:buChar char="–"/>
            </a:pPr>
            <a:endParaRPr lang="en-US" sz="1100" dirty="0" smtClean="0"/>
          </a:p>
          <a:p>
            <a:pPr algn="just">
              <a:buFont typeface="Gill Sans MT" pitchFamily="34" charset="0"/>
              <a:buChar char="–"/>
            </a:pPr>
            <a:r>
              <a:rPr lang="en-US" sz="1800" dirty="0" smtClean="0"/>
              <a:t>A single process may contain several executable programs(threads) that work together as a coherent whole</a:t>
            </a:r>
          </a:p>
          <a:p>
            <a:pPr algn="just"/>
            <a:endParaRPr lang="en-US" sz="1200" dirty="0" smtClean="0"/>
          </a:p>
          <a:p>
            <a:pPr algn="just"/>
            <a:r>
              <a:rPr lang="en-US" dirty="0" smtClean="0"/>
              <a:t>The Thread that share global data and address space with other threads running in the same process</a:t>
            </a:r>
          </a:p>
        </p:txBody>
      </p:sp>
      <p:sp>
        <p:nvSpPr>
          <p:cNvPr id="130050" name="Title 2"/>
          <p:cNvSpPr>
            <a:spLocks noGrp="1"/>
          </p:cNvSpPr>
          <p:nvPr>
            <p:ph type="title"/>
          </p:nvPr>
        </p:nvSpPr>
        <p:spPr>
          <a:xfrm>
            <a:off x="0" y="0"/>
            <a:ext cx="7562850" cy="914400"/>
          </a:xfrm>
        </p:spPr>
        <p:txBody>
          <a:bodyPr/>
          <a:lstStyle/>
          <a:p>
            <a:r>
              <a:rPr lang="en-US" smtClean="0"/>
              <a:t> Process &amp; Thread</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p:cNvSpPr>
            <a:spLocks noGrp="1" noChangeArrowheads="1"/>
          </p:cNvSpPr>
          <p:nvPr>
            <p:ph type="title"/>
          </p:nvPr>
        </p:nvSpPr>
        <p:spPr>
          <a:xfrm>
            <a:off x="0" y="0"/>
            <a:ext cx="7562850" cy="914400"/>
          </a:xfrm>
        </p:spPr>
        <p:txBody>
          <a:bodyPr anchor="t"/>
          <a:lstStyle/>
          <a:p>
            <a:r>
              <a:rPr lang="en-US" smtClean="0"/>
              <a:t> Thread</a:t>
            </a:r>
          </a:p>
        </p:txBody>
      </p:sp>
      <p:sp>
        <p:nvSpPr>
          <p:cNvPr id="132098" name="Text Box 3"/>
          <p:cNvSpPr txBox="1">
            <a:spLocks noChangeArrowheads="1"/>
          </p:cNvSpPr>
          <p:nvPr/>
        </p:nvSpPr>
        <p:spPr bwMode="auto">
          <a:xfrm>
            <a:off x="2667000" y="1371600"/>
            <a:ext cx="2946400" cy="519113"/>
          </a:xfrm>
          <a:prstGeom prst="rect">
            <a:avLst/>
          </a:prstGeom>
          <a:noFill/>
          <a:ln w="9525" algn="ctr">
            <a:noFill/>
            <a:miter lim="800000"/>
            <a:headEnd/>
            <a:tailEnd/>
          </a:ln>
        </p:spPr>
        <p:txBody>
          <a:bodyPr/>
          <a:lstStyle/>
          <a:p>
            <a:pPr marL="342900" indent="-342900" algn="just">
              <a:spcBef>
                <a:spcPct val="20000"/>
              </a:spcBef>
              <a:buFontTx/>
              <a:buChar char="•"/>
            </a:pPr>
            <a:r>
              <a:rPr lang="en-US" sz="2000" dirty="0">
                <a:latin typeface="Gill Sans MT" pitchFamily="34" charset="0"/>
              </a:rPr>
              <a:t>What is a thread?</a:t>
            </a:r>
          </a:p>
        </p:txBody>
      </p:sp>
      <p:sp>
        <p:nvSpPr>
          <p:cNvPr id="132099" name="Text Box 4"/>
          <p:cNvSpPr txBox="1">
            <a:spLocks noChangeArrowheads="1"/>
          </p:cNvSpPr>
          <p:nvPr/>
        </p:nvSpPr>
        <p:spPr bwMode="auto">
          <a:xfrm>
            <a:off x="381000" y="4724400"/>
            <a:ext cx="8285163" cy="1187450"/>
          </a:xfrm>
          <a:prstGeom prst="rect">
            <a:avLst/>
          </a:prstGeom>
          <a:noFill/>
          <a:ln w="9525" algn="ctr">
            <a:noFill/>
            <a:miter lim="800000"/>
            <a:headEnd/>
            <a:tailEnd/>
          </a:ln>
        </p:spPr>
        <p:txBody>
          <a:bodyPr/>
          <a:lstStyle/>
          <a:p>
            <a:pPr marL="342900" indent="-342900" algn="just">
              <a:spcBef>
                <a:spcPct val="20000"/>
              </a:spcBef>
              <a:buFontTx/>
              <a:buChar char="•"/>
            </a:pPr>
            <a:r>
              <a:rPr lang="en-US" sz="2000" dirty="0">
                <a:latin typeface="Gill Sans MT" pitchFamily="34" charset="0"/>
              </a:rPr>
              <a:t>A thread is an encapsulation of the flow of control in a program</a:t>
            </a:r>
          </a:p>
          <a:p>
            <a:pPr marL="342900" indent="-342900" algn="just">
              <a:spcBef>
                <a:spcPct val="20000"/>
              </a:spcBef>
              <a:buFontTx/>
              <a:buChar char="•"/>
            </a:pPr>
            <a:endParaRPr lang="en-US" sz="2000" dirty="0">
              <a:latin typeface="Gill Sans MT" pitchFamily="34" charset="0"/>
            </a:endParaRPr>
          </a:p>
          <a:p>
            <a:pPr marL="342900" indent="-342900" algn="just">
              <a:spcBef>
                <a:spcPct val="20000"/>
              </a:spcBef>
              <a:buFontTx/>
              <a:buChar char="•"/>
            </a:pPr>
            <a:r>
              <a:rPr lang="en-US" sz="2000" dirty="0">
                <a:latin typeface="Gill Sans MT" pitchFamily="34" charset="0"/>
              </a:rPr>
              <a:t>Putting it other way a thread is Single Flow of Execution / Control</a:t>
            </a:r>
          </a:p>
          <a:p>
            <a:pPr marL="342900" indent="-342900" algn="just">
              <a:spcBef>
                <a:spcPct val="20000"/>
              </a:spcBef>
              <a:buFontTx/>
              <a:buChar char="•"/>
            </a:pPr>
            <a:endParaRPr lang="en-US" sz="2000" dirty="0">
              <a:latin typeface="Gill Sans MT" pitchFamily="34" charset="0"/>
            </a:endParaRPr>
          </a:p>
        </p:txBody>
      </p:sp>
      <p:pic>
        <p:nvPicPr>
          <p:cNvPr id="132100" name="Picture 5" descr="HH01443_[1]"/>
          <p:cNvPicPr>
            <a:picLocks noChangeAspect="1" noChangeArrowheads="1"/>
          </p:cNvPicPr>
          <p:nvPr/>
        </p:nvPicPr>
        <p:blipFill>
          <a:blip r:embed="rId3" cstate="print"/>
          <a:srcRect/>
          <a:stretch>
            <a:fillRect/>
          </a:stretch>
        </p:blipFill>
        <p:spPr bwMode="auto">
          <a:xfrm>
            <a:off x="3352800" y="2057400"/>
            <a:ext cx="1995487" cy="23447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p:cNvSpPr>
            <a:spLocks noGrp="1" noChangeArrowheads="1"/>
          </p:cNvSpPr>
          <p:nvPr>
            <p:ph type="title"/>
          </p:nvPr>
        </p:nvSpPr>
        <p:spPr>
          <a:xfrm>
            <a:off x="0" y="152400"/>
            <a:ext cx="7564438" cy="914400"/>
          </a:xfrm>
        </p:spPr>
        <p:txBody>
          <a:bodyPr anchor="t"/>
          <a:lstStyle/>
          <a:p>
            <a:r>
              <a:rPr lang="en-US" dirty="0" smtClean="0"/>
              <a:t>Multiple Threads:</a:t>
            </a:r>
            <a:r>
              <a:rPr lang="en-US" sz="2000" dirty="0" smtClean="0"/>
              <a:t/>
            </a:r>
            <a:br>
              <a:rPr lang="en-US" sz="2000" dirty="0" smtClean="0"/>
            </a:br>
            <a:endParaRPr lang="en-US" sz="2000" dirty="0" smtClean="0"/>
          </a:p>
        </p:txBody>
      </p:sp>
      <p:sp>
        <p:nvSpPr>
          <p:cNvPr id="134146" name="Text Box 3"/>
          <p:cNvSpPr txBox="1">
            <a:spLocks noChangeArrowheads="1"/>
          </p:cNvSpPr>
          <p:nvPr/>
        </p:nvSpPr>
        <p:spPr bwMode="auto">
          <a:xfrm>
            <a:off x="533400" y="5164138"/>
            <a:ext cx="7772400" cy="366712"/>
          </a:xfrm>
          <a:prstGeom prst="rect">
            <a:avLst/>
          </a:prstGeom>
          <a:noFill/>
          <a:ln w="9525" algn="ctr">
            <a:noFill/>
            <a:miter lim="800000"/>
            <a:headEnd/>
            <a:tailEnd/>
          </a:ln>
        </p:spPr>
        <p:txBody>
          <a:bodyPr/>
          <a:lstStyle/>
          <a:p>
            <a:pPr marL="342900" indent="-342900" algn="just">
              <a:spcBef>
                <a:spcPct val="20000"/>
              </a:spcBef>
              <a:buFontTx/>
              <a:buChar char="•"/>
            </a:pPr>
            <a:r>
              <a:rPr lang="en-US" sz="2000" dirty="0">
                <a:latin typeface="Gill Sans MT" pitchFamily="34" charset="0"/>
              </a:rPr>
              <a:t>Multiple Flows of Execution / Control</a:t>
            </a:r>
          </a:p>
        </p:txBody>
      </p:sp>
      <p:pic>
        <p:nvPicPr>
          <p:cNvPr id="134147" name="Picture 4" descr="HH01443_[1]"/>
          <p:cNvPicPr>
            <a:picLocks noChangeAspect="1" noChangeArrowheads="1"/>
          </p:cNvPicPr>
          <p:nvPr/>
        </p:nvPicPr>
        <p:blipFill>
          <a:blip r:embed="rId3" cstate="print"/>
          <a:srcRect/>
          <a:stretch>
            <a:fillRect/>
          </a:stretch>
        </p:blipFill>
        <p:spPr bwMode="auto">
          <a:xfrm>
            <a:off x="2743200" y="1481138"/>
            <a:ext cx="1995488" cy="2344737"/>
          </a:xfrm>
          <a:prstGeom prst="rect">
            <a:avLst/>
          </a:prstGeom>
          <a:noFill/>
          <a:ln w="9525">
            <a:noFill/>
            <a:miter lim="800000"/>
            <a:headEnd/>
            <a:tailEnd/>
          </a:ln>
        </p:spPr>
      </p:pic>
      <p:pic>
        <p:nvPicPr>
          <p:cNvPr id="134148" name="Picture 5" descr="HH01443_[1]"/>
          <p:cNvPicPr>
            <a:picLocks noChangeAspect="1" noChangeArrowheads="1"/>
          </p:cNvPicPr>
          <p:nvPr/>
        </p:nvPicPr>
        <p:blipFill>
          <a:blip r:embed="rId3" cstate="print"/>
          <a:srcRect/>
          <a:stretch>
            <a:fillRect/>
          </a:stretch>
        </p:blipFill>
        <p:spPr bwMode="auto">
          <a:xfrm>
            <a:off x="2895600" y="1633538"/>
            <a:ext cx="1995488" cy="2344737"/>
          </a:xfrm>
          <a:prstGeom prst="rect">
            <a:avLst/>
          </a:prstGeom>
          <a:noFill/>
          <a:ln w="9525">
            <a:noFill/>
            <a:miter lim="800000"/>
            <a:headEnd/>
            <a:tailEnd/>
          </a:ln>
        </p:spPr>
      </p:pic>
      <p:pic>
        <p:nvPicPr>
          <p:cNvPr id="134149" name="Picture 6" descr="HH01443_[1]"/>
          <p:cNvPicPr>
            <a:picLocks noChangeAspect="1" noChangeArrowheads="1"/>
          </p:cNvPicPr>
          <p:nvPr/>
        </p:nvPicPr>
        <p:blipFill>
          <a:blip r:embed="rId3" cstate="print"/>
          <a:srcRect/>
          <a:stretch>
            <a:fillRect/>
          </a:stretch>
        </p:blipFill>
        <p:spPr bwMode="auto">
          <a:xfrm>
            <a:off x="3048000" y="1785938"/>
            <a:ext cx="1995488" cy="2344737"/>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p:cNvSpPr>
            <a:spLocks noGrp="1"/>
          </p:cNvSpPr>
          <p:nvPr>
            <p:ph type="title"/>
          </p:nvPr>
        </p:nvSpPr>
        <p:spPr>
          <a:xfrm>
            <a:off x="0" y="0"/>
            <a:ext cx="7564438" cy="914400"/>
          </a:xfrm>
        </p:spPr>
        <p:txBody>
          <a:bodyPr/>
          <a:lstStyle/>
          <a:p>
            <a:r>
              <a:rPr lang="en-US" smtClean="0"/>
              <a:t>Single and Multithreaded Processes</a:t>
            </a:r>
          </a:p>
        </p:txBody>
      </p:sp>
      <p:sp>
        <p:nvSpPr>
          <p:cNvPr id="199704" name="Text Box 24"/>
          <p:cNvSpPr txBox="1">
            <a:spLocks noChangeArrowheads="1"/>
          </p:cNvSpPr>
          <p:nvPr/>
        </p:nvSpPr>
        <p:spPr bwMode="auto">
          <a:xfrm>
            <a:off x="8235950" y="4532313"/>
            <a:ext cx="857250" cy="400050"/>
          </a:xfrm>
          <a:prstGeom prst="rect">
            <a:avLst/>
          </a:prstGeom>
          <a:noFill/>
          <a:ln w="9525">
            <a:no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thread</a:t>
            </a:r>
          </a:p>
        </p:txBody>
      </p:sp>
      <p:grpSp>
        <p:nvGrpSpPr>
          <p:cNvPr id="136195" name="Group 3"/>
          <p:cNvGrpSpPr>
            <a:grpSpLocks/>
          </p:cNvGrpSpPr>
          <p:nvPr/>
        </p:nvGrpSpPr>
        <p:grpSpPr bwMode="auto">
          <a:xfrm>
            <a:off x="609600" y="1752600"/>
            <a:ext cx="3409950" cy="3962400"/>
            <a:chOff x="480" y="1200"/>
            <a:chExt cx="2148" cy="2496"/>
          </a:xfrm>
        </p:grpSpPr>
        <p:sp>
          <p:nvSpPr>
            <p:cNvPr id="199684" name="Rectangle 4"/>
            <p:cNvSpPr>
              <a:spLocks noChangeArrowheads="1"/>
            </p:cNvSpPr>
            <p:nvPr/>
          </p:nvSpPr>
          <p:spPr bwMode="auto">
            <a:xfrm>
              <a:off x="480" y="1200"/>
              <a:ext cx="2148" cy="2496"/>
            </a:xfrm>
            <a:prstGeom prst="rect">
              <a:avLst/>
            </a:prstGeom>
            <a:solidFill>
              <a:schemeClr val="accent1"/>
            </a:solidFill>
            <a:ln w="9525">
              <a:solidFill>
                <a:schemeClr val="tx1"/>
              </a:solidFill>
              <a:miter lim="800000"/>
              <a:headEnd/>
              <a:tailEnd/>
            </a:ln>
            <a:effectLst/>
          </p:spPr>
          <p:txBody>
            <a:bodyPr wrap="none" anchor="ctr"/>
            <a:lstStyle/>
            <a:p>
              <a:pPr algn="ctr">
                <a:defRPr/>
              </a:pPr>
              <a:endParaRPr lang="hi-IN" sz="2000">
                <a:effectLst>
                  <a:outerShdw blurRad="38100" dist="38100" dir="2700000" algn="tl">
                    <a:srgbClr val="FFFFFF"/>
                  </a:outerShdw>
                </a:effectLst>
                <a:latin typeface="Gill Sans MT" pitchFamily="34" charset="0"/>
              </a:endParaRPr>
            </a:p>
          </p:txBody>
        </p:sp>
        <p:sp>
          <p:nvSpPr>
            <p:cNvPr id="136213" name="Line 5"/>
            <p:cNvSpPr>
              <a:spLocks noChangeShapeType="1"/>
            </p:cNvSpPr>
            <p:nvPr/>
          </p:nvSpPr>
          <p:spPr bwMode="auto">
            <a:xfrm>
              <a:off x="492" y="2136"/>
              <a:ext cx="2112" cy="0"/>
            </a:xfrm>
            <a:prstGeom prst="line">
              <a:avLst/>
            </a:prstGeom>
            <a:noFill/>
            <a:ln w="9525">
              <a:solidFill>
                <a:schemeClr val="tx1"/>
              </a:solidFill>
              <a:round/>
              <a:headEnd/>
              <a:tailEnd/>
            </a:ln>
          </p:spPr>
          <p:txBody>
            <a:bodyPr wrap="none" anchor="ctr"/>
            <a:lstStyle/>
            <a:p>
              <a:endParaRPr lang="en-US"/>
            </a:p>
          </p:txBody>
        </p:sp>
        <p:sp>
          <p:nvSpPr>
            <p:cNvPr id="136214" name="Line 6"/>
            <p:cNvSpPr>
              <a:spLocks noChangeShapeType="1"/>
            </p:cNvSpPr>
            <p:nvPr/>
          </p:nvSpPr>
          <p:spPr bwMode="auto">
            <a:xfrm>
              <a:off x="492" y="1680"/>
              <a:ext cx="2112" cy="0"/>
            </a:xfrm>
            <a:prstGeom prst="line">
              <a:avLst/>
            </a:prstGeom>
            <a:noFill/>
            <a:ln w="9525">
              <a:solidFill>
                <a:schemeClr val="tx1"/>
              </a:solidFill>
              <a:round/>
              <a:headEnd/>
              <a:tailEnd/>
            </a:ln>
          </p:spPr>
          <p:txBody>
            <a:bodyPr wrap="none" anchor="ctr"/>
            <a:lstStyle/>
            <a:p>
              <a:endParaRPr lang="en-US"/>
            </a:p>
          </p:txBody>
        </p:sp>
        <p:sp>
          <p:nvSpPr>
            <p:cNvPr id="199687" name="Text Box 7"/>
            <p:cNvSpPr txBox="1">
              <a:spLocks noChangeArrowheads="1"/>
            </p:cNvSpPr>
            <p:nvPr/>
          </p:nvSpPr>
          <p:spPr bwMode="auto">
            <a:xfrm>
              <a:off x="590" y="1331"/>
              <a:ext cx="436" cy="252"/>
            </a:xfrm>
            <a:prstGeom prst="rect">
              <a:avLst/>
            </a:prstGeom>
            <a:noFill/>
            <a:ln w="9525">
              <a:solidFill>
                <a:schemeClr val="tx1"/>
              </a:solid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code</a:t>
              </a:r>
            </a:p>
          </p:txBody>
        </p:sp>
        <p:sp>
          <p:nvSpPr>
            <p:cNvPr id="199688" name="Text Box 8"/>
            <p:cNvSpPr txBox="1">
              <a:spLocks noChangeArrowheads="1"/>
            </p:cNvSpPr>
            <p:nvPr/>
          </p:nvSpPr>
          <p:spPr bwMode="auto">
            <a:xfrm>
              <a:off x="1286" y="1331"/>
              <a:ext cx="390" cy="252"/>
            </a:xfrm>
            <a:prstGeom prst="rect">
              <a:avLst/>
            </a:prstGeom>
            <a:noFill/>
            <a:ln w="9525">
              <a:solidFill>
                <a:schemeClr val="tx1"/>
              </a:solid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data</a:t>
              </a:r>
            </a:p>
          </p:txBody>
        </p:sp>
        <p:sp>
          <p:nvSpPr>
            <p:cNvPr id="199689" name="Text Box 9"/>
            <p:cNvSpPr txBox="1">
              <a:spLocks noChangeArrowheads="1"/>
            </p:cNvSpPr>
            <p:nvPr/>
          </p:nvSpPr>
          <p:spPr bwMode="auto">
            <a:xfrm>
              <a:off x="1958" y="1319"/>
              <a:ext cx="368" cy="252"/>
            </a:xfrm>
            <a:prstGeom prst="rect">
              <a:avLst/>
            </a:prstGeom>
            <a:noFill/>
            <a:ln w="9525">
              <a:solidFill>
                <a:schemeClr val="tx1"/>
              </a:solid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files</a:t>
              </a:r>
            </a:p>
          </p:txBody>
        </p:sp>
        <p:sp>
          <p:nvSpPr>
            <p:cNvPr id="199690" name="Text Box 10"/>
            <p:cNvSpPr txBox="1">
              <a:spLocks noChangeArrowheads="1"/>
            </p:cNvSpPr>
            <p:nvPr/>
          </p:nvSpPr>
          <p:spPr bwMode="auto">
            <a:xfrm>
              <a:off x="602" y="1811"/>
              <a:ext cx="679" cy="252"/>
            </a:xfrm>
            <a:prstGeom prst="rect">
              <a:avLst/>
            </a:prstGeom>
            <a:noFill/>
            <a:ln w="9525">
              <a:solidFill>
                <a:schemeClr val="tx1"/>
              </a:solid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registers</a:t>
              </a:r>
            </a:p>
          </p:txBody>
        </p:sp>
        <p:sp>
          <p:nvSpPr>
            <p:cNvPr id="199691" name="Text Box 11"/>
            <p:cNvSpPr txBox="1">
              <a:spLocks noChangeArrowheads="1"/>
            </p:cNvSpPr>
            <p:nvPr/>
          </p:nvSpPr>
          <p:spPr bwMode="auto">
            <a:xfrm>
              <a:off x="1862" y="1823"/>
              <a:ext cx="450" cy="252"/>
            </a:xfrm>
            <a:prstGeom prst="rect">
              <a:avLst/>
            </a:prstGeom>
            <a:noFill/>
            <a:ln w="9525">
              <a:solidFill>
                <a:schemeClr val="tx1"/>
              </a:solid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stack</a:t>
              </a:r>
            </a:p>
          </p:txBody>
        </p:sp>
        <p:sp>
          <p:nvSpPr>
            <p:cNvPr id="136220" name="Freeform 12"/>
            <p:cNvSpPr>
              <a:spLocks/>
            </p:cNvSpPr>
            <p:nvPr/>
          </p:nvSpPr>
          <p:spPr bwMode="auto">
            <a:xfrm>
              <a:off x="1452" y="2388"/>
              <a:ext cx="196" cy="593"/>
            </a:xfrm>
            <a:custGeom>
              <a:avLst/>
              <a:gdLst>
                <a:gd name="T0" fmla="*/ 72 w 196"/>
                <a:gd name="T1" fmla="*/ 0 h 593"/>
                <a:gd name="T2" fmla="*/ 144 w 196"/>
                <a:gd name="T3" fmla="*/ 12 h 593"/>
                <a:gd name="T4" fmla="*/ 156 w 196"/>
                <a:gd name="T5" fmla="*/ 48 h 593"/>
                <a:gd name="T6" fmla="*/ 36 w 196"/>
                <a:gd name="T7" fmla="*/ 216 h 593"/>
                <a:gd name="T8" fmla="*/ 48 w 196"/>
                <a:gd name="T9" fmla="*/ 288 h 593"/>
                <a:gd name="T10" fmla="*/ 96 w 196"/>
                <a:gd name="T11" fmla="*/ 300 h 593"/>
                <a:gd name="T12" fmla="*/ 132 w 196"/>
                <a:gd name="T13" fmla="*/ 312 h 593"/>
                <a:gd name="T14" fmla="*/ 132 w 196"/>
                <a:gd name="T15" fmla="*/ 396 h 593"/>
                <a:gd name="T16" fmla="*/ 24 w 196"/>
                <a:gd name="T17" fmla="*/ 444 h 593"/>
                <a:gd name="T18" fmla="*/ 60 w 196"/>
                <a:gd name="T19" fmla="*/ 564 h 593"/>
                <a:gd name="T20" fmla="*/ 192 w 196"/>
                <a:gd name="T21" fmla="*/ 588 h 5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6"/>
                <a:gd name="T34" fmla="*/ 0 h 593"/>
                <a:gd name="T35" fmla="*/ 196 w 196"/>
                <a:gd name="T36" fmla="*/ 593 h 59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6" h="593">
                  <a:moveTo>
                    <a:pt x="72" y="0"/>
                  </a:moveTo>
                  <a:cubicBezTo>
                    <a:pt x="96" y="4"/>
                    <a:pt x="123" y="0"/>
                    <a:pt x="144" y="12"/>
                  </a:cubicBezTo>
                  <a:cubicBezTo>
                    <a:pt x="155" y="18"/>
                    <a:pt x="156" y="35"/>
                    <a:pt x="156" y="48"/>
                  </a:cubicBezTo>
                  <a:cubicBezTo>
                    <a:pt x="156" y="153"/>
                    <a:pt x="128" y="185"/>
                    <a:pt x="36" y="216"/>
                  </a:cubicBezTo>
                  <a:cubicBezTo>
                    <a:pt x="40" y="240"/>
                    <a:pt x="34" y="268"/>
                    <a:pt x="48" y="288"/>
                  </a:cubicBezTo>
                  <a:cubicBezTo>
                    <a:pt x="58" y="301"/>
                    <a:pt x="80" y="295"/>
                    <a:pt x="96" y="300"/>
                  </a:cubicBezTo>
                  <a:cubicBezTo>
                    <a:pt x="108" y="303"/>
                    <a:pt x="120" y="308"/>
                    <a:pt x="132" y="312"/>
                  </a:cubicBezTo>
                  <a:cubicBezTo>
                    <a:pt x="143" y="344"/>
                    <a:pt x="155" y="361"/>
                    <a:pt x="132" y="396"/>
                  </a:cubicBezTo>
                  <a:cubicBezTo>
                    <a:pt x="110" y="429"/>
                    <a:pt x="24" y="444"/>
                    <a:pt x="24" y="444"/>
                  </a:cubicBezTo>
                  <a:cubicBezTo>
                    <a:pt x="10" y="486"/>
                    <a:pt x="0" y="551"/>
                    <a:pt x="60" y="564"/>
                  </a:cubicBezTo>
                  <a:cubicBezTo>
                    <a:pt x="196" y="593"/>
                    <a:pt x="192" y="530"/>
                    <a:pt x="192" y="588"/>
                  </a:cubicBezTo>
                </a:path>
              </a:pathLst>
            </a:custGeom>
            <a:noFill/>
            <a:ln w="9525">
              <a:solidFill>
                <a:schemeClr val="tx1"/>
              </a:solidFill>
              <a:round/>
              <a:headEnd/>
              <a:tailEnd/>
            </a:ln>
          </p:spPr>
          <p:txBody>
            <a:bodyPr wrap="none" anchor="ctr"/>
            <a:lstStyle/>
            <a:p>
              <a:endParaRPr lang="en-US" sz="2000">
                <a:latin typeface="Gill Sans MT" pitchFamily="34" charset="0"/>
              </a:endParaRPr>
            </a:p>
          </p:txBody>
        </p:sp>
        <p:sp>
          <p:nvSpPr>
            <p:cNvPr id="199693" name="Text Box 13"/>
            <p:cNvSpPr txBox="1">
              <a:spLocks noChangeArrowheads="1"/>
            </p:cNvSpPr>
            <p:nvPr/>
          </p:nvSpPr>
          <p:spPr bwMode="auto">
            <a:xfrm>
              <a:off x="590" y="2627"/>
              <a:ext cx="540" cy="252"/>
            </a:xfrm>
            <a:prstGeom prst="rect">
              <a:avLst/>
            </a:prstGeom>
            <a:noFill/>
            <a:ln w="9525">
              <a:no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thread</a:t>
              </a:r>
            </a:p>
          </p:txBody>
        </p:sp>
        <p:sp>
          <p:nvSpPr>
            <p:cNvPr id="136222" name="Line 14"/>
            <p:cNvSpPr>
              <a:spLocks noChangeShapeType="1"/>
            </p:cNvSpPr>
            <p:nvPr/>
          </p:nvSpPr>
          <p:spPr bwMode="auto">
            <a:xfrm>
              <a:off x="1140" y="2724"/>
              <a:ext cx="300" cy="12"/>
            </a:xfrm>
            <a:prstGeom prst="line">
              <a:avLst/>
            </a:prstGeom>
            <a:noFill/>
            <a:ln w="9525">
              <a:solidFill>
                <a:schemeClr val="tx1"/>
              </a:solidFill>
              <a:round/>
              <a:headEnd/>
              <a:tailEnd type="triangle" w="med" len="med"/>
            </a:ln>
          </p:spPr>
          <p:txBody>
            <a:bodyPr wrap="none" anchor="ctr"/>
            <a:lstStyle/>
            <a:p>
              <a:endParaRPr lang="en-US"/>
            </a:p>
          </p:txBody>
        </p:sp>
      </p:grpSp>
      <p:sp>
        <p:nvSpPr>
          <p:cNvPr id="199695" name="Rectangle 15"/>
          <p:cNvSpPr>
            <a:spLocks noChangeArrowheads="1"/>
          </p:cNvSpPr>
          <p:nvPr/>
        </p:nvSpPr>
        <p:spPr bwMode="auto">
          <a:xfrm>
            <a:off x="4724400" y="2057400"/>
            <a:ext cx="3409950" cy="3657600"/>
          </a:xfrm>
          <a:prstGeom prst="rect">
            <a:avLst/>
          </a:prstGeom>
          <a:solidFill>
            <a:schemeClr val="accent1"/>
          </a:solidFill>
          <a:ln w="9525">
            <a:solidFill>
              <a:schemeClr val="tx1"/>
            </a:solidFill>
            <a:miter lim="800000"/>
            <a:headEnd/>
            <a:tailEnd/>
          </a:ln>
          <a:effectLst/>
        </p:spPr>
        <p:txBody>
          <a:bodyPr wrap="none" anchor="ctr"/>
          <a:lstStyle/>
          <a:p>
            <a:pPr algn="ctr">
              <a:defRPr/>
            </a:pPr>
            <a:endParaRPr lang="hi-IN" sz="2000" dirty="0">
              <a:effectLst>
                <a:outerShdw blurRad="38100" dist="38100" dir="2700000" algn="tl">
                  <a:srgbClr val="FFFFFF"/>
                </a:outerShdw>
              </a:effectLst>
              <a:latin typeface="Gill Sans MT" pitchFamily="34" charset="0"/>
            </a:endParaRPr>
          </a:p>
        </p:txBody>
      </p:sp>
      <p:sp>
        <p:nvSpPr>
          <p:cNvPr id="136197" name="Line 16"/>
          <p:cNvSpPr>
            <a:spLocks noChangeShapeType="1"/>
          </p:cNvSpPr>
          <p:nvPr/>
        </p:nvSpPr>
        <p:spPr bwMode="auto">
          <a:xfrm>
            <a:off x="4953000" y="4076700"/>
            <a:ext cx="3352800" cy="0"/>
          </a:xfrm>
          <a:prstGeom prst="line">
            <a:avLst/>
          </a:prstGeom>
          <a:noFill/>
          <a:ln w="9525">
            <a:solidFill>
              <a:schemeClr val="tx1"/>
            </a:solidFill>
            <a:round/>
            <a:headEnd/>
            <a:tailEnd/>
          </a:ln>
        </p:spPr>
        <p:txBody>
          <a:bodyPr wrap="none" anchor="ctr"/>
          <a:lstStyle/>
          <a:p>
            <a:endParaRPr lang="en-US"/>
          </a:p>
        </p:txBody>
      </p:sp>
      <p:sp>
        <p:nvSpPr>
          <p:cNvPr id="136198" name="Line 17"/>
          <p:cNvSpPr>
            <a:spLocks noChangeShapeType="1"/>
          </p:cNvSpPr>
          <p:nvPr/>
        </p:nvSpPr>
        <p:spPr bwMode="auto">
          <a:xfrm>
            <a:off x="4953000" y="2819400"/>
            <a:ext cx="3352800" cy="0"/>
          </a:xfrm>
          <a:prstGeom prst="line">
            <a:avLst/>
          </a:prstGeom>
          <a:noFill/>
          <a:ln w="9525">
            <a:solidFill>
              <a:schemeClr val="tx1"/>
            </a:solidFill>
            <a:round/>
            <a:headEnd/>
            <a:tailEnd/>
          </a:ln>
        </p:spPr>
        <p:txBody>
          <a:bodyPr wrap="none" anchor="ctr"/>
          <a:lstStyle/>
          <a:p>
            <a:endParaRPr lang="en-US"/>
          </a:p>
        </p:txBody>
      </p:sp>
      <p:sp>
        <p:nvSpPr>
          <p:cNvPr id="199698" name="Text Box 18"/>
          <p:cNvSpPr txBox="1">
            <a:spLocks noChangeArrowheads="1"/>
          </p:cNvSpPr>
          <p:nvPr/>
        </p:nvSpPr>
        <p:spPr bwMode="auto">
          <a:xfrm>
            <a:off x="5108575" y="2265363"/>
            <a:ext cx="692150" cy="400050"/>
          </a:xfrm>
          <a:prstGeom prst="rect">
            <a:avLst/>
          </a:prstGeom>
          <a:noFill/>
          <a:ln w="9525">
            <a:solidFill>
              <a:schemeClr val="tx1"/>
            </a:solid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code</a:t>
            </a:r>
          </a:p>
        </p:txBody>
      </p:sp>
      <p:sp>
        <p:nvSpPr>
          <p:cNvPr id="199699" name="Text Box 19"/>
          <p:cNvSpPr txBox="1">
            <a:spLocks noChangeArrowheads="1"/>
          </p:cNvSpPr>
          <p:nvPr/>
        </p:nvSpPr>
        <p:spPr bwMode="auto">
          <a:xfrm>
            <a:off x="6213475" y="2265363"/>
            <a:ext cx="619125" cy="400050"/>
          </a:xfrm>
          <a:prstGeom prst="rect">
            <a:avLst/>
          </a:prstGeom>
          <a:noFill/>
          <a:ln w="9525">
            <a:solidFill>
              <a:schemeClr val="tx1"/>
            </a:solid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data</a:t>
            </a:r>
          </a:p>
        </p:txBody>
      </p:sp>
      <p:sp>
        <p:nvSpPr>
          <p:cNvPr id="199700" name="Text Box 20"/>
          <p:cNvSpPr txBox="1">
            <a:spLocks noChangeArrowheads="1"/>
          </p:cNvSpPr>
          <p:nvPr/>
        </p:nvSpPr>
        <p:spPr bwMode="auto">
          <a:xfrm>
            <a:off x="7280275" y="2246313"/>
            <a:ext cx="584200" cy="400050"/>
          </a:xfrm>
          <a:prstGeom prst="rect">
            <a:avLst/>
          </a:prstGeom>
          <a:noFill/>
          <a:ln w="9525">
            <a:solidFill>
              <a:schemeClr val="tx1"/>
            </a:solid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files</a:t>
            </a:r>
          </a:p>
        </p:txBody>
      </p:sp>
      <p:sp>
        <p:nvSpPr>
          <p:cNvPr id="199701" name="Text Box 21"/>
          <p:cNvSpPr txBox="1">
            <a:spLocks noChangeArrowheads="1"/>
          </p:cNvSpPr>
          <p:nvPr/>
        </p:nvSpPr>
        <p:spPr bwMode="auto">
          <a:xfrm>
            <a:off x="5127625" y="3027363"/>
            <a:ext cx="1077913" cy="400050"/>
          </a:xfrm>
          <a:prstGeom prst="rect">
            <a:avLst/>
          </a:prstGeom>
          <a:noFill/>
          <a:ln w="9525">
            <a:solidFill>
              <a:schemeClr val="tx1"/>
            </a:solid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registers</a:t>
            </a:r>
          </a:p>
        </p:txBody>
      </p:sp>
      <p:sp>
        <p:nvSpPr>
          <p:cNvPr id="199702" name="Text Box 22"/>
          <p:cNvSpPr txBox="1">
            <a:spLocks noChangeArrowheads="1"/>
          </p:cNvSpPr>
          <p:nvPr/>
        </p:nvSpPr>
        <p:spPr bwMode="auto">
          <a:xfrm>
            <a:off x="5222875" y="3541713"/>
            <a:ext cx="714375" cy="400050"/>
          </a:xfrm>
          <a:prstGeom prst="rect">
            <a:avLst/>
          </a:prstGeom>
          <a:noFill/>
          <a:ln w="9525">
            <a:solidFill>
              <a:schemeClr val="tx1"/>
            </a:solid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stack</a:t>
            </a:r>
          </a:p>
        </p:txBody>
      </p:sp>
      <p:sp>
        <p:nvSpPr>
          <p:cNvPr id="136204" name="Freeform 23"/>
          <p:cNvSpPr>
            <a:spLocks/>
          </p:cNvSpPr>
          <p:nvPr/>
        </p:nvSpPr>
        <p:spPr bwMode="auto">
          <a:xfrm>
            <a:off x="5410200" y="4362450"/>
            <a:ext cx="311150" cy="941388"/>
          </a:xfrm>
          <a:custGeom>
            <a:avLst/>
            <a:gdLst>
              <a:gd name="T0" fmla="*/ 2147483647 w 196"/>
              <a:gd name="T1" fmla="*/ 0 h 593"/>
              <a:gd name="T2" fmla="*/ 2147483647 w 196"/>
              <a:gd name="T3" fmla="*/ 2147483647 h 593"/>
              <a:gd name="T4" fmla="*/ 2147483647 w 196"/>
              <a:gd name="T5" fmla="*/ 2147483647 h 593"/>
              <a:gd name="T6" fmla="*/ 2147483647 w 196"/>
              <a:gd name="T7" fmla="*/ 2147483647 h 593"/>
              <a:gd name="T8" fmla="*/ 2147483647 w 196"/>
              <a:gd name="T9" fmla="*/ 2147483647 h 593"/>
              <a:gd name="T10" fmla="*/ 2147483647 w 196"/>
              <a:gd name="T11" fmla="*/ 2147483647 h 593"/>
              <a:gd name="T12" fmla="*/ 2147483647 w 196"/>
              <a:gd name="T13" fmla="*/ 2147483647 h 593"/>
              <a:gd name="T14" fmla="*/ 2147483647 w 196"/>
              <a:gd name="T15" fmla="*/ 2147483647 h 593"/>
              <a:gd name="T16" fmla="*/ 2147483647 w 196"/>
              <a:gd name="T17" fmla="*/ 2147483647 h 593"/>
              <a:gd name="T18" fmla="*/ 2147483647 w 196"/>
              <a:gd name="T19" fmla="*/ 2147483647 h 593"/>
              <a:gd name="T20" fmla="*/ 2147483647 w 196"/>
              <a:gd name="T21" fmla="*/ 2147483647 h 5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6"/>
              <a:gd name="T34" fmla="*/ 0 h 593"/>
              <a:gd name="T35" fmla="*/ 196 w 196"/>
              <a:gd name="T36" fmla="*/ 593 h 59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6" h="593">
                <a:moveTo>
                  <a:pt x="72" y="0"/>
                </a:moveTo>
                <a:cubicBezTo>
                  <a:pt x="96" y="4"/>
                  <a:pt x="123" y="0"/>
                  <a:pt x="144" y="12"/>
                </a:cubicBezTo>
                <a:cubicBezTo>
                  <a:pt x="155" y="18"/>
                  <a:pt x="156" y="35"/>
                  <a:pt x="156" y="48"/>
                </a:cubicBezTo>
                <a:cubicBezTo>
                  <a:pt x="156" y="153"/>
                  <a:pt x="128" y="185"/>
                  <a:pt x="36" y="216"/>
                </a:cubicBezTo>
                <a:cubicBezTo>
                  <a:pt x="40" y="240"/>
                  <a:pt x="34" y="268"/>
                  <a:pt x="48" y="288"/>
                </a:cubicBezTo>
                <a:cubicBezTo>
                  <a:pt x="58" y="301"/>
                  <a:pt x="80" y="295"/>
                  <a:pt x="96" y="300"/>
                </a:cubicBezTo>
                <a:cubicBezTo>
                  <a:pt x="108" y="303"/>
                  <a:pt x="120" y="308"/>
                  <a:pt x="132" y="312"/>
                </a:cubicBezTo>
                <a:cubicBezTo>
                  <a:pt x="143" y="344"/>
                  <a:pt x="155" y="361"/>
                  <a:pt x="132" y="396"/>
                </a:cubicBezTo>
                <a:cubicBezTo>
                  <a:pt x="110" y="429"/>
                  <a:pt x="24" y="444"/>
                  <a:pt x="24" y="444"/>
                </a:cubicBezTo>
                <a:cubicBezTo>
                  <a:pt x="10" y="486"/>
                  <a:pt x="0" y="551"/>
                  <a:pt x="60" y="564"/>
                </a:cubicBezTo>
                <a:cubicBezTo>
                  <a:pt x="196" y="593"/>
                  <a:pt x="192" y="530"/>
                  <a:pt x="192" y="588"/>
                </a:cubicBezTo>
              </a:path>
            </a:pathLst>
          </a:custGeom>
          <a:noFill/>
          <a:ln w="9525">
            <a:solidFill>
              <a:schemeClr val="tx1"/>
            </a:solidFill>
            <a:round/>
            <a:headEnd/>
            <a:tailEnd/>
          </a:ln>
        </p:spPr>
        <p:txBody>
          <a:bodyPr wrap="none" anchor="ctr"/>
          <a:lstStyle/>
          <a:p>
            <a:endParaRPr lang="en-US" sz="2000">
              <a:latin typeface="Gill Sans MT" pitchFamily="34" charset="0"/>
            </a:endParaRPr>
          </a:p>
        </p:txBody>
      </p:sp>
      <p:sp>
        <p:nvSpPr>
          <p:cNvPr id="199705" name="Text Box 25"/>
          <p:cNvSpPr txBox="1">
            <a:spLocks noChangeArrowheads="1"/>
          </p:cNvSpPr>
          <p:nvPr/>
        </p:nvSpPr>
        <p:spPr bwMode="auto">
          <a:xfrm>
            <a:off x="7051675" y="3046413"/>
            <a:ext cx="1077913" cy="400050"/>
          </a:xfrm>
          <a:prstGeom prst="rect">
            <a:avLst/>
          </a:prstGeom>
          <a:noFill/>
          <a:ln w="9525">
            <a:solidFill>
              <a:schemeClr val="tx1"/>
            </a:solid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registers</a:t>
            </a:r>
          </a:p>
        </p:txBody>
      </p:sp>
      <p:sp>
        <p:nvSpPr>
          <p:cNvPr id="199706" name="Text Box 26"/>
          <p:cNvSpPr txBox="1">
            <a:spLocks noChangeArrowheads="1"/>
          </p:cNvSpPr>
          <p:nvPr/>
        </p:nvSpPr>
        <p:spPr bwMode="auto">
          <a:xfrm>
            <a:off x="7146925" y="3560763"/>
            <a:ext cx="714375" cy="400050"/>
          </a:xfrm>
          <a:prstGeom prst="rect">
            <a:avLst/>
          </a:prstGeom>
          <a:noFill/>
          <a:ln w="9525">
            <a:solidFill>
              <a:schemeClr val="tx1"/>
            </a:solid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stack</a:t>
            </a:r>
          </a:p>
        </p:txBody>
      </p:sp>
      <p:sp>
        <p:nvSpPr>
          <p:cNvPr id="136207" name="Freeform 27"/>
          <p:cNvSpPr>
            <a:spLocks/>
          </p:cNvSpPr>
          <p:nvPr/>
        </p:nvSpPr>
        <p:spPr bwMode="auto">
          <a:xfrm>
            <a:off x="7315200" y="4343400"/>
            <a:ext cx="311150" cy="941388"/>
          </a:xfrm>
          <a:custGeom>
            <a:avLst/>
            <a:gdLst>
              <a:gd name="T0" fmla="*/ 2147483647 w 196"/>
              <a:gd name="T1" fmla="*/ 0 h 593"/>
              <a:gd name="T2" fmla="*/ 2147483647 w 196"/>
              <a:gd name="T3" fmla="*/ 2147483647 h 593"/>
              <a:gd name="T4" fmla="*/ 2147483647 w 196"/>
              <a:gd name="T5" fmla="*/ 2147483647 h 593"/>
              <a:gd name="T6" fmla="*/ 2147483647 w 196"/>
              <a:gd name="T7" fmla="*/ 2147483647 h 593"/>
              <a:gd name="T8" fmla="*/ 2147483647 w 196"/>
              <a:gd name="T9" fmla="*/ 2147483647 h 593"/>
              <a:gd name="T10" fmla="*/ 2147483647 w 196"/>
              <a:gd name="T11" fmla="*/ 2147483647 h 593"/>
              <a:gd name="T12" fmla="*/ 2147483647 w 196"/>
              <a:gd name="T13" fmla="*/ 2147483647 h 593"/>
              <a:gd name="T14" fmla="*/ 2147483647 w 196"/>
              <a:gd name="T15" fmla="*/ 2147483647 h 593"/>
              <a:gd name="T16" fmla="*/ 2147483647 w 196"/>
              <a:gd name="T17" fmla="*/ 2147483647 h 593"/>
              <a:gd name="T18" fmla="*/ 2147483647 w 196"/>
              <a:gd name="T19" fmla="*/ 2147483647 h 593"/>
              <a:gd name="T20" fmla="*/ 2147483647 w 196"/>
              <a:gd name="T21" fmla="*/ 2147483647 h 5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6"/>
              <a:gd name="T34" fmla="*/ 0 h 593"/>
              <a:gd name="T35" fmla="*/ 196 w 196"/>
              <a:gd name="T36" fmla="*/ 593 h 59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6" h="593">
                <a:moveTo>
                  <a:pt x="72" y="0"/>
                </a:moveTo>
                <a:cubicBezTo>
                  <a:pt x="96" y="4"/>
                  <a:pt x="123" y="0"/>
                  <a:pt x="144" y="12"/>
                </a:cubicBezTo>
                <a:cubicBezTo>
                  <a:pt x="155" y="18"/>
                  <a:pt x="156" y="35"/>
                  <a:pt x="156" y="48"/>
                </a:cubicBezTo>
                <a:cubicBezTo>
                  <a:pt x="156" y="153"/>
                  <a:pt x="128" y="185"/>
                  <a:pt x="36" y="216"/>
                </a:cubicBezTo>
                <a:cubicBezTo>
                  <a:pt x="40" y="240"/>
                  <a:pt x="34" y="268"/>
                  <a:pt x="48" y="288"/>
                </a:cubicBezTo>
                <a:cubicBezTo>
                  <a:pt x="58" y="301"/>
                  <a:pt x="80" y="295"/>
                  <a:pt x="96" y="300"/>
                </a:cubicBezTo>
                <a:cubicBezTo>
                  <a:pt x="108" y="303"/>
                  <a:pt x="120" y="308"/>
                  <a:pt x="132" y="312"/>
                </a:cubicBezTo>
                <a:cubicBezTo>
                  <a:pt x="143" y="344"/>
                  <a:pt x="155" y="361"/>
                  <a:pt x="132" y="396"/>
                </a:cubicBezTo>
                <a:cubicBezTo>
                  <a:pt x="110" y="429"/>
                  <a:pt x="24" y="444"/>
                  <a:pt x="24" y="444"/>
                </a:cubicBezTo>
                <a:cubicBezTo>
                  <a:pt x="10" y="486"/>
                  <a:pt x="0" y="551"/>
                  <a:pt x="60" y="564"/>
                </a:cubicBezTo>
                <a:cubicBezTo>
                  <a:pt x="196" y="593"/>
                  <a:pt x="192" y="530"/>
                  <a:pt x="192" y="588"/>
                </a:cubicBezTo>
              </a:path>
            </a:pathLst>
          </a:custGeom>
          <a:noFill/>
          <a:ln w="9525">
            <a:solidFill>
              <a:schemeClr val="tx1"/>
            </a:solidFill>
            <a:round/>
            <a:headEnd/>
            <a:tailEnd/>
          </a:ln>
        </p:spPr>
        <p:txBody>
          <a:bodyPr wrap="none" anchor="ctr"/>
          <a:lstStyle/>
          <a:p>
            <a:endParaRPr lang="en-US" sz="2000">
              <a:latin typeface="Gill Sans MT" pitchFamily="34" charset="0"/>
            </a:endParaRPr>
          </a:p>
        </p:txBody>
      </p:sp>
      <p:sp>
        <p:nvSpPr>
          <p:cNvPr id="136208" name="Line 28"/>
          <p:cNvSpPr>
            <a:spLocks noChangeShapeType="1"/>
          </p:cNvSpPr>
          <p:nvPr/>
        </p:nvSpPr>
        <p:spPr bwMode="auto">
          <a:xfrm flipH="1">
            <a:off x="6553200" y="2857500"/>
            <a:ext cx="38100" cy="2705100"/>
          </a:xfrm>
          <a:prstGeom prst="line">
            <a:avLst/>
          </a:prstGeom>
          <a:noFill/>
          <a:ln w="9525">
            <a:solidFill>
              <a:schemeClr val="tx1"/>
            </a:solidFill>
            <a:round/>
            <a:headEnd/>
            <a:tailEnd/>
          </a:ln>
        </p:spPr>
        <p:txBody>
          <a:bodyPr wrap="none" anchor="ctr"/>
          <a:lstStyle/>
          <a:p>
            <a:endParaRPr lang="en-US"/>
          </a:p>
        </p:txBody>
      </p:sp>
      <p:sp>
        <p:nvSpPr>
          <p:cNvPr id="136209" name="Line 29"/>
          <p:cNvSpPr>
            <a:spLocks noChangeShapeType="1"/>
          </p:cNvSpPr>
          <p:nvPr/>
        </p:nvSpPr>
        <p:spPr bwMode="auto">
          <a:xfrm flipH="1">
            <a:off x="7543800" y="4743450"/>
            <a:ext cx="1047750" cy="114300"/>
          </a:xfrm>
          <a:prstGeom prst="line">
            <a:avLst/>
          </a:prstGeom>
          <a:noFill/>
          <a:ln w="9525">
            <a:solidFill>
              <a:schemeClr val="tx1"/>
            </a:solidFill>
            <a:round/>
            <a:headEnd/>
            <a:tailEnd type="triangle" w="med" len="med"/>
          </a:ln>
        </p:spPr>
        <p:txBody>
          <a:bodyPr wrap="none" anchor="ctr"/>
          <a:lstStyle/>
          <a:p>
            <a:endParaRPr lang="en-US"/>
          </a:p>
        </p:txBody>
      </p:sp>
      <p:sp>
        <p:nvSpPr>
          <p:cNvPr id="199710" name="Text Box 30"/>
          <p:cNvSpPr txBox="1">
            <a:spLocks noChangeArrowheads="1"/>
          </p:cNvSpPr>
          <p:nvPr/>
        </p:nvSpPr>
        <p:spPr bwMode="auto">
          <a:xfrm>
            <a:off x="1187450" y="1295400"/>
            <a:ext cx="1773238" cy="400050"/>
          </a:xfrm>
          <a:prstGeom prst="rect">
            <a:avLst/>
          </a:prstGeom>
          <a:noFill/>
          <a:ln w="9525">
            <a:no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Single threaded</a:t>
            </a:r>
          </a:p>
        </p:txBody>
      </p:sp>
      <p:sp>
        <p:nvSpPr>
          <p:cNvPr id="199711" name="Text Box 31"/>
          <p:cNvSpPr txBox="1">
            <a:spLocks noChangeArrowheads="1"/>
          </p:cNvSpPr>
          <p:nvPr/>
        </p:nvSpPr>
        <p:spPr bwMode="auto">
          <a:xfrm>
            <a:off x="5184775" y="1371600"/>
            <a:ext cx="1749425" cy="400050"/>
          </a:xfrm>
          <a:prstGeom prst="rect">
            <a:avLst/>
          </a:prstGeom>
          <a:noFill/>
          <a:ln w="9525">
            <a:noFill/>
            <a:miter lim="800000"/>
            <a:headEnd/>
            <a:tailEnd/>
          </a:ln>
        </p:spPr>
        <p:txBody>
          <a:bodyPr>
            <a:spAutoFit/>
          </a:bodyPr>
          <a:lstStyle/>
          <a:p>
            <a:pPr>
              <a:defRPr/>
            </a:pPr>
            <a:r>
              <a:rPr lang="en-US" sz="2000" dirty="0">
                <a:effectLst>
                  <a:outerShdw blurRad="38100" dist="38100" dir="2700000" algn="tl">
                    <a:srgbClr val="C0C0C0"/>
                  </a:outerShdw>
                </a:effectLst>
                <a:latin typeface="Gill Sans MT" pitchFamily="34" charset="0"/>
              </a:rPr>
              <a:t>Multi threaded</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3"/>
          <p:cNvSpPr>
            <a:spLocks noGrp="1" noChangeArrowheads="1"/>
          </p:cNvSpPr>
          <p:nvPr>
            <p:ph idx="1"/>
          </p:nvPr>
        </p:nvSpPr>
        <p:spPr/>
        <p:txBody>
          <a:bodyPr/>
          <a:lstStyle/>
          <a:p>
            <a:r>
              <a:rPr lang="en-US" dirty="0" smtClean="0"/>
              <a:t>Responsiveness</a:t>
            </a:r>
            <a:br>
              <a:rPr lang="en-US" dirty="0" smtClean="0"/>
            </a:br>
            <a:endParaRPr lang="en-US" dirty="0" smtClean="0"/>
          </a:p>
          <a:p>
            <a:r>
              <a:rPr lang="en-US" dirty="0" smtClean="0"/>
              <a:t>Resource Sharing</a:t>
            </a:r>
            <a:br>
              <a:rPr lang="en-US" dirty="0" smtClean="0"/>
            </a:br>
            <a:endParaRPr lang="en-US" dirty="0" smtClean="0"/>
          </a:p>
          <a:p>
            <a:r>
              <a:rPr lang="en-US" dirty="0" smtClean="0"/>
              <a:t>Utilization of MP Architectures</a:t>
            </a:r>
          </a:p>
          <a:p>
            <a:endParaRPr lang="en-US" dirty="0" smtClean="0"/>
          </a:p>
          <a:p>
            <a:r>
              <a:rPr lang="en-US" dirty="0" smtClean="0"/>
              <a:t>Economy</a:t>
            </a:r>
          </a:p>
        </p:txBody>
      </p:sp>
      <p:sp>
        <p:nvSpPr>
          <p:cNvPr id="137218" name="Rectangle 2"/>
          <p:cNvSpPr>
            <a:spLocks noGrp="1" noChangeArrowheads="1"/>
          </p:cNvSpPr>
          <p:nvPr>
            <p:ph type="title"/>
          </p:nvPr>
        </p:nvSpPr>
        <p:spPr>
          <a:xfrm>
            <a:off x="0" y="228600"/>
            <a:ext cx="7564438" cy="914400"/>
          </a:xfrm>
        </p:spPr>
        <p:txBody>
          <a:bodyPr anchor="t"/>
          <a:lstStyle/>
          <a:p>
            <a:r>
              <a:rPr lang="en-US" dirty="0" smtClean="0"/>
              <a:t>Threads - Benefits</a:t>
            </a:r>
          </a:p>
        </p:txBody>
      </p:sp>
      <p:sp>
        <p:nvSpPr>
          <p:cNvPr id="137219" name="Text Box 4"/>
          <p:cNvSpPr txBox="1">
            <a:spLocks noChangeArrowheads="1"/>
          </p:cNvSpPr>
          <p:nvPr/>
        </p:nvSpPr>
        <p:spPr bwMode="auto">
          <a:xfrm>
            <a:off x="1422400" y="165100"/>
            <a:ext cx="3100388" cy="457200"/>
          </a:xfrm>
          <a:prstGeom prst="rect">
            <a:avLst/>
          </a:prstGeom>
          <a:noFill/>
          <a:ln w="9525">
            <a:noFill/>
            <a:miter lim="800000"/>
            <a:headEnd/>
            <a:tailEnd/>
          </a:ln>
        </p:spPr>
        <p:txBody>
          <a:bodyPr anchor="ctr"/>
          <a:lstStyle/>
          <a:p>
            <a:pPr algn="ctr" eaLnBrk="0" hangingPunct="0"/>
            <a:endParaRPr kumimoji="1" lang="hi-IN" sz="3200" b="1">
              <a:solidFill>
                <a:schemeClr val="tx2"/>
              </a:solidFill>
              <a:latin typeface="Helvetica" pitchFamily="34" charset="0"/>
              <a:ea typeface="Mangal" pitchFamily="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Content Placeholder 1"/>
          <p:cNvSpPr>
            <a:spLocks noGrp="1"/>
          </p:cNvSpPr>
          <p:nvPr>
            <p:ph idx="1"/>
          </p:nvPr>
        </p:nvSpPr>
        <p:spPr/>
        <p:txBody>
          <a:bodyPr/>
          <a:lstStyle/>
          <a:p>
            <a:r>
              <a:rPr lang="en-US" smtClean="0"/>
              <a:t>User Thread</a:t>
            </a:r>
          </a:p>
          <a:p>
            <a:endParaRPr lang="en-US" smtClean="0"/>
          </a:p>
          <a:p>
            <a:r>
              <a:rPr lang="en-US" smtClean="0"/>
              <a:t>Kernel Threads</a:t>
            </a:r>
          </a:p>
          <a:p>
            <a:endParaRPr lang="en-US" smtClean="0"/>
          </a:p>
          <a:p>
            <a:r>
              <a:rPr lang="en-US" smtClean="0"/>
              <a:t>PThreads</a:t>
            </a:r>
          </a:p>
        </p:txBody>
      </p:sp>
      <p:sp>
        <p:nvSpPr>
          <p:cNvPr id="139266" name="Title 2"/>
          <p:cNvSpPr>
            <a:spLocks noGrp="1"/>
          </p:cNvSpPr>
          <p:nvPr>
            <p:ph type="title"/>
          </p:nvPr>
        </p:nvSpPr>
        <p:spPr>
          <a:xfrm>
            <a:off x="0" y="0"/>
            <a:ext cx="7562850" cy="914400"/>
          </a:xfrm>
        </p:spPr>
        <p:txBody>
          <a:bodyPr/>
          <a:lstStyle/>
          <a:p>
            <a:r>
              <a:rPr lang="en-US" smtClean="0"/>
              <a:t>Types of Thread</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3"/>
          <p:cNvSpPr>
            <a:spLocks noGrp="1" noChangeArrowheads="1"/>
          </p:cNvSpPr>
          <p:nvPr>
            <p:ph idx="1"/>
          </p:nvPr>
        </p:nvSpPr>
        <p:spPr/>
        <p:txBody>
          <a:bodyPr/>
          <a:lstStyle/>
          <a:p>
            <a:pPr algn="just"/>
            <a:r>
              <a:rPr lang="en-US" dirty="0" smtClean="0"/>
              <a:t>User-level threads library will manages the Threads</a:t>
            </a:r>
          </a:p>
          <a:p>
            <a:endParaRPr lang="en-US" dirty="0" smtClean="0"/>
          </a:p>
          <a:p>
            <a:pPr algn="just"/>
            <a:r>
              <a:rPr lang="en-US" dirty="0" smtClean="0"/>
              <a:t>Thread library contains code for instantiating and destroying threads,.</a:t>
            </a:r>
          </a:p>
          <a:p>
            <a:endParaRPr lang="en-US" dirty="0" smtClean="0"/>
          </a:p>
          <a:p>
            <a:pPr algn="just"/>
            <a:r>
              <a:rPr lang="en-US" dirty="0" smtClean="0"/>
              <a:t>Passing messages and data between threads, for scheduling thread execution and for saving and restoring thread contexts</a:t>
            </a:r>
          </a:p>
          <a:p>
            <a:pPr>
              <a:buFont typeface="Wingdings" pitchFamily="2" charset="2"/>
              <a:buNone/>
            </a:pPr>
            <a:endParaRPr lang="en-US" dirty="0" smtClean="0"/>
          </a:p>
          <a:p>
            <a:r>
              <a:rPr lang="en-US" dirty="0" smtClean="0"/>
              <a:t> Examples:</a:t>
            </a:r>
          </a:p>
          <a:p>
            <a:endParaRPr lang="en-US" dirty="0" smtClean="0"/>
          </a:p>
          <a:p>
            <a:pPr>
              <a:buFont typeface="Wingdings" pitchFamily="2" charset="2"/>
              <a:buNone/>
            </a:pPr>
            <a:r>
              <a:rPr lang="en-US" dirty="0" smtClean="0"/>
              <a:t>	- POSIX Threads  	- Mach C-threads</a:t>
            </a:r>
          </a:p>
          <a:p>
            <a:pPr>
              <a:buFont typeface="Wingdings" pitchFamily="2" charset="2"/>
              <a:buNone/>
            </a:pPr>
            <a:r>
              <a:rPr lang="en-US" dirty="0" smtClean="0"/>
              <a:t>	- Solaris threads</a:t>
            </a:r>
          </a:p>
        </p:txBody>
      </p:sp>
      <p:sp>
        <p:nvSpPr>
          <p:cNvPr id="140290" name="Rectangle 2"/>
          <p:cNvSpPr>
            <a:spLocks noGrp="1" noChangeArrowheads="1"/>
          </p:cNvSpPr>
          <p:nvPr>
            <p:ph type="title"/>
          </p:nvPr>
        </p:nvSpPr>
        <p:spPr>
          <a:xfrm>
            <a:off x="0" y="228600"/>
            <a:ext cx="7564438" cy="914400"/>
          </a:xfrm>
        </p:spPr>
        <p:txBody>
          <a:bodyPr anchor="t"/>
          <a:lstStyle/>
          <a:p>
            <a:r>
              <a:rPr lang="en-US" dirty="0" smtClean="0"/>
              <a:t>User Threads</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3"/>
          <p:cNvSpPr>
            <a:spLocks noGrp="1" noChangeArrowheads="1"/>
          </p:cNvSpPr>
          <p:nvPr>
            <p:ph idx="1"/>
          </p:nvPr>
        </p:nvSpPr>
        <p:spPr>
          <a:xfrm>
            <a:off x="457200" y="1371600"/>
            <a:ext cx="8229600" cy="5257800"/>
          </a:xfrm>
        </p:spPr>
        <p:txBody>
          <a:bodyPr/>
          <a:lstStyle/>
          <a:p>
            <a:r>
              <a:rPr lang="en-US" dirty="0" smtClean="0"/>
              <a:t>Supported by the Kernel</a:t>
            </a:r>
          </a:p>
          <a:p>
            <a:endParaRPr lang="en-US" dirty="0" smtClean="0"/>
          </a:p>
          <a:p>
            <a:r>
              <a:rPr lang="en-US" dirty="0" smtClean="0"/>
              <a:t>Thread management is done by the kernel</a:t>
            </a:r>
          </a:p>
          <a:p>
            <a:endParaRPr lang="en-US" sz="1800" dirty="0" smtClean="0"/>
          </a:p>
          <a:p>
            <a:pPr algn="just"/>
            <a:r>
              <a:rPr lang="en-US" dirty="0" smtClean="0"/>
              <a:t>If one thread in a process is blocked, kernel usually schedules another thread of the same process</a:t>
            </a:r>
          </a:p>
          <a:p>
            <a:pPr algn="just"/>
            <a:endParaRPr lang="en-US" dirty="0" smtClean="0"/>
          </a:p>
          <a:p>
            <a:pPr algn="just"/>
            <a:r>
              <a:rPr lang="en-US" dirty="0" smtClean="0"/>
              <a:t>Transfer of control from one thread to another process (within) requires a mode switch to the kernel</a:t>
            </a:r>
          </a:p>
          <a:p>
            <a:pPr algn="just">
              <a:buNone/>
            </a:pPr>
            <a:endParaRPr lang="en-US" dirty="0" smtClean="0"/>
          </a:p>
          <a:p>
            <a:pPr>
              <a:buFont typeface="Wingdings" pitchFamily="2" charset="2"/>
              <a:buNone/>
            </a:pPr>
            <a:r>
              <a:rPr lang="en-US" dirty="0" smtClean="0"/>
              <a:t>      </a:t>
            </a:r>
            <a:endParaRPr lang="en-US" sz="1800" dirty="0" smtClean="0"/>
          </a:p>
        </p:txBody>
      </p:sp>
      <p:sp>
        <p:nvSpPr>
          <p:cNvPr id="142338" name="Rectangle 2"/>
          <p:cNvSpPr>
            <a:spLocks noGrp="1" noChangeArrowheads="1"/>
          </p:cNvSpPr>
          <p:nvPr>
            <p:ph type="title"/>
          </p:nvPr>
        </p:nvSpPr>
        <p:spPr>
          <a:xfrm>
            <a:off x="0" y="0"/>
            <a:ext cx="7564438" cy="914400"/>
          </a:xfrm>
        </p:spPr>
        <p:txBody>
          <a:bodyPr anchor="t"/>
          <a:lstStyle/>
          <a:p>
            <a:r>
              <a:rPr lang="en-US" smtClean="0"/>
              <a:t>Kernel Threads</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3"/>
          <p:cNvSpPr>
            <a:spLocks noGrp="1" noChangeArrowheads="1"/>
          </p:cNvSpPr>
          <p:nvPr>
            <p:ph idx="1"/>
          </p:nvPr>
        </p:nvSpPr>
        <p:spPr/>
        <p:txBody>
          <a:bodyPr/>
          <a:lstStyle/>
          <a:p>
            <a:pPr algn="just">
              <a:spcBef>
                <a:spcPts val="500"/>
              </a:spcBef>
              <a:spcAft>
                <a:spcPts val="500"/>
              </a:spcAft>
            </a:pPr>
            <a:r>
              <a:rPr lang="en-US" dirty="0" smtClean="0"/>
              <a:t>API specifies behavior of the thread library, implementation is up to development of the library</a:t>
            </a:r>
          </a:p>
          <a:p>
            <a:pPr algn="just">
              <a:spcBef>
                <a:spcPts val="500"/>
              </a:spcBef>
              <a:spcAft>
                <a:spcPts val="500"/>
              </a:spcAft>
            </a:pPr>
            <a:endParaRPr lang="en-US" dirty="0" smtClean="0"/>
          </a:p>
          <a:p>
            <a:pPr algn="just">
              <a:spcBef>
                <a:spcPts val="500"/>
              </a:spcBef>
              <a:spcAft>
                <a:spcPts val="500"/>
              </a:spcAft>
            </a:pPr>
            <a:r>
              <a:rPr lang="en-US" dirty="0" smtClean="0"/>
              <a:t>A POSIX standard (IEEE 1003.1c) API for thread creation and synchronization</a:t>
            </a:r>
          </a:p>
          <a:p>
            <a:pPr>
              <a:spcBef>
                <a:spcPts val="500"/>
              </a:spcBef>
              <a:spcAft>
                <a:spcPts val="500"/>
              </a:spcAft>
            </a:pPr>
            <a:endParaRPr lang="en-US" dirty="0" smtClean="0"/>
          </a:p>
          <a:p>
            <a:pPr>
              <a:spcBef>
                <a:spcPts val="500"/>
              </a:spcBef>
              <a:spcAft>
                <a:spcPts val="500"/>
              </a:spcAft>
            </a:pPr>
            <a:r>
              <a:rPr lang="en-US" dirty="0" smtClean="0"/>
              <a:t>Common in UNIX operating systems</a:t>
            </a:r>
          </a:p>
          <a:p>
            <a:pPr>
              <a:spcBef>
                <a:spcPts val="500"/>
              </a:spcBef>
              <a:spcAft>
                <a:spcPts val="500"/>
              </a:spcAft>
            </a:pPr>
            <a:endParaRPr lang="en-US" dirty="0" smtClean="0"/>
          </a:p>
        </p:txBody>
      </p:sp>
      <p:sp>
        <p:nvSpPr>
          <p:cNvPr id="144386" name="Rectangle 2"/>
          <p:cNvSpPr>
            <a:spLocks noGrp="1" noChangeArrowheads="1"/>
          </p:cNvSpPr>
          <p:nvPr>
            <p:ph type="title"/>
          </p:nvPr>
        </p:nvSpPr>
        <p:spPr>
          <a:xfrm>
            <a:off x="0" y="228600"/>
            <a:ext cx="7564438" cy="914400"/>
          </a:xfrm>
        </p:spPr>
        <p:txBody>
          <a:bodyPr anchor="t"/>
          <a:lstStyle/>
          <a:p>
            <a:r>
              <a:rPr lang="en-US" dirty="0" err="1" smtClean="0"/>
              <a:t>Pthreads</a:t>
            </a:r>
            <a:endParaRPr lang="en-US" dirty="0" smtClean="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Content Placeholder 1"/>
          <p:cNvSpPr>
            <a:spLocks noGrp="1"/>
          </p:cNvSpPr>
          <p:nvPr>
            <p:ph idx="1"/>
          </p:nvPr>
        </p:nvSpPr>
        <p:spPr/>
        <p:txBody>
          <a:bodyPr/>
          <a:lstStyle/>
          <a:p>
            <a:r>
              <a:rPr lang="en-US" dirty="0" smtClean="0"/>
              <a:t>Explore commands of Unix OS to illustrate process</a:t>
            </a:r>
            <a:endParaRPr lang="en-US" sz="2400" dirty="0" smtClean="0"/>
          </a:p>
          <a:p>
            <a:pPr lvl="1"/>
            <a:endParaRPr lang="en-US" dirty="0" smtClean="0"/>
          </a:p>
          <a:p>
            <a:pPr lvl="1"/>
            <a:r>
              <a:rPr lang="en-US" dirty="0" smtClean="0"/>
              <a:t>Starting a process (use any command)</a:t>
            </a:r>
            <a:endParaRPr lang="en-US" sz="2000" dirty="0" smtClean="0"/>
          </a:p>
          <a:p>
            <a:pPr lvl="1"/>
            <a:r>
              <a:rPr lang="en-US" dirty="0" smtClean="0"/>
              <a:t>List running processes (</a:t>
            </a:r>
            <a:r>
              <a:rPr lang="en-US" i="1" dirty="0" err="1" smtClean="0"/>
              <a:t>ps</a:t>
            </a:r>
            <a:r>
              <a:rPr lang="en-US" dirty="0" smtClean="0"/>
              <a:t>)</a:t>
            </a:r>
            <a:endParaRPr lang="en-US" sz="2000" dirty="0" smtClean="0"/>
          </a:p>
          <a:p>
            <a:pPr lvl="1"/>
            <a:r>
              <a:rPr lang="en-US" dirty="0" smtClean="0"/>
              <a:t>Stop the process (</a:t>
            </a:r>
            <a:r>
              <a:rPr lang="en-US" i="1" dirty="0" smtClean="0"/>
              <a:t>kill</a:t>
            </a:r>
            <a:r>
              <a:rPr lang="en-US" dirty="0" smtClean="0"/>
              <a:t>)</a:t>
            </a:r>
            <a:endParaRPr lang="en-US" sz="2000" dirty="0" smtClean="0"/>
          </a:p>
          <a:p>
            <a:pPr>
              <a:buFont typeface="Wingdings" pitchFamily="2" charset="2"/>
              <a:buNone/>
            </a:pPr>
            <a:r>
              <a:rPr lang="en-US" dirty="0" smtClean="0"/>
              <a:t> </a:t>
            </a:r>
            <a:endParaRPr lang="en-US" sz="2400" dirty="0" smtClean="0"/>
          </a:p>
          <a:p>
            <a:r>
              <a:rPr lang="en-US" dirty="0" smtClean="0"/>
              <a:t>Explore General purpose command of Unix OS</a:t>
            </a:r>
            <a:endParaRPr lang="en-US" sz="2400" dirty="0" smtClean="0"/>
          </a:p>
          <a:p>
            <a:pPr lvl="1"/>
            <a:endParaRPr lang="en-US" dirty="0" smtClean="0"/>
          </a:p>
          <a:p>
            <a:pPr lvl="1"/>
            <a:r>
              <a:rPr lang="en-US" dirty="0" smtClean="0"/>
              <a:t>Date, who, who am I, </a:t>
            </a:r>
            <a:r>
              <a:rPr lang="en-US" dirty="0" err="1" smtClean="0"/>
              <a:t>ls</a:t>
            </a:r>
            <a:endParaRPr lang="en-US" sz="2000" dirty="0" smtClean="0"/>
          </a:p>
          <a:p>
            <a:pPr>
              <a:buFont typeface="Wingdings" pitchFamily="2" charset="2"/>
              <a:buNone/>
            </a:pPr>
            <a:endParaRPr lang="en-US" dirty="0" smtClean="0"/>
          </a:p>
        </p:txBody>
      </p:sp>
      <p:sp>
        <p:nvSpPr>
          <p:cNvPr id="146434" name="Title 2"/>
          <p:cNvSpPr>
            <a:spLocks noGrp="1"/>
          </p:cNvSpPr>
          <p:nvPr>
            <p:ph type="title"/>
          </p:nvPr>
        </p:nvSpPr>
        <p:spPr>
          <a:xfrm>
            <a:off x="0" y="0"/>
            <a:ext cx="7562850" cy="914400"/>
          </a:xfrm>
        </p:spPr>
        <p:txBody>
          <a:bodyPr/>
          <a:lstStyle/>
          <a:p>
            <a:r>
              <a:rPr lang="en-US" dirty="0" smtClean="0"/>
              <a:t>Process Management : Hands-on (1 hour)</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Content Placeholder 1"/>
          <p:cNvSpPr>
            <a:spLocks noGrp="1"/>
          </p:cNvSpPr>
          <p:nvPr>
            <p:ph idx="1"/>
          </p:nvPr>
        </p:nvSpPr>
        <p:spPr/>
        <p:txBody>
          <a:bodyPr/>
          <a:lstStyle/>
          <a:p>
            <a:pPr>
              <a:buFont typeface="Wingdings" pitchFamily="2" charset="2"/>
              <a:buNone/>
            </a:pPr>
            <a:r>
              <a:rPr lang="en-GB" smtClean="0"/>
              <a:t>In this module, we discussed:</a:t>
            </a:r>
          </a:p>
          <a:p>
            <a:pPr>
              <a:buFont typeface="Wingdings" pitchFamily="2" charset="2"/>
              <a:buNone/>
            </a:pPr>
            <a:endParaRPr lang="en-GB" smtClean="0"/>
          </a:p>
          <a:p>
            <a:r>
              <a:rPr lang="en-GB" smtClean="0"/>
              <a:t>Process and different states of Process</a:t>
            </a:r>
          </a:p>
          <a:p>
            <a:r>
              <a:rPr lang="en-GB" smtClean="0"/>
              <a:t>Threads and usage of Threads</a:t>
            </a:r>
          </a:p>
          <a:p>
            <a:pPr>
              <a:buFont typeface="Arial" charset="0"/>
              <a:buNone/>
            </a:pPr>
            <a:endParaRPr lang="en-GB" smtClean="0"/>
          </a:p>
          <a:p>
            <a:endParaRPr lang="en-US" smtClean="0"/>
          </a:p>
        </p:txBody>
      </p:sp>
      <p:sp>
        <p:nvSpPr>
          <p:cNvPr id="148482" name="Title 2"/>
          <p:cNvSpPr>
            <a:spLocks noGrp="1"/>
          </p:cNvSpPr>
          <p:nvPr>
            <p:ph type="title"/>
          </p:nvPr>
        </p:nvSpPr>
        <p:spPr>
          <a:xfrm>
            <a:off x="0" y="0"/>
            <a:ext cx="7564438" cy="914400"/>
          </a:xfrm>
        </p:spPr>
        <p:txBody>
          <a:bodyPr/>
          <a:lstStyle/>
          <a:p>
            <a:r>
              <a:rPr lang="en-US" smtClean="0"/>
              <a:t>Summary</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Title 9"/>
          <p:cNvSpPr>
            <a:spLocks noGrp="1"/>
          </p:cNvSpPr>
          <p:nvPr>
            <p:ph type="title"/>
          </p:nvPr>
        </p:nvSpPr>
        <p:spPr/>
        <p:txBody>
          <a:bodyPr/>
          <a:lstStyle/>
          <a:p>
            <a:r>
              <a:rPr lang="en-US" dirty="0" smtClean="0"/>
              <a:t>CPU Scheduling</a:t>
            </a:r>
            <a:r>
              <a:rPr lang="en-US" sz="3200" dirty="0" smtClean="0"/>
              <a:t/>
            </a:r>
            <a:br>
              <a:rPr lang="en-US" sz="3200" dirty="0" smtClean="0"/>
            </a:br>
            <a:r>
              <a:rPr lang="en-US" sz="3200" dirty="0" smtClean="0"/>
              <a:t> </a:t>
            </a:r>
            <a:r>
              <a:rPr lang="en-US" sz="2400" b="0" dirty="0" smtClean="0">
                <a:solidFill>
                  <a:schemeClr val="tx1">
                    <a:lumMod val="50000"/>
                    <a:lumOff val="50000"/>
                  </a:schemeClr>
                </a:solidFill>
              </a:rPr>
              <a:t>Module 4</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Content Placeholder 1"/>
          <p:cNvSpPr>
            <a:spLocks noGrp="1"/>
          </p:cNvSpPr>
          <p:nvPr>
            <p:ph idx="1"/>
          </p:nvPr>
        </p:nvSpPr>
        <p:spPr/>
        <p:txBody>
          <a:bodyPr/>
          <a:lstStyle/>
          <a:p>
            <a:pPr>
              <a:buFont typeface="Wingdings" pitchFamily="2" charset="2"/>
              <a:buNone/>
            </a:pPr>
            <a:r>
              <a:rPr lang="en-US" sz="2400" dirty="0" smtClean="0"/>
              <a:t>At the end of this session you will be able to:</a:t>
            </a:r>
          </a:p>
          <a:p>
            <a:endParaRPr lang="en-US" sz="2400" dirty="0" smtClean="0"/>
          </a:p>
          <a:p>
            <a:r>
              <a:rPr lang="en-US" sz="2400" dirty="0" smtClean="0"/>
              <a:t>Define CPU Scheduling</a:t>
            </a:r>
          </a:p>
          <a:p>
            <a:r>
              <a:rPr lang="en-US" sz="2400" dirty="0" smtClean="0"/>
              <a:t>Explain Scheduling Criteria</a:t>
            </a:r>
          </a:p>
          <a:p>
            <a:r>
              <a:rPr lang="en-US" sz="2400" dirty="0" smtClean="0"/>
              <a:t>Explain various Scheduling Algorithms</a:t>
            </a:r>
          </a:p>
          <a:p>
            <a:endParaRPr lang="en-US" dirty="0" smtClean="0"/>
          </a:p>
        </p:txBody>
      </p:sp>
      <p:sp>
        <p:nvSpPr>
          <p:cNvPr id="151554" name="Title 2"/>
          <p:cNvSpPr>
            <a:spLocks noGrp="1"/>
          </p:cNvSpPr>
          <p:nvPr>
            <p:ph type="title"/>
          </p:nvPr>
        </p:nvSpPr>
        <p:spPr>
          <a:xfrm>
            <a:off x="0" y="0"/>
            <a:ext cx="7562850" cy="914400"/>
          </a:xfrm>
        </p:spPr>
        <p:txBody>
          <a:bodyPr/>
          <a:lstStyle/>
          <a:p>
            <a:r>
              <a:rPr lang="en-US" smtClean="0"/>
              <a:t>Objectives</a:t>
            </a:r>
          </a:p>
        </p:txBody>
      </p:sp>
      <p:sp>
        <p:nvSpPr>
          <p:cNvPr id="151555" name="Text Placeholder 8"/>
          <p:cNvSpPr txBox="1">
            <a:spLocks/>
          </p:cNvSpPr>
          <p:nvPr/>
        </p:nvSpPr>
        <p:spPr bwMode="auto">
          <a:xfrm>
            <a:off x="4038600" y="6248400"/>
            <a:ext cx="5105400" cy="457200"/>
          </a:xfrm>
          <a:prstGeom prst="rect">
            <a:avLst/>
          </a:prstGeom>
          <a:noFill/>
          <a:ln w="9525" algn="ctr">
            <a:noFill/>
            <a:miter lim="800000"/>
            <a:headEnd/>
            <a:tailEnd/>
          </a:ln>
        </p:spPr>
        <p:txBody>
          <a:bodyPr/>
          <a:lstStyle/>
          <a:p>
            <a:pPr marL="342900" indent="-342900" algn="r">
              <a:spcBef>
                <a:spcPct val="20000"/>
              </a:spcBef>
              <a:buFont typeface="Wingdings" pitchFamily="2" charset="2"/>
              <a:buNone/>
            </a:pPr>
            <a:r>
              <a:rPr lang="en-GB" sz="2000">
                <a:solidFill>
                  <a:srgbClr val="7F7F7F"/>
                </a:solidFill>
                <a:latin typeface="Gill Sans MT" pitchFamily="34" charset="0"/>
              </a:rPr>
              <a:t>Duration: 2 hrs</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3"/>
          <p:cNvSpPr>
            <a:spLocks noGrp="1" noChangeArrowheads="1"/>
          </p:cNvSpPr>
          <p:nvPr>
            <p:ph idx="1"/>
          </p:nvPr>
        </p:nvSpPr>
        <p:spPr/>
        <p:txBody>
          <a:bodyPr/>
          <a:lstStyle/>
          <a:p>
            <a:pPr>
              <a:spcBef>
                <a:spcPct val="0"/>
              </a:spcBef>
              <a:buClr>
                <a:schemeClr val="bg1"/>
              </a:buClr>
            </a:pPr>
            <a:r>
              <a:rPr lang="en-US" dirty="0" smtClean="0"/>
              <a:t>Maximum CPU utilization obtained with multiprogramming</a:t>
            </a:r>
          </a:p>
          <a:p>
            <a:pPr>
              <a:spcBef>
                <a:spcPct val="0"/>
              </a:spcBef>
              <a:buClr>
                <a:schemeClr val="bg1"/>
              </a:buClr>
            </a:pPr>
            <a:endParaRPr lang="en-US" dirty="0" smtClean="0"/>
          </a:p>
          <a:p>
            <a:pPr algn="just">
              <a:spcBef>
                <a:spcPct val="0"/>
              </a:spcBef>
              <a:buClr>
                <a:schemeClr val="bg1"/>
              </a:buClr>
            </a:pPr>
            <a:r>
              <a:rPr lang="en-US" dirty="0" smtClean="0"/>
              <a:t>CPU – I/O Burst Cycle – Process execution consists of a cycle of CPU execution and I/O wait</a:t>
            </a:r>
          </a:p>
          <a:p>
            <a:pPr>
              <a:spcBef>
                <a:spcPct val="0"/>
              </a:spcBef>
              <a:buClr>
                <a:schemeClr val="bg1"/>
              </a:buClr>
            </a:pPr>
            <a:endParaRPr lang="en-US" dirty="0" smtClean="0"/>
          </a:p>
          <a:p>
            <a:pPr>
              <a:spcBef>
                <a:spcPct val="0"/>
              </a:spcBef>
              <a:buClr>
                <a:schemeClr val="bg1"/>
              </a:buClr>
            </a:pPr>
            <a:r>
              <a:rPr lang="en-US" dirty="0" smtClean="0"/>
              <a:t>CPU burst distribution</a:t>
            </a:r>
          </a:p>
          <a:p>
            <a:pPr>
              <a:spcBef>
                <a:spcPct val="0"/>
              </a:spcBef>
              <a:buClr>
                <a:schemeClr val="bg1"/>
              </a:buClr>
            </a:pPr>
            <a:endParaRPr lang="en-US" dirty="0" smtClean="0"/>
          </a:p>
        </p:txBody>
      </p:sp>
      <p:sp>
        <p:nvSpPr>
          <p:cNvPr id="152578" name="Rectangle 2"/>
          <p:cNvSpPr>
            <a:spLocks noGrp="1" noChangeArrowheads="1"/>
          </p:cNvSpPr>
          <p:nvPr>
            <p:ph type="title"/>
          </p:nvPr>
        </p:nvSpPr>
        <p:spPr>
          <a:xfrm>
            <a:off x="152400" y="228600"/>
            <a:ext cx="7562850" cy="914400"/>
          </a:xfrm>
        </p:spPr>
        <p:txBody>
          <a:bodyPr anchor="t"/>
          <a:lstStyle/>
          <a:p>
            <a:r>
              <a:rPr lang="en-US" dirty="0" smtClean="0"/>
              <a:t>CPU Utilization</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Content Placeholder 1"/>
          <p:cNvSpPr>
            <a:spLocks noGrp="1"/>
          </p:cNvSpPr>
          <p:nvPr>
            <p:ph idx="1"/>
          </p:nvPr>
        </p:nvSpPr>
        <p:spPr/>
        <p:txBody>
          <a:bodyPr/>
          <a:lstStyle/>
          <a:p>
            <a:pPr algn="just"/>
            <a:r>
              <a:rPr lang="en-US" dirty="0" smtClean="0"/>
              <a:t>Scheduler selects from among the processes in memory that are ready to execute, and allocates the CPU to one of them</a:t>
            </a:r>
          </a:p>
          <a:p>
            <a:pPr algn="just"/>
            <a:endParaRPr lang="en-US" sz="1400" dirty="0" smtClean="0"/>
          </a:p>
          <a:p>
            <a:pPr algn="just"/>
            <a:r>
              <a:rPr lang="en-US" dirty="0" smtClean="0"/>
              <a:t>CPU scheduling decisions may take place when a process:</a:t>
            </a:r>
          </a:p>
          <a:p>
            <a:pPr algn="just"/>
            <a:endParaRPr lang="en-US" sz="1400" dirty="0" smtClean="0"/>
          </a:p>
          <a:p>
            <a:pPr algn="just">
              <a:buFont typeface="Wingdings" pitchFamily="2" charset="2"/>
              <a:buChar char="Ø"/>
            </a:pPr>
            <a:r>
              <a:rPr lang="en-US" sz="1800" dirty="0" smtClean="0"/>
              <a:t>Is Switching between running and waiting state</a:t>
            </a:r>
          </a:p>
          <a:p>
            <a:pPr algn="just">
              <a:buFont typeface="Wingdings" pitchFamily="2" charset="2"/>
              <a:buChar char="Ø"/>
            </a:pPr>
            <a:r>
              <a:rPr lang="en-US" sz="1800" dirty="0" smtClean="0"/>
              <a:t>Is Switching between running and ready state</a:t>
            </a:r>
          </a:p>
          <a:p>
            <a:pPr algn="just">
              <a:buFont typeface="Wingdings" pitchFamily="2" charset="2"/>
              <a:buChar char="Ø"/>
            </a:pPr>
            <a:r>
              <a:rPr lang="en-US" sz="1800" dirty="0" smtClean="0"/>
              <a:t>Is Switching between waiting and ready</a:t>
            </a:r>
          </a:p>
          <a:p>
            <a:pPr algn="just">
              <a:buFont typeface="Wingdings" pitchFamily="2" charset="2"/>
              <a:buChar char="Ø"/>
            </a:pPr>
            <a:r>
              <a:rPr lang="en-US" sz="1800" dirty="0" smtClean="0"/>
              <a:t>Is Dead</a:t>
            </a:r>
          </a:p>
          <a:p>
            <a:pPr algn="just"/>
            <a:endParaRPr lang="en-US" dirty="0" smtClean="0"/>
          </a:p>
          <a:p>
            <a:pPr algn="just"/>
            <a:r>
              <a:rPr lang="en-US" dirty="0" smtClean="0"/>
              <a:t>Scheduling under 1 and 4 is non-preemptive</a:t>
            </a:r>
          </a:p>
          <a:p>
            <a:pPr algn="just"/>
            <a:endParaRPr lang="en-US" sz="1400" dirty="0" smtClean="0"/>
          </a:p>
          <a:p>
            <a:pPr algn="just"/>
            <a:r>
              <a:rPr lang="en-US" dirty="0" smtClean="0"/>
              <a:t>All other scheduling is preemptive</a:t>
            </a:r>
          </a:p>
          <a:p>
            <a:endParaRPr lang="en-US" dirty="0" smtClean="0"/>
          </a:p>
        </p:txBody>
      </p:sp>
      <p:sp>
        <p:nvSpPr>
          <p:cNvPr id="154626" name="Rectangle 2"/>
          <p:cNvSpPr>
            <a:spLocks noGrp="1" noChangeArrowheads="1"/>
          </p:cNvSpPr>
          <p:nvPr>
            <p:ph type="title"/>
          </p:nvPr>
        </p:nvSpPr>
        <p:spPr>
          <a:xfrm>
            <a:off x="0" y="228600"/>
            <a:ext cx="7562850" cy="914400"/>
          </a:xfrm>
        </p:spPr>
        <p:txBody>
          <a:bodyPr anchor="t"/>
          <a:lstStyle/>
          <a:p>
            <a:r>
              <a:rPr lang="en-US" dirty="0" smtClean="0"/>
              <a:t>CPU Scheduling</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Content Placeholder 1"/>
          <p:cNvSpPr>
            <a:spLocks noGrp="1"/>
          </p:cNvSpPr>
          <p:nvPr>
            <p:ph idx="1"/>
          </p:nvPr>
        </p:nvSpPr>
        <p:spPr>
          <a:xfrm>
            <a:off x="457200" y="1066800"/>
            <a:ext cx="8229600" cy="5029200"/>
          </a:xfrm>
        </p:spPr>
        <p:txBody>
          <a:bodyPr/>
          <a:lstStyle/>
          <a:p>
            <a:r>
              <a:rPr lang="en-US" dirty="0" smtClean="0"/>
              <a:t>CPU utilization </a:t>
            </a:r>
          </a:p>
          <a:p>
            <a:pPr>
              <a:buFont typeface="Wingdings" pitchFamily="2" charset="2"/>
              <a:buNone/>
            </a:pPr>
            <a:r>
              <a:rPr lang="en-US" sz="1800" dirty="0" smtClean="0"/>
              <a:t>    – keep the CPU as busy as possible</a:t>
            </a:r>
          </a:p>
          <a:p>
            <a:pPr>
              <a:buFont typeface="Wingdings" pitchFamily="2" charset="2"/>
              <a:buNone/>
            </a:pPr>
            <a:r>
              <a:rPr lang="en-US" sz="1800" dirty="0" smtClean="0"/>
              <a:t>     </a:t>
            </a:r>
          </a:p>
          <a:p>
            <a:r>
              <a:rPr lang="en-US" dirty="0" smtClean="0"/>
              <a:t>Throughput </a:t>
            </a:r>
          </a:p>
          <a:p>
            <a:pPr>
              <a:buFont typeface="Wingdings" pitchFamily="2" charset="2"/>
              <a:buNone/>
            </a:pPr>
            <a:r>
              <a:rPr lang="en-US" sz="1800" dirty="0" smtClean="0"/>
              <a:t>– # of processes that complete their execution per time unit</a:t>
            </a:r>
          </a:p>
          <a:p>
            <a:endParaRPr lang="en-US" dirty="0" smtClean="0"/>
          </a:p>
          <a:p>
            <a:r>
              <a:rPr lang="en-US" dirty="0" smtClean="0"/>
              <a:t>Turnaround time </a:t>
            </a:r>
          </a:p>
          <a:p>
            <a:pPr>
              <a:buFont typeface="Wingdings" pitchFamily="2" charset="2"/>
              <a:buNone/>
            </a:pPr>
            <a:r>
              <a:rPr lang="en-US" sz="1800" dirty="0" smtClean="0"/>
              <a:t>   – amount of time to execute a particular process</a:t>
            </a:r>
          </a:p>
          <a:p>
            <a:r>
              <a:rPr lang="en-US" dirty="0" smtClean="0"/>
              <a:t>Waiting time </a:t>
            </a:r>
          </a:p>
          <a:p>
            <a:pPr>
              <a:buFont typeface="Wingdings" pitchFamily="2" charset="2"/>
              <a:buNone/>
            </a:pPr>
            <a:r>
              <a:rPr lang="en-US" sz="1800" dirty="0" smtClean="0"/>
              <a:t>– amount of time a process has been waiting in the ready queue</a:t>
            </a:r>
          </a:p>
          <a:p>
            <a:endParaRPr lang="en-US" dirty="0" smtClean="0"/>
          </a:p>
          <a:p>
            <a:r>
              <a:rPr lang="en-US" dirty="0" smtClean="0"/>
              <a:t>  Response time </a:t>
            </a:r>
          </a:p>
          <a:p>
            <a:pPr algn="just">
              <a:buFont typeface="Wingdings" pitchFamily="2" charset="2"/>
              <a:buNone/>
            </a:pPr>
            <a:r>
              <a:rPr lang="en-US" dirty="0" smtClean="0"/>
              <a:t> </a:t>
            </a:r>
            <a:r>
              <a:rPr lang="en-US" sz="1800" dirty="0" smtClean="0"/>
              <a:t>– amount of time it takes from when a request was submitted until the first response is produced, not output  (for time-sharing environment)</a:t>
            </a:r>
          </a:p>
          <a:p>
            <a:endParaRPr lang="en-US" dirty="0" smtClean="0"/>
          </a:p>
        </p:txBody>
      </p:sp>
      <p:sp>
        <p:nvSpPr>
          <p:cNvPr id="155650" name="Rectangle 2"/>
          <p:cNvSpPr>
            <a:spLocks noGrp="1" noChangeArrowheads="1"/>
          </p:cNvSpPr>
          <p:nvPr>
            <p:ph type="title"/>
          </p:nvPr>
        </p:nvSpPr>
        <p:spPr>
          <a:xfrm>
            <a:off x="0" y="228600"/>
            <a:ext cx="7562850" cy="914400"/>
          </a:xfrm>
        </p:spPr>
        <p:txBody>
          <a:bodyPr anchor="t"/>
          <a:lstStyle/>
          <a:p>
            <a:r>
              <a:rPr lang="en-US" dirty="0" smtClean="0"/>
              <a:t>Scheduling Criteria - Optimization</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Content Placeholder 1"/>
          <p:cNvSpPr>
            <a:spLocks noGrp="1"/>
          </p:cNvSpPr>
          <p:nvPr>
            <p:ph idx="1"/>
          </p:nvPr>
        </p:nvSpPr>
        <p:spPr>
          <a:xfrm>
            <a:off x="457200" y="1143000"/>
            <a:ext cx="8229600" cy="5029200"/>
          </a:xfrm>
        </p:spPr>
        <p:txBody>
          <a:bodyPr/>
          <a:lstStyle/>
          <a:p>
            <a:r>
              <a:rPr lang="en-US" dirty="0" smtClean="0"/>
              <a:t>Max CPU utilization</a:t>
            </a:r>
          </a:p>
          <a:p>
            <a:endParaRPr lang="en-US" dirty="0" smtClean="0"/>
          </a:p>
          <a:p>
            <a:r>
              <a:rPr lang="en-US" dirty="0" smtClean="0"/>
              <a:t>Max throughput</a:t>
            </a:r>
          </a:p>
          <a:p>
            <a:endParaRPr lang="en-US" dirty="0" smtClean="0"/>
          </a:p>
          <a:p>
            <a:r>
              <a:rPr lang="en-US" dirty="0" smtClean="0"/>
              <a:t>Min turnaround time </a:t>
            </a:r>
          </a:p>
          <a:p>
            <a:endParaRPr lang="en-US" dirty="0" smtClean="0"/>
          </a:p>
          <a:p>
            <a:r>
              <a:rPr lang="en-US" dirty="0" smtClean="0"/>
              <a:t>Min waiting time </a:t>
            </a:r>
          </a:p>
          <a:p>
            <a:endParaRPr lang="en-US" dirty="0" smtClean="0"/>
          </a:p>
          <a:p>
            <a:r>
              <a:rPr lang="en-US" dirty="0" smtClean="0"/>
              <a:t>Min response time</a:t>
            </a:r>
          </a:p>
          <a:p>
            <a:pPr>
              <a:buFont typeface="Wingdings" pitchFamily="2" charset="2"/>
              <a:buNone/>
            </a:pPr>
            <a:endParaRPr lang="en-US" dirty="0" smtClean="0"/>
          </a:p>
        </p:txBody>
      </p:sp>
      <p:sp>
        <p:nvSpPr>
          <p:cNvPr id="156674" name="Rectangle 2"/>
          <p:cNvSpPr>
            <a:spLocks noGrp="1" noChangeArrowheads="1"/>
          </p:cNvSpPr>
          <p:nvPr>
            <p:ph type="title"/>
          </p:nvPr>
        </p:nvSpPr>
        <p:spPr>
          <a:xfrm>
            <a:off x="0" y="0"/>
            <a:ext cx="7562850" cy="914400"/>
          </a:xfrm>
        </p:spPr>
        <p:txBody>
          <a:bodyPr anchor="t"/>
          <a:lstStyle/>
          <a:p>
            <a:r>
              <a:rPr lang="en-US" smtClean="0"/>
              <a:t>Optimization Criteria</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Content Placeholder 1"/>
          <p:cNvSpPr>
            <a:spLocks noGrp="1"/>
          </p:cNvSpPr>
          <p:nvPr>
            <p:ph idx="1"/>
          </p:nvPr>
        </p:nvSpPr>
        <p:spPr/>
        <p:txBody>
          <a:bodyPr/>
          <a:lstStyle/>
          <a:p>
            <a:r>
              <a:rPr lang="en-US" smtClean="0"/>
              <a:t>First-Come, First-Served (FCFS) Scheduling</a:t>
            </a:r>
          </a:p>
          <a:p>
            <a:endParaRPr lang="en-US" smtClean="0"/>
          </a:p>
          <a:p>
            <a:r>
              <a:rPr lang="en-US" smtClean="0"/>
              <a:t>Shortest-Job-First (SJF) Scheduling</a:t>
            </a:r>
          </a:p>
          <a:p>
            <a:endParaRPr lang="en-US" smtClean="0"/>
          </a:p>
          <a:p>
            <a:r>
              <a:rPr lang="en-US" smtClean="0"/>
              <a:t>Priority Scheduling</a:t>
            </a:r>
          </a:p>
          <a:p>
            <a:endParaRPr lang="en-US" smtClean="0"/>
          </a:p>
          <a:p>
            <a:r>
              <a:rPr lang="en-US" smtClean="0"/>
              <a:t>Round Robin (RR) Scheduling</a:t>
            </a:r>
          </a:p>
          <a:p>
            <a:endParaRPr lang="en-US" smtClean="0"/>
          </a:p>
          <a:p>
            <a:r>
              <a:rPr lang="en-US" smtClean="0"/>
              <a:t>Real-Time Scheduling</a:t>
            </a:r>
          </a:p>
        </p:txBody>
      </p:sp>
      <p:sp>
        <p:nvSpPr>
          <p:cNvPr id="157698" name="Title 2"/>
          <p:cNvSpPr>
            <a:spLocks noGrp="1"/>
          </p:cNvSpPr>
          <p:nvPr>
            <p:ph type="title"/>
          </p:nvPr>
        </p:nvSpPr>
        <p:spPr>
          <a:xfrm>
            <a:off x="0" y="0"/>
            <a:ext cx="7562850" cy="914400"/>
          </a:xfrm>
        </p:spPr>
        <p:txBody>
          <a:bodyPr/>
          <a:lstStyle/>
          <a:p>
            <a:r>
              <a:rPr lang="en-US" smtClean="0"/>
              <a:t>Scheduling Algorithm</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3"/>
          <p:cNvSpPr>
            <a:spLocks noGrp="1" noChangeArrowheads="1"/>
          </p:cNvSpPr>
          <p:nvPr>
            <p:ph idx="1"/>
          </p:nvPr>
        </p:nvSpPr>
        <p:spPr>
          <a:xfrm>
            <a:off x="457200" y="1219200"/>
            <a:ext cx="8229600" cy="5029200"/>
          </a:xfrm>
        </p:spPr>
        <p:txBody>
          <a:bodyPr/>
          <a:lstStyle/>
          <a:p>
            <a:pPr>
              <a:spcBef>
                <a:spcPct val="0"/>
              </a:spcBef>
              <a:buClr>
                <a:schemeClr val="bg1"/>
              </a:buClr>
              <a:buFont typeface="Wingdings" pitchFamily="2" charset="2"/>
              <a:buNone/>
            </a:pPr>
            <a:r>
              <a:rPr lang="en-US" dirty="0" smtClean="0"/>
              <a:t>		Process	        Burst Time	</a:t>
            </a:r>
          </a:p>
          <a:p>
            <a:pPr>
              <a:spcBef>
                <a:spcPct val="0"/>
              </a:spcBef>
              <a:buClr>
                <a:schemeClr val="bg1"/>
              </a:buClr>
              <a:buFont typeface="Wingdings" pitchFamily="2" charset="2"/>
              <a:buNone/>
            </a:pPr>
            <a:r>
              <a:rPr lang="en-US" dirty="0" smtClean="0"/>
              <a:t>		 P</a:t>
            </a:r>
            <a:r>
              <a:rPr lang="en-US" baseline="-25000" dirty="0" smtClean="0"/>
              <a:t>I</a:t>
            </a:r>
            <a:r>
              <a:rPr lang="en-US" dirty="0" smtClean="0"/>
              <a:t>		24.0</a:t>
            </a:r>
          </a:p>
          <a:p>
            <a:pPr>
              <a:spcBef>
                <a:spcPct val="0"/>
              </a:spcBef>
              <a:buClr>
                <a:schemeClr val="bg1"/>
              </a:buClr>
              <a:buFont typeface="Wingdings" pitchFamily="2" charset="2"/>
              <a:buNone/>
            </a:pPr>
            <a:r>
              <a:rPr lang="en-US" dirty="0" smtClean="0"/>
              <a:t>		 P</a:t>
            </a:r>
            <a:r>
              <a:rPr lang="en-US" baseline="-25000" dirty="0" smtClean="0"/>
              <a:t>II</a:t>
            </a:r>
            <a:r>
              <a:rPr lang="en-US" dirty="0" smtClean="0"/>
              <a:t>		3.0</a:t>
            </a:r>
          </a:p>
          <a:p>
            <a:pPr>
              <a:spcBef>
                <a:spcPct val="0"/>
              </a:spcBef>
              <a:buClr>
                <a:schemeClr val="bg1"/>
              </a:buClr>
              <a:buFont typeface="Wingdings" pitchFamily="2" charset="2"/>
              <a:buNone/>
            </a:pPr>
            <a:r>
              <a:rPr lang="en-US" dirty="0" smtClean="0"/>
              <a:t>		 P</a:t>
            </a:r>
            <a:r>
              <a:rPr lang="en-US" baseline="-25000" dirty="0" smtClean="0"/>
              <a:t>III</a:t>
            </a:r>
            <a:r>
              <a:rPr lang="en-US" dirty="0" smtClean="0"/>
              <a:t>	 	3.0</a:t>
            </a:r>
          </a:p>
          <a:p>
            <a:pPr>
              <a:spcBef>
                <a:spcPct val="0"/>
              </a:spcBef>
              <a:buClr>
                <a:schemeClr val="bg1"/>
              </a:buClr>
              <a:buFont typeface="Wingdings" pitchFamily="2" charset="2"/>
              <a:buNone/>
            </a:pPr>
            <a:endParaRPr lang="en-US" dirty="0" smtClean="0"/>
          </a:p>
          <a:p>
            <a:pPr>
              <a:spcBef>
                <a:spcPct val="0"/>
              </a:spcBef>
              <a:buClr>
                <a:schemeClr val="bg1"/>
              </a:buClr>
              <a:buFont typeface="Wingdings" pitchFamily="2" charset="2"/>
              <a:buNone/>
            </a:pPr>
            <a:r>
              <a:rPr lang="en-US" dirty="0" smtClean="0"/>
              <a:t>Suppose that processes appear in the order: P</a:t>
            </a:r>
            <a:r>
              <a:rPr lang="en-US" baseline="-25000" dirty="0" smtClean="0"/>
              <a:t>1</a:t>
            </a:r>
            <a:r>
              <a:rPr lang="en-US" dirty="0" smtClean="0"/>
              <a:t> , P</a:t>
            </a:r>
            <a:r>
              <a:rPr lang="en-US" baseline="-25000" dirty="0" smtClean="0"/>
              <a:t>II</a:t>
            </a:r>
            <a:r>
              <a:rPr lang="en-US" dirty="0" smtClean="0"/>
              <a:t> , P</a:t>
            </a:r>
            <a:r>
              <a:rPr lang="en-US" baseline="-25000" dirty="0" smtClean="0"/>
              <a:t>III</a:t>
            </a:r>
            <a:r>
              <a:rPr lang="en-US" dirty="0" smtClean="0"/>
              <a:t>  </a:t>
            </a:r>
            <a:br>
              <a:rPr lang="en-US" dirty="0" smtClean="0"/>
            </a:br>
            <a:endParaRPr lang="en-US" dirty="0" smtClean="0"/>
          </a:p>
          <a:p>
            <a:pPr>
              <a:spcBef>
                <a:spcPct val="0"/>
              </a:spcBef>
              <a:buClr>
                <a:schemeClr val="bg1"/>
              </a:buClr>
              <a:buFont typeface="Wingdings" pitchFamily="2" charset="2"/>
              <a:buNone/>
            </a:pPr>
            <a:r>
              <a:rPr lang="en-US" dirty="0" smtClean="0"/>
              <a:t>The Gantt Chart for the schedule is:</a:t>
            </a:r>
            <a:br>
              <a:rPr lang="en-US" dirty="0" smtClean="0"/>
            </a:br>
            <a:r>
              <a:rPr lang="en-US" dirty="0" smtClean="0"/>
              <a:t/>
            </a:r>
            <a:br>
              <a:rPr lang="en-US" dirty="0" smtClean="0"/>
            </a:br>
            <a:r>
              <a:rPr lang="en-US" dirty="0" smtClean="0"/>
              <a:t/>
            </a:r>
            <a:br>
              <a:rPr lang="en-US" dirty="0" smtClean="0"/>
            </a:br>
            <a:endParaRPr lang="en-US" dirty="0" smtClean="0"/>
          </a:p>
          <a:p>
            <a:pPr>
              <a:spcBef>
                <a:spcPct val="0"/>
              </a:spcBef>
              <a:buClr>
                <a:schemeClr val="bg1"/>
              </a:buClr>
              <a:buFont typeface="Wingdings" pitchFamily="2" charset="2"/>
              <a:buNone/>
            </a:pPr>
            <a:endParaRPr lang="en-US" dirty="0" smtClean="0"/>
          </a:p>
          <a:p>
            <a:pPr>
              <a:spcBef>
                <a:spcPct val="0"/>
              </a:spcBef>
              <a:buClr>
                <a:schemeClr val="bg1"/>
              </a:buClr>
              <a:buFont typeface="Wingdings" pitchFamily="2" charset="2"/>
              <a:buNone/>
            </a:pPr>
            <a:endParaRPr lang="en-US" dirty="0" smtClean="0"/>
          </a:p>
          <a:p>
            <a:pPr>
              <a:spcBef>
                <a:spcPct val="0"/>
              </a:spcBef>
              <a:buClr>
                <a:schemeClr val="bg1"/>
              </a:buClr>
              <a:buFont typeface="Wingdings" pitchFamily="2" charset="2"/>
              <a:buNone/>
            </a:pPr>
            <a:endParaRPr lang="en-US" dirty="0" smtClean="0"/>
          </a:p>
          <a:p>
            <a:pPr>
              <a:spcBef>
                <a:spcPct val="0"/>
              </a:spcBef>
              <a:buClr>
                <a:schemeClr val="bg1"/>
              </a:buClr>
              <a:buFont typeface="Wingdings" pitchFamily="2" charset="2"/>
              <a:buNone/>
            </a:pPr>
            <a:r>
              <a:rPr lang="en-US" dirty="0" smtClean="0"/>
              <a:t>Waiting time for P</a:t>
            </a:r>
            <a:r>
              <a:rPr lang="en-US" baseline="-25000" dirty="0" smtClean="0"/>
              <a:t>I</a:t>
            </a:r>
            <a:r>
              <a:rPr lang="en-US" dirty="0" smtClean="0"/>
              <a:t>  = 0.0; P</a:t>
            </a:r>
            <a:r>
              <a:rPr lang="en-US" baseline="-25000" dirty="0" smtClean="0"/>
              <a:t>II</a:t>
            </a:r>
            <a:r>
              <a:rPr lang="en-US" dirty="0" smtClean="0"/>
              <a:t> = 24.0; P</a:t>
            </a:r>
            <a:r>
              <a:rPr lang="en-US" baseline="-25000" dirty="0" smtClean="0"/>
              <a:t>III</a:t>
            </a:r>
            <a:r>
              <a:rPr lang="en-US" dirty="0" smtClean="0"/>
              <a:t> = 27.0</a:t>
            </a:r>
          </a:p>
          <a:p>
            <a:pPr>
              <a:spcBef>
                <a:spcPct val="0"/>
              </a:spcBef>
              <a:buClr>
                <a:schemeClr val="bg1"/>
              </a:buClr>
              <a:buFont typeface="Wingdings" pitchFamily="2" charset="2"/>
              <a:buNone/>
            </a:pPr>
            <a:r>
              <a:rPr lang="en-US" dirty="0" smtClean="0"/>
              <a:t>Average waiting time:  (0.0 + 24 .0+ 27.0)/3 = 17.0</a:t>
            </a:r>
          </a:p>
        </p:txBody>
      </p:sp>
      <p:sp>
        <p:nvSpPr>
          <p:cNvPr id="158722" name="Rectangle 2"/>
          <p:cNvSpPr>
            <a:spLocks noGrp="1" noChangeArrowheads="1"/>
          </p:cNvSpPr>
          <p:nvPr>
            <p:ph type="title"/>
          </p:nvPr>
        </p:nvSpPr>
        <p:spPr>
          <a:xfrm>
            <a:off x="0" y="304800"/>
            <a:ext cx="7562850" cy="914400"/>
          </a:xfrm>
        </p:spPr>
        <p:txBody>
          <a:bodyPr anchor="t"/>
          <a:lstStyle/>
          <a:p>
            <a:r>
              <a:rPr lang="en-US" dirty="0" smtClean="0"/>
              <a:t>First-Come, First-Served (FCFS) Scheduling</a:t>
            </a:r>
          </a:p>
        </p:txBody>
      </p:sp>
      <p:grpSp>
        <p:nvGrpSpPr>
          <p:cNvPr id="158723" name="Group 4"/>
          <p:cNvGrpSpPr>
            <a:grpSpLocks/>
          </p:cNvGrpSpPr>
          <p:nvPr/>
        </p:nvGrpSpPr>
        <p:grpSpPr bwMode="auto">
          <a:xfrm>
            <a:off x="896938" y="4052888"/>
            <a:ext cx="5559425" cy="1144587"/>
            <a:chOff x="855" y="2688"/>
            <a:chExt cx="3502" cy="721"/>
          </a:xfrm>
        </p:grpSpPr>
        <p:sp>
          <p:nvSpPr>
            <p:cNvPr id="158724" name="Rectangle 5"/>
            <p:cNvSpPr>
              <a:spLocks noChangeArrowheads="1"/>
            </p:cNvSpPr>
            <p:nvPr/>
          </p:nvSpPr>
          <p:spPr bwMode="auto">
            <a:xfrm>
              <a:off x="960" y="2688"/>
              <a:ext cx="3312" cy="384"/>
            </a:xfrm>
            <a:prstGeom prst="rect">
              <a:avLst/>
            </a:prstGeom>
            <a:solidFill>
              <a:schemeClr val="bg1"/>
            </a:solidFill>
            <a:ln w="9525">
              <a:solidFill>
                <a:schemeClr val="tx1"/>
              </a:solidFill>
              <a:miter lim="800000"/>
              <a:headEnd/>
              <a:tailEnd/>
            </a:ln>
          </p:spPr>
          <p:txBody>
            <a:bodyPr wrap="none" anchor="ctr"/>
            <a:lstStyle/>
            <a:p>
              <a:endParaRPr lang="en-US" sz="2000">
                <a:latin typeface="Gill Sans MT" pitchFamily="34" charset="0"/>
              </a:endParaRPr>
            </a:p>
          </p:txBody>
        </p:sp>
        <p:sp>
          <p:nvSpPr>
            <p:cNvPr id="158725" name="Text Box 6"/>
            <p:cNvSpPr txBox="1">
              <a:spLocks noChangeArrowheads="1"/>
            </p:cNvSpPr>
            <p:nvPr/>
          </p:nvSpPr>
          <p:spPr bwMode="auto">
            <a:xfrm>
              <a:off x="1795" y="2725"/>
              <a:ext cx="226"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a:t>
              </a:r>
              <a:endParaRPr lang="en-US" sz="2000">
                <a:latin typeface="Gill Sans MT" pitchFamily="34" charset="0"/>
              </a:endParaRPr>
            </a:p>
          </p:txBody>
        </p:sp>
        <p:sp>
          <p:nvSpPr>
            <p:cNvPr id="158726" name="Text Box 7"/>
            <p:cNvSpPr txBox="1">
              <a:spLocks noChangeArrowheads="1"/>
            </p:cNvSpPr>
            <p:nvPr/>
          </p:nvSpPr>
          <p:spPr bwMode="auto">
            <a:xfrm>
              <a:off x="3270" y="2725"/>
              <a:ext cx="254"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II</a:t>
              </a:r>
            </a:p>
          </p:txBody>
        </p:sp>
        <p:sp>
          <p:nvSpPr>
            <p:cNvPr id="158727" name="Text Box 8"/>
            <p:cNvSpPr txBox="1">
              <a:spLocks noChangeArrowheads="1"/>
            </p:cNvSpPr>
            <p:nvPr/>
          </p:nvSpPr>
          <p:spPr bwMode="auto">
            <a:xfrm>
              <a:off x="3832" y="2725"/>
              <a:ext cx="281"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III</a:t>
              </a:r>
            </a:p>
          </p:txBody>
        </p:sp>
        <p:sp>
          <p:nvSpPr>
            <p:cNvPr id="158728" name="Line 9"/>
            <p:cNvSpPr>
              <a:spLocks noChangeShapeType="1"/>
            </p:cNvSpPr>
            <p:nvPr/>
          </p:nvSpPr>
          <p:spPr bwMode="auto">
            <a:xfrm>
              <a:off x="960" y="3072"/>
              <a:ext cx="0" cy="144"/>
            </a:xfrm>
            <a:prstGeom prst="line">
              <a:avLst/>
            </a:prstGeom>
            <a:noFill/>
            <a:ln w="9525">
              <a:solidFill>
                <a:schemeClr val="tx1"/>
              </a:solidFill>
              <a:round/>
              <a:headEnd/>
              <a:tailEnd/>
            </a:ln>
          </p:spPr>
          <p:txBody>
            <a:bodyPr wrap="none" anchor="ctr"/>
            <a:lstStyle/>
            <a:p>
              <a:endParaRPr lang="en-US"/>
            </a:p>
          </p:txBody>
        </p:sp>
        <p:sp>
          <p:nvSpPr>
            <p:cNvPr id="158729" name="Line 10"/>
            <p:cNvSpPr>
              <a:spLocks noChangeShapeType="1"/>
            </p:cNvSpPr>
            <p:nvPr/>
          </p:nvSpPr>
          <p:spPr bwMode="auto">
            <a:xfrm>
              <a:off x="4272" y="3072"/>
              <a:ext cx="0" cy="144"/>
            </a:xfrm>
            <a:prstGeom prst="line">
              <a:avLst/>
            </a:prstGeom>
            <a:noFill/>
            <a:ln w="9525">
              <a:solidFill>
                <a:schemeClr val="tx1"/>
              </a:solidFill>
              <a:round/>
              <a:headEnd/>
              <a:tailEnd/>
            </a:ln>
          </p:spPr>
          <p:txBody>
            <a:bodyPr wrap="none" anchor="ctr"/>
            <a:lstStyle/>
            <a:p>
              <a:endParaRPr lang="en-US"/>
            </a:p>
          </p:txBody>
        </p:sp>
        <p:sp>
          <p:nvSpPr>
            <p:cNvPr id="158730" name="Line 11"/>
            <p:cNvSpPr>
              <a:spLocks noChangeShapeType="1"/>
            </p:cNvSpPr>
            <p:nvPr/>
          </p:nvSpPr>
          <p:spPr bwMode="auto">
            <a:xfrm>
              <a:off x="3072" y="2688"/>
              <a:ext cx="0" cy="384"/>
            </a:xfrm>
            <a:prstGeom prst="line">
              <a:avLst/>
            </a:prstGeom>
            <a:noFill/>
            <a:ln w="9525">
              <a:solidFill>
                <a:schemeClr val="tx1"/>
              </a:solidFill>
              <a:round/>
              <a:headEnd/>
              <a:tailEnd/>
            </a:ln>
          </p:spPr>
          <p:txBody>
            <a:bodyPr wrap="none" anchor="ctr"/>
            <a:lstStyle/>
            <a:p>
              <a:endParaRPr lang="en-US"/>
            </a:p>
          </p:txBody>
        </p:sp>
        <p:sp>
          <p:nvSpPr>
            <p:cNvPr id="158731" name="Line 12"/>
            <p:cNvSpPr>
              <a:spLocks noChangeShapeType="1"/>
            </p:cNvSpPr>
            <p:nvPr/>
          </p:nvSpPr>
          <p:spPr bwMode="auto">
            <a:xfrm>
              <a:off x="3648" y="2688"/>
              <a:ext cx="0" cy="384"/>
            </a:xfrm>
            <a:prstGeom prst="line">
              <a:avLst/>
            </a:prstGeom>
            <a:noFill/>
            <a:ln w="9525">
              <a:solidFill>
                <a:schemeClr val="tx1"/>
              </a:solidFill>
              <a:round/>
              <a:headEnd/>
              <a:tailEnd/>
            </a:ln>
          </p:spPr>
          <p:txBody>
            <a:bodyPr wrap="none" anchor="ctr"/>
            <a:lstStyle/>
            <a:p>
              <a:endParaRPr lang="en-US"/>
            </a:p>
          </p:txBody>
        </p:sp>
        <p:sp>
          <p:nvSpPr>
            <p:cNvPr id="158732" name="Line 13"/>
            <p:cNvSpPr>
              <a:spLocks noChangeShapeType="1"/>
            </p:cNvSpPr>
            <p:nvPr/>
          </p:nvSpPr>
          <p:spPr bwMode="auto">
            <a:xfrm>
              <a:off x="3072" y="3072"/>
              <a:ext cx="0" cy="144"/>
            </a:xfrm>
            <a:prstGeom prst="line">
              <a:avLst/>
            </a:prstGeom>
            <a:noFill/>
            <a:ln w="9525">
              <a:solidFill>
                <a:schemeClr val="tx1"/>
              </a:solidFill>
              <a:round/>
              <a:headEnd/>
              <a:tailEnd/>
            </a:ln>
          </p:spPr>
          <p:txBody>
            <a:bodyPr wrap="none" anchor="ctr"/>
            <a:lstStyle/>
            <a:p>
              <a:endParaRPr lang="en-US"/>
            </a:p>
          </p:txBody>
        </p:sp>
        <p:sp>
          <p:nvSpPr>
            <p:cNvPr id="158733" name="Line 14"/>
            <p:cNvSpPr>
              <a:spLocks noChangeShapeType="1"/>
            </p:cNvSpPr>
            <p:nvPr/>
          </p:nvSpPr>
          <p:spPr bwMode="auto">
            <a:xfrm>
              <a:off x="3648" y="3072"/>
              <a:ext cx="0" cy="144"/>
            </a:xfrm>
            <a:prstGeom prst="line">
              <a:avLst/>
            </a:prstGeom>
            <a:noFill/>
            <a:ln w="9525">
              <a:solidFill>
                <a:schemeClr val="tx1"/>
              </a:solidFill>
              <a:round/>
              <a:headEnd/>
              <a:tailEnd/>
            </a:ln>
          </p:spPr>
          <p:txBody>
            <a:bodyPr wrap="none" anchor="ctr"/>
            <a:lstStyle/>
            <a:p>
              <a:endParaRPr lang="en-US"/>
            </a:p>
          </p:txBody>
        </p:sp>
        <p:sp>
          <p:nvSpPr>
            <p:cNvPr id="158734" name="Text Box 15"/>
            <p:cNvSpPr txBox="1">
              <a:spLocks noChangeArrowheads="1"/>
            </p:cNvSpPr>
            <p:nvPr/>
          </p:nvSpPr>
          <p:spPr bwMode="auto">
            <a:xfrm>
              <a:off x="2927" y="3157"/>
              <a:ext cx="278"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dirty="0">
                  <a:latin typeface="Gill Sans MT" pitchFamily="34" charset="0"/>
                </a:rPr>
                <a:t>24</a:t>
              </a:r>
            </a:p>
          </p:txBody>
        </p:sp>
        <p:sp>
          <p:nvSpPr>
            <p:cNvPr id="158735" name="Text Box 16"/>
            <p:cNvSpPr txBox="1">
              <a:spLocks noChangeArrowheads="1"/>
            </p:cNvSpPr>
            <p:nvPr/>
          </p:nvSpPr>
          <p:spPr bwMode="auto">
            <a:xfrm>
              <a:off x="3503" y="3157"/>
              <a:ext cx="278"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27</a:t>
              </a:r>
            </a:p>
          </p:txBody>
        </p:sp>
        <p:sp>
          <p:nvSpPr>
            <p:cNvPr id="158736" name="Text Box 17"/>
            <p:cNvSpPr txBox="1">
              <a:spLocks noChangeArrowheads="1"/>
            </p:cNvSpPr>
            <p:nvPr/>
          </p:nvSpPr>
          <p:spPr bwMode="auto">
            <a:xfrm>
              <a:off x="4079" y="3157"/>
              <a:ext cx="278"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30</a:t>
              </a:r>
            </a:p>
          </p:txBody>
        </p:sp>
        <p:sp>
          <p:nvSpPr>
            <p:cNvPr id="158737" name="Text Box 18"/>
            <p:cNvSpPr txBox="1">
              <a:spLocks noChangeArrowheads="1"/>
            </p:cNvSpPr>
            <p:nvPr/>
          </p:nvSpPr>
          <p:spPr bwMode="auto">
            <a:xfrm>
              <a:off x="855" y="3157"/>
              <a:ext cx="197"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0</a:t>
              </a:r>
            </a:p>
          </p:txBody>
        </p:sp>
      </p:gr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3"/>
          <p:cNvSpPr>
            <a:spLocks noGrp="1" noChangeArrowheads="1"/>
          </p:cNvSpPr>
          <p:nvPr>
            <p:ph idx="1"/>
          </p:nvPr>
        </p:nvSpPr>
        <p:spPr/>
        <p:txBody>
          <a:bodyPr/>
          <a:lstStyle/>
          <a:p>
            <a:pPr>
              <a:spcBef>
                <a:spcPct val="0"/>
              </a:spcBef>
              <a:buClr>
                <a:schemeClr val="bg1"/>
              </a:buClr>
              <a:buFont typeface="Wingdings" pitchFamily="2" charset="2"/>
              <a:buNone/>
            </a:pPr>
            <a:r>
              <a:rPr lang="en-US" dirty="0" smtClean="0"/>
              <a:t>Suppose that processes appear in the order P</a:t>
            </a:r>
            <a:r>
              <a:rPr lang="en-US" baseline="-25000" dirty="0" smtClean="0"/>
              <a:t>II</a:t>
            </a:r>
            <a:r>
              <a:rPr lang="en-US" dirty="0" smtClean="0"/>
              <a:t> , P</a:t>
            </a:r>
            <a:r>
              <a:rPr lang="en-US" baseline="-25000" dirty="0" smtClean="0"/>
              <a:t>III</a:t>
            </a:r>
            <a:r>
              <a:rPr lang="en-US" dirty="0" smtClean="0"/>
              <a:t> , P</a:t>
            </a:r>
            <a:r>
              <a:rPr lang="en-US" baseline="-25000" dirty="0" smtClean="0"/>
              <a:t>1</a:t>
            </a:r>
            <a:r>
              <a:rPr lang="en-US" dirty="0" smtClean="0"/>
              <a:t> </a:t>
            </a:r>
          </a:p>
          <a:p>
            <a:pPr>
              <a:spcBef>
                <a:spcPct val="0"/>
              </a:spcBef>
              <a:buClr>
                <a:schemeClr val="bg1"/>
              </a:buClr>
              <a:buFont typeface="Wingdings" pitchFamily="2" charset="2"/>
              <a:buNone/>
            </a:pPr>
            <a:endParaRPr lang="en-US" dirty="0" smtClean="0"/>
          </a:p>
          <a:p>
            <a:pPr>
              <a:spcBef>
                <a:spcPct val="0"/>
              </a:spcBef>
              <a:buClr>
                <a:schemeClr val="bg1"/>
              </a:buClr>
              <a:buFont typeface="Wingdings" pitchFamily="2" charset="2"/>
              <a:buNone/>
            </a:pPr>
            <a:r>
              <a:rPr lang="en-US" dirty="0" smtClean="0"/>
              <a:t>The Gantt chart for the schedule is:</a:t>
            </a:r>
            <a:br>
              <a:rPr lang="en-US" dirty="0" smtClean="0"/>
            </a:br>
            <a:endParaRPr lang="en-US" dirty="0" smtClean="0"/>
          </a:p>
          <a:p>
            <a:pPr>
              <a:spcBef>
                <a:spcPct val="0"/>
              </a:spcBef>
              <a:buClr>
                <a:schemeClr val="bg1"/>
              </a:buClr>
              <a:buFont typeface="Wingdings" pitchFamily="2" charset="2"/>
              <a:buNone/>
            </a:pPr>
            <a:endParaRPr lang="en-US" dirty="0" smtClean="0"/>
          </a:p>
          <a:p>
            <a:pPr>
              <a:spcBef>
                <a:spcPct val="0"/>
              </a:spcBef>
              <a:buClr>
                <a:schemeClr val="bg1"/>
              </a:buClr>
              <a:buFont typeface="Wingdings" pitchFamily="2" charset="2"/>
              <a:buNone/>
            </a:pPr>
            <a:endParaRPr lang="en-US" dirty="0" smtClean="0"/>
          </a:p>
          <a:p>
            <a:pPr>
              <a:spcBef>
                <a:spcPct val="0"/>
              </a:spcBef>
              <a:buClr>
                <a:schemeClr val="bg1"/>
              </a:buClr>
              <a:buFont typeface="Wingdings" pitchFamily="2" charset="2"/>
              <a:buNone/>
            </a:pPr>
            <a:endParaRPr lang="en-US" dirty="0" smtClean="0"/>
          </a:p>
          <a:p>
            <a:pPr>
              <a:spcBef>
                <a:spcPct val="0"/>
              </a:spcBef>
              <a:buClr>
                <a:schemeClr val="bg1"/>
              </a:buClr>
              <a:buFont typeface="Wingdings" pitchFamily="2" charset="2"/>
              <a:buNone/>
            </a:pPr>
            <a:endParaRPr lang="en-US" dirty="0" smtClean="0"/>
          </a:p>
          <a:p>
            <a:pPr>
              <a:spcBef>
                <a:spcPct val="0"/>
              </a:spcBef>
              <a:buClr>
                <a:schemeClr val="bg1"/>
              </a:buClr>
              <a:buFont typeface="Wingdings" pitchFamily="2" charset="2"/>
              <a:buNone/>
            </a:pPr>
            <a:endParaRPr lang="en-US" dirty="0" smtClean="0"/>
          </a:p>
          <a:p>
            <a:pPr>
              <a:spcBef>
                <a:spcPct val="0"/>
              </a:spcBef>
              <a:buClr>
                <a:schemeClr val="bg1"/>
              </a:buClr>
              <a:buFont typeface="Wingdings" pitchFamily="2" charset="2"/>
              <a:buNone/>
            </a:pPr>
            <a:r>
              <a:rPr lang="en-US" dirty="0" smtClean="0"/>
              <a:t>Waiting time for P</a:t>
            </a:r>
            <a:r>
              <a:rPr lang="en-US" baseline="-25000" dirty="0" smtClean="0"/>
              <a:t>I</a:t>
            </a:r>
            <a:r>
              <a:rPr lang="en-US" dirty="0" smtClean="0"/>
              <a:t> = 6.0; P</a:t>
            </a:r>
            <a:r>
              <a:rPr lang="en-US" baseline="-25000" dirty="0" smtClean="0"/>
              <a:t>II</a:t>
            </a:r>
            <a:r>
              <a:rPr lang="en-US" dirty="0" smtClean="0"/>
              <a:t> = 0.0; P</a:t>
            </a:r>
            <a:r>
              <a:rPr lang="en-US" baseline="-25000" dirty="0" smtClean="0"/>
              <a:t>III</a:t>
            </a:r>
            <a:r>
              <a:rPr lang="en-US" dirty="0" smtClean="0"/>
              <a:t> = 3.0</a:t>
            </a:r>
          </a:p>
          <a:p>
            <a:pPr>
              <a:spcBef>
                <a:spcPct val="0"/>
              </a:spcBef>
              <a:buClr>
                <a:schemeClr val="bg1"/>
              </a:buClr>
              <a:buFont typeface="Wingdings" pitchFamily="2" charset="2"/>
              <a:buNone/>
            </a:pPr>
            <a:r>
              <a:rPr lang="en-US" dirty="0" smtClean="0"/>
              <a:t>Average waiting time:   (6.0 + 0.0 + 3.0)/3 = 3.0</a:t>
            </a:r>
          </a:p>
          <a:p>
            <a:pPr>
              <a:spcBef>
                <a:spcPct val="0"/>
              </a:spcBef>
              <a:buClr>
                <a:schemeClr val="bg1"/>
              </a:buClr>
              <a:buFont typeface="Wingdings" pitchFamily="2" charset="2"/>
              <a:buNone/>
            </a:pPr>
            <a:endParaRPr lang="en-US" dirty="0" smtClean="0"/>
          </a:p>
          <a:p>
            <a:pPr>
              <a:spcBef>
                <a:spcPct val="0"/>
              </a:spcBef>
              <a:buClr>
                <a:schemeClr val="bg1"/>
              </a:buClr>
              <a:buFont typeface="Wingdings" pitchFamily="2" charset="2"/>
              <a:buNone/>
            </a:pPr>
            <a:r>
              <a:rPr lang="en-US" dirty="0" smtClean="0"/>
              <a:t>Much better than previous case</a:t>
            </a:r>
          </a:p>
        </p:txBody>
      </p:sp>
      <p:sp>
        <p:nvSpPr>
          <p:cNvPr id="160770" name="Rectangle 2"/>
          <p:cNvSpPr>
            <a:spLocks noGrp="1" noChangeArrowheads="1"/>
          </p:cNvSpPr>
          <p:nvPr>
            <p:ph type="title"/>
          </p:nvPr>
        </p:nvSpPr>
        <p:spPr>
          <a:xfrm>
            <a:off x="0" y="381000"/>
            <a:ext cx="7562850" cy="914400"/>
          </a:xfrm>
        </p:spPr>
        <p:txBody>
          <a:bodyPr anchor="t"/>
          <a:lstStyle/>
          <a:p>
            <a:r>
              <a:rPr lang="en-US" dirty="0" smtClean="0"/>
              <a:t>FCFS Scheduling (Contd.).</a:t>
            </a:r>
          </a:p>
        </p:txBody>
      </p:sp>
      <p:grpSp>
        <p:nvGrpSpPr>
          <p:cNvPr id="160771" name="Group 4"/>
          <p:cNvGrpSpPr>
            <a:grpSpLocks/>
          </p:cNvGrpSpPr>
          <p:nvPr/>
        </p:nvGrpSpPr>
        <p:grpSpPr bwMode="auto">
          <a:xfrm>
            <a:off x="1887538" y="2605088"/>
            <a:ext cx="5578475" cy="1144587"/>
            <a:chOff x="851" y="1650"/>
            <a:chExt cx="3514" cy="721"/>
          </a:xfrm>
        </p:grpSpPr>
        <p:sp>
          <p:nvSpPr>
            <p:cNvPr id="160772" name="Rectangle 5"/>
            <p:cNvSpPr>
              <a:spLocks noChangeArrowheads="1"/>
            </p:cNvSpPr>
            <p:nvPr/>
          </p:nvSpPr>
          <p:spPr bwMode="auto">
            <a:xfrm flipH="1">
              <a:off x="948" y="1650"/>
              <a:ext cx="3312" cy="384"/>
            </a:xfrm>
            <a:prstGeom prst="rect">
              <a:avLst/>
            </a:prstGeom>
            <a:solidFill>
              <a:schemeClr val="bg1"/>
            </a:solidFill>
            <a:ln w="9525">
              <a:solidFill>
                <a:schemeClr val="tx1"/>
              </a:solidFill>
              <a:miter lim="800000"/>
              <a:headEnd/>
              <a:tailEnd/>
            </a:ln>
          </p:spPr>
          <p:txBody>
            <a:bodyPr wrap="none" anchor="ctr"/>
            <a:lstStyle/>
            <a:p>
              <a:endParaRPr lang="en-US" sz="2000">
                <a:latin typeface="Gill Sans MT" pitchFamily="34" charset="0"/>
              </a:endParaRPr>
            </a:p>
          </p:txBody>
        </p:sp>
        <p:sp>
          <p:nvSpPr>
            <p:cNvPr id="160773" name="Text Box 6"/>
            <p:cNvSpPr txBox="1">
              <a:spLocks noChangeArrowheads="1"/>
            </p:cNvSpPr>
            <p:nvPr/>
          </p:nvSpPr>
          <p:spPr bwMode="auto">
            <a:xfrm flipH="1">
              <a:off x="3198" y="1687"/>
              <a:ext cx="226"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a:t>
              </a:r>
              <a:endParaRPr lang="en-US" sz="2000">
                <a:latin typeface="Gill Sans MT" pitchFamily="34" charset="0"/>
              </a:endParaRPr>
            </a:p>
          </p:txBody>
        </p:sp>
        <p:sp>
          <p:nvSpPr>
            <p:cNvPr id="160774" name="Text Box 7"/>
            <p:cNvSpPr txBox="1">
              <a:spLocks noChangeArrowheads="1"/>
            </p:cNvSpPr>
            <p:nvPr/>
          </p:nvSpPr>
          <p:spPr bwMode="auto">
            <a:xfrm flipH="1">
              <a:off x="1683" y="1687"/>
              <a:ext cx="281"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III</a:t>
              </a:r>
              <a:endParaRPr lang="en-US" sz="2000">
                <a:latin typeface="Gill Sans MT" pitchFamily="34" charset="0"/>
              </a:endParaRPr>
            </a:p>
          </p:txBody>
        </p:sp>
        <p:sp>
          <p:nvSpPr>
            <p:cNvPr id="160775" name="Text Box 8"/>
            <p:cNvSpPr txBox="1">
              <a:spLocks noChangeArrowheads="1"/>
            </p:cNvSpPr>
            <p:nvPr/>
          </p:nvSpPr>
          <p:spPr bwMode="auto">
            <a:xfrm flipH="1">
              <a:off x="1121" y="1687"/>
              <a:ext cx="254"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II</a:t>
              </a:r>
              <a:endParaRPr lang="en-US" sz="2000">
                <a:latin typeface="Gill Sans MT" pitchFamily="34" charset="0"/>
              </a:endParaRPr>
            </a:p>
          </p:txBody>
        </p:sp>
        <p:sp>
          <p:nvSpPr>
            <p:cNvPr id="160776" name="Line 9"/>
            <p:cNvSpPr>
              <a:spLocks noChangeShapeType="1"/>
            </p:cNvSpPr>
            <p:nvPr/>
          </p:nvSpPr>
          <p:spPr bwMode="auto">
            <a:xfrm flipH="1">
              <a:off x="4260" y="2034"/>
              <a:ext cx="0" cy="144"/>
            </a:xfrm>
            <a:prstGeom prst="line">
              <a:avLst/>
            </a:prstGeom>
            <a:noFill/>
            <a:ln w="9525">
              <a:solidFill>
                <a:schemeClr val="tx1"/>
              </a:solidFill>
              <a:round/>
              <a:headEnd/>
              <a:tailEnd/>
            </a:ln>
          </p:spPr>
          <p:txBody>
            <a:bodyPr wrap="none" anchor="ctr"/>
            <a:lstStyle/>
            <a:p>
              <a:endParaRPr lang="en-US"/>
            </a:p>
          </p:txBody>
        </p:sp>
        <p:sp>
          <p:nvSpPr>
            <p:cNvPr id="160777" name="Line 10"/>
            <p:cNvSpPr>
              <a:spLocks noChangeShapeType="1"/>
            </p:cNvSpPr>
            <p:nvPr/>
          </p:nvSpPr>
          <p:spPr bwMode="auto">
            <a:xfrm flipH="1">
              <a:off x="948" y="2034"/>
              <a:ext cx="0" cy="144"/>
            </a:xfrm>
            <a:prstGeom prst="line">
              <a:avLst/>
            </a:prstGeom>
            <a:noFill/>
            <a:ln w="9525">
              <a:solidFill>
                <a:schemeClr val="tx1"/>
              </a:solidFill>
              <a:round/>
              <a:headEnd/>
              <a:tailEnd/>
            </a:ln>
          </p:spPr>
          <p:txBody>
            <a:bodyPr wrap="none" anchor="ctr"/>
            <a:lstStyle/>
            <a:p>
              <a:endParaRPr lang="en-US"/>
            </a:p>
          </p:txBody>
        </p:sp>
        <p:sp>
          <p:nvSpPr>
            <p:cNvPr id="160778" name="Line 11"/>
            <p:cNvSpPr>
              <a:spLocks noChangeShapeType="1"/>
            </p:cNvSpPr>
            <p:nvPr/>
          </p:nvSpPr>
          <p:spPr bwMode="auto">
            <a:xfrm flipH="1">
              <a:off x="2148" y="1650"/>
              <a:ext cx="0" cy="384"/>
            </a:xfrm>
            <a:prstGeom prst="line">
              <a:avLst/>
            </a:prstGeom>
            <a:noFill/>
            <a:ln w="9525">
              <a:solidFill>
                <a:schemeClr val="tx1"/>
              </a:solidFill>
              <a:round/>
              <a:headEnd/>
              <a:tailEnd/>
            </a:ln>
          </p:spPr>
          <p:txBody>
            <a:bodyPr wrap="none" anchor="ctr"/>
            <a:lstStyle/>
            <a:p>
              <a:endParaRPr lang="en-US"/>
            </a:p>
          </p:txBody>
        </p:sp>
        <p:sp>
          <p:nvSpPr>
            <p:cNvPr id="160779" name="Line 12"/>
            <p:cNvSpPr>
              <a:spLocks noChangeShapeType="1"/>
            </p:cNvSpPr>
            <p:nvPr/>
          </p:nvSpPr>
          <p:spPr bwMode="auto">
            <a:xfrm flipH="1">
              <a:off x="1572" y="1650"/>
              <a:ext cx="0" cy="384"/>
            </a:xfrm>
            <a:prstGeom prst="line">
              <a:avLst/>
            </a:prstGeom>
            <a:noFill/>
            <a:ln w="9525">
              <a:solidFill>
                <a:schemeClr val="tx1"/>
              </a:solidFill>
              <a:round/>
              <a:headEnd/>
              <a:tailEnd/>
            </a:ln>
          </p:spPr>
          <p:txBody>
            <a:bodyPr wrap="none" anchor="ctr"/>
            <a:lstStyle/>
            <a:p>
              <a:endParaRPr lang="en-US"/>
            </a:p>
          </p:txBody>
        </p:sp>
        <p:sp>
          <p:nvSpPr>
            <p:cNvPr id="160780" name="Line 13"/>
            <p:cNvSpPr>
              <a:spLocks noChangeShapeType="1"/>
            </p:cNvSpPr>
            <p:nvPr/>
          </p:nvSpPr>
          <p:spPr bwMode="auto">
            <a:xfrm flipH="1">
              <a:off x="2148" y="2034"/>
              <a:ext cx="0" cy="144"/>
            </a:xfrm>
            <a:prstGeom prst="line">
              <a:avLst/>
            </a:prstGeom>
            <a:noFill/>
            <a:ln w="9525">
              <a:solidFill>
                <a:schemeClr val="tx1"/>
              </a:solidFill>
              <a:round/>
              <a:headEnd/>
              <a:tailEnd/>
            </a:ln>
          </p:spPr>
          <p:txBody>
            <a:bodyPr wrap="none" anchor="ctr"/>
            <a:lstStyle/>
            <a:p>
              <a:endParaRPr lang="en-US"/>
            </a:p>
          </p:txBody>
        </p:sp>
        <p:sp>
          <p:nvSpPr>
            <p:cNvPr id="160781" name="Line 14"/>
            <p:cNvSpPr>
              <a:spLocks noChangeShapeType="1"/>
            </p:cNvSpPr>
            <p:nvPr/>
          </p:nvSpPr>
          <p:spPr bwMode="auto">
            <a:xfrm flipH="1">
              <a:off x="1572" y="2034"/>
              <a:ext cx="0" cy="144"/>
            </a:xfrm>
            <a:prstGeom prst="line">
              <a:avLst/>
            </a:prstGeom>
            <a:noFill/>
            <a:ln w="9525">
              <a:solidFill>
                <a:schemeClr val="tx1"/>
              </a:solidFill>
              <a:round/>
              <a:headEnd/>
              <a:tailEnd/>
            </a:ln>
          </p:spPr>
          <p:txBody>
            <a:bodyPr wrap="none" anchor="ctr"/>
            <a:lstStyle/>
            <a:p>
              <a:endParaRPr lang="en-US"/>
            </a:p>
          </p:txBody>
        </p:sp>
        <p:sp>
          <p:nvSpPr>
            <p:cNvPr id="160782" name="Text Box 15"/>
            <p:cNvSpPr txBox="1">
              <a:spLocks noChangeArrowheads="1"/>
            </p:cNvSpPr>
            <p:nvPr/>
          </p:nvSpPr>
          <p:spPr bwMode="auto">
            <a:xfrm flipH="1">
              <a:off x="2055" y="2119"/>
              <a:ext cx="197"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6</a:t>
              </a:r>
            </a:p>
          </p:txBody>
        </p:sp>
        <p:sp>
          <p:nvSpPr>
            <p:cNvPr id="160783" name="Text Box 16"/>
            <p:cNvSpPr txBox="1">
              <a:spLocks noChangeArrowheads="1"/>
            </p:cNvSpPr>
            <p:nvPr/>
          </p:nvSpPr>
          <p:spPr bwMode="auto">
            <a:xfrm flipH="1">
              <a:off x="1479" y="2119"/>
              <a:ext cx="197"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3</a:t>
              </a:r>
            </a:p>
          </p:txBody>
        </p:sp>
        <p:sp>
          <p:nvSpPr>
            <p:cNvPr id="160784" name="Text Box 17"/>
            <p:cNvSpPr txBox="1">
              <a:spLocks noChangeArrowheads="1"/>
            </p:cNvSpPr>
            <p:nvPr/>
          </p:nvSpPr>
          <p:spPr bwMode="auto">
            <a:xfrm flipH="1">
              <a:off x="4087" y="2119"/>
              <a:ext cx="278"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30</a:t>
              </a:r>
            </a:p>
          </p:txBody>
        </p:sp>
        <p:sp>
          <p:nvSpPr>
            <p:cNvPr id="160785" name="Text Box 18"/>
            <p:cNvSpPr txBox="1">
              <a:spLocks noChangeArrowheads="1"/>
            </p:cNvSpPr>
            <p:nvPr/>
          </p:nvSpPr>
          <p:spPr bwMode="auto">
            <a:xfrm flipH="1">
              <a:off x="851" y="2119"/>
              <a:ext cx="197"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0</a:t>
              </a:r>
            </a:p>
          </p:txBody>
        </p:sp>
      </p:gr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Content Placeholder 1"/>
          <p:cNvSpPr>
            <a:spLocks noGrp="1"/>
          </p:cNvSpPr>
          <p:nvPr>
            <p:ph idx="1"/>
          </p:nvPr>
        </p:nvSpPr>
        <p:spPr/>
        <p:txBody>
          <a:bodyPr/>
          <a:lstStyle/>
          <a:p>
            <a:pPr algn="just"/>
            <a:r>
              <a:rPr lang="en-US" dirty="0" smtClean="0"/>
              <a:t>Associate with each process the length of its next CPU burst.  Use these lengths to schedule the process with the shortest time</a:t>
            </a:r>
          </a:p>
          <a:p>
            <a:endParaRPr lang="en-US" dirty="0" smtClean="0"/>
          </a:p>
          <a:p>
            <a:r>
              <a:rPr lang="en-US" dirty="0" smtClean="0"/>
              <a:t>Two schemes: </a:t>
            </a:r>
          </a:p>
          <a:p>
            <a:endParaRPr lang="en-US" dirty="0" smtClean="0"/>
          </a:p>
          <a:p>
            <a:pPr lvl="1"/>
            <a:r>
              <a:rPr lang="en-US" dirty="0" smtClean="0"/>
              <a:t>Non-preemptive </a:t>
            </a:r>
          </a:p>
          <a:p>
            <a:pPr lvl="1"/>
            <a:endParaRPr lang="en-US" dirty="0" smtClean="0"/>
          </a:p>
          <a:p>
            <a:pPr lvl="1"/>
            <a:r>
              <a:rPr lang="en-US" dirty="0" smtClean="0"/>
              <a:t>preemptive </a:t>
            </a:r>
          </a:p>
          <a:p>
            <a:endParaRPr lang="en-US" sz="1400" dirty="0" smtClean="0"/>
          </a:p>
          <a:p>
            <a:r>
              <a:rPr lang="en-US" dirty="0" smtClean="0"/>
              <a:t>SJF is optimal </a:t>
            </a:r>
          </a:p>
          <a:p>
            <a:endParaRPr lang="en-US" dirty="0" smtClean="0"/>
          </a:p>
        </p:txBody>
      </p:sp>
      <p:sp>
        <p:nvSpPr>
          <p:cNvPr id="162818" name="Title 2"/>
          <p:cNvSpPr>
            <a:spLocks noGrp="1"/>
          </p:cNvSpPr>
          <p:nvPr>
            <p:ph type="title"/>
          </p:nvPr>
        </p:nvSpPr>
        <p:spPr>
          <a:xfrm>
            <a:off x="0" y="0"/>
            <a:ext cx="7562850" cy="914400"/>
          </a:xfrm>
        </p:spPr>
        <p:txBody>
          <a:bodyPr/>
          <a:lstStyle/>
          <a:p>
            <a:r>
              <a:rPr lang="en-US" smtClean="0"/>
              <a:t>Shortest-Job-First (SJF) Scheduling</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2"/>
          <p:cNvSpPr>
            <a:spLocks noGrp="1" noChangeArrowheads="1"/>
          </p:cNvSpPr>
          <p:nvPr>
            <p:ph idx="1"/>
          </p:nvPr>
        </p:nvSpPr>
        <p:spPr/>
        <p:txBody>
          <a:bodyPr/>
          <a:lstStyle/>
          <a:p>
            <a:pPr>
              <a:spcBef>
                <a:spcPct val="0"/>
              </a:spcBef>
              <a:buClr>
                <a:schemeClr val="bg1"/>
              </a:buClr>
              <a:buFont typeface="Wingdings" pitchFamily="2" charset="2"/>
              <a:buNone/>
            </a:pPr>
            <a:r>
              <a:rPr lang="en-US" dirty="0" smtClean="0"/>
              <a:t>		Process	     Arrival Time	     Burst Time</a:t>
            </a:r>
          </a:p>
          <a:p>
            <a:pPr>
              <a:spcBef>
                <a:spcPct val="0"/>
              </a:spcBef>
              <a:buClr>
                <a:schemeClr val="bg1"/>
              </a:buClr>
              <a:buFont typeface="Wingdings" pitchFamily="2" charset="2"/>
              <a:buNone/>
            </a:pPr>
            <a:r>
              <a:rPr lang="en-US" dirty="0" smtClean="0"/>
              <a:t>		 P</a:t>
            </a:r>
            <a:r>
              <a:rPr lang="en-US" baseline="-25000" dirty="0" smtClean="0"/>
              <a:t>I</a:t>
            </a:r>
            <a:r>
              <a:rPr lang="en-US" dirty="0" smtClean="0"/>
              <a:t>		0.0		7</a:t>
            </a:r>
          </a:p>
          <a:p>
            <a:pPr>
              <a:spcBef>
                <a:spcPct val="0"/>
              </a:spcBef>
              <a:buClr>
                <a:schemeClr val="bg1"/>
              </a:buClr>
              <a:buFont typeface="Wingdings" pitchFamily="2" charset="2"/>
              <a:buNone/>
            </a:pPr>
            <a:r>
              <a:rPr lang="en-US" dirty="0" smtClean="0"/>
              <a:t>		 P</a:t>
            </a:r>
            <a:r>
              <a:rPr lang="en-US" baseline="-25000" dirty="0" smtClean="0"/>
              <a:t>II</a:t>
            </a:r>
            <a:r>
              <a:rPr lang="en-US" dirty="0" smtClean="0"/>
              <a:t>		2.0		4</a:t>
            </a:r>
          </a:p>
          <a:p>
            <a:pPr>
              <a:spcBef>
                <a:spcPct val="0"/>
              </a:spcBef>
              <a:buClr>
                <a:schemeClr val="bg1"/>
              </a:buClr>
              <a:buFont typeface="Wingdings" pitchFamily="2" charset="2"/>
              <a:buNone/>
            </a:pPr>
            <a:r>
              <a:rPr lang="en-US" dirty="0" smtClean="0"/>
              <a:t>		 P</a:t>
            </a:r>
            <a:r>
              <a:rPr lang="en-US" baseline="-25000" dirty="0" smtClean="0"/>
              <a:t>III</a:t>
            </a:r>
            <a:r>
              <a:rPr lang="en-US" dirty="0" smtClean="0"/>
              <a:t>		4.0		1</a:t>
            </a:r>
          </a:p>
          <a:p>
            <a:pPr>
              <a:spcBef>
                <a:spcPct val="0"/>
              </a:spcBef>
              <a:buClr>
                <a:schemeClr val="bg1"/>
              </a:buClr>
              <a:buFont typeface="Wingdings" pitchFamily="2" charset="2"/>
              <a:buNone/>
            </a:pPr>
            <a:r>
              <a:rPr lang="en-US" dirty="0" smtClean="0"/>
              <a:t>		 P</a:t>
            </a:r>
            <a:r>
              <a:rPr lang="en-US" baseline="-25000" dirty="0" smtClean="0"/>
              <a:t>IV</a:t>
            </a:r>
            <a:r>
              <a:rPr lang="en-US" dirty="0" smtClean="0"/>
              <a:t>		5.0		4</a:t>
            </a:r>
          </a:p>
          <a:p>
            <a:pPr>
              <a:spcBef>
                <a:spcPct val="0"/>
              </a:spcBef>
              <a:buClr>
                <a:schemeClr val="bg1"/>
              </a:buClr>
              <a:buFont typeface="Wingdings" pitchFamily="2" charset="2"/>
              <a:buNone/>
            </a:pPr>
            <a:endParaRPr lang="en-US" dirty="0" smtClean="0"/>
          </a:p>
          <a:p>
            <a:pPr>
              <a:spcBef>
                <a:spcPct val="0"/>
              </a:spcBef>
              <a:buClr>
                <a:schemeClr val="bg1"/>
              </a:buClr>
              <a:buFont typeface="Wingdings" pitchFamily="2" charset="2"/>
              <a:buNone/>
            </a:pPr>
            <a:r>
              <a:rPr lang="en-US" dirty="0" smtClean="0"/>
              <a:t>SJF (non-preemptive)</a:t>
            </a:r>
          </a:p>
          <a:p>
            <a:pPr>
              <a:spcBef>
                <a:spcPct val="0"/>
              </a:spcBef>
              <a:buClr>
                <a:schemeClr val="bg1"/>
              </a:buClr>
            </a:pPr>
            <a:endParaRPr lang="en-US" dirty="0" smtClean="0"/>
          </a:p>
          <a:p>
            <a:pPr>
              <a:spcBef>
                <a:spcPct val="0"/>
              </a:spcBef>
              <a:buClr>
                <a:schemeClr val="bg1"/>
              </a:buClr>
            </a:pPr>
            <a:endParaRPr lang="en-US" dirty="0" smtClean="0"/>
          </a:p>
          <a:p>
            <a:pPr>
              <a:spcBef>
                <a:spcPct val="0"/>
              </a:spcBef>
              <a:buClr>
                <a:schemeClr val="bg1"/>
              </a:buClr>
            </a:pPr>
            <a:endParaRPr lang="en-US" dirty="0" smtClean="0"/>
          </a:p>
          <a:p>
            <a:pPr>
              <a:spcBef>
                <a:spcPct val="0"/>
              </a:spcBef>
              <a:buClr>
                <a:schemeClr val="bg1"/>
              </a:buClr>
            </a:pPr>
            <a:endParaRPr lang="en-US" dirty="0" smtClean="0"/>
          </a:p>
          <a:p>
            <a:pPr>
              <a:spcBef>
                <a:spcPct val="0"/>
              </a:spcBef>
              <a:buClr>
                <a:schemeClr val="bg1"/>
              </a:buClr>
            </a:pPr>
            <a:endParaRPr lang="en-US" dirty="0" smtClean="0"/>
          </a:p>
          <a:p>
            <a:pPr>
              <a:spcBef>
                <a:spcPct val="0"/>
              </a:spcBef>
              <a:buClr>
                <a:schemeClr val="bg1"/>
              </a:buClr>
            </a:pPr>
            <a:endParaRPr lang="en-US" dirty="0" smtClean="0"/>
          </a:p>
          <a:p>
            <a:pPr>
              <a:spcBef>
                <a:spcPct val="0"/>
              </a:spcBef>
              <a:buClr>
                <a:schemeClr val="bg1"/>
              </a:buClr>
            </a:pPr>
            <a:r>
              <a:rPr lang="en-US" dirty="0" smtClean="0"/>
              <a:t>Average waiting time = (0 + 6 + 3 + 7)/4 </a:t>
            </a:r>
          </a:p>
        </p:txBody>
      </p:sp>
      <p:sp>
        <p:nvSpPr>
          <p:cNvPr id="163842" name="Rectangle 3"/>
          <p:cNvSpPr>
            <a:spLocks noGrp="1" noChangeArrowheads="1"/>
          </p:cNvSpPr>
          <p:nvPr>
            <p:ph type="title"/>
          </p:nvPr>
        </p:nvSpPr>
        <p:spPr>
          <a:xfrm>
            <a:off x="0" y="0"/>
            <a:ext cx="7562850" cy="914400"/>
          </a:xfrm>
        </p:spPr>
        <p:txBody>
          <a:bodyPr/>
          <a:lstStyle/>
          <a:p>
            <a:r>
              <a:rPr lang="en-US" smtClean="0"/>
              <a:t>Example of Non-Preemptive SJF</a:t>
            </a:r>
          </a:p>
        </p:txBody>
      </p:sp>
      <p:grpSp>
        <p:nvGrpSpPr>
          <p:cNvPr id="163843" name="Group 4"/>
          <p:cNvGrpSpPr>
            <a:grpSpLocks/>
          </p:cNvGrpSpPr>
          <p:nvPr/>
        </p:nvGrpSpPr>
        <p:grpSpPr bwMode="auto">
          <a:xfrm>
            <a:off x="1370013" y="3824288"/>
            <a:ext cx="5578475" cy="1144587"/>
            <a:chOff x="863" y="2325"/>
            <a:chExt cx="3514" cy="721"/>
          </a:xfrm>
        </p:grpSpPr>
        <p:sp>
          <p:nvSpPr>
            <p:cNvPr id="163844" name="Rectangle 5"/>
            <p:cNvSpPr>
              <a:spLocks noChangeArrowheads="1"/>
            </p:cNvSpPr>
            <p:nvPr/>
          </p:nvSpPr>
          <p:spPr bwMode="auto">
            <a:xfrm flipH="1">
              <a:off x="960" y="2325"/>
              <a:ext cx="3312" cy="384"/>
            </a:xfrm>
            <a:prstGeom prst="rect">
              <a:avLst/>
            </a:prstGeom>
            <a:solidFill>
              <a:schemeClr val="bg1"/>
            </a:solidFill>
            <a:ln w="9525">
              <a:solidFill>
                <a:schemeClr val="tx1"/>
              </a:solidFill>
              <a:miter lim="800000"/>
              <a:headEnd/>
              <a:tailEnd/>
            </a:ln>
          </p:spPr>
          <p:txBody>
            <a:bodyPr wrap="none" anchor="ctr"/>
            <a:lstStyle/>
            <a:p>
              <a:endParaRPr lang="en-US" sz="2000">
                <a:latin typeface="Gill Sans MT" pitchFamily="34" charset="0"/>
              </a:endParaRPr>
            </a:p>
          </p:txBody>
        </p:sp>
        <p:sp>
          <p:nvSpPr>
            <p:cNvPr id="163845" name="Text Box 6"/>
            <p:cNvSpPr txBox="1">
              <a:spLocks noChangeArrowheads="1"/>
            </p:cNvSpPr>
            <p:nvPr/>
          </p:nvSpPr>
          <p:spPr bwMode="auto">
            <a:xfrm flipH="1">
              <a:off x="1411" y="2362"/>
              <a:ext cx="226"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a:t>
              </a:r>
              <a:endParaRPr lang="en-US" sz="2000">
                <a:latin typeface="Gill Sans MT" pitchFamily="34" charset="0"/>
              </a:endParaRPr>
            </a:p>
          </p:txBody>
        </p:sp>
        <p:sp>
          <p:nvSpPr>
            <p:cNvPr id="163846" name="Text Box 7"/>
            <p:cNvSpPr txBox="1">
              <a:spLocks noChangeArrowheads="1"/>
            </p:cNvSpPr>
            <p:nvPr/>
          </p:nvSpPr>
          <p:spPr bwMode="auto">
            <a:xfrm flipH="1">
              <a:off x="2392" y="2362"/>
              <a:ext cx="281"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III</a:t>
              </a:r>
              <a:endParaRPr lang="en-US" sz="2000">
                <a:latin typeface="Gill Sans MT" pitchFamily="34" charset="0"/>
              </a:endParaRPr>
            </a:p>
          </p:txBody>
        </p:sp>
        <p:sp>
          <p:nvSpPr>
            <p:cNvPr id="163847" name="Text Box 8"/>
            <p:cNvSpPr txBox="1">
              <a:spLocks noChangeArrowheads="1"/>
            </p:cNvSpPr>
            <p:nvPr/>
          </p:nvSpPr>
          <p:spPr bwMode="auto">
            <a:xfrm flipH="1">
              <a:off x="2982" y="2362"/>
              <a:ext cx="254"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II</a:t>
              </a:r>
              <a:endParaRPr lang="en-US" sz="2000">
                <a:latin typeface="Gill Sans MT" pitchFamily="34" charset="0"/>
              </a:endParaRPr>
            </a:p>
          </p:txBody>
        </p:sp>
        <p:sp>
          <p:nvSpPr>
            <p:cNvPr id="163848" name="Line 9"/>
            <p:cNvSpPr>
              <a:spLocks noChangeShapeType="1"/>
            </p:cNvSpPr>
            <p:nvPr/>
          </p:nvSpPr>
          <p:spPr bwMode="auto">
            <a:xfrm flipH="1">
              <a:off x="4272" y="2709"/>
              <a:ext cx="0" cy="144"/>
            </a:xfrm>
            <a:prstGeom prst="line">
              <a:avLst/>
            </a:prstGeom>
            <a:noFill/>
            <a:ln w="9525">
              <a:solidFill>
                <a:schemeClr val="tx1"/>
              </a:solidFill>
              <a:round/>
              <a:headEnd/>
              <a:tailEnd/>
            </a:ln>
          </p:spPr>
          <p:txBody>
            <a:bodyPr wrap="none" anchor="ctr"/>
            <a:lstStyle/>
            <a:p>
              <a:endParaRPr lang="en-US"/>
            </a:p>
          </p:txBody>
        </p:sp>
        <p:sp>
          <p:nvSpPr>
            <p:cNvPr id="163849" name="Line 10"/>
            <p:cNvSpPr>
              <a:spLocks noChangeShapeType="1"/>
            </p:cNvSpPr>
            <p:nvPr/>
          </p:nvSpPr>
          <p:spPr bwMode="auto">
            <a:xfrm flipH="1">
              <a:off x="960" y="2709"/>
              <a:ext cx="0" cy="144"/>
            </a:xfrm>
            <a:prstGeom prst="line">
              <a:avLst/>
            </a:prstGeom>
            <a:noFill/>
            <a:ln w="9525">
              <a:solidFill>
                <a:schemeClr val="tx1"/>
              </a:solidFill>
              <a:round/>
              <a:headEnd/>
              <a:tailEnd/>
            </a:ln>
          </p:spPr>
          <p:txBody>
            <a:bodyPr wrap="none" anchor="ctr"/>
            <a:lstStyle/>
            <a:p>
              <a:endParaRPr lang="en-US"/>
            </a:p>
          </p:txBody>
        </p:sp>
        <p:sp>
          <p:nvSpPr>
            <p:cNvPr id="163850" name="Line 11"/>
            <p:cNvSpPr>
              <a:spLocks noChangeShapeType="1"/>
            </p:cNvSpPr>
            <p:nvPr/>
          </p:nvSpPr>
          <p:spPr bwMode="auto">
            <a:xfrm flipH="1">
              <a:off x="2688" y="2325"/>
              <a:ext cx="0" cy="384"/>
            </a:xfrm>
            <a:prstGeom prst="line">
              <a:avLst/>
            </a:prstGeom>
            <a:noFill/>
            <a:ln w="9525">
              <a:solidFill>
                <a:schemeClr val="tx1"/>
              </a:solidFill>
              <a:round/>
              <a:headEnd/>
              <a:tailEnd/>
            </a:ln>
          </p:spPr>
          <p:txBody>
            <a:bodyPr wrap="none" anchor="ctr"/>
            <a:lstStyle/>
            <a:p>
              <a:endParaRPr lang="en-US"/>
            </a:p>
          </p:txBody>
        </p:sp>
        <p:sp>
          <p:nvSpPr>
            <p:cNvPr id="163851" name="Line 12"/>
            <p:cNvSpPr>
              <a:spLocks noChangeShapeType="1"/>
            </p:cNvSpPr>
            <p:nvPr/>
          </p:nvSpPr>
          <p:spPr bwMode="auto">
            <a:xfrm flipH="1">
              <a:off x="2400" y="2325"/>
              <a:ext cx="0" cy="384"/>
            </a:xfrm>
            <a:prstGeom prst="line">
              <a:avLst/>
            </a:prstGeom>
            <a:noFill/>
            <a:ln w="9525">
              <a:solidFill>
                <a:schemeClr val="tx1"/>
              </a:solidFill>
              <a:round/>
              <a:headEnd/>
              <a:tailEnd/>
            </a:ln>
          </p:spPr>
          <p:txBody>
            <a:bodyPr wrap="none" anchor="ctr"/>
            <a:lstStyle/>
            <a:p>
              <a:endParaRPr lang="en-US"/>
            </a:p>
          </p:txBody>
        </p:sp>
        <p:sp>
          <p:nvSpPr>
            <p:cNvPr id="163852" name="Line 13"/>
            <p:cNvSpPr>
              <a:spLocks noChangeShapeType="1"/>
            </p:cNvSpPr>
            <p:nvPr/>
          </p:nvSpPr>
          <p:spPr bwMode="auto">
            <a:xfrm flipH="1">
              <a:off x="2400" y="2709"/>
              <a:ext cx="0" cy="144"/>
            </a:xfrm>
            <a:prstGeom prst="line">
              <a:avLst/>
            </a:prstGeom>
            <a:noFill/>
            <a:ln w="9525">
              <a:solidFill>
                <a:schemeClr val="tx1"/>
              </a:solidFill>
              <a:round/>
              <a:headEnd/>
              <a:tailEnd/>
            </a:ln>
          </p:spPr>
          <p:txBody>
            <a:bodyPr wrap="none" anchor="ctr"/>
            <a:lstStyle/>
            <a:p>
              <a:endParaRPr lang="en-US"/>
            </a:p>
          </p:txBody>
        </p:sp>
        <p:sp>
          <p:nvSpPr>
            <p:cNvPr id="163853" name="Line 14"/>
            <p:cNvSpPr>
              <a:spLocks noChangeShapeType="1"/>
            </p:cNvSpPr>
            <p:nvPr/>
          </p:nvSpPr>
          <p:spPr bwMode="auto">
            <a:xfrm flipH="1">
              <a:off x="1392" y="2638"/>
              <a:ext cx="0" cy="144"/>
            </a:xfrm>
            <a:prstGeom prst="line">
              <a:avLst/>
            </a:prstGeom>
            <a:noFill/>
            <a:ln w="9525">
              <a:solidFill>
                <a:schemeClr val="tx1"/>
              </a:solidFill>
              <a:round/>
              <a:headEnd/>
              <a:tailEnd/>
            </a:ln>
          </p:spPr>
          <p:txBody>
            <a:bodyPr wrap="none" anchor="ctr"/>
            <a:lstStyle/>
            <a:p>
              <a:endParaRPr lang="en-US"/>
            </a:p>
          </p:txBody>
        </p:sp>
        <p:sp>
          <p:nvSpPr>
            <p:cNvPr id="163854" name="Text Box 15"/>
            <p:cNvSpPr txBox="1">
              <a:spLocks noChangeArrowheads="1"/>
            </p:cNvSpPr>
            <p:nvPr/>
          </p:nvSpPr>
          <p:spPr bwMode="auto">
            <a:xfrm flipH="1">
              <a:off x="2303" y="2794"/>
              <a:ext cx="197"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7</a:t>
              </a:r>
            </a:p>
          </p:txBody>
        </p:sp>
        <p:sp>
          <p:nvSpPr>
            <p:cNvPr id="163855" name="Text Box 16"/>
            <p:cNvSpPr txBox="1">
              <a:spLocks noChangeArrowheads="1"/>
            </p:cNvSpPr>
            <p:nvPr/>
          </p:nvSpPr>
          <p:spPr bwMode="auto">
            <a:xfrm flipH="1">
              <a:off x="1491" y="2794"/>
              <a:ext cx="197"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3</a:t>
              </a:r>
            </a:p>
          </p:txBody>
        </p:sp>
        <p:sp>
          <p:nvSpPr>
            <p:cNvPr id="163856" name="Text Box 17"/>
            <p:cNvSpPr txBox="1">
              <a:spLocks noChangeArrowheads="1"/>
            </p:cNvSpPr>
            <p:nvPr/>
          </p:nvSpPr>
          <p:spPr bwMode="auto">
            <a:xfrm flipH="1">
              <a:off x="4099" y="2794"/>
              <a:ext cx="278"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16</a:t>
              </a:r>
            </a:p>
          </p:txBody>
        </p:sp>
        <p:sp>
          <p:nvSpPr>
            <p:cNvPr id="163857" name="Text Box 18"/>
            <p:cNvSpPr txBox="1">
              <a:spLocks noChangeArrowheads="1"/>
            </p:cNvSpPr>
            <p:nvPr/>
          </p:nvSpPr>
          <p:spPr bwMode="auto">
            <a:xfrm flipH="1">
              <a:off x="863" y="2794"/>
              <a:ext cx="197"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0</a:t>
              </a:r>
            </a:p>
          </p:txBody>
        </p:sp>
        <p:sp>
          <p:nvSpPr>
            <p:cNvPr id="163858" name="Text Box 19"/>
            <p:cNvSpPr txBox="1">
              <a:spLocks noChangeArrowheads="1"/>
            </p:cNvSpPr>
            <p:nvPr/>
          </p:nvSpPr>
          <p:spPr bwMode="auto">
            <a:xfrm flipH="1">
              <a:off x="3683" y="2362"/>
              <a:ext cx="291"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IV</a:t>
              </a:r>
              <a:endParaRPr lang="en-US" sz="2000">
                <a:latin typeface="Gill Sans MT" pitchFamily="34" charset="0"/>
              </a:endParaRPr>
            </a:p>
          </p:txBody>
        </p:sp>
        <p:sp>
          <p:nvSpPr>
            <p:cNvPr id="163859" name="Line 20"/>
            <p:cNvSpPr>
              <a:spLocks noChangeShapeType="1"/>
            </p:cNvSpPr>
            <p:nvPr/>
          </p:nvSpPr>
          <p:spPr bwMode="auto">
            <a:xfrm flipH="1">
              <a:off x="3456" y="2325"/>
              <a:ext cx="0" cy="384"/>
            </a:xfrm>
            <a:prstGeom prst="line">
              <a:avLst/>
            </a:prstGeom>
            <a:noFill/>
            <a:ln w="9525">
              <a:solidFill>
                <a:schemeClr val="tx1"/>
              </a:solidFill>
              <a:round/>
              <a:headEnd/>
              <a:tailEnd/>
            </a:ln>
          </p:spPr>
          <p:txBody>
            <a:bodyPr wrap="none" anchor="ctr"/>
            <a:lstStyle/>
            <a:p>
              <a:endParaRPr lang="en-US"/>
            </a:p>
          </p:txBody>
        </p:sp>
        <p:sp>
          <p:nvSpPr>
            <p:cNvPr id="163860" name="Line 21"/>
            <p:cNvSpPr>
              <a:spLocks noChangeShapeType="1"/>
            </p:cNvSpPr>
            <p:nvPr/>
          </p:nvSpPr>
          <p:spPr bwMode="auto">
            <a:xfrm flipH="1">
              <a:off x="1152" y="2638"/>
              <a:ext cx="0" cy="144"/>
            </a:xfrm>
            <a:prstGeom prst="line">
              <a:avLst/>
            </a:prstGeom>
            <a:noFill/>
            <a:ln w="9525">
              <a:solidFill>
                <a:schemeClr val="tx1"/>
              </a:solidFill>
              <a:round/>
              <a:headEnd/>
              <a:tailEnd/>
            </a:ln>
          </p:spPr>
          <p:txBody>
            <a:bodyPr wrap="none" anchor="ctr"/>
            <a:lstStyle/>
            <a:p>
              <a:endParaRPr lang="en-US"/>
            </a:p>
          </p:txBody>
        </p:sp>
        <p:sp>
          <p:nvSpPr>
            <p:cNvPr id="163861" name="Line 22"/>
            <p:cNvSpPr>
              <a:spLocks noChangeShapeType="1"/>
            </p:cNvSpPr>
            <p:nvPr/>
          </p:nvSpPr>
          <p:spPr bwMode="auto">
            <a:xfrm flipH="1">
              <a:off x="1632" y="2638"/>
              <a:ext cx="0" cy="144"/>
            </a:xfrm>
            <a:prstGeom prst="line">
              <a:avLst/>
            </a:prstGeom>
            <a:noFill/>
            <a:ln w="9525">
              <a:solidFill>
                <a:schemeClr val="tx1"/>
              </a:solidFill>
              <a:round/>
              <a:headEnd/>
              <a:tailEnd/>
            </a:ln>
          </p:spPr>
          <p:txBody>
            <a:bodyPr wrap="none" anchor="ctr"/>
            <a:lstStyle/>
            <a:p>
              <a:endParaRPr lang="en-US"/>
            </a:p>
          </p:txBody>
        </p:sp>
        <p:sp>
          <p:nvSpPr>
            <p:cNvPr id="163862" name="Line 23"/>
            <p:cNvSpPr>
              <a:spLocks noChangeShapeType="1"/>
            </p:cNvSpPr>
            <p:nvPr/>
          </p:nvSpPr>
          <p:spPr bwMode="auto">
            <a:xfrm flipH="1">
              <a:off x="1872" y="2638"/>
              <a:ext cx="0" cy="144"/>
            </a:xfrm>
            <a:prstGeom prst="line">
              <a:avLst/>
            </a:prstGeom>
            <a:noFill/>
            <a:ln w="9525">
              <a:solidFill>
                <a:schemeClr val="tx1"/>
              </a:solidFill>
              <a:round/>
              <a:headEnd/>
              <a:tailEnd/>
            </a:ln>
          </p:spPr>
          <p:txBody>
            <a:bodyPr wrap="none" anchor="ctr"/>
            <a:lstStyle/>
            <a:p>
              <a:endParaRPr lang="en-US"/>
            </a:p>
          </p:txBody>
        </p:sp>
        <p:sp>
          <p:nvSpPr>
            <p:cNvPr id="163863" name="Line 24"/>
            <p:cNvSpPr>
              <a:spLocks noChangeShapeType="1"/>
            </p:cNvSpPr>
            <p:nvPr/>
          </p:nvSpPr>
          <p:spPr bwMode="auto">
            <a:xfrm flipH="1">
              <a:off x="2064" y="2638"/>
              <a:ext cx="0" cy="144"/>
            </a:xfrm>
            <a:prstGeom prst="line">
              <a:avLst/>
            </a:prstGeom>
            <a:noFill/>
            <a:ln w="9525">
              <a:solidFill>
                <a:schemeClr val="tx1"/>
              </a:solidFill>
              <a:round/>
              <a:headEnd/>
              <a:tailEnd/>
            </a:ln>
          </p:spPr>
          <p:txBody>
            <a:bodyPr wrap="none" anchor="ctr"/>
            <a:lstStyle/>
            <a:p>
              <a:endParaRPr lang="en-US"/>
            </a:p>
          </p:txBody>
        </p:sp>
        <p:sp>
          <p:nvSpPr>
            <p:cNvPr id="163864" name="Line 25"/>
            <p:cNvSpPr>
              <a:spLocks noChangeShapeType="1"/>
            </p:cNvSpPr>
            <p:nvPr/>
          </p:nvSpPr>
          <p:spPr bwMode="auto">
            <a:xfrm flipH="1">
              <a:off x="2256" y="2638"/>
              <a:ext cx="0" cy="144"/>
            </a:xfrm>
            <a:prstGeom prst="line">
              <a:avLst/>
            </a:prstGeom>
            <a:noFill/>
            <a:ln w="9525">
              <a:solidFill>
                <a:schemeClr val="tx1"/>
              </a:solidFill>
              <a:round/>
              <a:headEnd/>
              <a:tailEnd/>
            </a:ln>
          </p:spPr>
          <p:txBody>
            <a:bodyPr wrap="none" anchor="ctr"/>
            <a:lstStyle/>
            <a:p>
              <a:endParaRPr lang="en-US"/>
            </a:p>
          </p:txBody>
        </p:sp>
        <p:sp>
          <p:nvSpPr>
            <p:cNvPr id="163865" name="Line 26"/>
            <p:cNvSpPr>
              <a:spLocks noChangeShapeType="1"/>
            </p:cNvSpPr>
            <p:nvPr/>
          </p:nvSpPr>
          <p:spPr bwMode="auto">
            <a:xfrm flipH="1">
              <a:off x="2688" y="2709"/>
              <a:ext cx="0" cy="144"/>
            </a:xfrm>
            <a:prstGeom prst="line">
              <a:avLst/>
            </a:prstGeom>
            <a:noFill/>
            <a:ln w="9525">
              <a:solidFill>
                <a:schemeClr val="tx1"/>
              </a:solidFill>
              <a:round/>
              <a:headEnd/>
              <a:tailEnd/>
            </a:ln>
          </p:spPr>
          <p:txBody>
            <a:bodyPr wrap="none" anchor="ctr"/>
            <a:lstStyle/>
            <a:p>
              <a:endParaRPr lang="en-US"/>
            </a:p>
          </p:txBody>
        </p:sp>
        <p:sp>
          <p:nvSpPr>
            <p:cNvPr id="163866" name="Text Box 27"/>
            <p:cNvSpPr txBox="1">
              <a:spLocks noChangeArrowheads="1"/>
            </p:cNvSpPr>
            <p:nvPr/>
          </p:nvSpPr>
          <p:spPr bwMode="auto">
            <a:xfrm flipH="1">
              <a:off x="2591" y="2794"/>
              <a:ext cx="197"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8</a:t>
              </a:r>
            </a:p>
          </p:txBody>
        </p:sp>
        <p:sp>
          <p:nvSpPr>
            <p:cNvPr id="163867" name="Line 28"/>
            <p:cNvSpPr>
              <a:spLocks noChangeShapeType="1"/>
            </p:cNvSpPr>
            <p:nvPr/>
          </p:nvSpPr>
          <p:spPr bwMode="auto">
            <a:xfrm flipH="1">
              <a:off x="2928" y="2638"/>
              <a:ext cx="0" cy="144"/>
            </a:xfrm>
            <a:prstGeom prst="line">
              <a:avLst/>
            </a:prstGeom>
            <a:noFill/>
            <a:ln w="9525">
              <a:solidFill>
                <a:schemeClr val="tx1"/>
              </a:solidFill>
              <a:round/>
              <a:headEnd/>
              <a:tailEnd/>
            </a:ln>
          </p:spPr>
          <p:txBody>
            <a:bodyPr wrap="none" anchor="ctr"/>
            <a:lstStyle/>
            <a:p>
              <a:endParaRPr lang="en-US"/>
            </a:p>
          </p:txBody>
        </p:sp>
        <p:sp>
          <p:nvSpPr>
            <p:cNvPr id="163868" name="Line 29"/>
            <p:cNvSpPr>
              <a:spLocks noChangeShapeType="1"/>
            </p:cNvSpPr>
            <p:nvPr/>
          </p:nvSpPr>
          <p:spPr bwMode="auto">
            <a:xfrm flipH="1">
              <a:off x="3120" y="2638"/>
              <a:ext cx="0" cy="144"/>
            </a:xfrm>
            <a:prstGeom prst="line">
              <a:avLst/>
            </a:prstGeom>
            <a:noFill/>
            <a:ln w="9525">
              <a:solidFill>
                <a:schemeClr val="tx1"/>
              </a:solidFill>
              <a:round/>
              <a:headEnd/>
              <a:tailEnd/>
            </a:ln>
          </p:spPr>
          <p:txBody>
            <a:bodyPr wrap="none" anchor="ctr"/>
            <a:lstStyle/>
            <a:p>
              <a:endParaRPr lang="en-US"/>
            </a:p>
          </p:txBody>
        </p:sp>
        <p:sp>
          <p:nvSpPr>
            <p:cNvPr id="163869" name="Line 30"/>
            <p:cNvSpPr>
              <a:spLocks noChangeShapeType="1"/>
            </p:cNvSpPr>
            <p:nvPr/>
          </p:nvSpPr>
          <p:spPr bwMode="auto">
            <a:xfrm flipH="1">
              <a:off x="3312" y="2638"/>
              <a:ext cx="0" cy="144"/>
            </a:xfrm>
            <a:prstGeom prst="line">
              <a:avLst/>
            </a:prstGeom>
            <a:noFill/>
            <a:ln w="9525">
              <a:solidFill>
                <a:schemeClr val="tx1"/>
              </a:solidFill>
              <a:round/>
              <a:headEnd/>
              <a:tailEnd/>
            </a:ln>
          </p:spPr>
          <p:txBody>
            <a:bodyPr wrap="none" anchor="ctr"/>
            <a:lstStyle/>
            <a:p>
              <a:endParaRPr lang="en-US"/>
            </a:p>
          </p:txBody>
        </p:sp>
        <p:sp>
          <p:nvSpPr>
            <p:cNvPr id="163870" name="Line 31"/>
            <p:cNvSpPr>
              <a:spLocks noChangeShapeType="1"/>
            </p:cNvSpPr>
            <p:nvPr/>
          </p:nvSpPr>
          <p:spPr bwMode="auto">
            <a:xfrm flipH="1">
              <a:off x="3456" y="2709"/>
              <a:ext cx="0" cy="144"/>
            </a:xfrm>
            <a:prstGeom prst="line">
              <a:avLst/>
            </a:prstGeom>
            <a:noFill/>
            <a:ln w="9525">
              <a:solidFill>
                <a:schemeClr val="tx1"/>
              </a:solidFill>
              <a:round/>
              <a:headEnd/>
              <a:tailEnd/>
            </a:ln>
          </p:spPr>
          <p:txBody>
            <a:bodyPr wrap="none" anchor="ctr"/>
            <a:lstStyle/>
            <a:p>
              <a:endParaRPr lang="en-US"/>
            </a:p>
          </p:txBody>
        </p:sp>
        <p:sp>
          <p:nvSpPr>
            <p:cNvPr id="163871" name="Text Box 32"/>
            <p:cNvSpPr txBox="1">
              <a:spLocks noChangeArrowheads="1"/>
            </p:cNvSpPr>
            <p:nvPr/>
          </p:nvSpPr>
          <p:spPr bwMode="auto">
            <a:xfrm flipH="1">
              <a:off x="3311" y="2794"/>
              <a:ext cx="278"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12</a:t>
              </a:r>
            </a:p>
          </p:txBody>
        </p:sp>
        <p:sp>
          <p:nvSpPr>
            <p:cNvPr id="163872" name="Line 33"/>
            <p:cNvSpPr>
              <a:spLocks noChangeShapeType="1"/>
            </p:cNvSpPr>
            <p:nvPr/>
          </p:nvSpPr>
          <p:spPr bwMode="auto">
            <a:xfrm flipH="1">
              <a:off x="3696" y="2638"/>
              <a:ext cx="0" cy="144"/>
            </a:xfrm>
            <a:prstGeom prst="line">
              <a:avLst/>
            </a:prstGeom>
            <a:noFill/>
            <a:ln w="9525">
              <a:solidFill>
                <a:schemeClr val="tx1"/>
              </a:solidFill>
              <a:round/>
              <a:headEnd/>
              <a:tailEnd/>
            </a:ln>
          </p:spPr>
          <p:txBody>
            <a:bodyPr wrap="none" anchor="ctr"/>
            <a:lstStyle/>
            <a:p>
              <a:endParaRPr lang="en-US"/>
            </a:p>
          </p:txBody>
        </p:sp>
        <p:sp>
          <p:nvSpPr>
            <p:cNvPr id="163873" name="Line 34"/>
            <p:cNvSpPr>
              <a:spLocks noChangeShapeType="1"/>
            </p:cNvSpPr>
            <p:nvPr/>
          </p:nvSpPr>
          <p:spPr bwMode="auto">
            <a:xfrm flipH="1">
              <a:off x="3888" y="2638"/>
              <a:ext cx="0" cy="144"/>
            </a:xfrm>
            <a:prstGeom prst="line">
              <a:avLst/>
            </a:prstGeom>
            <a:noFill/>
            <a:ln w="9525">
              <a:solidFill>
                <a:schemeClr val="tx1"/>
              </a:solidFill>
              <a:round/>
              <a:headEnd/>
              <a:tailEnd/>
            </a:ln>
          </p:spPr>
          <p:txBody>
            <a:bodyPr wrap="none" anchor="ctr"/>
            <a:lstStyle/>
            <a:p>
              <a:endParaRPr lang="en-US"/>
            </a:p>
          </p:txBody>
        </p:sp>
        <p:sp>
          <p:nvSpPr>
            <p:cNvPr id="163874" name="Line 35"/>
            <p:cNvSpPr>
              <a:spLocks noChangeShapeType="1"/>
            </p:cNvSpPr>
            <p:nvPr/>
          </p:nvSpPr>
          <p:spPr bwMode="auto">
            <a:xfrm flipH="1">
              <a:off x="4080" y="2638"/>
              <a:ext cx="0" cy="144"/>
            </a:xfrm>
            <a:prstGeom prst="line">
              <a:avLst/>
            </a:prstGeom>
            <a:noFill/>
            <a:ln w="9525">
              <a:solidFill>
                <a:schemeClr val="tx1"/>
              </a:solidFill>
              <a:round/>
              <a:headEnd/>
              <a:tailEnd/>
            </a:ln>
          </p:spPr>
          <p:txBody>
            <a:bodyPr wrap="none" anchor="ctr"/>
            <a:lstStyle/>
            <a:p>
              <a:endParaRPr lang="en-US"/>
            </a:p>
          </p:txBody>
        </p:sp>
      </p:gr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3"/>
          <p:cNvSpPr>
            <a:spLocks noGrp="1" noChangeArrowheads="1"/>
          </p:cNvSpPr>
          <p:nvPr>
            <p:ph idx="1"/>
          </p:nvPr>
        </p:nvSpPr>
        <p:spPr/>
        <p:txBody>
          <a:bodyPr/>
          <a:lstStyle/>
          <a:p>
            <a:pPr>
              <a:buFont typeface="Wingdings" pitchFamily="2" charset="2"/>
              <a:buNone/>
            </a:pPr>
            <a:r>
              <a:rPr lang="en-US" dirty="0" smtClean="0"/>
              <a:t>		Process	      Arrival Time	    Burst Time</a:t>
            </a:r>
          </a:p>
          <a:p>
            <a:pPr>
              <a:buFont typeface="Wingdings" pitchFamily="2" charset="2"/>
              <a:buNone/>
            </a:pPr>
            <a:r>
              <a:rPr lang="en-US" dirty="0" smtClean="0"/>
              <a:t>		 P</a:t>
            </a:r>
            <a:r>
              <a:rPr lang="en-US" baseline="-25000" dirty="0" smtClean="0"/>
              <a:t>I</a:t>
            </a:r>
            <a:r>
              <a:rPr lang="en-US" dirty="0" smtClean="0"/>
              <a:t>		0.0		7.0</a:t>
            </a:r>
          </a:p>
          <a:p>
            <a:pPr>
              <a:buFont typeface="Wingdings" pitchFamily="2" charset="2"/>
              <a:buNone/>
            </a:pPr>
            <a:r>
              <a:rPr lang="en-US" dirty="0" smtClean="0"/>
              <a:t>		 P</a:t>
            </a:r>
            <a:r>
              <a:rPr lang="en-US" baseline="-25000" dirty="0" smtClean="0"/>
              <a:t>II</a:t>
            </a:r>
            <a:r>
              <a:rPr lang="en-US" dirty="0" smtClean="0"/>
              <a:t>		2.0		4.0</a:t>
            </a:r>
          </a:p>
          <a:p>
            <a:pPr>
              <a:buFont typeface="Wingdings" pitchFamily="2" charset="2"/>
              <a:buNone/>
            </a:pPr>
            <a:r>
              <a:rPr lang="en-US" dirty="0" smtClean="0"/>
              <a:t>		 P</a:t>
            </a:r>
            <a:r>
              <a:rPr lang="en-US" baseline="-25000" dirty="0" smtClean="0"/>
              <a:t>III</a:t>
            </a:r>
            <a:r>
              <a:rPr lang="en-US" dirty="0" smtClean="0"/>
              <a:t>		4.0		1.0</a:t>
            </a:r>
          </a:p>
          <a:p>
            <a:pPr>
              <a:buFont typeface="Wingdings" pitchFamily="2" charset="2"/>
              <a:buNone/>
            </a:pPr>
            <a:r>
              <a:rPr lang="en-US" dirty="0" smtClean="0"/>
              <a:t>		 P</a:t>
            </a:r>
            <a:r>
              <a:rPr lang="en-US" baseline="-25000" dirty="0" smtClean="0"/>
              <a:t>IV</a:t>
            </a:r>
            <a:r>
              <a:rPr lang="en-US" dirty="0" smtClean="0"/>
              <a:t>		5.0		4.0</a:t>
            </a:r>
          </a:p>
          <a:p>
            <a:pPr>
              <a:buFont typeface="Wingdings" pitchFamily="2" charset="2"/>
              <a:buNone/>
            </a:pPr>
            <a:endParaRPr lang="en-US" dirty="0" smtClean="0"/>
          </a:p>
          <a:p>
            <a:pPr>
              <a:buFont typeface="Wingdings" pitchFamily="2" charset="2"/>
              <a:buNone/>
            </a:pPr>
            <a:r>
              <a:rPr lang="en-US" dirty="0" smtClean="0"/>
              <a:t>SJF (pre-emptive)</a:t>
            </a:r>
          </a:p>
          <a:p>
            <a:pPr>
              <a:buFont typeface="Wingdings" pitchFamily="2" charset="2"/>
              <a:buNone/>
            </a:pPr>
            <a:endParaRPr lang="en-US" dirty="0" smtClean="0"/>
          </a:p>
          <a:p>
            <a:pPr>
              <a:buFont typeface="Wingdings" pitchFamily="2" charset="2"/>
              <a:buNone/>
            </a:pPr>
            <a:endParaRPr lang="en-US" dirty="0" smtClean="0"/>
          </a:p>
          <a:p>
            <a:pPr>
              <a:buFont typeface="Wingdings" pitchFamily="2" charset="2"/>
              <a:buNone/>
            </a:pPr>
            <a:endParaRPr lang="en-US" dirty="0" smtClean="0"/>
          </a:p>
          <a:p>
            <a:pPr>
              <a:buFont typeface="Wingdings" pitchFamily="2" charset="2"/>
              <a:buNone/>
            </a:pPr>
            <a:endParaRPr lang="en-US" dirty="0" smtClean="0"/>
          </a:p>
          <a:p>
            <a:pPr>
              <a:buFont typeface="Wingdings" pitchFamily="2" charset="2"/>
              <a:buNone/>
            </a:pPr>
            <a:endParaRPr lang="en-US" dirty="0" smtClean="0"/>
          </a:p>
          <a:p>
            <a:pPr>
              <a:buFont typeface="Wingdings" pitchFamily="2" charset="2"/>
              <a:buNone/>
            </a:pPr>
            <a:r>
              <a:rPr lang="en-US" dirty="0" smtClean="0"/>
              <a:t>Average waiting time = (9 .0+ 1.0 + 0.0 +2.0)/4 =3</a:t>
            </a:r>
          </a:p>
        </p:txBody>
      </p:sp>
      <p:sp>
        <p:nvSpPr>
          <p:cNvPr id="165890" name="Rectangle 2"/>
          <p:cNvSpPr>
            <a:spLocks noGrp="1" noChangeArrowheads="1"/>
          </p:cNvSpPr>
          <p:nvPr>
            <p:ph type="title"/>
          </p:nvPr>
        </p:nvSpPr>
        <p:spPr>
          <a:xfrm>
            <a:off x="0" y="0"/>
            <a:ext cx="7562850" cy="914400"/>
          </a:xfrm>
        </p:spPr>
        <p:txBody>
          <a:bodyPr anchor="t"/>
          <a:lstStyle/>
          <a:p>
            <a:r>
              <a:rPr lang="en-US" dirty="0" smtClean="0"/>
              <a:t>Example of Preemptive SJF</a:t>
            </a:r>
          </a:p>
        </p:txBody>
      </p:sp>
      <p:grpSp>
        <p:nvGrpSpPr>
          <p:cNvPr id="165891" name="Group 4"/>
          <p:cNvGrpSpPr>
            <a:grpSpLocks/>
          </p:cNvGrpSpPr>
          <p:nvPr/>
        </p:nvGrpSpPr>
        <p:grpSpPr bwMode="auto">
          <a:xfrm>
            <a:off x="1370013" y="3976688"/>
            <a:ext cx="5927725" cy="1220787"/>
            <a:chOff x="863" y="2364"/>
            <a:chExt cx="3734" cy="769"/>
          </a:xfrm>
        </p:grpSpPr>
        <p:sp>
          <p:nvSpPr>
            <p:cNvPr id="165892" name="Rectangle 5"/>
            <p:cNvSpPr>
              <a:spLocks noChangeArrowheads="1"/>
            </p:cNvSpPr>
            <p:nvPr/>
          </p:nvSpPr>
          <p:spPr bwMode="auto">
            <a:xfrm flipH="1">
              <a:off x="960" y="2373"/>
              <a:ext cx="3504" cy="384"/>
            </a:xfrm>
            <a:prstGeom prst="rect">
              <a:avLst/>
            </a:prstGeom>
            <a:solidFill>
              <a:schemeClr val="bg1"/>
            </a:solidFill>
            <a:ln w="9525">
              <a:solidFill>
                <a:schemeClr val="tx1"/>
              </a:solidFill>
              <a:miter lim="800000"/>
              <a:headEnd/>
              <a:tailEnd/>
            </a:ln>
          </p:spPr>
          <p:txBody>
            <a:bodyPr wrap="none" anchor="ctr"/>
            <a:lstStyle/>
            <a:p>
              <a:endParaRPr lang="en-US" sz="2000">
                <a:latin typeface="Gill Sans MT" pitchFamily="34" charset="0"/>
              </a:endParaRPr>
            </a:p>
          </p:txBody>
        </p:sp>
        <p:sp>
          <p:nvSpPr>
            <p:cNvPr id="165893" name="Text Box 6"/>
            <p:cNvSpPr txBox="1">
              <a:spLocks noChangeArrowheads="1"/>
            </p:cNvSpPr>
            <p:nvPr/>
          </p:nvSpPr>
          <p:spPr bwMode="auto">
            <a:xfrm flipH="1">
              <a:off x="1027" y="2401"/>
              <a:ext cx="226"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a:t>
              </a:r>
              <a:endParaRPr lang="en-US" sz="2000">
                <a:latin typeface="Gill Sans MT" pitchFamily="34" charset="0"/>
              </a:endParaRPr>
            </a:p>
          </p:txBody>
        </p:sp>
        <p:sp>
          <p:nvSpPr>
            <p:cNvPr id="165894" name="Text Box 7"/>
            <p:cNvSpPr txBox="1">
              <a:spLocks noChangeArrowheads="1"/>
            </p:cNvSpPr>
            <p:nvPr/>
          </p:nvSpPr>
          <p:spPr bwMode="auto">
            <a:xfrm flipH="1">
              <a:off x="1816" y="2401"/>
              <a:ext cx="281"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III</a:t>
              </a:r>
              <a:endParaRPr lang="en-US" sz="2000">
                <a:latin typeface="Gill Sans MT" pitchFamily="34" charset="0"/>
              </a:endParaRPr>
            </a:p>
          </p:txBody>
        </p:sp>
        <p:sp>
          <p:nvSpPr>
            <p:cNvPr id="165895" name="Text Box 8"/>
            <p:cNvSpPr txBox="1">
              <a:spLocks noChangeArrowheads="1"/>
            </p:cNvSpPr>
            <p:nvPr/>
          </p:nvSpPr>
          <p:spPr bwMode="auto">
            <a:xfrm flipH="1">
              <a:off x="1494" y="2401"/>
              <a:ext cx="254"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II</a:t>
              </a:r>
              <a:endParaRPr lang="en-US" sz="2000">
                <a:latin typeface="Gill Sans MT" pitchFamily="34" charset="0"/>
              </a:endParaRPr>
            </a:p>
          </p:txBody>
        </p:sp>
        <p:sp>
          <p:nvSpPr>
            <p:cNvPr id="165896" name="Line 9"/>
            <p:cNvSpPr>
              <a:spLocks noChangeShapeType="1"/>
            </p:cNvSpPr>
            <p:nvPr/>
          </p:nvSpPr>
          <p:spPr bwMode="auto">
            <a:xfrm flipH="1">
              <a:off x="4452" y="2748"/>
              <a:ext cx="0" cy="144"/>
            </a:xfrm>
            <a:prstGeom prst="line">
              <a:avLst/>
            </a:prstGeom>
            <a:noFill/>
            <a:ln w="9525">
              <a:solidFill>
                <a:schemeClr val="tx1"/>
              </a:solidFill>
              <a:round/>
              <a:headEnd/>
              <a:tailEnd/>
            </a:ln>
          </p:spPr>
          <p:txBody>
            <a:bodyPr wrap="none" anchor="ctr"/>
            <a:lstStyle/>
            <a:p>
              <a:endParaRPr lang="en-US"/>
            </a:p>
          </p:txBody>
        </p:sp>
        <p:sp>
          <p:nvSpPr>
            <p:cNvPr id="165897" name="Line 10"/>
            <p:cNvSpPr>
              <a:spLocks noChangeShapeType="1"/>
            </p:cNvSpPr>
            <p:nvPr/>
          </p:nvSpPr>
          <p:spPr bwMode="auto">
            <a:xfrm flipH="1">
              <a:off x="960" y="2757"/>
              <a:ext cx="0" cy="144"/>
            </a:xfrm>
            <a:prstGeom prst="line">
              <a:avLst/>
            </a:prstGeom>
            <a:noFill/>
            <a:ln w="9525">
              <a:solidFill>
                <a:schemeClr val="tx1"/>
              </a:solidFill>
              <a:round/>
              <a:headEnd/>
              <a:tailEnd/>
            </a:ln>
          </p:spPr>
          <p:txBody>
            <a:bodyPr wrap="none" anchor="ctr"/>
            <a:lstStyle/>
            <a:p>
              <a:endParaRPr lang="en-US"/>
            </a:p>
          </p:txBody>
        </p:sp>
        <p:sp>
          <p:nvSpPr>
            <p:cNvPr id="165898" name="Line 11"/>
            <p:cNvSpPr>
              <a:spLocks noChangeShapeType="1"/>
            </p:cNvSpPr>
            <p:nvPr/>
          </p:nvSpPr>
          <p:spPr bwMode="auto">
            <a:xfrm flipH="1">
              <a:off x="2688" y="2373"/>
              <a:ext cx="0" cy="384"/>
            </a:xfrm>
            <a:prstGeom prst="line">
              <a:avLst/>
            </a:prstGeom>
            <a:noFill/>
            <a:ln w="9525">
              <a:solidFill>
                <a:schemeClr val="tx1"/>
              </a:solidFill>
              <a:round/>
              <a:headEnd/>
              <a:tailEnd/>
            </a:ln>
          </p:spPr>
          <p:txBody>
            <a:bodyPr wrap="none" anchor="ctr"/>
            <a:lstStyle/>
            <a:p>
              <a:endParaRPr lang="en-US"/>
            </a:p>
          </p:txBody>
        </p:sp>
        <p:sp>
          <p:nvSpPr>
            <p:cNvPr id="165899" name="Line 12"/>
            <p:cNvSpPr>
              <a:spLocks noChangeShapeType="1"/>
            </p:cNvSpPr>
            <p:nvPr/>
          </p:nvSpPr>
          <p:spPr bwMode="auto">
            <a:xfrm flipH="1">
              <a:off x="1344" y="2364"/>
              <a:ext cx="0" cy="576"/>
            </a:xfrm>
            <a:prstGeom prst="line">
              <a:avLst/>
            </a:prstGeom>
            <a:noFill/>
            <a:ln w="9525">
              <a:solidFill>
                <a:schemeClr val="tx1"/>
              </a:solidFill>
              <a:round/>
              <a:headEnd/>
              <a:tailEnd/>
            </a:ln>
          </p:spPr>
          <p:txBody>
            <a:bodyPr wrap="none" anchor="ctr"/>
            <a:lstStyle/>
            <a:p>
              <a:endParaRPr lang="en-US"/>
            </a:p>
          </p:txBody>
        </p:sp>
        <p:sp>
          <p:nvSpPr>
            <p:cNvPr id="165900" name="Line 13"/>
            <p:cNvSpPr>
              <a:spLocks noChangeShapeType="1"/>
            </p:cNvSpPr>
            <p:nvPr/>
          </p:nvSpPr>
          <p:spPr bwMode="auto">
            <a:xfrm flipH="1">
              <a:off x="2400" y="2757"/>
              <a:ext cx="0" cy="144"/>
            </a:xfrm>
            <a:prstGeom prst="line">
              <a:avLst/>
            </a:prstGeom>
            <a:noFill/>
            <a:ln w="9525">
              <a:solidFill>
                <a:schemeClr val="tx1"/>
              </a:solidFill>
              <a:round/>
              <a:headEnd/>
              <a:tailEnd/>
            </a:ln>
          </p:spPr>
          <p:txBody>
            <a:bodyPr wrap="none" anchor="ctr"/>
            <a:lstStyle/>
            <a:p>
              <a:endParaRPr lang="en-US"/>
            </a:p>
          </p:txBody>
        </p:sp>
        <p:sp>
          <p:nvSpPr>
            <p:cNvPr id="165901" name="Text Box 14"/>
            <p:cNvSpPr txBox="1">
              <a:spLocks noChangeArrowheads="1"/>
            </p:cNvSpPr>
            <p:nvPr/>
          </p:nvSpPr>
          <p:spPr bwMode="auto">
            <a:xfrm flipH="1">
              <a:off x="1727" y="2881"/>
              <a:ext cx="197"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4</a:t>
              </a:r>
            </a:p>
          </p:txBody>
        </p:sp>
        <p:sp>
          <p:nvSpPr>
            <p:cNvPr id="165902" name="Text Box 15"/>
            <p:cNvSpPr txBox="1">
              <a:spLocks noChangeArrowheads="1"/>
            </p:cNvSpPr>
            <p:nvPr/>
          </p:nvSpPr>
          <p:spPr bwMode="auto">
            <a:xfrm flipH="1">
              <a:off x="1247" y="2881"/>
              <a:ext cx="197"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2</a:t>
              </a:r>
            </a:p>
          </p:txBody>
        </p:sp>
        <p:sp>
          <p:nvSpPr>
            <p:cNvPr id="165903" name="Text Box 16"/>
            <p:cNvSpPr txBox="1">
              <a:spLocks noChangeArrowheads="1"/>
            </p:cNvSpPr>
            <p:nvPr/>
          </p:nvSpPr>
          <p:spPr bwMode="auto">
            <a:xfrm flipH="1">
              <a:off x="3311" y="2833"/>
              <a:ext cx="278"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11</a:t>
              </a:r>
            </a:p>
          </p:txBody>
        </p:sp>
        <p:sp>
          <p:nvSpPr>
            <p:cNvPr id="165904" name="Text Box 17"/>
            <p:cNvSpPr txBox="1">
              <a:spLocks noChangeArrowheads="1"/>
            </p:cNvSpPr>
            <p:nvPr/>
          </p:nvSpPr>
          <p:spPr bwMode="auto">
            <a:xfrm flipH="1">
              <a:off x="863" y="2842"/>
              <a:ext cx="197"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0</a:t>
              </a:r>
            </a:p>
          </p:txBody>
        </p:sp>
        <p:sp>
          <p:nvSpPr>
            <p:cNvPr id="165905" name="Text Box 18"/>
            <p:cNvSpPr txBox="1">
              <a:spLocks noChangeArrowheads="1"/>
            </p:cNvSpPr>
            <p:nvPr/>
          </p:nvSpPr>
          <p:spPr bwMode="auto">
            <a:xfrm flipH="1">
              <a:off x="2963" y="2401"/>
              <a:ext cx="291"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IV</a:t>
              </a:r>
              <a:endParaRPr lang="en-US" sz="2000">
                <a:latin typeface="Gill Sans MT" pitchFamily="34" charset="0"/>
              </a:endParaRPr>
            </a:p>
          </p:txBody>
        </p:sp>
        <p:sp>
          <p:nvSpPr>
            <p:cNvPr id="165906" name="Line 19"/>
            <p:cNvSpPr>
              <a:spLocks noChangeShapeType="1"/>
            </p:cNvSpPr>
            <p:nvPr/>
          </p:nvSpPr>
          <p:spPr bwMode="auto">
            <a:xfrm flipH="1">
              <a:off x="3456" y="2373"/>
              <a:ext cx="0" cy="384"/>
            </a:xfrm>
            <a:prstGeom prst="line">
              <a:avLst/>
            </a:prstGeom>
            <a:noFill/>
            <a:ln w="9525">
              <a:solidFill>
                <a:schemeClr val="tx1"/>
              </a:solidFill>
              <a:round/>
              <a:headEnd/>
              <a:tailEnd/>
            </a:ln>
          </p:spPr>
          <p:txBody>
            <a:bodyPr wrap="none" anchor="ctr"/>
            <a:lstStyle/>
            <a:p>
              <a:endParaRPr lang="en-US"/>
            </a:p>
          </p:txBody>
        </p:sp>
        <p:sp>
          <p:nvSpPr>
            <p:cNvPr id="165907" name="Line 20"/>
            <p:cNvSpPr>
              <a:spLocks noChangeShapeType="1"/>
            </p:cNvSpPr>
            <p:nvPr/>
          </p:nvSpPr>
          <p:spPr bwMode="auto">
            <a:xfrm flipH="1">
              <a:off x="1152" y="2686"/>
              <a:ext cx="0" cy="144"/>
            </a:xfrm>
            <a:prstGeom prst="line">
              <a:avLst/>
            </a:prstGeom>
            <a:noFill/>
            <a:ln w="9525">
              <a:solidFill>
                <a:schemeClr val="tx1"/>
              </a:solidFill>
              <a:round/>
              <a:headEnd/>
              <a:tailEnd/>
            </a:ln>
          </p:spPr>
          <p:txBody>
            <a:bodyPr wrap="none" anchor="ctr"/>
            <a:lstStyle/>
            <a:p>
              <a:endParaRPr lang="en-US"/>
            </a:p>
          </p:txBody>
        </p:sp>
        <p:sp>
          <p:nvSpPr>
            <p:cNvPr id="165908" name="Line 21"/>
            <p:cNvSpPr>
              <a:spLocks noChangeShapeType="1"/>
            </p:cNvSpPr>
            <p:nvPr/>
          </p:nvSpPr>
          <p:spPr bwMode="auto">
            <a:xfrm flipH="1">
              <a:off x="1632" y="2686"/>
              <a:ext cx="0" cy="144"/>
            </a:xfrm>
            <a:prstGeom prst="line">
              <a:avLst/>
            </a:prstGeom>
            <a:noFill/>
            <a:ln w="9525">
              <a:solidFill>
                <a:schemeClr val="tx1"/>
              </a:solidFill>
              <a:round/>
              <a:headEnd/>
              <a:tailEnd/>
            </a:ln>
          </p:spPr>
          <p:txBody>
            <a:bodyPr wrap="none" anchor="ctr"/>
            <a:lstStyle/>
            <a:p>
              <a:endParaRPr lang="en-US"/>
            </a:p>
          </p:txBody>
        </p:sp>
        <p:sp>
          <p:nvSpPr>
            <p:cNvPr id="165909" name="Line 22"/>
            <p:cNvSpPr>
              <a:spLocks noChangeShapeType="1"/>
            </p:cNvSpPr>
            <p:nvPr/>
          </p:nvSpPr>
          <p:spPr bwMode="auto">
            <a:xfrm flipH="1">
              <a:off x="2688" y="2757"/>
              <a:ext cx="0" cy="144"/>
            </a:xfrm>
            <a:prstGeom prst="line">
              <a:avLst/>
            </a:prstGeom>
            <a:noFill/>
            <a:ln w="9525">
              <a:solidFill>
                <a:schemeClr val="tx1"/>
              </a:solidFill>
              <a:round/>
              <a:headEnd/>
              <a:tailEnd/>
            </a:ln>
          </p:spPr>
          <p:txBody>
            <a:bodyPr wrap="none" anchor="ctr"/>
            <a:lstStyle/>
            <a:p>
              <a:endParaRPr lang="en-US"/>
            </a:p>
          </p:txBody>
        </p:sp>
        <p:sp>
          <p:nvSpPr>
            <p:cNvPr id="165910" name="Text Box 23"/>
            <p:cNvSpPr txBox="1">
              <a:spLocks noChangeArrowheads="1"/>
            </p:cNvSpPr>
            <p:nvPr/>
          </p:nvSpPr>
          <p:spPr bwMode="auto">
            <a:xfrm flipH="1">
              <a:off x="2063" y="2881"/>
              <a:ext cx="197"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5</a:t>
              </a:r>
            </a:p>
          </p:txBody>
        </p:sp>
        <p:sp>
          <p:nvSpPr>
            <p:cNvPr id="165911" name="Line 24"/>
            <p:cNvSpPr>
              <a:spLocks noChangeShapeType="1"/>
            </p:cNvSpPr>
            <p:nvPr/>
          </p:nvSpPr>
          <p:spPr bwMode="auto">
            <a:xfrm flipH="1">
              <a:off x="2928" y="2686"/>
              <a:ext cx="0" cy="144"/>
            </a:xfrm>
            <a:prstGeom prst="line">
              <a:avLst/>
            </a:prstGeom>
            <a:noFill/>
            <a:ln w="9525">
              <a:solidFill>
                <a:schemeClr val="tx1"/>
              </a:solidFill>
              <a:round/>
              <a:headEnd/>
              <a:tailEnd/>
            </a:ln>
          </p:spPr>
          <p:txBody>
            <a:bodyPr wrap="none" anchor="ctr"/>
            <a:lstStyle/>
            <a:p>
              <a:endParaRPr lang="en-US"/>
            </a:p>
          </p:txBody>
        </p:sp>
        <p:sp>
          <p:nvSpPr>
            <p:cNvPr id="165912" name="Line 25"/>
            <p:cNvSpPr>
              <a:spLocks noChangeShapeType="1"/>
            </p:cNvSpPr>
            <p:nvPr/>
          </p:nvSpPr>
          <p:spPr bwMode="auto">
            <a:xfrm flipH="1">
              <a:off x="3120" y="2686"/>
              <a:ext cx="0" cy="144"/>
            </a:xfrm>
            <a:prstGeom prst="line">
              <a:avLst/>
            </a:prstGeom>
            <a:noFill/>
            <a:ln w="9525">
              <a:solidFill>
                <a:schemeClr val="tx1"/>
              </a:solidFill>
              <a:round/>
              <a:headEnd/>
              <a:tailEnd/>
            </a:ln>
          </p:spPr>
          <p:txBody>
            <a:bodyPr wrap="none" anchor="ctr"/>
            <a:lstStyle/>
            <a:p>
              <a:endParaRPr lang="en-US"/>
            </a:p>
          </p:txBody>
        </p:sp>
        <p:sp>
          <p:nvSpPr>
            <p:cNvPr id="165913" name="Line 26"/>
            <p:cNvSpPr>
              <a:spLocks noChangeShapeType="1"/>
            </p:cNvSpPr>
            <p:nvPr/>
          </p:nvSpPr>
          <p:spPr bwMode="auto">
            <a:xfrm flipH="1">
              <a:off x="3312" y="2686"/>
              <a:ext cx="0" cy="144"/>
            </a:xfrm>
            <a:prstGeom prst="line">
              <a:avLst/>
            </a:prstGeom>
            <a:noFill/>
            <a:ln w="9525">
              <a:solidFill>
                <a:schemeClr val="tx1"/>
              </a:solidFill>
              <a:round/>
              <a:headEnd/>
              <a:tailEnd/>
            </a:ln>
          </p:spPr>
          <p:txBody>
            <a:bodyPr wrap="none" anchor="ctr"/>
            <a:lstStyle/>
            <a:p>
              <a:endParaRPr lang="en-US"/>
            </a:p>
          </p:txBody>
        </p:sp>
        <p:sp>
          <p:nvSpPr>
            <p:cNvPr id="165914" name="Line 27"/>
            <p:cNvSpPr>
              <a:spLocks noChangeShapeType="1"/>
            </p:cNvSpPr>
            <p:nvPr/>
          </p:nvSpPr>
          <p:spPr bwMode="auto">
            <a:xfrm flipH="1">
              <a:off x="3456" y="2757"/>
              <a:ext cx="0" cy="144"/>
            </a:xfrm>
            <a:prstGeom prst="line">
              <a:avLst/>
            </a:prstGeom>
            <a:noFill/>
            <a:ln w="9525">
              <a:solidFill>
                <a:schemeClr val="tx1"/>
              </a:solidFill>
              <a:round/>
              <a:headEnd/>
              <a:tailEnd/>
            </a:ln>
          </p:spPr>
          <p:txBody>
            <a:bodyPr wrap="none" anchor="ctr"/>
            <a:lstStyle/>
            <a:p>
              <a:endParaRPr lang="en-US"/>
            </a:p>
          </p:txBody>
        </p:sp>
        <p:sp>
          <p:nvSpPr>
            <p:cNvPr id="165915" name="Text Box 28"/>
            <p:cNvSpPr txBox="1">
              <a:spLocks noChangeArrowheads="1"/>
            </p:cNvSpPr>
            <p:nvPr/>
          </p:nvSpPr>
          <p:spPr bwMode="auto">
            <a:xfrm flipH="1">
              <a:off x="2591" y="2881"/>
              <a:ext cx="197"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7</a:t>
              </a:r>
            </a:p>
          </p:txBody>
        </p:sp>
        <p:sp>
          <p:nvSpPr>
            <p:cNvPr id="165916" name="Line 29"/>
            <p:cNvSpPr>
              <a:spLocks noChangeShapeType="1"/>
            </p:cNvSpPr>
            <p:nvPr/>
          </p:nvSpPr>
          <p:spPr bwMode="auto">
            <a:xfrm flipH="1">
              <a:off x="3696" y="2686"/>
              <a:ext cx="0" cy="144"/>
            </a:xfrm>
            <a:prstGeom prst="line">
              <a:avLst/>
            </a:prstGeom>
            <a:noFill/>
            <a:ln w="9525">
              <a:solidFill>
                <a:schemeClr val="tx1"/>
              </a:solidFill>
              <a:round/>
              <a:headEnd/>
              <a:tailEnd/>
            </a:ln>
          </p:spPr>
          <p:txBody>
            <a:bodyPr wrap="none" anchor="ctr"/>
            <a:lstStyle/>
            <a:p>
              <a:endParaRPr lang="en-US"/>
            </a:p>
          </p:txBody>
        </p:sp>
        <p:sp>
          <p:nvSpPr>
            <p:cNvPr id="165917" name="Line 30"/>
            <p:cNvSpPr>
              <a:spLocks noChangeShapeType="1"/>
            </p:cNvSpPr>
            <p:nvPr/>
          </p:nvSpPr>
          <p:spPr bwMode="auto">
            <a:xfrm flipH="1">
              <a:off x="3888" y="2686"/>
              <a:ext cx="0" cy="144"/>
            </a:xfrm>
            <a:prstGeom prst="line">
              <a:avLst/>
            </a:prstGeom>
            <a:noFill/>
            <a:ln w="9525">
              <a:solidFill>
                <a:schemeClr val="tx1"/>
              </a:solidFill>
              <a:round/>
              <a:headEnd/>
              <a:tailEnd/>
            </a:ln>
          </p:spPr>
          <p:txBody>
            <a:bodyPr wrap="none" anchor="ctr"/>
            <a:lstStyle/>
            <a:p>
              <a:endParaRPr lang="en-US"/>
            </a:p>
          </p:txBody>
        </p:sp>
        <p:sp>
          <p:nvSpPr>
            <p:cNvPr id="165918" name="Line 31"/>
            <p:cNvSpPr>
              <a:spLocks noChangeShapeType="1"/>
            </p:cNvSpPr>
            <p:nvPr/>
          </p:nvSpPr>
          <p:spPr bwMode="auto">
            <a:xfrm flipH="1">
              <a:off x="4080" y="2686"/>
              <a:ext cx="0" cy="144"/>
            </a:xfrm>
            <a:prstGeom prst="line">
              <a:avLst/>
            </a:prstGeom>
            <a:noFill/>
            <a:ln w="9525">
              <a:solidFill>
                <a:schemeClr val="tx1"/>
              </a:solidFill>
              <a:round/>
              <a:headEnd/>
              <a:tailEnd/>
            </a:ln>
          </p:spPr>
          <p:txBody>
            <a:bodyPr wrap="none" anchor="ctr"/>
            <a:lstStyle/>
            <a:p>
              <a:endParaRPr lang="en-US"/>
            </a:p>
          </p:txBody>
        </p:sp>
        <p:sp>
          <p:nvSpPr>
            <p:cNvPr id="165919" name="Line 32"/>
            <p:cNvSpPr>
              <a:spLocks noChangeShapeType="1"/>
            </p:cNvSpPr>
            <p:nvPr/>
          </p:nvSpPr>
          <p:spPr bwMode="auto">
            <a:xfrm flipH="1">
              <a:off x="1824" y="2364"/>
              <a:ext cx="0" cy="576"/>
            </a:xfrm>
            <a:prstGeom prst="line">
              <a:avLst/>
            </a:prstGeom>
            <a:noFill/>
            <a:ln w="9525">
              <a:solidFill>
                <a:schemeClr val="tx1"/>
              </a:solidFill>
              <a:round/>
              <a:headEnd/>
              <a:tailEnd/>
            </a:ln>
          </p:spPr>
          <p:txBody>
            <a:bodyPr wrap="none" anchor="ctr"/>
            <a:lstStyle/>
            <a:p>
              <a:endParaRPr lang="en-US"/>
            </a:p>
          </p:txBody>
        </p:sp>
        <p:sp>
          <p:nvSpPr>
            <p:cNvPr id="165920" name="Line 33"/>
            <p:cNvSpPr>
              <a:spLocks noChangeShapeType="1"/>
            </p:cNvSpPr>
            <p:nvPr/>
          </p:nvSpPr>
          <p:spPr bwMode="auto">
            <a:xfrm flipH="1">
              <a:off x="2160" y="2364"/>
              <a:ext cx="0" cy="576"/>
            </a:xfrm>
            <a:prstGeom prst="line">
              <a:avLst/>
            </a:prstGeom>
            <a:noFill/>
            <a:ln w="9525">
              <a:solidFill>
                <a:schemeClr val="tx1"/>
              </a:solidFill>
              <a:round/>
              <a:headEnd/>
              <a:tailEnd/>
            </a:ln>
          </p:spPr>
          <p:txBody>
            <a:bodyPr wrap="none" anchor="ctr"/>
            <a:lstStyle/>
            <a:p>
              <a:endParaRPr lang="en-US"/>
            </a:p>
          </p:txBody>
        </p:sp>
        <p:sp>
          <p:nvSpPr>
            <p:cNvPr id="165921" name="Text Box 34"/>
            <p:cNvSpPr txBox="1">
              <a:spLocks noChangeArrowheads="1"/>
            </p:cNvSpPr>
            <p:nvPr/>
          </p:nvSpPr>
          <p:spPr bwMode="auto">
            <a:xfrm flipH="1">
              <a:off x="2262" y="2401"/>
              <a:ext cx="254"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II</a:t>
              </a:r>
              <a:endParaRPr lang="en-US" sz="2000">
                <a:latin typeface="Gill Sans MT" pitchFamily="34" charset="0"/>
              </a:endParaRPr>
            </a:p>
          </p:txBody>
        </p:sp>
        <p:sp>
          <p:nvSpPr>
            <p:cNvPr id="165922" name="Text Box 35"/>
            <p:cNvSpPr txBox="1">
              <a:spLocks noChangeArrowheads="1"/>
            </p:cNvSpPr>
            <p:nvPr/>
          </p:nvSpPr>
          <p:spPr bwMode="auto">
            <a:xfrm flipH="1">
              <a:off x="3859" y="2401"/>
              <a:ext cx="226"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P</a:t>
              </a:r>
              <a:r>
                <a:rPr lang="en-US" sz="2000" baseline="-25000">
                  <a:latin typeface="Gill Sans MT" pitchFamily="34" charset="0"/>
                </a:rPr>
                <a:t>I</a:t>
              </a:r>
              <a:endParaRPr lang="en-US" sz="2000">
                <a:latin typeface="Gill Sans MT" pitchFamily="34" charset="0"/>
              </a:endParaRPr>
            </a:p>
          </p:txBody>
        </p:sp>
        <p:sp>
          <p:nvSpPr>
            <p:cNvPr id="165923" name="Line 36"/>
            <p:cNvSpPr>
              <a:spLocks noChangeShapeType="1"/>
            </p:cNvSpPr>
            <p:nvPr/>
          </p:nvSpPr>
          <p:spPr bwMode="auto">
            <a:xfrm flipH="1">
              <a:off x="4272" y="2686"/>
              <a:ext cx="0" cy="144"/>
            </a:xfrm>
            <a:prstGeom prst="line">
              <a:avLst/>
            </a:prstGeom>
            <a:noFill/>
            <a:ln w="9525">
              <a:solidFill>
                <a:schemeClr val="tx1"/>
              </a:solidFill>
              <a:round/>
              <a:headEnd/>
              <a:tailEnd/>
            </a:ln>
          </p:spPr>
          <p:txBody>
            <a:bodyPr wrap="none" anchor="ctr"/>
            <a:lstStyle/>
            <a:p>
              <a:endParaRPr lang="en-US"/>
            </a:p>
          </p:txBody>
        </p:sp>
        <p:sp>
          <p:nvSpPr>
            <p:cNvPr id="165924" name="Text Box 37"/>
            <p:cNvSpPr txBox="1">
              <a:spLocks noChangeArrowheads="1"/>
            </p:cNvSpPr>
            <p:nvPr/>
          </p:nvSpPr>
          <p:spPr bwMode="auto">
            <a:xfrm flipH="1">
              <a:off x="4319" y="2833"/>
              <a:ext cx="278" cy="252"/>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16</a:t>
              </a:r>
            </a:p>
          </p:txBody>
        </p:sp>
      </p:gr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Content Placeholder 1"/>
          <p:cNvSpPr>
            <a:spLocks noGrp="1"/>
          </p:cNvSpPr>
          <p:nvPr>
            <p:ph idx="1"/>
          </p:nvPr>
        </p:nvSpPr>
        <p:spPr>
          <a:xfrm>
            <a:off x="381000" y="1219200"/>
            <a:ext cx="8229600" cy="5029200"/>
          </a:xfrm>
        </p:spPr>
        <p:txBody>
          <a:bodyPr/>
          <a:lstStyle/>
          <a:p>
            <a:pPr algn="just"/>
            <a:r>
              <a:rPr lang="en-US" dirty="0" smtClean="0"/>
              <a:t>Each process associates with  priority.</a:t>
            </a:r>
          </a:p>
          <a:p>
            <a:pPr algn="just"/>
            <a:r>
              <a:rPr lang="en-US" dirty="0" smtClean="0"/>
              <a:t>The maximum priority process will be allocated by the CPU.</a:t>
            </a:r>
          </a:p>
          <a:p>
            <a:pPr algn="just">
              <a:buFont typeface="Gill Sans MT" pitchFamily="34" charset="0"/>
              <a:buChar char="–"/>
            </a:pPr>
            <a:r>
              <a:rPr lang="en-US" sz="1800" dirty="0" smtClean="0"/>
              <a:t>         Pre-emptive</a:t>
            </a:r>
          </a:p>
          <a:p>
            <a:pPr algn="just">
              <a:buFont typeface="Gill Sans MT" pitchFamily="34" charset="0"/>
              <a:buChar char="–"/>
            </a:pPr>
            <a:r>
              <a:rPr lang="en-US" sz="1800" dirty="0" smtClean="0"/>
              <a:t>         Non-pre-emptive</a:t>
            </a:r>
          </a:p>
          <a:p>
            <a:pPr algn="just">
              <a:buNone/>
            </a:pPr>
            <a:endParaRPr lang="en-US" dirty="0" smtClean="0"/>
          </a:p>
          <a:p>
            <a:pPr algn="just"/>
            <a:r>
              <a:rPr lang="en-US" dirty="0" smtClean="0"/>
              <a:t>SJF is a unique of priority scheduling with priorities associated according to the no. of CPU burst necessary by the processes.</a:t>
            </a:r>
          </a:p>
          <a:p>
            <a:pPr algn="just"/>
            <a:endParaRPr lang="en-US" dirty="0" smtClean="0"/>
          </a:p>
          <a:p>
            <a:pPr algn="just"/>
            <a:r>
              <a:rPr lang="en-US" dirty="0" smtClean="0"/>
              <a:t>Problem =Starvation – low priority processes will not get a chance to execute</a:t>
            </a:r>
          </a:p>
          <a:p>
            <a:pPr algn="just"/>
            <a:r>
              <a:rPr lang="en-US" dirty="0" smtClean="0"/>
              <a:t>Solution =Aging – as time progresses increase the priority of the process</a:t>
            </a:r>
          </a:p>
          <a:p>
            <a:pPr>
              <a:buNone/>
            </a:pPr>
            <a:endParaRPr lang="en-US" dirty="0" smtClean="0"/>
          </a:p>
        </p:txBody>
      </p:sp>
      <p:sp>
        <p:nvSpPr>
          <p:cNvPr id="167938" name="Title 2"/>
          <p:cNvSpPr>
            <a:spLocks noGrp="1"/>
          </p:cNvSpPr>
          <p:nvPr>
            <p:ph type="title"/>
          </p:nvPr>
        </p:nvSpPr>
        <p:spPr>
          <a:xfrm>
            <a:off x="0" y="0"/>
            <a:ext cx="7562850" cy="914400"/>
          </a:xfrm>
        </p:spPr>
        <p:txBody>
          <a:bodyPr/>
          <a:lstStyle/>
          <a:p>
            <a:r>
              <a:rPr lang="en-US" smtClean="0"/>
              <a:t>Priority Scheduling</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Content Placeholder 1"/>
          <p:cNvSpPr>
            <a:spLocks noGrp="1"/>
          </p:cNvSpPr>
          <p:nvPr>
            <p:ph idx="1"/>
          </p:nvPr>
        </p:nvSpPr>
        <p:spPr/>
        <p:txBody>
          <a:bodyPr/>
          <a:lstStyle/>
          <a:p>
            <a:pPr algn="just"/>
            <a:r>
              <a:rPr lang="en-US" dirty="0" smtClean="0"/>
              <a:t>On the principle that CPU must be shared between each ready process.</a:t>
            </a:r>
          </a:p>
          <a:p>
            <a:pPr algn="just"/>
            <a:endParaRPr lang="en-US" dirty="0" smtClean="0"/>
          </a:p>
          <a:p>
            <a:pPr algn="just"/>
            <a:r>
              <a:rPr lang="en-US" dirty="0" smtClean="0"/>
              <a:t>CPU time is divided into time-quantum or time-slice.  </a:t>
            </a:r>
          </a:p>
          <a:p>
            <a:pPr algn="just">
              <a:buNone/>
            </a:pPr>
            <a:endParaRPr lang="en-US" dirty="0" smtClean="0"/>
          </a:p>
          <a:p>
            <a:pPr algn="just"/>
            <a:r>
              <a:rPr lang="en-US" dirty="0" smtClean="0"/>
              <a:t>The ready processes are queued up in a circular queue.</a:t>
            </a:r>
          </a:p>
          <a:p>
            <a:pPr algn="just"/>
            <a:endParaRPr lang="en-US" dirty="0" smtClean="0"/>
          </a:p>
          <a:p>
            <a:pPr algn="just"/>
            <a:r>
              <a:rPr lang="en-US" dirty="0" smtClean="0"/>
              <a:t>Context switching takes place whenever either the running process exhausts its allocated time-quantum or completes its execution.</a:t>
            </a:r>
          </a:p>
          <a:p>
            <a:pPr>
              <a:buNone/>
            </a:pPr>
            <a:endParaRPr lang="en-US" sz="1400" dirty="0" smtClean="0"/>
          </a:p>
        </p:txBody>
      </p:sp>
      <p:sp>
        <p:nvSpPr>
          <p:cNvPr id="168962" name="Rectangle 2"/>
          <p:cNvSpPr>
            <a:spLocks noGrp="1" noChangeArrowheads="1"/>
          </p:cNvSpPr>
          <p:nvPr>
            <p:ph type="title"/>
          </p:nvPr>
        </p:nvSpPr>
        <p:spPr>
          <a:xfrm>
            <a:off x="0" y="152400"/>
            <a:ext cx="7562850" cy="914400"/>
          </a:xfrm>
        </p:spPr>
        <p:txBody>
          <a:bodyPr anchor="t"/>
          <a:lstStyle/>
          <a:p>
            <a:r>
              <a:rPr lang="en-US" dirty="0" smtClean="0"/>
              <a:t>Round Robin (RR) Scheduling</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Content Placeholder 1"/>
          <p:cNvSpPr>
            <a:spLocks noGrp="1"/>
          </p:cNvSpPr>
          <p:nvPr>
            <p:ph idx="1"/>
          </p:nvPr>
        </p:nvSpPr>
        <p:spPr/>
        <p:txBody>
          <a:bodyPr/>
          <a:lstStyle/>
          <a:p>
            <a:pPr>
              <a:buFont typeface="Wingdings" pitchFamily="2" charset="2"/>
              <a:buNone/>
            </a:pPr>
            <a:r>
              <a:rPr lang="en-US" dirty="0" smtClean="0"/>
              <a:t>In this module, we discussed:</a:t>
            </a:r>
          </a:p>
          <a:p>
            <a:endParaRPr lang="en-US" dirty="0" smtClean="0"/>
          </a:p>
          <a:p>
            <a:r>
              <a:rPr lang="en-US" dirty="0" smtClean="0"/>
              <a:t>CPU Scheduling</a:t>
            </a:r>
          </a:p>
          <a:p>
            <a:r>
              <a:rPr lang="en-US" dirty="0" smtClean="0"/>
              <a:t>Scheduling Criteria</a:t>
            </a:r>
          </a:p>
          <a:p>
            <a:r>
              <a:rPr lang="en-US" dirty="0" smtClean="0"/>
              <a:t>Range of Scheduling Algorithms</a:t>
            </a:r>
          </a:p>
          <a:p>
            <a:endParaRPr lang="en-US" dirty="0" smtClean="0"/>
          </a:p>
        </p:txBody>
      </p:sp>
      <p:sp>
        <p:nvSpPr>
          <p:cNvPr id="171010" name="Title 2"/>
          <p:cNvSpPr>
            <a:spLocks noGrp="1"/>
          </p:cNvSpPr>
          <p:nvPr>
            <p:ph type="title"/>
          </p:nvPr>
        </p:nvSpPr>
        <p:spPr>
          <a:xfrm>
            <a:off x="0" y="0"/>
            <a:ext cx="7562850" cy="914400"/>
          </a:xfrm>
        </p:spPr>
        <p:txBody>
          <a:bodyPr/>
          <a:lstStyle/>
          <a:p>
            <a:r>
              <a:rPr lang="en-US" smtClean="0"/>
              <a:t>Summary</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Title 3"/>
          <p:cNvSpPr>
            <a:spLocks noGrp="1"/>
          </p:cNvSpPr>
          <p:nvPr>
            <p:ph type="title"/>
          </p:nvPr>
        </p:nvSpPr>
        <p:spPr>
          <a:xfrm>
            <a:off x="3200400" y="3517900"/>
            <a:ext cx="5943600" cy="1362075"/>
          </a:xfrm>
        </p:spPr>
        <p:txBody>
          <a:bodyPr/>
          <a:lstStyle/>
          <a:p>
            <a:r>
              <a:rPr lang="en-US" dirty="0" smtClean="0"/>
              <a:t>File Management</a:t>
            </a:r>
            <a:r>
              <a:rPr lang="en-US" sz="3200" dirty="0" smtClean="0"/>
              <a:t/>
            </a:r>
            <a:br>
              <a:rPr lang="en-US" sz="3200" dirty="0" smtClean="0"/>
            </a:br>
            <a:r>
              <a:rPr lang="en-US" sz="3200" dirty="0" smtClean="0"/>
              <a:t> </a:t>
            </a:r>
            <a:r>
              <a:rPr lang="en-US" sz="2400" b="0" dirty="0" smtClean="0">
                <a:solidFill>
                  <a:schemeClr val="tx1">
                    <a:lumMod val="50000"/>
                    <a:lumOff val="50000"/>
                  </a:schemeClr>
                </a:solidFill>
              </a:rPr>
              <a:t>Module 5</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buFont typeface="Wingdings" pitchFamily="2" charset="2"/>
              <a:buNone/>
              <a:defRPr/>
            </a:pPr>
            <a:r>
              <a:rPr lang="en-US" sz="2400" dirty="0" smtClean="0"/>
              <a:t>At the end of this session, you will be able to:</a:t>
            </a:r>
          </a:p>
          <a:p>
            <a:pPr>
              <a:defRPr/>
            </a:pPr>
            <a:endParaRPr lang="en-US" sz="2400" dirty="0" smtClean="0"/>
          </a:p>
          <a:p>
            <a:pPr marL="800100" lvl="1" indent="-342900" algn="just">
              <a:lnSpc>
                <a:spcPct val="80000"/>
              </a:lnSpc>
              <a:buClr>
                <a:schemeClr val="tx2">
                  <a:lumMod val="95000"/>
                  <a:lumOff val="5000"/>
                </a:schemeClr>
              </a:buClr>
              <a:buFont typeface="Wingdings" pitchFamily="2" charset="2"/>
              <a:buChar char="§"/>
              <a:defRPr/>
            </a:pPr>
            <a:r>
              <a:rPr lang="en-US" sz="2400" dirty="0" smtClean="0">
                <a:solidFill>
                  <a:schemeClr val="tx1">
                    <a:lumMod val="95000"/>
                    <a:lumOff val="5000"/>
                  </a:schemeClr>
                </a:solidFill>
              </a:rPr>
              <a:t>Identify file types,  characterstics of file</a:t>
            </a:r>
          </a:p>
          <a:p>
            <a:pPr marL="800100" lvl="1" indent="-342900" algn="just">
              <a:lnSpc>
                <a:spcPct val="80000"/>
              </a:lnSpc>
              <a:buClr>
                <a:schemeClr val="tx2">
                  <a:lumMod val="95000"/>
                  <a:lumOff val="5000"/>
                </a:schemeClr>
              </a:buClr>
              <a:buFont typeface="Wingdings" pitchFamily="2" charset="2"/>
              <a:buChar char="§"/>
              <a:defRPr/>
            </a:pPr>
            <a:r>
              <a:rPr lang="en-US" sz="2400" dirty="0" smtClean="0">
                <a:solidFill>
                  <a:schemeClr val="tx1">
                    <a:lumMod val="95000"/>
                    <a:lumOff val="5000"/>
                  </a:schemeClr>
                </a:solidFill>
              </a:rPr>
              <a:t>Explain various operations performed on file</a:t>
            </a:r>
          </a:p>
          <a:p>
            <a:pPr marL="800100" lvl="1" indent="-342900" algn="just">
              <a:lnSpc>
                <a:spcPct val="80000"/>
              </a:lnSpc>
              <a:buClr>
                <a:schemeClr val="tx2">
                  <a:lumMod val="95000"/>
                  <a:lumOff val="5000"/>
                </a:schemeClr>
              </a:buClr>
              <a:buFont typeface="Wingdings" pitchFamily="2" charset="2"/>
              <a:buChar char="§"/>
              <a:defRPr/>
            </a:pPr>
            <a:r>
              <a:rPr lang="en-US" sz="2400" dirty="0" smtClean="0">
                <a:solidFill>
                  <a:schemeClr val="tx1">
                    <a:lumMod val="95000"/>
                    <a:lumOff val="5000"/>
                  </a:schemeClr>
                </a:solidFill>
              </a:rPr>
              <a:t>Explain Directory Structure, characteristics of directory and operations</a:t>
            </a:r>
          </a:p>
          <a:p>
            <a:pPr marL="800100" lvl="1" indent="-342900" algn="just">
              <a:lnSpc>
                <a:spcPct val="80000"/>
              </a:lnSpc>
              <a:buClr>
                <a:schemeClr val="tx2">
                  <a:lumMod val="95000"/>
                  <a:lumOff val="5000"/>
                </a:schemeClr>
              </a:buClr>
              <a:buFont typeface="Wingdings" pitchFamily="2" charset="2"/>
              <a:buChar char="§"/>
              <a:defRPr/>
            </a:pPr>
            <a:r>
              <a:rPr lang="en-US" sz="2400" dirty="0" smtClean="0">
                <a:solidFill>
                  <a:schemeClr val="tx1">
                    <a:lumMod val="95000"/>
                    <a:lumOff val="5000"/>
                  </a:schemeClr>
                </a:solidFill>
              </a:rPr>
              <a:t>Identify the features of file sharing system – protection</a:t>
            </a:r>
          </a:p>
          <a:p>
            <a:pPr marL="800100" lvl="1" indent="-342900" algn="just">
              <a:lnSpc>
                <a:spcPct val="80000"/>
              </a:lnSpc>
              <a:buClr>
                <a:schemeClr val="tx2">
                  <a:lumMod val="95000"/>
                  <a:lumOff val="5000"/>
                </a:schemeClr>
              </a:buClr>
              <a:buFont typeface="Wingdings" pitchFamily="2" charset="2"/>
              <a:buChar char="§"/>
              <a:defRPr/>
            </a:pPr>
            <a:endParaRPr lang="en-US" sz="2000" dirty="0" smtClean="0">
              <a:solidFill>
                <a:schemeClr val="tx1">
                  <a:lumMod val="95000"/>
                  <a:lumOff val="5000"/>
                </a:schemeClr>
              </a:solidFill>
            </a:endParaRPr>
          </a:p>
          <a:p>
            <a:pPr algn="just">
              <a:lnSpc>
                <a:spcPct val="80000"/>
              </a:lnSpc>
              <a:buClr>
                <a:schemeClr val="tx2">
                  <a:lumMod val="95000"/>
                  <a:lumOff val="5000"/>
                </a:schemeClr>
              </a:buClr>
              <a:buNone/>
              <a:defRPr/>
            </a:pPr>
            <a:endParaRPr lang="en-US" dirty="0" smtClean="0">
              <a:solidFill>
                <a:schemeClr val="tx1">
                  <a:lumMod val="95000"/>
                  <a:lumOff val="5000"/>
                </a:schemeClr>
              </a:solidFill>
            </a:endParaRPr>
          </a:p>
        </p:txBody>
      </p:sp>
      <p:sp>
        <p:nvSpPr>
          <p:cNvPr id="173058" name="Title 3"/>
          <p:cNvSpPr>
            <a:spLocks noGrp="1"/>
          </p:cNvSpPr>
          <p:nvPr>
            <p:ph type="title"/>
          </p:nvPr>
        </p:nvSpPr>
        <p:spPr>
          <a:xfrm>
            <a:off x="0" y="0"/>
            <a:ext cx="7562850" cy="914400"/>
          </a:xfrm>
        </p:spPr>
        <p:txBody>
          <a:bodyPr/>
          <a:lstStyle/>
          <a:p>
            <a:r>
              <a:rPr lang="en-US" dirty="0" smtClean="0"/>
              <a:t>Objectives</a:t>
            </a:r>
          </a:p>
        </p:txBody>
      </p:sp>
      <p:sp>
        <p:nvSpPr>
          <p:cNvPr id="173059" name="Text Placeholder 8"/>
          <p:cNvSpPr txBox="1">
            <a:spLocks/>
          </p:cNvSpPr>
          <p:nvPr/>
        </p:nvSpPr>
        <p:spPr bwMode="auto">
          <a:xfrm>
            <a:off x="4038600" y="6248400"/>
            <a:ext cx="5105400" cy="457200"/>
          </a:xfrm>
          <a:prstGeom prst="rect">
            <a:avLst/>
          </a:prstGeom>
          <a:noFill/>
          <a:ln w="9525" algn="ctr">
            <a:noFill/>
            <a:miter lim="800000"/>
            <a:headEnd/>
            <a:tailEnd/>
          </a:ln>
        </p:spPr>
        <p:txBody>
          <a:bodyPr/>
          <a:lstStyle/>
          <a:p>
            <a:pPr marL="342900" indent="-342900" algn="r">
              <a:spcBef>
                <a:spcPct val="20000"/>
              </a:spcBef>
              <a:buFont typeface="Wingdings" pitchFamily="2" charset="2"/>
              <a:buNone/>
            </a:pPr>
            <a:r>
              <a:rPr lang="en-GB" sz="2000">
                <a:solidFill>
                  <a:srgbClr val="7F7F7F"/>
                </a:solidFill>
                <a:latin typeface="Gill Sans MT" pitchFamily="34" charset="0"/>
              </a:rPr>
              <a:t>Duration: 4 hrs</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Content Placeholder 2"/>
          <p:cNvSpPr>
            <a:spLocks noGrp="1"/>
          </p:cNvSpPr>
          <p:nvPr>
            <p:ph idx="1"/>
          </p:nvPr>
        </p:nvSpPr>
        <p:spPr/>
        <p:txBody>
          <a:bodyPr/>
          <a:lstStyle/>
          <a:p>
            <a:r>
              <a:rPr lang="en-US" sz="2400" dirty="0" smtClean="0"/>
              <a:t>Provides the mechanism for online storage and access to both data and programs</a:t>
            </a:r>
          </a:p>
          <a:p>
            <a:endParaRPr lang="en-US" sz="2400" dirty="0" smtClean="0"/>
          </a:p>
          <a:p>
            <a:r>
              <a:rPr lang="en-US" sz="2400" dirty="0" smtClean="0"/>
              <a:t>User may have expectations from file system are:</a:t>
            </a:r>
          </a:p>
          <a:p>
            <a:pPr lvl="1">
              <a:lnSpc>
                <a:spcPct val="120000"/>
              </a:lnSpc>
              <a:buFont typeface="Wingdings" pitchFamily="2" charset="2"/>
              <a:buChar char="Ø"/>
            </a:pPr>
            <a:r>
              <a:rPr lang="en-US" sz="2000" dirty="0" smtClean="0"/>
              <a:t>suitable and quick access to files</a:t>
            </a:r>
          </a:p>
          <a:p>
            <a:pPr lvl="1">
              <a:lnSpc>
                <a:spcPct val="120000"/>
              </a:lnSpc>
              <a:buFont typeface="Wingdings" pitchFamily="2" charset="2"/>
              <a:buChar char="Ø"/>
            </a:pPr>
            <a:r>
              <a:rPr lang="en-US" sz="2000" dirty="0" smtClean="0"/>
              <a:t>Consistent storage of files</a:t>
            </a:r>
          </a:p>
          <a:p>
            <a:pPr lvl="1">
              <a:lnSpc>
                <a:spcPct val="120000"/>
              </a:lnSpc>
              <a:buFont typeface="Wingdings" pitchFamily="2" charset="2"/>
              <a:buChar char="Ø"/>
            </a:pPr>
            <a:r>
              <a:rPr lang="en-US" sz="2000" dirty="0" smtClean="0"/>
              <a:t>Controls file sharing</a:t>
            </a:r>
          </a:p>
        </p:txBody>
      </p:sp>
      <p:sp>
        <p:nvSpPr>
          <p:cNvPr id="175106" name="Title 1"/>
          <p:cNvSpPr>
            <a:spLocks noGrp="1"/>
          </p:cNvSpPr>
          <p:nvPr>
            <p:ph type="title"/>
          </p:nvPr>
        </p:nvSpPr>
        <p:spPr>
          <a:xfrm>
            <a:off x="0" y="0"/>
            <a:ext cx="7562850" cy="914400"/>
          </a:xfrm>
        </p:spPr>
        <p:txBody>
          <a:bodyPr/>
          <a:lstStyle/>
          <a:p>
            <a:r>
              <a:rPr lang="en-US" smtClean="0"/>
              <a:t>File System</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Content Placeholder 2"/>
          <p:cNvSpPr>
            <a:spLocks noGrp="1"/>
          </p:cNvSpPr>
          <p:nvPr>
            <p:ph idx="1"/>
          </p:nvPr>
        </p:nvSpPr>
        <p:spPr/>
        <p:txBody>
          <a:bodyPr/>
          <a:lstStyle/>
          <a:p>
            <a:r>
              <a:rPr lang="en-US" smtClean="0"/>
              <a:t>Data</a:t>
            </a:r>
          </a:p>
          <a:p>
            <a:endParaRPr lang="en-US" smtClean="0"/>
          </a:p>
          <a:p>
            <a:r>
              <a:rPr lang="en-US" smtClean="0"/>
              <a:t>Program</a:t>
            </a:r>
          </a:p>
          <a:p>
            <a:endParaRPr lang="en-US" smtClean="0"/>
          </a:p>
          <a:p>
            <a:r>
              <a:rPr lang="en-US" smtClean="0"/>
              <a:t>Documents</a:t>
            </a:r>
          </a:p>
          <a:p>
            <a:pPr lvl="1">
              <a:buFont typeface="Arial" charset="0"/>
              <a:buNone/>
            </a:pPr>
            <a:r>
              <a:rPr lang="en-US" smtClean="0"/>
              <a:t>		</a:t>
            </a:r>
          </a:p>
        </p:txBody>
      </p:sp>
      <p:sp>
        <p:nvSpPr>
          <p:cNvPr id="177154" name="Title 1"/>
          <p:cNvSpPr>
            <a:spLocks noGrp="1"/>
          </p:cNvSpPr>
          <p:nvPr>
            <p:ph type="title"/>
          </p:nvPr>
        </p:nvSpPr>
        <p:spPr>
          <a:xfrm>
            <a:off x="0" y="0"/>
            <a:ext cx="7562850" cy="914400"/>
          </a:xfrm>
        </p:spPr>
        <p:txBody>
          <a:bodyPr/>
          <a:lstStyle/>
          <a:p>
            <a:r>
              <a:rPr lang="en-US" smtClean="0"/>
              <a:t>File Types</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Title 1"/>
          <p:cNvSpPr>
            <a:spLocks noGrp="1"/>
          </p:cNvSpPr>
          <p:nvPr>
            <p:ph type="title"/>
          </p:nvPr>
        </p:nvSpPr>
        <p:spPr>
          <a:xfrm>
            <a:off x="0" y="0"/>
            <a:ext cx="7562850" cy="914400"/>
          </a:xfrm>
        </p:spPr>
        <p:txBody>
          <a:bodyPr/>
          <a:lstStyle/>
          <a:p>
            <a:r>
              <a:rPr lang="en-US" dirty="0" smtClean="0"/>
              <a:t>File Name &amp; Extension</a:t>
            </a:r>
          </a:p>
        </p:txBody>
      </p:sp>
      <p:graphicFrame>
        <p:nvGraphicFramePr>
          <p:cNvPr id="7" name="Content Placeholder 6"/>
          <p:cNvGraphicFramePr>
            <a:graphicFrameLocks noGrp="1"/>
          </p:cNvGraphicFramePr>
          <p:nvPr>
            <p:ph idx="1"/>
          </p:nvPr>
        </p:nvGraphicFramePr>
        <p:xfrm>
          <a:off x="381000" y="1371600"/>
          <a:ext cx="8229600" cy="5105401"/>
        </p:xfrm>
        <a:graphic>
          <a:graphicData uri="http://schemas.openxmlformats.org/drawingml/2006/table">
            <a:tbl>
              <a:tblPr firstRow="1" bandRow="1">
                <a:tableStyleId>{5C22544A-7EE6-4342-B048-85BDC9FD1C3A}</a:tableStyleId>
              </a:tblPr>
              <a:tblGrid>
                <a:gridCol w="2743200"/>
                <a:gridCol w="2743200"/>
                <a:gridCol w="2743200"/>
              </a:tblGrid>
              <a:tr h="381438">
                <a:tc>
                  <a:txBody>
                    <a:bodyPr/>
                    <a:lstStyle/>
                    <a:p>
                      <a:r>
                        <a:rPr lang="en-US" sz="1800" dirty="0" smtClean="0">
                          <a:latin typeface="Gill Sans MT" pitchFamily="34" charset="0"/>
                        </a:rPr>
                        <a:t>File type</a:t>
                      </a:r>
                      <a:endParaRPr lang="en-US" sz="1800" dirty="0">
                        <a:latin typeface="Gill Sans MT" pitchFamily="34" charset="0"/>
                      </a:endParaRPr>
                    </a:p>
                  </a:txBody>
                  <a:tcPr/>
                </a:tc>
                <a:tc>
                  <a:txBody>
                    <a:bodyPr/>
                    <a:lstStyle/>
                    <a:p>
                      <a:r>
                        <a:rPr lang="en-US" sz="1800" dirty="0" smtClean="0">
                          <a:latin typeface="Gill Sans MT" pitchFamily="34" charset="0"/>
                        </a:rPr>
                        <a:t>Usual extensions</a:t>
                      </a:r>
                      <a:endParaRPr lang="en-US" sz="1800" dirty="0">
                        <a:latin typeface="Gill Sans MT" pitchFamily="34" charset="0"/>
                      </a:endParaRPr>
                    </a:p>
                  </a:txBody>
                  <a:tcPr/>
                </a:tc>
                <a:tc>
                  <a:txBody>
                    <a:bodyPr/>
                    <a:lstStyle/>
                    <a:p>
                      <a:r>
                        <a:rPr lang="en-US" sz="1800" dirty="0" smtClean="0">
                          <a:latin typeface="Gill Sans MT" pitchFamily="34" charset="0"/>
                        </a:rPr>
                        <a:t>function</a:t>
                      </a:r>
                      <a:endParaRPr lang="en-US" sz="1800" dirty="0">
                        <a:latin typeface="Gill Sans MT" pitchFamily="34" charset="0"/>
                      </a:endParaRPr>
                    </a:p>
                  </a:txBody>
                  <a:tcPr/>
                </a:tc>
              </a:tr>
              <a:tr h="674852">
                <a:tc>
                  <a:txBody>
                    <a:bodyPr/>
                    <a:lstStyle/>
                    <a:p>
                      <a:r>
                        <a:rPr lang="en-US" sz="1800" dirty="0" smtClean="0">
                          <a:latin typeface="Gill Sans MT" pitchFamily="34" charset="0"/>
                        </a:rPr>
                        <a:t>Executable</a:t>
                      </a:r>
                      <a:endParaRPr lang="en-US" sz="1800" dirty="0">
                        <a:latin typeface="Gill Sans MT" pitchFamily="34" charset="0"/>
                      </a:endParaRPr>
                    </a:p>
                  </a:txBody>
                  <a:tcPr/>
                </a:tc>
                <a:tc>
                  <a:txBody>
                    <a:bodyPr/>
                    <a:lstStyle/>
                    <a:p>
                      <a:r>
                        <a:rPr lang="en-US" sz="1800" dirty="0" smtClean="0">
                          <a:latin typeface="Gill Sans MT" pitchFamily="34" charset="0"/>
                        </a:rPr>
                        <a:t>exe, com, bin or none</a:t>
                      </a:r>
                      <a:endParaRPr lang="en-US" sz="1800" dirty="0">
                        <a:latin typeface="Gill Sans MT" pitchFamily="34" charset="0"/>
                      </a:endParaRPr>
                    </a:p>
                  </a:txBody>
                  <a:tcPr/>
                </a:tc>
                <a:tc>
                  <a:txBody>
                    <a:bodyPr/>
                    <a:lstStyle/>
                    <a:p>
                      <a:r>
                        <a:rPr lang="en-US" sz="1800" dirty="0" smtClean="0">
                          <a:latin typeface="Gill Sans MT" pitchFamily="34" charset="0"/>
                        </a:rPr>
                        <a:t>Read to run machine- language program</a:t>
                      </a:r>
                      <a:endParaRPr lang="en-US" sz="1800" dirty="0">
                        <a:latin typeface="Gill Sans MT" pitchFamily="34" charset="0"/>
                      </a:endParaRPr>
                    </a:p>
                  </a:txBody>
                  <a:tcPr/>
                </a:tc>
              </a:tr>
              <a:tr h="674852">
                <a:tc>
                  <a:txBody>
                    <a:bodyPr/>
                    <a:lstStyle/>
                    <a:p>
                      <a:r>
                        <a:rPr lang="en-US" sz="1800" dirty="0" smtClean="0">
                          <a:latin typeface="Gill Sans MT" pitchFamily="34" charset="0"/>
                        </a:rPr>
                        <a:t>Object</a:t>
                      </a:r>
                      <a:endParaRPr lang="en-US" sz="1800" dirty="0">
                        <a:latin typeface="Gill Sans MT" pitchFamily="34" charset="0"/>
                      </a:endParaRPr>
                    </a:p>
                  </a:txBody>
                  <a:tcPr/>
                </a:tc>
                <a:tc>
                  <a:txBody>
                    <a:bodyPr/>
                    <a:lstStyle/>
                    <a:p>
                      <a:r>
                        <a:rPr lang="en-US" sz="1800" dirty="0" smtClean="0">
                          <a:latin typeface="Gill Sans MT" pitchFamily="34" charset="0"/>
                        </a:rPr>
                        <a:t>obj, o</a:t>
                      </a:r>
                      <a:endParaRPr lang="en-US" sz="1800" dirty="0">
                        <a:latin typeface="Gill Sans MT" pitchFamily="34" charset="0"/>
                      </a:endParaRPr>
                    </a:p>
                  </a:txBody>
                  <a:tcPr/>
                </a:tc>
                <a:tc>
                  <a:txBody>
                    <a:bodyPr/>
                    <a:lstStyle/>
                    <a:p>
                      <a:r>
                        <a:rPr lang="en-US" sz="1800" dirty="0" smtClean="0">
                          <a:latin typeface="Gill Sans MT" pitchFamily="34" charset="0"/>
                        </a:rPr>
                        <a:t>Compiled, machine language, not linked</a:t>
                      </a:r>
                      <a:endParaRPr lang="en-US" sz="1800" dirty="0">
                        <a:latin typeface="Gill Sans MT" pitchFamily="34" charset="0"/>
                      </a:endParaRPr>
                    </a:p>
                  </a:txBody>
                  <a:tcPr/>
                </a:tc>
              </a:tr>
              <a:tr h="674852">
                <a:tc>
                  <a:txBody>
                    <a:bodyPr/>
                    <a:lstStyle/>
                    <a:p>
                      <a:r>
                        <a:rPr lang="en-US" sz="1800" dirty="0" smtClean="0">
                          <a:latin typeface="Gill Sans MT" pitchFamily="34" charset="0"/>
                        </a:rPr>
                        <a:t>Source code</a:t>
                      </a:r>
                      <a:endParaRPr lang="en-US" sz="1800" dirty="0">
                        <a:latin typeface="Gill Sans MT" pitchFamily="34" charset="0"/>
                      </a:endParaRPr>
                    </a:p>
                  </a:txBody>
                  <a:tcPr/>
                </a:tc>
                <a:tc>
                  <a:txBody>
                    <a:bodyPr/>
                    <a:lstStyle/>
                    <a:p>
                      <a:r>
                        <a:rPr lang="en-US" sz="1800" dirty="0" smtClean="0">
                          <a:latin typeface="Gill Sans MT" pitchFamily="34" charset="0"/>
                        </a:rPr>
                        <a:t>c,cc,java,pas,asm</a:t>
                      </a:r>
                      <a:endParaRPr lang="en-US" sz="1800" dirty="0">
                        <a:latin typeface="Gill Sans MT" pitchFamily="34" charset="0"/>
                      </a:endParaRPr>
                    </a:p>
                  </a:txBody>
                  <a:tcPr/>
                </a:tc>
                <a:tc>
                  <a:txBody>
                    <a:bodyPr/>
                    <a:lstStyle/>
                    <a:p>
                      <a:r>
                        <a:rPr lang="en-US" sz="1800" dirty="0" smtClean="0">
                          <a:latin typeface="Gill Sans MT" pitchFamily="34" charset="0"/>
                        </a:rPr>
                        <a:t>Source code in various language</a:t>
                      </a:r>
                      <a:endParaRPr lang="en-US" sz="1800" dirty="0">
                        <a:latin typeface="Gill Sans MT" pitchFamily="34" charset="0"/>
                      </a:endParaRPr>
                    </a:p>
                  </a:txBody>
                  <a:tcPr/>
                </a:tc>
              </a:tr>
              <a:tr h="381438">
                <a:tc>
                  <a:txBody>
                    <a:bodyPr/>
                    <a:lstStyle/>
                    <a:p>
                      <a:r>
                        <a:rPr lang="en-US" sz="1800" dirty="0" smtClean="0">
                          <a:latin typeface="Gill Sans MT" pitchFamily="34" charset="0"/>
                        </a:rPr>
                        <a:t>Text</a:t>
                      </a:r>
                      <a:endParaRPr lang="en-US" sz="1800" dirty="0">
                        <a:latin typeface="Gill Sans MT" pitchFamily="34" charset="0"/>
                      </a:endParaRPr>
                    </a:p>
                  </a:txBody>
                  <a:tcPr/>
                </a:tc>
                <a:tc>
                  <a:txBody>
                    <a:bodyPr/>
                    <a:lstStyle/>
                    <a:p>
                      <a:r>
                        <a:rPr lang="en-US" sz="1800" dirty="0" smtClean="0">
                          <a:latin typeface="Gill Sans MT" pitchFamily="34" charset="0"/>
                        </a:rPr>
                        <a:t>txt, doc</a:t>
                      </a:r>
                      <a:endParaRPr lang="en-US" sz="1800" dirty="0">
                        <a:latin typeface="Gill Sans MT" pitchFamily="34" charset="0"/>
                      </a:endParaRPr>
                    </a:p>
                  </a:txBody>
                  <a:tcPr/>
                </a:tc>
                <a:tc>
                  <a:txBody>
                    <a:bodyPr/>
                    <a:lstStyle/>
                    <a:p>
                      <a:r>
                        <a:rPr lang="en-US" sz="1800" dirty="0" smtClean="0">
                          <a:latin typeface="Gill Sans MT" pitchFamily="34" charset="0"/>
                        </a:rPr>
                        <a:t>Textual data, documents</a:t>
                      </a:r>
                      <a:endParaRPr lang="en-US" sz="1800" dirty="0">
                        <a:latin typeface="Gill Sans MT" pitchFamily="34" charset="0"/>
                      </a:endParaRPr>
                    </a:p>
                  </a:txBody>
                  <a:tcPr/>
                </a:tc>
              </a:tr>
              <a:tr h="674852">
                <a:tc>
                  <a:txBody>
                    <a:bodyPr/>
                    <a:lstStyle/>
                    <a:p>
                      <a:r>
                        <a:rPr lang="en-US" sz="1800" dirty="0" smtClean="0">
                          <a:latin typeface="Gill Sans MT" pitchFamily="34" charset="0"/>
                        </a:rPr>
                        <a:t>Library</a:t>
                      </a:r>
                      <a:endParaRPr lang="en-US" sz="1800" dirty="0">
                        <a:latin typeface="Gill Sans MT" pitchFamily="34" charset="0"/>
                      </a:endParaRPr>
                    </a:p>
                  </a:txBody>
                  <a:tcPr/>
                </a:tc>
                <a:tc>
                  <a:txBody>
                    <a:bodyPr/>
                    <a:lstStyle/>
                    <a:p>
                      <a:r>
                        <a:rPr lang="en-US" sz="1800" dirty="0" smtClean="0">
                          <a:latin typeface="Gill Sans MT" pitchFamily="34" charset="0"/>
                        </a:rPr>
                        <a:t>Lib, a, so, dll, mov,rm</a:t>
                      </a:r>
                      <a:endParaRPr lang="en-US" sz="1800" dirty="0">
                        <a:latin typeface="Gill Sans MT" pitchFamily="34" charset="0"/>
                      </a:endParaRPr>
                    </a:p>
                  </a:txBody>
                  <a:tcPr/>
                </a:tc>
                <a:tc>
                  <a:txBody>
                    <a:bodyPr/>
                    <a:lstStyle/>
                    <a:p>
                      <a:r>
                        <a:rPr lang="en-US" sz="1800" dirty="0" smtClean="0">
                          <a:latin typeface="Gill Sans MT" pitchFamily="34" charset="0"/>
                        </a:rPr>
                        <a:t>Libraries of routines for programmers</a:t>
                      </a:r>
                      <a:endParaRPr lang="en-US" sz="1800" dirty="0">
                        <a:latin typeface="Gill Sans MT" pitchFamily="34" charset="0"/>
                      </a:endParaRPr>
                    </a:p>
                  </a:txBody>
                  <a:tcPr/>
                </a:tc>
              </a:tr>
              <a:tr h="674852">
                <a:tc>
                  <a:txBody>
                    <a:bodyPr/>
                    <a:lstStyle/>
                    <a:p>
                      <a:r>
                        <a:rPr lang="en-US" sz="1800" dirty="0" smtClean="0">
                          <a:latin typeface="Gill Sans MT" pitchFamily="34" charset="0"/>
                        </a:rPr>
                        <a:t>Archive</a:t>
                      </a:r>
                      <a:endParaRPr lang="en-US" sz="1800" dirty="0">
                        <a:latin typeface="Gill Sans MT" pitchFamily="34" charset="0"/>
                      </a:endParaRPr>
                    </a:p>
                  </a:txBody>
                  <a:tcPr/>
                </a:tc>
                <a:tc>
                  <a:txBody>
                    <a:bodyPr/>
                    <a:lstStyle/>
                    <a:p>
                      <a:r>
                        <a:rPr lang="en-US" sz="1800" dirty="0" smtClean="0">
                          <a:latin typeface="Gill Sans MT" pitchFamily="34" charset="0"/>
                        </a:rPr>
                        <a:t>Arc,zip,tar</a:t>
                      </a:r>
                      <a:endParaRPr lang="en-US" sz="1800" dirty="0">
                        <a:latin typeface="Gill Sans MT" pitchFamily="34" charset="0"/>
                      </a:endParaRPr>
                    </a:p>
                  </a:txBody>
                  <a:tcPr/>
                </a:tc>
                <a:tc>
                  <a:txBody>
                    <a:bodyPr/>
                    <a:lstStyle/>
                    <a:p>
                      <a:r>
                        <a:rPr lang="en-US" sz="1800" dirty="0" smtClean="0">
                          <a:latin typeface="Gill Sans MT" pitchFamily="34" charset="0"/>
                        </a:rPr>
                        <a:t>Related files grouped into one file.</a:t>
                      </a:r>
                      <a:endParaRPr lang="en-US" sz="1800" dirty="0">
                        <a:latin typeface="Gill Sans MT" pitchFamily="34" charset="0"/>
                      </a:endParaRPr>
                    </a:p>
                  </a:txBody>
                  <a:tcPr/>
                </a:tc>
              </a:tr>
              <a:tr h="968265">
                <a:tc>
                  <a:txBody>
                    <a:bodyPr/>
                    <a:lstStyle/>
                    <a:p>
                      <a:r>
                        <a:rPr lang="en-US" sz="1800" dirty="0" smtClean="0">
                          <a:latin typeface="Gill Sans MT" pitchFamily="34" charset="0"/>
                        </a:rPr>
                        <a:t>Multimedia</a:t>
                      </a:r>
                      <a:endParaRPr lang="en-US" sz="1800" dirty="0">
                        <a:latin typeface="Gill Sans MT" pitchFamily="34" charset="0"/>
                      </a:endParaRPr>
                    </a:p>
                  </a:txBody>
                  <a:tcPr/>
                </a:tc>
                <a:tc>
                  <a:txBody>
                    <a:bodyPr/>
                    <a:lstStyle/>
                    <a:p>
                      <a:r>
                        <a:rPr lang="en-US" sz="1800" dirty="0" smtClean="0">
                          <a:latin typeface="Gill Sans MT" pitchFamily="34" charset="0"/>
                        </a:rPr>
                        <a:t>Mpeg,mov,rm</a:t>
                      </a:r>
                      <a:endParaRPr lang="en-US" sz="1800" dirty="0">
                        <a:latin typeface="Gill Sans MT" pitchFamily="34" charset="0"/>
                      </a:endParaRPr>
                    </a:p>
                  </a:txBody>
                  <a:tcPr/>
                </a:tc>
                <a:tc>
                  <a:txBody>
                    <a:bodyPr/>
                    <a:lstStyle/>
                    <a:p>
                      <a:r>
                        <a:rPr lang="en-US" sz="1800" dirty="0" smtClean="0">
                          <a:latin typeface="Gill Sans MT" pitchFamily="34" charset="0"/>
                        </a:rPr>
                        <a:t>Binary file containing audio or A/V information</a:t>
                      </a:r>
                      <a:endParaRPr lang="en-US" sz="1800" dirty="0">
                        <a:latin typeface="Gill Sans MT" pitchFamily="34" charset="0"/>
                      </a:endParaRPr>
                    </a:p>
                  </a:txBody>
                  <a:tcPr/>
                </a:tc>
              </a:tr>
            </a:tbl>
          </a:graphicData>
        </a:graphic>
      </p:graphicFrame>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3"/>
          <p:cNvSpPr>
            <a:spLocks noGrp="1" noChangeArrowheads="1"/>
          </p:cNvSpPr>
          <p:nvPr>
            <p:ph idx="1"/>
          </p:nvPr>
        </p:nvSpPr>
        <p:spPr/>
        <p:txBody>
          <a:bodyPr/>
          <a:lstStyle/>
          <a:p>
            <a:pPr>
              <a:lnSpc>
                <a:spcPct val="80000"/>
              </a:lnSpc>
            </a:pPr>
            <a:r>
              <a:rPr lang="en-US" dirty="0" smtClean="0"/>
              <a:t>Name</a:t>
            </a:r>
          </a:p>
          <a:p>
            <a:pPr>
              <a:lnSpc>
                <a:spcPct val="80000"/>
              </a:lnSpc>
            </a:pPr>
            <a:endParaRPr lang="en-US" dirty="0" smtClean="0"/>
          </a:p>
          <a:p>
            <a:pPr>
              <a:lnSpc>
                <a:spcPct val="80000"/>
              </a:lnSpc>
            </a:pPr>
            <a:r>
              <a:rPr lang="en-US" dirty="0" smtClean="0"/>
              <a:t>Type</a:t>
            </a:r>
          </a:p>
          <a:p>
            <a:pPr>
              <a:lnSpc>
                <a:spcPct val="80000"/>
              </a:lnSpc>
            </a:pPr>
            <a:endParaRPr lang="en-US" dirty="0" smtClean="0"/>
          </a:p>
          <a:p>
            <a:pPr>
              <a:lnSpc>
                <a:spcPct val="80000"/>
              </a:lnSpc>
            </a:pPr>
            <a:r>
              <a:rPr lang="en-US" dirty="0" smtClean="0"/>
              <a:t>Location</a:t>
            </a:r>
          </a:p>
          <a:p>
            <a:pPr>
              <a:lnSpc>
                <a:spcPct val="80000"/>
              </a:lnSpc>
            </a:pPr>
            <a:endParaRPr lang="en-US" dirty="0" smtClean="0"/>
          </a:p>
          <a:p>
            <a:pPr>
              <a:lnSpc>
                <a:spcPct val="80000"/>
              </a:lnSpc>
            </a:pPr>
            <a:r>
              <a:rPr lang="en-US" dirty="0" smtClean="0"/>
              <a:t>Size</a:t>
            </a:r>
          </a:p>
          <a:p>
            <a:pPr>
              <a:lnSpc>
                <a:spcPct val="80000"/>
              </a:lnSpc>
            </a:pPr>
            <a:endParaRPr lang="en-US" dirty="0" smtClean="0"/>
          </a:p>
          <a:p>
            <a:pPr>
              <a:lnSpc>
                <a:spcPct val="80000"/>
              </a:lnSpc>
            </a:pPr>
            <a:r>
              <a:rPr lang="en-US" dirty="0" smtClean="0"/>
              <a:t>Protection</a:t>
            </a:r>
          </a:p>
          <a:p>
            <a:pPr>
              <a:lnSpc>
                <a:spcPct val="80000"/>
              </a:lnSpc>
            </a:pPr>
            <a:endParaRPr lang="en-US" dirty="0" smtClean="0"/>
          </a:p>
          <a:p>
            <a:pPr>
              <a:lnSpc>
                <a:spcPct val="80000"/>
              </a:lnSpc>
            </a:pPr>
            <a:r>
              <a:rPr lang="en-US" dirty="0" smtClean="0"/>
              <a:t>Time, date, and user identification</a:t>
            </a:r>
          </a:p>
          <a:p>
            <a:pPr>
              <a:lnSpc>
                <a:spcPct val="80000"/>
              </a:lnSpc>
            </a:pPr>
            <a:endParaRPr lang="en-US" dirty="0" smtClean="0"/>
          </a:p>
          <a:p>
            <a:pPr algn="just">
              <a:lnSpc>
                <a:spcPct val="80000"/>
              </a:lnSpc>
            </a:pPr>
            <a:r>
              <a:rPr lang="en-US" dirty="0" smtClean="0"/>
              <a:t>Information about files are kept in the directory structure, which is maintained on the disk</a:t>
            </a:r>
          </a:p>
        </p:txBody>
      </p:sp>
      <p:sp>
        <p:nvSpPr>
          <p:cNvPr id="180226" name="Rectangle 2"/>
          <p:cNvSpPr>
            <a:spLocks noGrp="1" noChangeArrowheads="1"/>
          </p:cNvSpPr>
          <p:nvPr>
            <p:ph type="title"/>
          </p:nvPr>
        </p:nvSpPr>
        <p:spPr>
          <a:xfrm>
            <a:off x="0" y="228600"/>
            <a:ext cx="7562850" cy="914400"/>
          </a:xfrm>
        </p:spPr>
        <p:txBody>
          <a:bodyPr anchor="t"/>
          <a:lstStyle/>
          <a:p>
            <a:r>
              <a:rPr lang="en-US" dirty="0" smtClean="0"/>
              <a:t>File Properties</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3"/>
          <p:cNvSpPr>
            <a:spLocks noGrp="1" noChangeArrowheads="1"/>
          </p:cNvSpPr>
          <p:nvPr>
            <p:ph idx="1"/>
          </p:nvPr>
        </p:nvSpPr>
        <p:spPr/>
        <p:txBody>
          <a:bodyPr/>
          <a:lstStyle/>
          <a:p>
            <a:r>
              <a:rPr lang="en-US" dirty="0" smtClean="0"/>
              <a:t>Major file operations are:</a:t>
            </a:r>
          </a:p>
          <a:p>
            <a:r>
              <a:rPr lang="en-US" dirty="0" smtClean="0"/>
              <a:t>Read operation</a:t>
            </a:r>
          </a:p>
          <a:p>
            <a:r>
              <a:rPr lang="en-US" dirty="0" smtClean="0"/>
              <a:t>Write operation</a:t>
            </a:r>
          </a:p>
          <a:p>
            <a:r>
              <a:rPr lang="en-US" dirty="0" smtClean="0"/>
              <a:t>Execute</a:t>
            </a:r>
          </a:p>
          <a:p>
            <a:r>
              <a:rPr lang="en-US" dirty="0" smtClean="0"/>
              <a:t>Coping</a:t>
            </a:r>
          </a:p>
          <a:p>
            <a:r>
              <a:rPr lang="en-US" dirty="0" smtClean="0"/>
              <a:t>Renaming</a:t>
            </a:r>
          </a:p>
          <a:p>
            <a:r>
              <a:rPr lang="en-US" dirty="0" smtClean="0"/>
              <a:t>Delete</a:t>
            </a:r>
          </a:p>
          <a:p>
            <a:r>
              <a:rPr lang="en-US" dirty="0" smtClean="0"/>
              <a:t>Open(</a:t>
            </a:r>
            <a:r>
              <a:rPr lang="en-US" dirty="0" err="1" smtClean="0"/>
              <a:t>Fx</a:t>
            </a:r>
            <a:r>
              <a:rPr lang="en-US" dirty="0" smtClean="0"/>
              <a:t>) </a:t>
            </a:r>
          </a:p>
          <a:p>
            <a:pPr>
              <a:buFont typeface="Wingdings" pitchFamily="2" charset="2"/>
              <a:buNone/>
            </a:pPr>
            <a:r>
              <a:rPr lang="en-US" sz="1800" dirty="0" smtClean="0"/>
              <a:t>     – search the directory structure on disk for entry </a:t>
            </a:r>
            <a:r>
              <a:rPr lang="en-US" sz="1800" dirty="0" err="1" smtClean="0"/>
              <a:t>Fx</a:t>
            </a:r>
            <a:r>
              <a:rPr lang="en-US" sz="1800" dirty="0" smtClean="0"/>
              <a:t>, and loads the contents in the memory.</a:t>
            </a:r>
            <a:endParaRPr lang="en-US" dirty="0" smtClean="0"/>
          </a:p>
          <a:p>
            <a:r>
              <a:rPr lang="en-US" dirty="0" smtClean="0"/>
              <a:t>Close (</a:t>
            </a:r>
            <a:r>
              <a:rPr lang="en-US" dirty="0" err="1" smtClean="0"/>
              <a:t>Fx</a:t>
            </a:r>
            <a:r>
              <a:rPr lang="en-US" dirty="0" smtClean="0"/>
              <a:t>)</a:t>
            </a:r>
          </a:p>
          <a:p>
            <a:pPr>
              <a:buFont typeface="Wingdings" pitchFamily="2" charset="2"/>
              <a:buNone/>
            </a:pPr>
            <a:r>
              <a:rPr lang="en-US" dirty="0" smtClean="0"/>
              <a:t>     </a:t>
            </a:r>
            <a:r>
              <a:rPr lang="en-US" sz="1800" dirty="0" smtClean="0"/>
              <a:t>– moves the contents of entry </a:t>
            </a:r>
            <a:r>
              <a:rPr lang="en-US" sz="1800" dirty="0" err="1" smtClean="0"/>
              <a:t>Fx</a:t>
            </a:r>
            <a:r>
              <a:rPr lang="en-US" sz="1800" dirty="0" smtClean="0"/>
              <a:t> in memory to directory structure on to the disk.</a:t>
            </a:r>
          </a:p>
        </p:txBody>
      </p:sp>
      <p:sp>
        <p:nvSpPr>
          <p:cNvPr id="182274" name="Rectangle 2"/>
          <p:cNvSpPr>
            <a:spLocks noGrp="1" noChangeArrowheads="1"/>
          </p:cNvSpPr>
          <p:nvPr>
            <p:ph type="title"/>
          </p:nvPr>
        </p:nvSpPr>
        <p:spPr>
          <a:xfrm>
            <a:off x="0" y="0"/>
            <a:ext cx="7562850" cy="914400"/>
          </a:xfrm>
        </p:spPr>
        <p:txBody>
          <a:bodyPr anchor="t"/>
          <a:lstStyle/>
          <a:p>
            <a:r>
              <a:rPr lang="en-US" smtClean="0"/>
              <a:t>File Operations</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3"/>
          <p:cNvSpPr>
            <a:spLocks noGrp="1" noChangeArrowheads="1"/>
          </p:cNvSpPr>
          <p:nvPr>
            <p:ph idx="1"/>
          </p:nvPr>
        </p:nvSpPr>
        <p:spPr/>
        <p:txBody>
          <a:bodyPr/>
          <a:lstStyle/>
          <a:p>
            <a:r>
              <a:rPr lang="en-US" dirty="0" smtClean="0"/>
              <a:t>Data that are needed to be managed while opening files:</a:t>
            </a:r>
          </a:p>
          <a:p>
            <a:endParaRPr lang="en-US" sz="1400" dirty="0" smtClean="0"/>
          </a:p>
          <a:p>
            <a:pPr lvl="1"/>
            <a:r>
              <a:rPr lang="en-US" sz="2000" dirty="0" smtClean="0"/>
              <a:t>File pointer</a:t>
            </a:r>
          </a:p>
          <a:p>
            <a:pPr lvl="1"/>
            <a:endParaRPr lang="en-US" sz="2000" dirty="0" smtClean="0"/>
          </a:p>
          <a:p>
            <a:pPr lvl="1"/>
            <a:r>
              <a:rPr lang="en-US" sz="2000" dirty="0" smtClean="0"/>
              <a:t>File-open count: </a:t>
            </a:r>
          </a:p>
          <a:p>
            <a:pPr lvl="1"/>
            <a:endParaRPr lang="en-US" sz="2000" dirty="0" smtClean="0"/>
          </a:p>
          <a:p>
            <a:pPr lvl="1"/>
            <a:r>
              <a:rPr lang="en-US" sz="2000" dirty="0" smtClean="0"/>
              <a:t>Disk location of the file</a:t>
            </a:r>
          </a:p>
          <a:p>
            <a:pPr lvl="1"/>
            <a:endParaRPr lang="en-US" sz="2000" dirty="0" smtClean="0"/>
          </a:p>
          <a:p>
            <a:pPr lvl="1"/>
            <a:r>
              <a:rPr lang="en-US" sz="2000" dirty="0" smtClean="0"/>
              <a:t>Access rights</a:t>
            </a:r>
          </a:p>
        </p:txBody>
      </p:sp>
      <p:sp>
        <p:nvSpPr>
          <p:cNvPr id="184322" name="Rectangle 2"/>
          <p:cNvSpPr>
            <a:spLocks noGrp="1" noChangeArrowheads="1"/>
          </p:cNvSpPr>
          <p:nvPr>
            <p:ph type="title"/>
          </p:nvPr>
        </p:nvSpPr>
        <p:spPr>
          <a:xfrm>
            <a:off x="0" y="228600"/>
            <a:ext cx="7562850" cy="914400"/>
          </a:xfrm>
        </p:spPr>
        <p:txBody>
          <a:bodyPr anchor="t"/>
          <a:lstStyle/>
          <a:p>
            <a:r>
              <a:rPr lang="en-US" dirty="0" smtClean="0"/>
              <a:t>Open Files</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Content Placeholder 2"/>
          <p:cNvSpPr>
            <a:spLocks noGrp="1"/>
          </p:cNvSpPr>
          <p:nvPr>
            <p:ph idx="1"/>
          </p:nvPr>
        </p:nvSpPr>
        <p:spPr>
          <a:xfrm>
            <a:off x="457200" y="1371600"/>
            <a:ext cx="8458200" cy="5029200"/>
          </a:xfrm>
        </p:spPr>
        <p:txBody>
          <a:bodyPr/>
          <a:lstStyle/>
          <a:p>
            <a:r>
              <a:rPr lang="en-US" dirty="0" smtClean="0"/>
              <a:t>Efficiency - locating a file quickly</a:t>
            </a:r>
          </a:p>
          <a:p>
            <a:endParaRPr lang="en-US" dirty="0" smtClean="0"/>
          </a:p>
          <a:p>
            <a:endParaRPr lang="en-US" sz="100" dirty="0" smtClean="0"/>
          </a:p>
          <a:p>
            <a:r>
              <a:rPr lang="en-US" dirty="0" smtClean="0"/>
              <a:t>Naming - convenient to users</a:t>
            </a:r>
          </a:p>
          <a:p>
            <a:pPr lvl="2">
              <a:buFont typeface="Gill Sans MT" pitchFamily="34" charset="0"/>
              <a:buChar char="–"/>
            </a:pPr>
            <a:r>
              <a:rPr lang="en-US" sz="1800" dirty="0" smtClean="0"/>
              <a:t>Two users can have the same name for dissimilar files</a:t>
            </a:r>
          </a:p>
          <a:p>
            <a:pPr lvl="2">
              <a:buFont typeface="Gill Sans MT" pitchFamily="34" charset="0"/>
              <a:buChar char="–"/>
            </a:pPr>
            <a:r>
              <a:rPr lang="en-US" sz="1800" dirty="0" smtClean="0"/>
              <a:t>The same file can have several dissimilar names</a:t>
            </a:r>
          </a:p>
          <a:p>
            <a:endParaRPr lang="en-US" sz="1600" dirty="0" smtClean="0"/>
          </a:p>
          <a:p>
            <a:r>
              <a:rPr lang="en-US" dirty="0" smtClean="0"/>
              <a:t>Grouping</a:t>
            </a:r>
          </a:p>
          <a:p>
            <a:pPr lvl="2">
              <a:buFont typeface="Gill Sans MT" pitchFamily="34" charset="0"/>
              <a:buChar char="–"/>
            </a:pPr>
            <a:r>
              <a:rPr lang="en-US" sz="1800" dirty="0" smtClean="0"/>
              <a:t>Logical grouping of files by properties (</a:t>
            </a:r>
            <a:r>
              <a:rPr lang="en-US" sz="1800" dirty="0" err="1" smtClean="0"/>
              <a:t>eg</a:t>
            </a:r>
            <a:r>
              <a:rPr lang="en-US" sz="1800" dirty="0" smtClean="0"/>
              <a:t>:  all Pascal programs, all games…)</a:t>
            </a:r>
          </a:p>
          <a:p>
            <a:endParaRPr lang="en-US" sz="1800" dirty="0" smtClean="0"/>
          </a:p>
        </p:txBody>
      </p:sp>
      <p:sp>
        <p:nvSpPr>
          <p:cNvPr id="186370" name="Title 1"/>
          <p:cNvSpPr>
            <a:spLocks noGrp="1"/>
          </p:cNvSpPr>
          <p:nvPr>
            <p:ph type="title"/>
          </p:nvPr>
        </p:nvSpPr>
        <p:spPr>
          <a:xfrm>
            <a:off x="0" y="152400"/>
            <a:ext cx="7562850" cy="914400"/>
          </a:xfrm>
        </p:spPr>
        <p:txBody>
          <a:bodyPr/>
          <a:lstStyle/>
          <a:p>
            <a:r>
              <a:rPr lang="en-US" dirty="0" smtClean="0"/>
              <a:t>Directory Organization - Goals</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4"/>
          <p:cNvSpPr>
            <a:spLocks noGrp="1" noChangeArrowheads="1"/>
          </p:cNvSpPr>
          <p:nvPr>
            <p:ph idx="1"/>
          </p:nvPr>
        </p:nvSpPr>
        <p:spPr/>
        <p:txBody>
          <a:bodyPr/>
          <a:lstStyle/>
          <a:p>
            <a:pPr>
              <a:lnSpc>
                <a:spcPct val="90000"/>
              </a:lnSpc>
            </a:pPr>
            <a:r>
              <a:rPr lang="en-US" dirty="0" smtClean="0"/>
              <a:t>A collection of nodes containing information about all files</a:t>
            </a:r>
          </a:p>
        </p:txBody>
      </p:sp>
      <p:sp>
        <p:nvSpPr>
          <p:cNvPr id="188418" name="Rectangle 3"/>
          <p:cNvSpPr>
            <a:spLocks noGrp="1" noChangeArrowheads="1"/>
          </p:cNvSpPr>
          <p:nvPr>
            <p:ph type="title"/>
          </p:nvPr>
        </p:nvSpPr>
        <p:spPr>
          <a:xfrm>
            <a:off x="0" y="228600"/>
            <a:ext cx="7562850" cy="914400"/>
          </a:xfrm>
        </p:spPr>
        <p:txBody>
          <a:bodyPr anchor="t"/>
          <a:lstStyle/>
          <a:p>
            <a:r>
              <a:rPr lang="en-US" dirty="0" smtClean="0"/>
              <a:t>Directory Structure</a:t>
            </a:r>
          </a:p>
        </p:txBody>
      </p:sp>
      <p:sp>
        <p:nvSpPr>
          <p:cNvPr id="188419" name="Oval 2"/>
          <p:cNvSpPr>
            <a:spLocks noChangeArrowheads="1"/>
          </p:cNvSpPr>
          <p:nvPr/>
        </p:nvSpPr>
        <p:spPr bwMode="auto">
          <a:xfrm>
            <a:off x="2628900" y="3619500"/>
            <a:ext cx="4438650" cy="1485900"/>
          </a:xfrm>
          <a:prstGeom prst="ellipse">
            <a:avLst/>
          </a:prstGeom>
          <a:solidFill>
            <a:schemeClr val="accent1"/>
          </a:solidFill>
          <a:ln w="9525">
            <a:solidFill>
              <a:schemeClr val="tx1"/>
            </a:solidFill>
            <a:round/>
            <a:headEnd/>
            <a:tailEnd/>
          </a:ln>
        </p:spPr>
        <p:txBody>
          <a:bodyPr wrap="none" anchor="ctr"/>
          <a:lstStyle/>
          <a:p>
            <a:endParaRPr lang="en-US" sz="2000">
              <a:latin typeface="Gill Sans MT" pitchFamily="34" charset="0"/>
            </a:endParaRPr>
          </a:p>
        </p:txBody>
      </p:sp>
      <p:sp>
        <p:nvSpPr>
          <p:cNvPr id="188420" name="Rectangle 5"/>
          <p:cNvSpPr>
            <a:spLocks noChangeArrowheads="1"/>
          </p:cNvSpPr>
          <p:nvPr/>
        </p:nvSpPr>
        <p:spPr bwMode="auto">
          <a:xfrm>
            <a:off x="3030538" y="3979863"/>
            <a:ext cx="450850" cy="546100"/>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atin typeface="Helvetica" pitchFamily="34" charset="0"/>
              </a:rPr>
              <a:t>FA</a:t>
            </a:r>
          </a:p>
        </p:txBody>
      </p:sp>
      <p:sp>
        <p:nvSpPr>
          <p:cNvPr id="188421" name="Rectangle 6"/>
          <p:cNvSpPr>
            <a:spLocks noChangeArrowheads="1"/>
          </p:cNvSpPr>
          <p:nvPr/>
        </p:nvSpPr>
        <p:spPr bwMode="auto">
          <a:xfrm>
            <a:off x="3783013" y="3979863"/>
            <a:ext cx="452437" cy="477837"/>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atin typeface="Helvetica" pitchFamily="34" charset="0"/>
              </a:rPr>
              <a:t>F B</a:t>
            </a:r>
          </a:p>
        </p:txBody>
      </p:sp>
      <p:sp>
        <p:nvSpPr>
          <p:cNvPr id="188422" name="Rectangle 7"/>
          <p:cNvSpPr>
            <a:spLocks noChangeArrowheads="1"/>
          </p:cNvSpPr>
          <p:nvPr/>
        </p:nvSpPr>
        <p:spPr bwMode="auto">
          <a:xfrm>
            <a:off x="4537075" y="3979863"/>
            <a:ext cx="450850" cy="749300"/>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atin typeface="Helvetica" pitchFamily="34" charset="0"/>
              </a:rPr>
              <a:t>F C</a:t>
            </a:r>
          </a:p>
        </p:txBody>
      </p:sp>
      <p:sp>
        <p:nvSpPr>
          <p:cNvPr id="188423" name="Rectangle 8"/>
          <p:cNvSpPr>
            <a:spLocks noChangeArrowheads="1"/>
          </p:cNvSpPr>
          <p:nvPr/>
        </p:nvSpPr>
        <p:spPr bwMode="auto">
          <a:xfrm>
            <a:off x="5289550" y="3979863"/>
            <a:ext cx="452438" cy="409575"/>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atin typeface="Helvetica" pitchFamily="34" charset="0"/>
              </a:rPr>
              <a:t>F D</a:t>
            </a:r>
          </a:p>
        </p:txBody>
      </p:sp>
      <p:sp>
        <p:nvSpPr>
          <p:cNvPr id="188424" name="Rectangle 9"/>
          <p:cNvSpPr>
            <a:spLocks noChangeArrowheads="1"/>
          </p:cNvSpPr>
          <p:nvPr/>
        </p:nvSpPr>
        <p:spPr bwMode="auto">
          <a:xfrm>
            <a:off x="6042025" y="4321175"/>
            <a:ext cx="452438" cy="544513"/>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atin typeface="Helvetica" pitchFamily="34" charset="0"/>
              </a:rPr>
              <a:t>F n</a:t>
            </a:r>
          </a:p>
        </p:txBody>
      </p:sp>
      <p:sp>
        <p:nvSpPr>
          <p:cNvPr id="188425" name="Line 10"/>
          <p:cNvSpPr>
            <a:spLocks noChangeShapeType="1"/>
          </p:cNvSpPr>
          <p:nvPr/>
        </p:nvSpPr>
        <p:spPr bwMode="auto">
          <a:xfrm>
            <a:off x="4037013" y="2617788"/>
            <a:ext cx="0" cy="1362075"/>
          </a:xfrm>
          <a:prstGeom prst="line">
            <a:avLst/>
          </a:prstGeom>
          <a:noFill/>
          <a:ln w="9525">
            <a:solidFill>
              <a:schemeClr val="tx1"/>
            </a:solidFill>
            <a:round/>
            <a:headEnd/>
            <a:tailEnd type="arrow" w="med" len="med"/>
          </a:ln>
        </p:spPr>
        <p:txBody>
          <a:bodyPr wrap="none" anchor="ctr"/>
          <a:lstStyle/>
          <a:p>
            <a:endParaRPr lang="en-US"/>
          </a:p>
        </p:txBody>
      </p:sp>
      <p:sp>
        <p:nvSpPr>
          <p:cNvPr id="188426" name="Line 11"/>
          <p:cNvSpPr>
            <a:spLocks noChangeShapeType="1"/>
          </p:cNvSpPr>
          <p:nvPr/>
        </p:nvSpPr>
        <p:spPr bwMode="auto">
          <a:xfrm>
            <a:off x="4762500" y="2617788"/>
            <a:ext cx="0" cy="1362075"/>
          </a:xfrm>
          <a:prstGeom prst="line">
            <a:avLst/>
          </a:prstGeom>
          <a:noFill/>
          <a:ln w="9525">
            <a:solidFill>
              <a:schemeClr val="tx1"/>
            </a:solidFill>
            <a:round/>
            <a:headEnd/>
            <a:tailEnd type="arrow" w="med" len="med"/>
          </a:ln>
        </p:spPr>
        <p:txBody>
          <a:bodyPr wrap="none" anchor="ctr"/>
          <a:lstStyle/>
          <a:p>
            <a:endParaRPr lang="en-US"/>
          </a:p>
        </p:txBody>
      </p:sp>
      <p:sp>
        <p:nvSpPr>
          <p:cNvPr id="188427" name="Line 12"/>
          <p:cNvSpPr>
            <a:spLocks noChangeShapeType="1"/>
          </p:cNvSpPr>
          <p:nvPr/>
        </p:nvSpPr>
        <p:spPr bwMode="auto">
          <a:xfrm>
            <a:off x="6269038" y="2890838"/>
            <a:ext cx="0" cy="1430337"/>
          </a:xfrm>
          <a:prstGeom prst="line">
            <a:avLst/>
          </a:prstGeom>
          <a:noFill/>
          <a:ln w="9525">
            <a:solidFill>
              <a:schemeClr val="tx1"/>
            </a:solidFill>
            <a:round/>
            <a:headEnd/>
            <a:tailEnd type="arrow" w="med" len="med"/>
          </a:ln>
        </p:spPr>
        <p:txBody>
          <a:bodyPr wrap="none" anchor="ctr"/>
          <a:lstStyle/>
          <a:p>
            <a:endParaRPr lang="en-US"/>
          </a:p>
        </p:txBody>
      </p:sp>
      <p:sp>
        <p:nvSpPr>
          <p:cNvPr id="188428" name="Line 13"/>
          <p:cNvSpPr>
            <a:spLocks noChangeShapeType="1"/>
          </p:cNvSpPr>
          <p:nvPr/>
        </p:nvSpPr>
        <p:spPr bwMode="auto">
          <a:xfrm>
            <a:off x="5514975" y="2617788"/>
            <a:ext cx="0" cy="1362075"/>
          </a:xfrm>
          <a:prstGeom prst="line">
            <a:avLst/>
          </a:prstGeom>
          <a:noFill/>
          <a:ln w="9525">
            <a:solidFill>
              <a:schemeClr val="tx1"/>
            </a:solidFill>
            <a:round/>
            <a:headEnd/>
            <a:tailEnd type="arrow" w="med" len="med"/>
          </a:ln>
        </p:spPr>
        <p:txBody>
          <a:bodyPr wrap="none" anchor="ctr"/>
          <a:lstStyle/>
          <a:p>
            <a:endParaRPr lang="en-US"/>
          </a:p>
        </p:txBody>
      </p:sp>
      <p:sp>
        <p:nvSpPr>
          <p:cNvPr id="188429" name="Line 14"/>
          <p:cNvSpPr>
            <a:spLocks noChangeShapeType="1"/>
          </p:cNvSpPr>
          <p:nvPr/>
        </p:nvSpPr>
        <p:spPr bwMode="auto">
          <a:xfrm>
            <a:off x="3255963" y="2617788"/>
            <a:ext cx="0" cy="1362075"/>
          </a:xfrm>
          <a:prstGeom prst="line">
            <a:avLst/>
          </a:prstGeom>
          <a:noFill/>
          <a:ln w="9525">
            <a:solidFill>
              <a:schemeClr val="tx1"/>
            </a:solidFill>
            <a:round/>
            <a:headEnd/>
            <a:tailEnd type="arrow" w="med" len="med"/>
          </a:ln>
        </p:spPr>
        <p:txBody>
          <a:bodyPr wrap="none" anchor="ctr"/>
          <a:lstStyle/>
          <a:p>
            <a:endParaRPr lang="en-US"/>
          </a:p>
        </p:txBody>
      </p:sp>
      <p:sp>
        <p:nvSpPr>
          <p:cNvPr id="188430" name="Freeform 15"/>
          <p:cNvSpPr>
            <a:spLocks/>
          </p:cNvSpPr>
          <p:nvPr/>
        </p:nvSpPr>
        <p:spPr bwMode="auto">
          <a:xfrm>
            <a:off x="2752725" y="1919288"/>
            <a:ext cx="4137025" cy="1317625"/>
          </a:xfrm>
          <a:custGeom>
            <a:avLst/>
            <a:gdLst>
              <a:gd name="T0" fmla="*/ 2147483647 w 2637"/>
              <a:gd name="T1" fmla="*/ 2147483647 h 928"/>
              <a:gd name="T2" fmla="*/ 2147483647 w 2637"/>
              <a:gd name="T3" fmla="*/ 2147483647 h 928"/>
              <a:gd name="T4" fmla="*/ 2147483647 w 2637"/>
              <a:gd name="T5" fmla="*/ 2147483647 h 928"/>
              <a:gd name="T6" fmla="*/ 2147483647 w 2637"/>
              <a:gd name="T7" fmla="*/ 2147483647 h 928"/>
              <a:gd name="T8" fmla="*/ 2147483647 w 2637"/>
              <a:gd name="T9" fmla="*/ 0 h 928"/>
              <a:gd name="T10" fmla="*/ 2147483647 w 2637"/>
              <a:gd name="T11" fmla="*/ 2147483647 h 928"/>
              <a:gd name="T12" fmla="*/ 2147483647 w 2637"/>
              <a:gd name="T13" fmla="*/ 2147483647 h 928"/>
              <a:gd name="T14" fmla="*/ 2147483647 w 2637"/>
              <a:gd name="T15" fmla="*/ 2147483647 h 928"/>
              <a:gd name="T16" fmla="*/ 2147483647 w 2637"/>
              <a:gd name="T17" fmla="*/ 2147483647 h 928"/>
              <a:gd name="T18" fmla="*/ 2147483647 w 2637"/>
              <a:gd name="T19" fmla="*/ 2147483647 h 928"/>
              <a:gd name="T20" fmla="*/ 2147483647 w 2637"/>
              <a:gd name="T21" fmla="*/ 2147483647 h 928"/>
              <a:gd name="T22" fmla="*/ 2147483647 w 2637"/>
              <a:gd name="T23" fmla="*/ 2147483647 h 928"/>
              <a:gd name="T24" fmla="*/ 2147483647 w 2637"/>
              <a:gd name="T25" fmla="*/ 2147483647 h 928"/>
              <a:gd name="T26" fmla="*/ 2147483647 w 2637"/>
              <a:gd name="T27" fmla="*/ 2147483647 h 928"/>
              <a:gd name="T28" fmla="*/ 2147483647 w 2637"/>
              <a:gd name="T29" fmla="*/ 2147483647 h 928"/>
              <a:gd name="T30" fmla="*/ 2147483647 w 2637"/>
              <a:gd name="T31" fmla="*/ 2147483647 h 928"/>
              <a:gd name="T32" fmla="*/ 2147483647 w 2637"/>
              <a:gd name="T33" fmla="*/ 2147483647 h 928"/>
              <a:gd name="T34" fmla="*/ 2147483647 w 2637"/>
              <a:gd name="T35" fmla="*/ 2147483647 h 928"/>
              <a:gd name="T36" fmla="*/ 2147483647 w 2637"/>
              <a:gd name="T37" fmla="*/ 2147483647 h 928"/>
              <a:gd name="T38" fmla="*/ 2147483647 w 2637"/>
              <a:gd name="T39" fmla="*/ 2147483647 h 928"/>
              <a:gd name="T40" fmla="*/ 2147483647 w 2637"/>
              <a:gd name="T41" fmla="*/ 2147483647 h 928"/>
              <a:gd name="T42" fmla="*/ 2147483647 w 2637"/>
              <a:gd name="T43" fmla="*/ 2147483647 h 928"/>
              <a:gd name="T44" fmla="*/ 2147483647 w 2637"/>
              <a:gd name="T45" fmla="*/ 2147483647 h 928"/>
              <a:gd name="T46" fmla="*/ 2147483647 w 2637"/>
              <a:gd name="T47" fmla="*/ 2147483647 h 928"/>
              <a:gd name="T48" fmla="*/ 2147483647 w 2637"/>
              <a:gd name="T49" fmla="*/ 2147483647 h 928"/>
              <a:gd name="T50" fmla="*/ 2147483647 w 2637"/>
              <a:gd name="T51" fmla="*/ 2147483647 h 92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637"/>
              <a:gd name="T79" fmla="*/ 0 h 928"/>
              <a:gd name="T80" fmla="*/ 2637 w 2637"/>
              <a:gd name="T81" fmla="*/ 928 h 92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637" h="928">
                <a:moveTo>
                  <a:pt x="10" y="328"/>
                </a:moveTo>
                <a:cubicBezTo>
                  <a:pt x="14" y="291"/>
                  <a:pt x="6" y="248"/>
                  <a:pt x="28" y="219"/>
                </a:cubicBezTo>
                <a:cubicBezTo>
                  <a:pt x="124" y="92"/>
                  <a:pt x="264" y="66"/>
                  <a:pt x="410" y="37"/>
                </a:cubicBezTo>
                <a:cubicBezTo>
                  <a:pt x="516" y="16"/>
                  <a:pt x="457" y="14"/>
                  <a:pt x="583" y="10"/>
                </a:cubicBezTo>
                <a:cubicBezTo>
                  <a:pt x="728" y="5"/>
                  <a:pt x="874" y="3"/>
                  <a:pt x="1019" y="0"/>
                </a:cubicBezTo>
                <a:cubicBezTo>
                  <a:pt x="1146" y="3"/>
                  <a:pt x="1274" y="3"/>
                  <a:pt x="1401" y="10"/>
                </a:cubicBezTo>
                <a:cubicBezTo>
                  <a:pt x="1485" y="15"/>
                  <a:pt x="1571" y="41"/>
                  <a:pt x="1655" y="55"/>
                </a:cubicBezTo>
                <a:cubicBezTo>
                  <a:pt x="1733" y="86"/>
                  <a:pt x="1819" y="108"/>
                  <a:pt x="1901" y="128"/>
                </a:cubicBezTo>
                <a:cubicBezTo>
                  <a:pt x="1942" y="148"/>
                  <a:pt x="1975" y="152"/>
                  <a:pt x="2019" y="164"/>
                </a:cubicBezTo>
                <a:cubicBezTo>
                  <a:pt x="2098" y="185"/>
                  <a:pt x="2162" y="200"/>
                  <a:pt x="2246" y="210"/>
                </a:cubicBezTo>
                <a:cubicBezTo>
                  <a:pt x="2293" y="226"/>
                  <a:pt x="2338" y="230"/>
                  <a:pt x="2382" y="255"/>
                </a:cubicBezTo>
                <a:cubicBezTo>
                  <a:pt x="2439" y="287"/>
                  <a:pt x="2477" y="343"/>
                  <a:pt x="2519" y="391"/>
                </a:cubicBezTo>
                <a:cubicBezTo>
                  <a:pt x="2536" y="410"/>
                  <a:pt x="2562" y="423"/>
                  <a:pt x="2573" y="446"/>
                </a:cubicBezTo>
                <a:cubicBezTo>
                  <a:pt x="2594" y="488"/>
                  <a:pt x="2606" y="529"/>
                  <a:pt x="2619" y="573"/>
                </a:cubicBezTo>
                <a:cubicBezTo>
                  <a:pt x="2624" y="591"/>
                  <a:pt x="2637" y="628"/>
                  <a:pt x="2637" y="628"/>
                </a:cubicBezTo>
                <a:cubicBezTo>
                  <a:pt x="2634" y="654"/>
                  <a:pt x="2634" y="707"/>
                  <a:pt x="2619" y="737"/>
                </a:cubicBezTo>
                <a:cubicBezTo>
                  <a:pt x="2582" y="812"/>
                  <a:pt x="2477" y="854"/>
                  <a:pt x="2401" y="873"/>
                </a:cubicBezTo>
                <a:cubicBezTo>
                  <a:pt x="2341" y="911"/>
                  <a:pt x="2270" y="909"/>
                  <a:pt x="2201" y="919"/>
                </a:cubicBezTo>
                <a:cubicBezTo>
                  <a:pt x="1832" y="915"/>
                  <a:pt x="1500" y="928"/>
                  <a:pt x="1146" y="873"/>
                </a:cubicBezTo>
                <a:cubicBezTo>
                  <a:pt x="917" y="837"/>
                  <a:pt x="702" y="728"/>
                  <a:pt x="474" y="700"/>
                </a:cubicBezTo>
                <a:cubicBezTo>
                  <a:pt x="465" y="697"/>
                  <a:pt x="455" y="695"/>
                  <a:pt x="446" y="691"/>
                </a:cubicBezTo>
                <a:cubicBezTo>
                  <a:pt x="434" y="686"/>
                  <a:pt x="423" y="677"/>
                  <a:pt x="410" y="673"/>
                </a:cubicBezTo>
                <a:cubicBezTo>
                  <a:pt x="297" y="636"/>
                  <a:pt x="185" y="632"/>
                  <a:pt x="83" y="564"/>
                </a:cubicBezTo>
                <a:cubicBezTo>
                  <a:pt x="47" y="512"/>
                  <a:pt x="45" y="458"/>
                  <a:pt x="28" y="400"/>
                </a:cubicBezTo>
                <a:cubicBezTo>
                  <a:pt x="28" y="400"/>
                  <a:pt x="5" y="332"/>
                  <a:pt x="1" y="319"/>
                </a:cubicBezTo>
                <a:cubicBezTo>
                  <a:pt x="0" y="315"/>
                  <a:pt x="7" y="325"/>
                  <a:pt x="10" y="328"/>
                </a:cubicBezTo>
                <a:close/>
              </a:path>
            </a:pathLst>
          </a:custGeom>
          <a:noFill/>
          <a:ln w="9525">
            <a:solidFill>
              <a:schemeClr val="tx1"/>
            </a:solidFill>
            <a:round/>
            <a:headEnd/>
            <a:tailEnd/>
          </a:ln>
        </p:spPr>
        <p:txBody>
          <a:bodyPr wrap="none" anchor="ctr"/>
          <a:lstStyle/>
          <a:p>
            <a:endParaRPr lang="en-US" sz="2000">
              <a:latin typeface="Gill Sans MT" pitchFamily="34" charset="0"/>
            </a:endParaRPr>
          </a:p>
        </p:txBody>
      </p:sp>
      <p:sp>
        <p:nvSpPr>
          <p:cNvPr id="188431" name="Text Box 16"/>
          <p:cNvSpPr txBox="1">
            <a:spLocks noChangeArrowheads="1"/>
          </p:cNvSpPr>
          <p:nvPr/>
        </p:nvSpPr>
        <p:spPr bwMode="auto">
          <a:xfrm>
            <a:off x="1460500" y="2171700"/>
            <a:ext cx="1211263" cy="401638"/>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Directory</a:t>
            </a:r>
          </a:p>
        </p:txBody>
      </p:sp>
      <p:sp>
        <p:nvSpPr>
          <p:cNvPr id="188432" name="Text Box 17"/>
          <p:cNvSpPr txBox="1">
            <a:spLocks noChangeArrowheads="1"/>
          </p:cNvSpPr>
          <p:nvPr/>
        </p:nvSpPr>
        <p:spPr bwMode="auto">
          <a:xfrm>
            <a:off x="1671638" y="3875088"/>
            <a:ext cx="641350" cy="401637"/>
          </a:xfrm>
          <a:prstGeom prst="rect">
            <a:avLst/>
          </a:prstGeom>
          <a:noFill/>
          <a:ln w="9525">
            <a:noFill/>
            <a:miter lim="800000"/>
            <a:headEnd/>
            <a:tailEnd/>
          </a:ln>
        </p:spPr>
        <p:txBody>
          <a:bodyPr wrap="none" anchor="ctr">
            <a:spAutoFit/>
          </a:bodyPr>
          <a:lstStyle/>
          <a:p>
            <a:pPr algn="ctr" eaLnBrk="0" hangingPunct="0">
              <a:spcBef>
                <a:spcPct val="50000"/>
              </a:spcBef>
            </a:pPr>
            <a:r>
              <a:rPr lang="en-US" sz="2000">
                <a:latin typeface="Gill Sans MT" pitchFamily="34" charset="0"/>
              </a:rPr>
              <a:t>Files</a:t>
            </a:r>
          </a:p>
        </p:txBody>
      </p:sp>
      <p:sp>
        <p:nvSpPr>
          <p:cNvPr id="188433" name="Rectangle 18"/>
          <p:cNvSpPr>
            <a:spLocks noChangeArrowheads="1"/>
          </p:cNvSpPr>
          <p:nvPr/>
        </p:nvSpPr>
        <p:spPr bwMode="auto">
          <a:xfrm>
            <a:off x="1073150" y="5327650"/>
            <a:ext cx="7029450" cy="381000"/>
          </a:xfrm>
          <a:prstGeom prst="rect">
            <a:avLst/>
          </a:prstGeom>
          <a:noFill/>
          <a:ln w="9525">
            <a:noFill/>
            <a:miter lim="800000"/>
            <a:headEnd/>
            <a:tailEnd/>
          </a:ln>
        </p:spPr>
        <p:txBody>
          <a:bodyPr/>
          <a:lstStyle/>
          <a:p>
            <a:pPr eaLnBrk="0" hangingPunct="0"/>
            <a:r>
              <a:rPr lang="en-US" sz="2000">
                <a:latin typeface="Gill Sans MT" pitchFamily="34" charset="0"/>
              </a:rPr>
              <a:t>Both files and directory structure reside on disk</a:t>
            </a:r>
          </a:p>
          <a:p>
            <a:pPr eaLnBrk="0" hangingPunct="0"/>
            <a:endParaRPr lang="en-US" sz="2000">
              <a:latin typeface="Gill Sans MT" pitchFamily="34" charset="0"/>
            </a:endParaRPr>
          </a:p>
          <a:p>
            <a:pPr eaLnBrk="0" hangingPunct="0"/>
            <a:r>
              <a:rPr lang="en-US" sz="2000">
                <a:latin typeface="Gill Sans MT" pitchFamily="34" charset="0"/>
              </a:rPr>
              <a:t>Backups of these two structures are kept on tapes</a:t>
            </a:r>
          </a:p>
        </p:txBody>
      </p:sp>
      <p:sp>
        <p:nvSpPr>
          <p:cNvPr id="188434" name="AutoShape 19"/>
          <p:cNvSpPr>
            <a:spLocks noChangeArrowheads="1"/>
          </p:cNvSpPr>
          <p:nvPr/>
        </p:nvSpPr>
        <p:spPr bwMode="auto">
          <a:xfrm>
            <a:off x="3009900" y="2286000"/>
            <a:ext cx="400050" cy="361950"/>
          </a:xfrm>
          <a:prstGeom prst="flowChartMagneticDisk">
            <a:avLst/>
          </a:prstGeom>
          <a:solidFill>
            <a:schemeClr val="accent1"/>
          </a:solidFill>
          <a:ln w="9525">
            <a:solidFill>
              <a:schemeClr val="tx1"/>
            </a:solidFill>
            <a:round/>
            <a:headEnd/>
            <a:tailEnd/>
          </a:ln>
        </p:spPr>
        <p:txBody>
          <a:bodyPr wrap="none" anchor="ctr"/>
          <a:lstStyle/>
          <a:p>
            <a:endParaRPr lang="en-US"/>
          </a:p>
        </p:txBody>
      </p:sp>
      <p:sp>
        <p:nvSpPr>
          <p:cNvPr id="188435" name="AutoShape 20"/>
          <p:cNvSpPr>
            <a:spLocks noChangeArrowheads="1"/>
          </p:cNvSpPr>
          <p:nvPr/>
        </p:nvSpPr>
        <p:spPr bwMode="auto">
          <a:xfrm>
            <a:off x="3848100" y="2266950"/>
            <a:ext cx="400050" cy="361950"/>
          </a:xfrm>
          <a:prstGeom prst="flowChartMagneticDisk">
            <a:avLst/>
          </a:prstGeom>
          <a:solidFill>
            <a:schemeClr val="accent1"/>
          </a:solidFill>
          <a:ln w="9525">
            <a:solidFill>
              <a:schemeClr val="tx1"/>
            </a:solidFill>
            <a:round/>
            <a:headEnd/>
            <a:tailEnd/>
          </a:ln>
        </p:spPr>
        <p:txBody>
          <a:bodyPr wrap="none" anchor="ctr"/>
          <a:lstStyle/>
          <a:p>
            <a:endParaRPr lang="en-US"/>
          </a:p>
        </p:txBody>
      </p:sp>
      <p:sp>
        <p:nvSpPr>
          <p:cNvPr id="188436" name="AutoShape 21"/>
          <p:cNvSpPr>
            <a:spLocks noChangeArrowheads="1"/>
          </p:cNvSpPr>
          <p:nvPr/>
        </p:nvSpPr>
        <p:spPr bwMode="auto">
          <a:xfrm>
            <a:off x="4591050" y="2305050"/>
            <a:ext cx="400050" cy="361950"/>
          </a:xfrm>
          <a:prstGeom prst="flowChartMagneticDisk">
            <a:avLst/>
          </a:prstGeom>
          <a:solidFill>
            <a:schemeClr val="accent1"/>
          </a:solidFill>
          <a:ln w="9525">
            <a:solidFill>
              <a:schemeClr val="tx1"/>
            </a:solidFill>
            <a:round/>
            <a:headEnd/>
            <a:tailEnd/>
          </a:ln>
        </p:spPr>
        <p:txBody>
          <a:bodyPr wrap="none" anchor="ctr"/>
          <a:lstStyle/>
          <a:p>
            <a:endParaRPr lang="en-US"/>
          </a:p>
        </p:txBody>
      </p:sp>
      <p:sp>
        <p:nvSpPr>
          <p:cNvPr id="188437" name="AutoShape 22"/>
          <p:cNvSpPr>
            <a:spLocks noChangeArrowheads="1"/>
          </p:cNvSpPr>
          <p:nvPr/>
        </p:nvSpPr>
        <p:spPr bwMode="auto">
          <a:xfrm>
            <a:off x="5314950" y="2286000"/>
            <a:ext cx="400050" cy="361950"/>
          </a:xfrm>
          <a:prstGeom prst="flowChartMagneticDisk">
            <a:avLst/>
          </a:prstGeom>
          <a:solidFill>
            <a:schemeClr val="accent1"/>
          </a:solidFill>
          <a:ln w="9525">
            <a:solidFill>
              <a:schemeClr val="tx1"/>
            </a:solidFill>
            <a:round/>
            <a:headEnd/>
            <a:tailEnd/>
          </a:ln>
        </p:spPr>
        <p:txBody>
          <a:bodyPr wrap="none" anchor="ctr"/>
          <a:lstStyle/>
          <a:p>
            <a:endParaRPr lang="en-US"/>
          </a:p>
        </p:txBody>
      </p:sp>
      <p:sp>
        <p:nvSpPr>
          <p:cNvPr id="188438" name="AutoShape 23"/>
          <p:cNvSpPr>
            <a:spLocks noChangeArrowheads="1"/>
          </p:cNvSpPr>
          <p:nvPr/>
        </p:nvSpPr>
        <p:spPr bwMode="auto">
          <a:xfrm>
            <a:off x="6096000" y="2514600"/>
            <a:ext cx="400050" cy="361950"/>
          </a:xfrm>
          <a:prstGeom prst="flowChartMagneticDisk">
            <a:avLst/>
          </a:prstGeom>
          <a:solidFill>
            <a:schemeClr val="accent1"/>
          </a:solidFill>
          <a:ln w="9525">
            <a:solidFill>
              <a:schemeClr val="tx1"/>
            </a:solidFill>
            <a:round/>
            <a:headEnd/>
            <a:tailEnd/>
          </a:ln>
        </p:spPr>
        <p:txBody>
          <a:bodyPr wrap="none" anchor="ctr"/>
          <a:lstStyle/>
          <a:p>
            <a:endParaRPr lang="en-US"/>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Content Placeholder 2"/>
          <p:cNvSpPr>
            <a:spLocks noGrp="1"/>
          </p:cNvSpPr>
          <p:nvPr>
            <p:ph idx="1"/>
          </p:nvPr>
        </p:nvSpPr>
        <p:spPr/>
        <p:txBody>
          <a:bodyPr/>
          <a:lstStyle/>
          <a:p>
            <a:pPr lvl="1">
              <a:lnSpc>
                <a:spcPct val="90000"/>
              </a:lnSpc>
            </a:pPr>
            <a:r>
              <a:rPr lang="en-US" smtClean="0"/>
              <a:t>File Name</a:t>
            </a:r>
          </a:p>
          <a:p>
            <a:pPr lvl="1">
              <a:lnSpc>
                <a:spcPct val="90000"/>
              </a:lnSpc>
            </a:pPr>
            <a:r>
              <a:rPr lang="en-US" smtClean="0"/>
              <a:t>File Type</a:t>
            </a:r>
          </a:p>
          <a:p>
            <a:pPr lvl="1">
              <a:lnSpc>
                <a:spcPct val="90000"/>
              </a:lnSpc>
            </a:pPr>
            <a:r>
              <a:rPr lang="en-US" smtClean="0"/>
              <a:t>Address or Location</a:t>
            </a:r>
          </a:p>
          <a:p>
            <a:pPr lvl="1">
              <a:lnSpc>
                <a:spcPct val="90000"/>
              </a:lnSpc>
            </a:pPr>
            <a:r>
              <a:rPr lang="en-US" smtClean="0"/>
              <a:t>Current Length</a:t>
            </a:r>
          </a:p>
          <a:p>
            <a:pPr lvl="1">
              <a:lnSpc>
                <a:spcPct val="90000"/>
              </a:lnSpc>
            </a:pPr>
            <a:r>
              <a:rPr lang="en-US" smtClean="0"/>
              <a:t>Maximum Length</a:t>
            </a:r>
          </a:p>
          <a:p>
            <a:pPr lvl="1">
              <a:lnSpc>
                <a:spcPct val="90000"/>
              </a:lnSpc>
            </a:pPr>
            <a:r>
              <a:rPr lang="en-US" smtClean="0"/>
              <a:t>Date created</a:t>
            </a:r>
          </a:p>
          <a:p>
            <a:pPr lvl="1">
              <a:lnSpc>
                <a:spcPct val="90000"/>
              </a:lnSpc>
            </a:pPr>
            <a:r>
              <a:rPr lang="en-US" smtClean="0"/>
              <a:t>Date last updated (may be to dump)</a:t>
            </a:r>
          </a:p>
          <a:p>
            <a:pPr lvl="1">
              <a:lnSpc>
                <a:spcPct val="90000"/>
              </a:lnSpc>
            </a:pPr>
            <a:r>
              <a:rPr lang="en-US" smtClean="0"/>
              <a:t>Date last accessed (may be to perform archival)</a:t>
            </a:r>
          </a:p>
          <a:p>
            <a:pPr lvl="1">
              <a:lnSpc>
                <a:spcPct val="90000"/>
              </a:lnSpc>
            </a:pPr>
            <a:r>
              <a:rPr lang="en-US" smtClean="0"/>
              <a:t>Owner ID and</a:t>
            </a:r>
          </a:p>
          <a:p>
            <a:pPr lvl="1">
              <a:lnSpc>
                <a:spcPct val="90000"/>
              </a:lnSpc>
            </a:pPr>
            <a:r>
              <a:rPr lang="en-US" smtClean="0"/>
              <a:t>Protection information</a:t>
            </a:r>
          </a:p>
          <a:p>
            <a:pPr>
              <a:buFont typeface="Wingdings" pitchFamily="2" charset="2"/>
              <a:buNone/>
            </a:pPr>
            <a:endParaRPr lang="en-US" smtClean="0"/>
          </a:p>
        </p:txBody>
      </p:sp>
      <p:sp>
        <p:nvSpPr>
          <p:cNvPr id="190466" name="Title 1"/>
          <p:cNvSpPr>
            <a:spLocks noGrp="1"/>
          </p:cNvSpPr>
          <p:nvPr>
            <p:ph type="title"/>
          </p:nvPr>
        </p:nvSpPr>
        <p:spPr>
          <a:xfrm>
            <a:off x="0" y="0"/>
            <a:ext cx="7562850" cy="914400"/>
          </a:xfrm>
        </p:spPr>
        <p:txBody>
          <a:bodyPr/>
          <a:lstStyle/>
          <a:p>
            <a:r>
              <a:rPr lang="en-US" dirty="0" smtClean="0"/>
              <a:t>Directory Structure (Contd.).</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3"/>
          <p:cNvSpPr>
            <a:spLocks noGrp="1" noChangeArrowheads="1"/>
          </p:cNvSpPr>
          <p:nvPr>
            <p:ph idx="1"/>
          </p:nvPr>
        </p:nvSpPr>
        <p:spPr/>
        <p:txBody>
          <a:bodyPr/>
          <a:lstStyle/>
          <a:p>
            <a:r>
              <a:rPr lang="en-US" dirty="0" smtClean="0"/>
              <a:t>Tree-Structured Directories</a:t>
            </a:r>
            <a:r>
              <a:rPr lang="en-US" sz="1400" dirty="0" smtClean="0"/>
              <a:t> :</a:t>
            </a:r>
            <a:endParaRPr lang="en-US" dirty="0" smtClean="0"/>
          </a:p>
          <a:p>
            <a:endParaRPr lang="en-US" dirty="0" smtClean="0"/>
          </a:p>
          <a:p>
            <a:r>
              <a:rPr lang="en-US" dirty="0" smtClean="0"/>
              <a:t>Efficient searching</a:t>
            </a:r>
          </a:p>
          <a:p>
            <a:pPr>
              <a:buFont typeface="Wingdings" pitchFamily="2" charset="2"/>
              <a:buNone/>
            </a:pPr>
            <a:endParaRPr lang="en-US" dirty="0" smtClean="0"/>
          </a:p>
          <a:p>
            <a:r>
              <a:rPr lang="en-US" dirty="0" smtClean="0"/>
              <a:t>Current directory (working directory)</a:t>
            </a:r>
          </a:p>
          <a:p>
            <a:pPr>
              <a:buFont typeface="Wingdings" pitchFamily="2" charset="2"/>
              <a:buNone/>
            </a:pPr>
            <a:endParaRPr lang="en-US" dirty="0" smtClean="0">
              <a:solidFill>
                <a:srgbClr val="0033CC"/>
              </a:solidFill>
            </a:endParaRPr>
          </a:p>
          <a:p>
            <a:r>
              <a:rPr lang="en-US" dirty="0" smtClean="0"/>
              <a:t>Grouping Capability</a:t>
            </a:r>
          </a:p>
          <a:p>
            <a:endParaRPr lang="en-US" dirty="0" smtClean="0"/>
          </a:p>
          <a:p>
            <a:r>
              <a:rPr lang="en-US" dirty="0" smtClean="0"/>
              <a:t>Easy maintenance</a:t>
            </a:r>
          </a:p>
        </p:txBody>
      </p:sp>
      <p:sp>
        <p:nvSpPr>
          <p:cNvPr id="192514" name="Rectangle 2"/>
          <p:cNvSpPr>
            <a:spLocks noGrp="1" noChangeArrowheads="1"/>
          </p:cNvSpPr>
          <p:nvPr>
            <p:ph type="title"/>
          </p:nvPr>
        </p:nvSpPr>
        <p:spPr>
          <a:xfrm>
            <a:off x="0" y="228600"/>
            <a:ext cx="7562850" cy="914400"/>
          </a:xfrm>
        </p:spPr>
        <p:txBody>
          <a:bodyPr anchor="t"/>
          <a:lstStyle/>
          <a:p>
            <a:r>
              <a:rPr lang="en-US" dirty="0" smtClean="0"/>
              <a:t>Directory Structure Example</a:t>
            </a:r>
          </a:p>
        </p:txBody>
      </p:sp>
      <p:sp>
        <p:nvSpPr>
          <p:cNvPr id="192515" name="Line 4"/>
          <p:cNvSpPr>
            <a:spLocks noChangeShapeType="1"/>
          </p:cNvSpPr>
          <p:nvPr/>
        </p:nvSpPr>
        <p:spPr bwMode="auto">
          <a:xfrm>
            <a:off x="7029450" y="1771650"/>
            <a:ext cx="0" cy="704850"/>
          </a:xfrm>
          <a:prstGeom prst="line">
            <a:avLst/>
          </a:prstGeom>
          <a:noFill/>
          <a:ln w="9525">
            <a:solidFill>
              <a:schemeClr val="tx1"/>
            </a:solidFill>
            <a:round/>
            <a:headEnd/>
            <a:tailEnd/>
          </a:ln>
        </p:spPr>
        <p:txBody>
          <a:bodyPr wrap="none" anchor="ctr"/>
          <a:lstStyle/>
          <a:p>
            <a:endParaRPr lang="en-US"/>
          </a:p>
        </p:txBody>
      </p:sp>
      <p:sp>
        <p:nvSpPr>
          <p:cNvPr id="192516" name="Rectangle 5"/>
          <p:cNvSpPr>
            <a:spLocks noChangeArrowheads="1"/>
          </p:cNvSpPr>
          <p:nvPr/>
        </p:nvSpPr>
        <p:spPr bwMode="auto">
          <a:xfrm>
            <a:off x="6800850" y="2514600"/>
            <a:ext cx="514350" cy="323850"/>
          </a:xfrm>
          <a:prstGeom prst="rect">
            <a:avLst/>
          </a:prstGeom>
          <a:solidFill>
            <a:schemeClr val="accent1"/>
          </a:solidFill>
          <a:ln w="9525">
            <a:solidFill>
              <a:schemeClr val="tx1"/>
            </a:solidFill>
            <a:miter lim="800000"/>
            <a:headEnd/>
            <a:tailEnd/>
          </a:ln>
        </p:spPr>
        <p:txBody>
          <a:bodyPr wrap="none" anchor="ctr"/>
          <a:lstStyle/>
          <a:p>
            <a:endParaRPr lang="en-US" sz="2000">
              <a:latin typeface="Gill Sans MT" pitchFamily="34" charset="0"/>
            </a:endParaRPr>
          </a:p>
        </p:txBody>
      </p:sp>
      <p:sp>
        <p:nvSpPr>
          <p:cNvPr id="192517" name="Line 6"/>
          <p:cNvSpPr>
            <a:spLocks noChangeShapeType="1"/>
          </p:cNvSpPr>
          <p:nvPr/>
        </p:nvSpPr>
        <p:spPr bwMode="auto">
          <a:xfrm>
            <a:off x="7429500" y="1676400"/>
            <a:ext cx="533400" cy="819150"/>
          </a:xfrm>
          <a:prstGeom prst="line">
            <a:avLst/>
          </a:prstGeom>
          <a:noFill/>
          <a:ln w="9525">
            <a:solidFill>
              <a:schemeClr val="tx1"/>
            </a:solidFill>
            <a:round/>
            <a:headEnd/>
            <a:tailEnd/>
          </a:ln>
        </p:spPr>
        <p:txBody>
          <a:bodyPr wrap="none" anchor="ctr"/>
          <a:lstStyle/>
          <a:p>
            <a:endParaRPr lang="en-US"/>
          </a:p>
        </p:txBody>
      </p:sp>
      <p:sp>
        <p:nvSpPr>
          <p:cNvPr id="192518" name="Line 7"/>
          <p:cNvSpPr>
            <a:spLocks noChangeShapeType="1"/>
          </p:cNvSpPr>
          <p:nvPr/>
        </p:nvSpPr>
        <p:spPr bwMode="auto">
          <a:xfrm>
            <a:off x="7067550" y="2857500"/>
            <a:ext cx="0" cy="742950"/>
          </a:xfrm>
          <a:prstGeom prst="line">
            <a:avLst/>
          </a:prstGeom>
          <a:noFill/>
          <a:ln w="9525">
            <a:solidFill>
              <a:schemeClr val="tx1"/>
            </a:solidFill>
            <a:round/>
            <a:headEnd/>
            <a:tailEnd/>
          </a:ln>
        </p:spPr>
        <p:txBody>
          <a:bodyPr wrap="none" anchor="ctr"/>
          <a:lstStyle/>
          <a:p>
            <a:endParaRPr lang="en-US"/>
          </a:p>
        </p:txBody>
      </p:sp>
      <p:sp>
        <p:nvSpPr>
          <p:cNvPr id="192519" name="Rectangle 8"/>
          <p:cNvSpPr>
            <a:spLocks noChangeArrowheads="1"/>
          </p:cNvSpPr>
          <p:nvPr/>
        </p:nvSpPr>
        <p:spPr bwMode="auto">
          <a:xfrm>
            <a:off x="5905500" y="3638550"/>
            <a:ext cx="514350" cy="323850"/>
          </a:xfrm>
          <a:prstGeom prst="rect">
            <a:avLst/>
          </a:prstGeom>
          <a:solidFill>
            <a:schemeClr val="accent1"/>
          </a:solidFill>
          <a:ln w="9525">
            <a:solidFill>
              <a:schemeClr val="tx1"/>
            </a:solidFill>
            <a:miter lim="800000"/>
            <a:headEnd/>
            <a:tailEnd/>
          </a:ln>
        </p:spPr>
        <p:txBody>
          <a:bodyPr wrap="none" anchor="ctr"/>
          <a:lstStyle/>
          <a:p>
            <a:endParaRPr lang="en-US" sz="2000">
              <a:latin typeface="Gill Sans MT" pitchFamily="34" charset="0"/>
            </a:endParaRPr>
          </a:p>
        </p:txBody>
      </p:sp>
      <p:sp>
        <p:nvSpPr>
          <p:cNvPr id="192520" name="Rectangle 9"/>
          <p:cNvSpPr>
            <a:spLocks noChangeArrowheads="1"/>
          </p:cNvSpPr>
          <p:nvPr/>
        </p:nvSpPr>
        <p:spPr bwMode="auto">
          <a:xfrm>
            <a:off x="7829550" y="2476500"/>
            <a:ext cx="514350" cy="323850"/>
          </a:xfrm>
          <a:prstGeom prst="rect">
            <a:avLst/>
          </a:prstGeom>
          <a:solidFill>
            <a:schemeClr val="accent1"/>
          </a:solidFill>
          <a:ln w="9525">
            <a:solidFill>
              <a:schemeClr val="tx1"/>
            </a:solidFill>
            <a:miter lim="800000"/>
            <a:headEnd/>
            <a:tailEnd/>
          </a:ln>
        </p:spPr>
        <p:txBody>
          <a:bodyPr wrap="none" anchor="ctr"/>
          <a:lstStyle/>
          <a:p>
            <a:endParaRPr lang="en-US" sz="2000">
              <a:latin typeface="Gill Sans MT" pitchFamily="34" charset="0"/>
            </a:endParaRPr>
          </a:p>
        </p:txBody>
      </p:sp>
      <p:sp>
        <p:nvSpPr>
          <p:cNvPr id="192521" name="Rectangle 10"/>
          <p:cNvSpPr>
            <a:spLocks noChangeArrowheads="1"/>
          </p:cNvSpPr>
          <p:nvPr/>
        </p:nvSpPr>
        <p:spPr bwMode="auto">
          <a:xfrm>
            <a:off x="5867400" y="2571750"/>
            <a:ext cx="514350" cy="323850"/>
          </a:xfrm>
          <a:prstGeom prst="rect">
            <a:avLst/>
          </a:prstGeom>
          <a:solidFill>
            <a:schemeClr val="accent1"/>
          </a:solidFill>
          <a:ln w="9525">
            <a:solidFill>
              <a:schemeClr val="tx1"/>
            </a:solidFill>
            <a:miter lim="800000"/>
            <a:headEnd/>
            <a:tailEnd/>
          </a:ln>
        </p:spPr>
        <p:txBody>
          <a:bodyPr wrap="none" anchor="ctr"/>
          <a:lstStyle/>
          <a:p>
            <a:endParaRPr lang="en-US" sz="2000">
              <a:latin typeface="Gill Sans MT" pitchFamily="34" charset="0"/>
            </a:endParaRPr>
          </a:p>
        </p:txBody>
      </p:sp>
      <p:sp>
        <p:nvSpPr>
          <p:cNvPr id="192522" name="Rectangle 11"/>
          <p:cNvSpPr>
            <a:spLocks noChangeArrowheads="1"/>
          </p:cNvSpPr>
          <p:nvPr/>
        </p:nvSpPr>
        <p:spPr bwMode="auto">
          <a:xfrm>
            <a:off x="6838950" y="3638550"/>
            <a:ext cx="514350" cy="323850"/>
          </a:xfrm>
          <a:prstGeom prst="rect">
            <a:avLst/>
          </a:prstGeom>
          <a:solidFill>
            <a:schemeClr val="accent1"/>
          </a:solidFill>
          <a:ln w="9525">
            <a:solidFill>
              <a:schemeClr val="tx1"/>
            </a:solidFill>
            <a:miter lim="800000"/>
            <a:headEnd/>
            <a:tailEnd/>
          </a:ln>
        </p:spPr>
        <p:txBody>
          <a:bodyPr wrap="none" anchor="ctr"/>
          <a:lstStyle/>
          <a:p>
            <a:endParaRPr lang="en-US" sz="2000">
              <a:latin typeface="Gill Sans MT" pitchFamily="34" charset="0"/>
            </a:endParaRPr>
          </a:p>
        </p:txBody>
      </p:sp>
      <p:sp>
        <p:nvSpPr>
          <p:cNvPr id="192523" name="Line 12"/>
          <p:cNvSpPr>
            <a:spLocks noChangeShapeType="1"/>
          </p:cNvSpPr>
          <p:nvPr/>
        </p:nvSpPr>
        <p:spPr bwMode="auto">
          <a:xfrm flipH="1">
            <a:off x="6210300" y="1657350"/>
            <a:ext cx="723900" cy="933450"/>
          </a:xfrm>
          <a:prstGeom prst="line">
            <a:avLst/>
          </a:prstGeom>
          <a:noFill/>
          <a:ln w="9525">
            <a:solidFill>
              <a:schemeClr val="tx1"/>
            </a:solidFill>
            <a:round/>
            <a:headEnd/>
            <a:tailEnd/>
          </a:ln>
        </p:spPr>
        <p:txBody>
          <a:bodyPr wrap="none" anchor="ctr"/>
          <a:lstStyle/>
          <a:p>
            <a:endParaRPr lang="en-US"/>
          </a:p>
        </p:txBody>
      </p:sp>
      <p:sp>
        <p:nvSpPr>
          <p:cNvPr id="192524" name="Line 13"/>
          <p:cNvSpPr>
            <a:spLocks noChangeShapeType="1"/>
          </p:cNvSpPr>
          <p:nvPr/>
        </p:nvSpPr>
        <p:spPr bwMode="auto">
          <a:xfrm>
            <a:off x="6172200" y="2933700"/>
            <a:ext cx="19050" cy="742950"/>
          </a:xfrm>
          <a:prstGeom prst="line">
            <a:avLst/>
          </a:prstGeom>
          <a:noFill/>
          <a:ln w="9525">
            <a:solidFill>
              <a:schemeClr val="tx1"/>
            </a:solidFill>
            <a:round/>
            <a:headEnd/>
            <a:tailEnd/>
          </a:ln>
        </p:spPr>
        <p:txBody>
          <a:bodyPr wrap="none" anchor="ctr"/>
          <a:lstStyle/>
          <a:p>
            <a:endParaRPr lang="en-US"/>
          </a:p>
        </p:txBody>
      </p:sp>
      <p:sp>
        <p:nvSpPr>
          <p:cNvPr id="192525" name="Rectangle 14"/>
          <p:cNvSpPr>
            <a:spLocks noChangeArrowheads="1"/>
          </p:cNvSpPr>
          <p:nvPr/>
        </p:nvSpPr>
        <p:spPr bwMode="auto">
          <a:xfrm>
            <a:off x="6858000" y="1390650"/>
            <a:ext cx="514350" cy="323850"/>
          </a:xfrm>
          <a:prstGeom prst="rect">
            <a:avLst/>
          </a:prstGeom>
          <a:solidFill>
            <a:schemeClr val="accent1"/>
          </a:solidFill>
          <a:ln w="9525">
            <a:solidFill>
              <a:schemeClr val="tx1"/>
            </a:solidFill>
            <a:miter lim="800000"/>
            <a:headEnd/>
            <a:tailEnd/>
          </a:ln>
        </p:spPr>
        <p:txBody>
          <a:bodyPr wrap="none" anchor="ctr"/>
          <a:lstStyle/>
          <a:p>
            <a:endParaRPr lang="en-US" sz="2000">
              <a:latin typeface="Gill Sans MT" pitchFamily="34" charset="0"/>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Content Placeholder 2"/>
          <p:cNvSpPr>
            <a:spLocks noGrp="1"/>
          </p:cNvSpPr>
          <p:nvPr>
            <p:ph idx="1"/>
          </p:nvPr>
        </p:nvSpPr>
        <p:spPr/>
        <p:txBody>
          <a:bodyPr/>
          <a:lstStyle/>
          <a:p>
            <a:pPr lvl="1"/>
            <a:r>
              <a:rPr lang="en-US" sz="2000" smtClean="0"/>
              <a:t>Search for a file</a:t>
            </a:r>
          </a:p>
          <a:p>
            <a:pPr lvl="1"/>
            <a:r>
              <a:rPr lang="en-US" sz="2000" smtClean="0"/>
              <a:t>Create a file</a:t>
            </a:r>
          </a:p>
          <a:p>
            <a:pPr lvl="1"/>
            <a:r>
              <a:rPr lang="en-US" sz="2000" smtClean="0"/>
              <a:t>Delete a file</a:t>
            </a:r>
          </a:p>
          <a:p>
            <a:pPr lvl="1"/>
            <a:r>
              <a:rPr lang="en-US" sz="2000" smtClean="0"/>
              <a:t>List a directory</a:t>
            </a:r>
          </a:p>
          <a:p>
            <a:pPr lvl="1"/>
            <a:r>
              <a:rPr lang="en-US" sz="2000" smtClean="0"/>
              <a:t>Rename a file</a:t>
            </a:r>
          </a:p>
          <a:p>
            <a:pPr lvl="1"/>
            <a:r>
              <a:rPr lang="en-US" sz="2000" smtClean="0"/>
              <a:t>Traverse the file system</a:t>
            </a:r>
          </a:p>
          <a:p>
            <a:endParaRPr lang="en-US" smtClean="0"/>
          </a:p>
        </p:txBody>
      </p:sp>
      <p:sp>
        <p:nvSpPr>
          <p:cNvPr id="194562" name="Title 1"/>
          <p:cNvSpPr>
            <a:spLocks noGrp="1"/>
          </p:cNvSpPr>
          <p:nvPr>
            <p:ph type="title"/>
          </p:nvPr>
        </p:nvSpPr>
        <p:spPr>
          <a:xfrm>
            <a:off x="0" y="0"/>
            <a:ext cx="7562850" cy="914400"/>
          </a:xfrm>
        </p:spPr>
        <p:txBody>
          <a:bodyPr/>
          <a:lstStyle/>
          <a:p>
            <a:r>
              <a:rPr lang="en-US" smtClean="0"/>
              <a:t> Directory - Operations</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Content Placeholder 2"/>
          <p:cNvSpPr>
            <a:spLocks noGrp="1"/>
          </p:cNvSpPr>
          <p:nvPr>
            <p:ph idx="1"/>
          </p:nvPr>
        </p:nvSpPr>
        <p:spPr/>
        <p:txBody>
          <a:bodyPr/>
          <a:lstStyle/>
          <a:p>
            <a:r>
              <a:rPr lang="en-US" dirty="0" smtClean="0"/>
              <a:t>Linear Access Method</a:t>
            </a:r>
          </a:p>
          <a:p>
            <a:pPr lvl="3">
              <a:lnSpc>
                <a:spcPct val="80000"/>
              </a:lnSpc>
              <a:buFont typeface="Wingdings" pitchFamily="2" charset="2"/>
              <a:buNone/>
            </a:pPr>
            <a:endParaRPr lang="en-US" sz="1600" dirty="0" smtClean="0"/>
          </a:p>
          <a:p>
            <a:r>
              <a:rPr lang="en-US" dirty="0" smtClean="0"/>
              <a:t>Direct Access  Method ( n = relative block number)</a:t>
            </a:r>
          </a:p>
          <a:p>
            <a:pPr lvl="3">
              <a:lnSpc>
                <a:spcPct val="80000"/>
              </a:lnSpc>
              <a:buFont typeface="Wingdings" pitchFamily="2" charset="2"/>
              <a:buNone/>
            </a:pPr>
            <a:endParaRPr lang="en-US" sz="1600" dirty="0" smtClean="0"/>
          </a:p>
          <a:p>
            <a:endParaRPr lang="en-US" dirty="0" smtClean="0"/>
          </a:p>
        </p:txBody>
      </p:sp>
      <p:sp>
        <p:nvSpPr>
          <p:cNvPr id="195586" name="Title 1"/>
          <p:cNvSpPr>
            <a:spLocks noGrp="1"/>
          </p:cNvSpPr>
          <p:nvPr>
            <p:ph type="title"/>
          </p:nvPr>
        </p:nvSpPr>
        <p:spPr>
          <a:xfrm>
            <a:off x="0" y="0"/>
            <a:ext cx="7562850" cy="914400"/>
          </a:xfrm>
        </p:spPr>
        <p:txBody>
          <a:bodyPr/>
          <a:lstStyle/>
          <a:p>
            <a:r>
              <a:rPr lang="en-US" smtClean="0"/>
              <a:t>Access Methods</a:t>
            </a: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Rectangle 3"/>
          <p:cNvSpPr>
            <a:spLocks noGrp="1" noChangeArrowheads="1"/>
          </p:cNvSpPr>
          <p:nvPr>
            <p:ph idx="1"/>
          </p:nvPr>
        </p:nvSpPr>
        <p:spPr/>
        <p:txBody>
          <a:bodyPr/>
          <a:lstStyle/>
          <a:p>
            <a:r>
              <a:rPr lang="en-US" dirty="0" smtClean="0"/>
              <a:t>In multi-user (systems) environment file sharing would be desirable</a:t>
            </a:r>
          </a:p>
          <a:p>
            <a:endParaRPr lang="en-US" dirty="0" smtClean="0"/>
          </a:p>
          <a:p>
            <a:r>
              <a:rPr lang="en-US" dirty="0" smtClean="0"/>
              <a:t>Sharing may be done through a </a:t>
            </a:r>
            <a:r>
              <a:rPr lang="en-US" b="1" dirty="0" smtClean="0">
                <a:solidFill>
                  <a:schemeClr val="tx2"/>
                </a:solidFill>
              </a:rPr>
              <a:t>protection</a:t>
            </a:r>
            <a:r>
              <a:rPr lang="en-US" dirty="0" smtClean="0"/>
              <a:t> scheme</a:t>
            </a:r>
            <a:br>
              <a:rPr lang="en-US" dirty="0" smtClean="0"/>
            </a:br>
            <a:endParaRPr lang="en-US" dirty="0" smtClean="0"/>
          </a:p>
          <a:p>
            <a:r>
              <a:rPr lang="en-US" dirty="0" smtClean="0"/>
              <a:t>In distributed systems, files may be required to share across the network</a:t>
            </a:r>
            <a:br>
              <a:rPr lang="en-US" dirty="0" smtClean="0"/>
            </a:br>
            <a:endParaRPr lang="en-US" dirty="0" smtClean="0"/>
          </a:p>
          <a:p>
            <a:r>
              <a:rPr lang="en-US" dirty="0" smtClean="0"/>
              <a:t>Network File System is a universal distributed file-sharing method</a:t>
            </a:r>
          </a:p>
        </p:txBody>
      </p:sp>
      <p:sp>
        <p:nvSpPr>
          <p:cNvPr id="197634" name="Rectangle 2"/>
          <p:cNvSpPr>
            <a:spLocks noGrp="1" noChangeArrowheads="1"/>
          </p:cNvSpPr>
          <p:nvPr>
            <p:ph type="title"/>
          </p:nvPr>
        </p:nvSpPr>
        <p:spPr>
          <a:xfrm>
            <a:off x="0" y="0"/>
            <a:ext cx="7562850" cy="914400"/>
          </a:xfrm>
        </p:spPr>
        <p:txBody>
          <a:bodyPr anchor="t"/>
          <a:lstStyle/>
          <a:p>
            <a:r>
              <a:rPr lang="en-US" smtClean="0"/>
              <a:t>File Sharing</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3"/>
          <p:cNvSpPr>
            <a:spLocks noGrp="1" noChangeArrowheads="1"/>
          </p:cNvSpPr>
          <p:nvPr>
            <p:ph idx="1"/>
          </p:nvPr>
        </p:nvSpPr>
        <p:spPr/>
        <p:txBody>
          <a:bodyPr/>
          <a:lstStyle/>
          <a:p>
            <a:pPr algn="just"/>
            <a:r>
              <a:rPr lang="en-US" b="1" dirty="0" smtClean="0">
                <a:solidFill>
                  <a:schemeClr val="tx2"/>
                </a:solidFill>
              </a:rPr>
              <a:t>User IDs</a:t>
            </a:r>
            <a:r>
              <a:rPr lang="en-US" dirty="0" smtClean="0"/>
              <a:t> identify users, allowing permissions and protections to be per-user</a:t>
            </a:r>
          </a:p>
          <a:p>
            <a:pPr algn="just">
              <a:buFont typeface="Wingdings" pitchFamily="2" charset="2"/>
              <a:buNone/>
            </a:pPr>
            <a:r>
              <a:rPr lang="en-US" dirty="0" smtClean="0"/>
              <a:t/>
            </a:r>
            <a:br>
              <a:rPr lang="en-US" dirty="0" smtClean="0"/>
            </a:br>
            <a:endParaRPr lang="en-US" dirty="0" smtClean="0"/>
          </a:p>
          <a:p>
            <a:pPr algn="just"/>
            <a:r>
              <a:rPr lang="en-US" b="1" dirty="0" smtClean="0">
                <a:solidFill>
                  <a:schemeClr val="tx2"/>
                </a:solidFill>
              </a:rPr>
              <a:t>Group IDs</a:t>
            </a:r>
            <a:r>
              <a:rPr lang="en-US" dirty="0" smtClean="0"/>
              <a:t> allow users to be in groups, permitting group access rights</a:t>
            </a:r>
          </a:p>
        </p:txBody>
      </p:sp>
      <p:sp>
        <p:nvSpPr>
          <p:cNvPr id="199682" name="Rectangle 2"/>
          <p:cNvSpPr>
            <a:spLocks noGrp="1" noChangeArrowheads="1"/>
          </p:cNvSpPr>
          <p:nvPr>
            <p:ph type="title"/>
          </p:nvPr>
        </p:nvSpPr>
        <p:spPr>
          <a:xfrm>
            <a:off x="0" y="228600"/>
            <a:ext cx="7562850" cy="914400"/>
          </a:xfrm>
        </p:spPr>
        <p:txBody>
          <a:bodyPr anchor="t"/>
          <a:lstStyle/>
          <a:p>
            <a:r>
              <a:rPr lang="en-US" dirty="0" smtClean="0"/>
              <a:t>File Sharing – Multiple Users</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3"/>
          <p:cNvSpPr>
            <a:spLocks noGrp="1" noChangeArrowheads="1"/>
          </p:cNvSpPr>
          <p:nvPr>
            <p:ph idx="1"/>
          </p:nvPr>
        </p:nvSpPr>
        <p:spPr/>
        <p:txBody>
          <a:bodyPr/>
          <a:lstStyle/>
          <a:p>
            <a:pPr algn="just"/>
            <a:r>
              <a:rPr lang="en-US" sz="1800" dirty="0" smtClean="0"/>
              <a:t>Uses networking to allow file system access between systems</a:t>
            </a:r>
          </a:p>
          <a:p>
            <a:pPr lvl="1" algn="just">
              <a:buFontTx/>
              <a:buChar char="•"/>
            </a:pPr>
            <a:r>
              <a:rPr lang="en-US" sz="1600" dirty="0" smtClean="0"/>
              <a:t>Manually via programs like FTP</a:t>
            </a:r>
          </a:p>
          <a:p>
            <a:pPr lvl="1" algn="just">
              <a:buFontTx/>
              <a:buChar char="•"/>
            </a:pPr>
            <a:r>
              <a:rPr lang="en-US" sz="1600" dirty="0" smtClean="0"/>
              <a:t>Automatically, easily using distributed file systems</a:t>
            </a:r>
          </a:p>
          <a:p>
            <a:pPr lvl="1" algn="just">
              <a:buFontTx/>
              <a:buChar char="•"/>
            </a:pPr>
            <a:r>
              <a:rPr lang="en-US" sz="1600" dirty="0" smtClean="0"/>
              <a:t>Semi automatically via the world wide web</a:t>
            </a:r>
          </a:p>
          <a:p>
            <a:pPr algn="just"/>
            <a:endParaRPr lang="en-US" sz="1800" dirty="0" smtClean="0"/>
          </a:p>
          <a:p>
            <a:pPr algn="just"/>
            <a:r>
              <a:rPr lang="en-US" sz="1800" dirty="0" smtClean="0"/>
              <a:t>Client-server model allows clients to mount remote file systems from servers</a:t>
            </a:r>
          </a:p>
          <a:p>
            <a:pPr lvl="1" algn="just">
              <a:buFontTx/>
              <a:buChar char="•"/>
            </a:pPr>
            <a:r>
              <a:rPr lang="en-US" sz="1600" dirty="0" smtClean="0"/>
              <a:t>Server can serve multiple clients</a:t>
            </a:r>
          </a:p>
          <a:p>
            <a:pPr lvl="1" algn="just">
              <a:buFontTx/>
              <a:buChar char="•"/>
            </a:pPr>
            <a:r>
              <a:rPr lang="en-US" sz="1600" dirty="0" smtClean="0"/>
              <a:t>Client and user-on-client identification is insecure or complicated</a:t>
            </a:r>
          </a:p>
          <a:p>
            <a:pPr lvl="1" algn="just">
              <a:buFontTx/>
              <a:buChar char="•"/>
            </a:pPr>
            <a:r>
              <a:rPr lang="en-US" sz="1600" dirty="0" smtClean="0"/>
              <a:t>NFS is standard UNIX client-server file sharing protocol</a:t>
            </a:r>
          </a:p>
          <a:p>
            <a:pPr lvl="1" algn="just">
              <a:buFontTx/>
              <a:buChar char="•"/>
            </a:pPr>
            <a:r>
              <a:rPr lang="en-US" sz="1600" dirty="0" smtClean="0"/>
              <a:t>CIFS is standard Windows protocol</a:t>
            </a:r>
          </a:p>
          <a:p>
            <a:pPr lvl="1" algn="just">
              <a:buFontTx/>
              <a:buChar char="•"/>
            </a:pPr>
            <a:r>
              <a:rPr lang="en-US" sz="1600" dirty="0" smtClean="0"/>
              <a:t>Remote calls are translated by standard operating system file calls </a:t>
            </a:r>
          </a:p>
          <a:p>
            <a:pPr algn="just"/>
            <a:endParaRPr lang="en-US" sz="1800" dirty="0" smtClean="0"/>
          </a:p>
          <a:p>
            <a:pPr algn="just"/>
            <a:r>
              <a:rPr lang="en-US" sz="1800" dirty="0" smtClean="0"/>
              <a:t>Distributed Information Systems (distributed naming services) such as Lightweight Directory Access Protocol (LDAP), Domain Name System (DNS), Network Information Service (NIS) implement unified access to information needed for remote computing</a:t>
            </a:r>
          </a:p>
        </p:txBody>
      </p:sp>
      <p:sp>
        <p:nvSpPr>
          <p:cNvPr id="201730" name="Rectangle 2"/>
          <p:cNvSpPr>
            <a:spLocks noGrp="1" noChangeArrowheads="1"/>
          </p:cNvSpPr>
          <p:nvPr>
            <p:ph type="title"/>
          </p:nvPr>
        </p:nvSpPr>
        <p:spPr>
          <a:xfrm>
            <a:off x="0" y="152400"/>
            <a:ext cx="7562850" cy="914400"/>
          </a:xfrm>
        </p:spPr>
        <p:txBody>
          <a:bodyPr anchor="t"/>
          <a:lstStyle/>
          <a:p>
            <a:r>
              <a:rPr lang="en-US" dirty="0" smtClean="0"/>
              <a:t>File Sharing – Remote File Systems</a:t>
            </a: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3"/>
          <p:cNvSpPr>
            <a:spLocks noGrp="1" noChangeArrowheads="1"/>
          </p:cNvSpPr>
          <p:nvPr>
            <p:ph idx="1"/>
          </p:nvPr>
        </p:nvSpPr>
        <p:spPr/>
        <p:txBody>
          <a:bodyPr/>
          <a:lstStyle/>
          <a:p>
            <a:endParaRPr lang="en-US" dirty="0" smtClean="0"/>
          </a:p>
          <a:p>
            <a:pPr algn="just"/>
            <a:r>
              <a:rPr lang="en-US" dirty="0" smtClean="0"/>
              <a:t>Remote file systems add new failure modes, due to network failure, server failure</a:t>
            </a:r>
          </a:p>
          <a:p>
            <a:pPr algn="just"/>
            <a:endParaRPr lang="en-US" dirty="0" smtClean="0"/>
          </a:p>
          <a:p>
            <a:pPr algn="just"/>
            <a:r>
              <a:rPr lang="en-US" dirty="0" smtClean="0"/>
              <a:t>Recovery from failure can involve state information about status of each remote request</a:t>
            </a:r>
          </a:p>
          <a:p>
            <a:pPr algn="just"/>
            <a:endParaRPr lang="en-US" dirty="0" smtClean="0"/>
          </a:p>
          <a:p>
            <a:pPr algn="just"/>
            <a:r>
              <a:rPr lang="en-US" dirty="0" smtClean="0"/>
              <a:t>Stateless protocols such as NFS include all information in each request, allowing easy recovery but less security</a:t>
            </a:r>
          </a:p>
        </p:txBody>
      </p:sp>
      <p:sp>
        <p:nvSpPr>
          <p:cNvPr id="203778" name="Rectangle 2"/>
          <p:cNvSpPr>
            <a:spLocks noGrp="1" noChangeArrowheads="1"/>
          </p:cNvSpPr>
          <p:nvPr>
            <p:ph type="title"/>
          </p:nvPr>
        </p:nvSpPr>
        <p:spPr>
          <a:xfrm>
            <a:off x="0" y="228600"/>
            <a:ext cx="7562850" cy="914400"/>
          </a:xfrm>
        </p:spPr>
        <p:txBody>
          <a:bodyPr anchor="t"/>
          <a:lstStyle/>
          <a:p>
            <a:r>
              <a:rPr lang="en-US" dirty="0" smtClean="0"/>
              <a:t>File Sharing – Failure Modes</a:t>
            </a: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3"/>
          <p:cNvSpPr>
            <a:spLocks noGrp="1" noChangeArrowheads="1"/>
          </p:cNvSpPr>
          <p:nvPr>
            <p:ph idx="1"/>
          </p:nvPr>
        </p:nvSpPr>
        <p:spPr/>
        <p:txBody>
          <a:bodyPr/>
          <a:lstStyle/>
          <a:p>
            <a:r>
              <a:rPr lang="en-US" dirty="0" smtClean="0"/>
              <a:t>File owner or creator should be able to control:</a:t>
            </a:r>
          </a:p>
          <a:p>
            <a:pPr lvl="1"/>
            <a:r>
              <a:rPr lang="en-US" dirty="0" smtClean="0"/>
              <a:t>what can be done</a:t>
            </a:r>
          </a:p>
          <a:p>
            <a:pPr lvl="1"/>
            <a:r>
              <a:rPr lang="en-US" dirty="0" smtClean="0"/>
              <a:t>who to do (by whom)</a:t>
            </a:r>
          </a:p>
          <a:p>
            <a:pPr lvl="1">
              <a:buFont typeface="Arial" charset="0"/>
              <a:buNone/>
            </a:pPr>
            <a:r>
              <a:rPr lang="en-US" dirty="0" smtClean="0"/>
              <a:t/>
            </a:r>
            <a:br>
              <a:rPr lang="en-US" dirty="0" smtClean="0"/>
            </a:br>
            <a:endParaRPr lang="en-US" dirty="0" smtClean="0"/>
          </a:p>
          <a:p>
            <a:r>
              <a:rPr lang="en-US" dirty="0" smtClean="0"/>
              <a:t>Types of access</a:t>
            </a:r>
          </a:p>
          <a:p>
            <a:pPr lvl="1"/>
            <a:r>
              <a:rPr lang="en-US" dirty="0" smtClean="0"/>
              <a:t>Read</a:t>
            </a:r>
          </a:p>
          <a:p>
            <a:pPr lvl="1"/>
            <a:r>
              <a:rPr lang="en-US" dirty="0" smtClean="0"/>
              <a:t>Write</a:t>
            </a:r>
          </a:p>
          <a:p>
            <a:pPr lvl="1"/>
            <a:r>
              <a:rPr lang="en-US" dirty="0" smtClean="0"/>
              <a:t>Execute</a:t>
            </a:r>
          </a:p>
          <a:p>
            <a:pPr lvl="1"/>
            <a:r>
              <a:rPr lang="en-US" dirty="0" smtClean="0"/>
              <a:t>Append</a:t>
            </a:r>
          </a:p>
          <a:p>
            <a:pPr lvl="1"/>
            <a:r>
              <a:rPr lang="en-US" dirty="0" smtClean="0"/>
              <a:t>Delete</a:t>
            </a:r>
          </a:p>
          <a:p>
            <a:pPr lvl="1"/>
            <a:r>
              <a:rPr lang="en-US" dirty="0" smtClean="0"/>
              <a:t>List</a:t>
            </a:r>
          </a:p>
        </p:txBody>
      </p:sp>
      <p:sp>
        <p:nvSpPr>
          <p:cNvPr id="205826" name="Rectangle 2"/>
          <p:cNvSpPr>
            <a:spLocks noGrp="1" noChangeArrowheads="1"/>
          </p:cNvSpPr>
          <p:nvPr>
            <p:ph type="title"/>
          </p:nvPr>
        </p:nvSpPr>
        <p:spPr>
          <a:xfrm>
            <a:off x="0" y="304800"/>
            <a:ext cx="7562850" cy="914400"/>
          </a:xfrm>
        </p:spPr>
        <p:txBody>
          <a:bodyPr anchor="t"/>
          <a:lstStyle/>
          <a:p>
            <a:r>
              <a:rPr lang="en-US" dirty="0" smtClean="0"/>
              <a:t>Protection</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Content Placeholder 2"/>
          <p:cNvSpPr>
            <a:spLocks noGrp="1"/>
          </p:cNvSpPr>
          <p:nvPr>
            <p:ph idx="1"/>
          </p:nvPr>
        </p:nvSpPr>
        <p:spPr>
          <a:xfrm>
            <a:off x="457200" y="1066800"/>
            <a:ext cx="8229600" cy="5029200"/>
          </a:xfrm>
        </p:spPr>
        <p:txBody>
          <a:bodyPr/>
          <a:lstStyle/>
          <a:p>
            <a:pPr lvl="1"/>
            <a:endParaRPr lang="en-US" dirty="0" smtClean="0"/>
          </a:p>
          <a:p>
            <a:r>
              <a:rPr lang="en-US" sz="2400" dirty="0" smtClean="0"/>
              <a:t>Organized in tree structure</a:t>
            </a:r>
          </a:p>
          <a:p>
            <a:endParaRPr lang="en-US" sz="2400" dirty="0" smtClean="0"/>
          </a:p>
          <a:p>
            <a:r>
              <a:rPr lang="en-US" sz="2400" dirty="0" smtClean="0"/>
              <a:t>File tree can be arbitrarily deep</a:t>
            </a:r>
          </a:p>
          <a:p>
            <a:endParaRPr lang="en-US" sz="2400" dirty="0" smtClean="0"/>
          </a:p>
          <a:p>
            <a:r>
              <a:rPr lang="en-US" sz="2400" dirty="0" smtClean="0"/>
              <a:t>File name length must not be more than 256 chars</a:t>
            </a:r>
          </a:p>
          <a:p>
            <a:endParaRPr lang="en-US" sz="2400" dirty="0" smtClean="0"/>
          </a:p>
          <a:p>
            <a:r>
              <a:rPr lang="en-US" sz="2400" dirty="0" smtClean="0"/>
              <a:t>Single path name length must not be more than 1023 chars</a:t>
            </a:r>
          </a:p>
        </p:txBody>
      </p:sp>
      <p:sp>
        <p:nvSpPr>
          <p:cNvPr id="207874" name="Title 1"/>
          <p:cNvSpPr>
            <a:spLocks noGrp="1"/>
          </p:cNvSpPr>
          <p:nvPr>
            <p:ph type="title"/>
          </p:nvPr>
        </p:nvSpPr>
        <p:spPr>
          <a:xfrm>
            <a:off x="0" y="0"/>
            <a:ext cx="7562850" cy="914400"/>
          </a:xfrm>
        </p:spPr>
        <p:txBody>
          <a:bodyPr/>
          <a:lstStyle/>
          <a:p>
            <a:r>
              <a:rPr lang="en-US" smtClean="0"/>
              <a:t>File System - Unix </a:t>
            </a: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Content Placeholder 2"/>
          <p:cNvSpPr>
            <a:spLocks noGrp="1"/>
          </p:cNvSpPr>
          <p:nvPr>
            <p:ph idx="1"/>
          </p:nvPr>
        </p:nvSpPr>
        <p:spPr/>
        <p:txBody>
          <a:bodyPr/>
          <a:lstStyle/>
          <a:p>
            <a:r>
              <a:rPr lang="en-US" sz="2400" dirty="0" smtClean="0"/>
              <a:t>Creating a File System </a:t>
            </a:r>
          </a:p>
          <a:p>
            <a:endParaRPr lang="en-US" sz="2400" dirty="0" smtClean="0"/>
          </a:p>
          <a:p>
            <a:r>
              <a:rPr lang="en-US" sz="2400" dirty="0" smtClean="0"/>
              <a:t>Mounting File System</a:t>
            </a:r>
          </a:p>
          <a:p>
            <a:pPr lvl="1"/>
            <a:endParaRPr lang="en-US" sz="2000" dirty="0" smtClean="0"/>
          </a:p>
          <a:p>
            <a:pPr lvl="1"/>
            <a:r>
              <a:rPr lang="en-US" sz="2000" dirty="0" smtClean="0"/>
              <a:t>File tree is composed of File System</a:t>
            </a:r>
          </a:p>
          <a:p>
            <a:pPr lvl="1"/>
            <a:endParaRPr lang="en-US" sz="2000" dirty="0" smtClean="0"/>
          </a:p>
          <a:p>
            <a:pPr lvl="1"/>
            <a:r>
              <a:rPr lang="en-US" sz="2000" i="1" dirty="0" smtClean="0"/>
              <a:t>mount</a:t>
            </a:r>
            <a:endParaRPr lang="en-US" sz="3200" i="1" dirty="0" smtClean="0"/>
          </a:p>
          <a:p>
            <a:pPr lvl="2"/>
            <a:r>
              <a:rPr lang="en-US" sz="1800" i="1" dirty="0" smtClean="0"/>
              <a:t>mount /dev/hda4 /</a:t>
            </a:r>
            <a:r>
              <a:rPr lang="en-US" sz="1800" i="1" dirty="0" err="1" smtClean="0"/>
              <a:t>usr</a:t>
            </a:r>
            <a:r>
              <a:rPr lang="en-US" sz="1800" i="1" dirty="0" smtClean="0"/>
              <a:t>  </a:t>
            </a:r>
          </a:p>
          <a:p>
            <a:pPr lvl="1"/>
            <a:endParaRPr lang="en-US" sz="2000" dirty="0" smtClean="0"/>
          </a:p>
          <a:p>
            <a:pPr lvl="1"/>
            <a:r>
              <a:rPr lang="en-US" sz="2000" i="1" dirty="0" err="1" smtClean="0"/>
              <a:t>umount</a:t>
            </a:r>
            <a:endParaRPr lang="en-US" sz="3200" dirty="0" smtClean="0"/>
          </a:p>
          <a:p>
            <a:pPr lvl="2"/>
            <a:r>
              <a:rPr lang="en-US" sz="1800" dirty="0" smtClean="0"/>
              <a:t>Detaching will fail if the file system is busy</a:t>
            </a:r>
          </a:p>
          <a:p>
            <a:endParaRPr lang="en-US" dirty="0" smtClean="0"/>
          </a:p>
        </p:txBody>
      </p:sp>
      <p:sp>
        <p:nvSpPr>
          <p:cNvPr id="209922" name="Title 1"/>
          <p:cNvSpPr>
            <a:spLocks noGrp="1"/>
          </p:cNvSpPr>
          <p:nvPr>
            <p:ph type="title"/>
          </p:nvPr>
        </p:nvSpPr>
        <p:spPr>
          <a:xfrm>
            <a:off x="0" y="0"/>
            <a:ext cx="7562850" cy="914400"/>
          </a:xfrm>
        </p:spPr>
        <p:txBody>
          <a:bodyPr/>
          <a:lstStyle/>
          <a:p>
            <a:r>
              <a:rPr lang="en-US" dirty="0" smtClean="0"/>
              <a:t>Example (Contd.).</a:t>
            </a: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Content Placeholder 2"/>
          <p:cNvSpPr>
            <a:spLocks noGrp="1"/>
          </p:cNvSpPr>
          <p:nvPr>
            <p:ph idx="1"/>
          </p:nvPr>
        </p:nvSpPr>
        <p:spPr>
          <a:xfrm>
            <a:off x="457200" y="1143000"/>
            <a:ext cx="8229600" cy="5029200"/>
          </a:xfrm>
        </p:spPr>
        <p:txBody>
          <a:bodyPr/>
          <a:lstStyle/>
          <a:p>
            <a:r>
              <a:rPr lang="en-US" dirty="0" smtClean="0"/>
              <a:t>Types of Files</a:t>
            </a:r>
          </a:p>
          <a:p>
            <a:endParaRPr lang="en-US" dirty="0" smtClean="0"/>
          </a:p>
          <a:p>
            <a:r>
              <a:rPr lang="en-US" dirty="0" smtClean="0"/>
              <a:t>Regular Files</a:t>
            </a:r>
          </a:p>
          <a:p>
            <a:pPr lvl="1"/>
            <a:r>
              <a:rPr lang="en-US" dirty="0" smtClean="0"/>
              <a:t>binary</a:t>
            </a:r>
          </a:p>
          <a:p>
            <a:pPr lvl="2"/>
            <a:r>
              <a:rPr lang="en-US" dirty="0" smtClean="0"/>
              <a:t>GIF, JPEG, Executable etc</a:t>
            </a:r>
          </a:p>
          <a:p>
            <a:pPr lvl="1"/>
            <a:r>
              <a:rPr lang="en-US" dirty="0" smtClean="0"/>
              <a:t>text</a:t>
            </a:r>
          </a:p>
          <a:p>
            <a:pPr lvl="2"/>
            <a:r>
              <a:rPr lang="en-US" dirty="0" smtClean="0"/>
              <a:t>scripts, program source code, documentation</a:t>
            </a:r>
          </a:p>
          <a:p>
            <a:pPr lvl="1"/>
            <a:r>
              <a:rPr lang="en-US" dirty="0" smtClean="0"/>
              <a:t>Supports sequential access and random access</a:t>
            </a:r>
          </a:p>
          <a:p>
            <a:r>
              <a:rPr lang="en-US" dirty="0" smtClean="0"/>
              <a:t>Device File</a:t>
            </a:r>
          </a:p>
          <a:p>
            <a:pPr lvl="1"/>
            <a:r>
              <a:rPr lang="en-US" dirty="0" smtClean="0"/>
              <a:t>Allows programs to interact with hardware</a:t>
            </a:r>
          </a:p>
          <a:p>
            <a:pPr lvl="1"/>
            <a:r>
              <a:rPr lang="en-US" dirty="0" smtClean="0"/>
              <a:t>Kernel unit handles device management</a:t>
            </a:r>
          </a:p>
          <a:p>
            <a:r>
              <a:rPr lang="en-US" dirty="0" smtClean="0"/>
              <a:t>Directory</a:t>
            </a:r>
          </a:p>
          <a:p>
            <a:pPr lvl="1"/>
            <a:r>
              <a:rPr lang="en-US" dirty="0" smtClean="0"/>
              <a:t>Can contain any type of files</a:t>
            </a:r>
          </a:p>
          <a:p>
            <a:pPr lvl="1"/>
            <a:r>
              <a:rPr lang="en-US" dirty="0" smtClean="0"/>
              <a:t>Think about “.” and “..”??</a:t>
            </a:r>
            <a:endParaRPr lang="en-US" sz="2800" dirty="0" smtClean="0"/>
          </a:p>
        </p:txBody>
      </p:sp>
      <p:sp>
        <p:nvSpPr>
          <p:cNvPr id="211970" name="Title 1"/>
          <p:cNvSpPr>
            <a:spLocks noGrp="1"/>
          </p:cNvSpPr>
          <p:nvPr>
            <p:ph type="title"/>
          </p:nvPr>
        </p:nvSpPr>
        <p:spPr>
          <a:xfrm>
            <a:off x="0" y="0"/>
            <a:ext cx="7562850" cy="914400"/>
          </a:xfrm>
        </p:spPr>
        <p:txBody>
          <a:bodyPr/>
          <a:lstStyle/>
          <a:p>
            <a:r>
              <a:rPr lang="en-US" dirty="0" smtClean="0"/>
              <a:t>Example – (Contd.).</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Content Placeholder 2"/>
          <p:cNvSpPr>
            <a:spLocks noGrp="1"/>
          </p:cNvSpPr>
          <p:nvPr>
            <p:ph idx="1"/>
          </p:nvPr>
        </p:nvSpPr>
        <p:spPr/>
        <p:txBody>
          <a:bodyPr/>
          <a:lstStyle/>
          <a:p>
            <a:r>
              <a:rPr lang="en-US" sz="2400" dirty="0" smtClean="0"/>
              <a:t>File Permissions:-</a:t>
            </a:r>
          </a:p>
          <a:p>
            <a:endParaRPr lang="en-US" sz="2400" dirty="0" smtClean="0"/>
          </a:p>
          <a:p>
            <a:r>
              <a:rPr lang="en-US" sz="2400" dirty="0" smtClean="0"/>
              <a:t>The </a:t>
            </a:r>
            <a:r>
              <a:rPr lang="en-US" sz="2400" dirty="0" err="1" smtClean="0"/>
              <a:t>Setuid</a:t>
            </a:r>
            <a:r>
              <a:rPr lang="en-US" sz="2400" dirty="0" smtClean="0"/>
              <a:t> and </a:t>
            </a:r>
            <a:r>
              <a:rPr lang="en-US" sz="2400" dirty="0" err="1" smtClean="0"/>
              <a:t>Setgid</a:t>
            </a:r>
            <a:r>
              <a:rPr lang="en-US" sz="2400" dirty="0" smtClean="0"/>
              <a:t> bits</a:t>
            </a:r>
          </a:p>
          <a:p>
            <a:pPr lvl="1"/>
            <a:r>
              <a:rPr lang="en-US" sz="2000" dirty="0" err="1" smtClean="0"/>
              <a:t>Setuid</a:t>
            </a:r>
            <a:r>
              <a:rPr lang="en-US" sz="2000" dirty="0" smtClean="0"/>
              <a:t> with octal value 4000</a:t>
            </a:r>
          </a:p>
          <a:p>
            <a:pPr lvl="1"/>
            <a:r>
              <a:rPr lang="en-US" sz="2000" dirty="0" err="1" smtClean="0"/>
              <a:t>Setgid</a:t>
            </a:r>
            <a:r>
              <a:rPr lang="en-US" sz="2000" dirty="0" smtClean="0"/>
              <a:t> with octal value 2000</a:t>
            </a:r>
            <a:endParaRPr lang="en-US" dirty="0" smtClean="0"/>
          </a:p>
          <a:p>
            <a:endParaRPr lang="en-US" dirty="0" smtClean="0"/>
          </a:p>
        </p:txBody>
      </p:sp>
      <p:sp>
        <p:nvSpPr>
          <p:cNvPr id="214018" name="Title 1"/>
          <p:cNvSpPr>
            <a:spLocks noGrp="1"/>
          </p:cNvSpPr>
          <p:nvPr>
            <p:ph type="title"/>
          </p:nvPr>
        </p:nvSpPr>
        <p:spPr>
          <a:xfrm>
            <a:off x="0" y="0"/>
            <a:ext cx="7562850" cy="914400"/>
          </a:xfrm>
        </p:spPr>
        <p:txBody>
          <a:bodyPr/>
          <a:lstStyle/>
          <a:p>
            <a:r>
              <a:rPr lang="en-US" dirty="0" smtClean="0"/>
              <a:t>Example – (Contd.).</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Content Placeholder 1"/>
          <p:cNvSpPr>
            <a:spLocks noGrp="1"/>
          </p:cNvSpPr>
          <p:nvPr>
            <p:ph idx="1"/>
          </p:nvPr>
        </p:nvSpPr>
        <p:spPr/>
        <p:txBody>
          <a:bodyPr/>
          <a:lstStyle/>
          <a:p>
            <a:r>
              <a:rPr lang="en-US" sz="2400" dirty="0" smtClean="0"/>
              <a:t>Using Unix commands explore file related operations</a:t>
            </a:r>
            <a:endParaRPr lang="en-US" sz="2800" dirty="0" smtClean="0"/>
          </a:p>
          <a:p>
            <a:pPr lvl="1"/>
            <a:endParaRPr lang="en-US" sz="2000" dirty="0" smtClean="0"/>
          </a:p>
          <a:p>
            <a:pPr lvl="1"/>
            <a:r>
              <a:rPr lang="en-US" sz="2000" dirty="0" smtClean="0"/>
              <a:t>Creating / opening a file (</a:t>
            </a:r>
            <a:r>
              <a:rPr lang="en-US" sz="2000" i="1" dirty="0" smtClean="0"/>
              <a:t>cat</a:t>
            </a:r>
            <a:r>
              <a:rPr lang="en-US" sz="2000" dirty="0" smtClean="0"/>
              <a:t>)</a:t>
            </a:r>
            <a:endParaRPr lang="en-US" sz="2400" dirty="0" smtClean="0"/>
          </a:p>
          <a:p>
            <a:pPr lvl="1"/>
            <a:r>
              <a:rPr lang="en-US" sz="2000" dirty="0" smtClean="0"/>
              <a:t>Copying file (</a:t>
            </a:r>
            <a:r>
              <a:rPr lang="en-US" sz="2000" i="1" dirty="0" smtClean="0"/>
              <a:t>cp</a:t>
            </a:r>
            <a:r>
              <a:rPr lang="en-US" sz="2000" dirty="0" smtClean="0"/>
              <a:t>)</a:t>
            </a:r>
            <a:endParaRPr lang="en-US" sz="2400" dirty="0" smtClean="0"/>
          </a:p>
          <a:p>
            <a:pPr lvl="1"/>
            <a:r>
              <a:rPr lang="en-US" sz="2000" dirty="0" smtClean="0"/>
              <a:t>Removing (</a:t>
            </a:r>
            <a:r>
              <a:rPr lang="en-US" sz="2000" i="1" dirty="0" err="1" smtClean="0"/>
              <a:t>rm</a:t>
            </a:r>
            <a:r>
              <a:rPr lang="en-US" sz="2000" dirty="0" smtClean="0"/>
              <a:t>)</a:t>
            </a:r>
            <a:endParaRPr lang="en-US" sz="2400" dirty="0" smtClean="0"/>
          </a:p>
          <a:p>
            <a:endParaRPr lang="en-US" dirty="0" smtClean="0"/>
          </a:p>
        </p:txBody>
      </p:sp>
      <p:sp>
        <p:nvSpPr>
          <p:cNvPr id="216066" name="Title 2"/>
          <p:cNvSpPr>
            <a:spLocks noGrp="1"/>
          </p:cNvSpPr>
          <p:nvPr>
            <p:ph type="title"/>
          </p:nvPr>
        </p:nvSpPr>
        <p:spPr>
          <a:xfrm>
            <a:off x="0" y="0"/>
            <a:ext cx="7562850" cy="914400"/>
          </a:xfrm>
        </p:spPr>
        <p:txBody>
          <a:bodyPr/>
          <a:lstStyle/>
          <a:p>
            <a:r>
              <a:rPr lang="en-US" smtClean="0"/>
              <a:t>File System:  Hands-on (2 hours)</a:t>
            </a: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Content Placeholder 1"/>
          <p:cNvSpPr>
            <a:spLocks noGrp="1"/>
          </p:cNvSpPr>
          <p:nvPr>
            <p:ph idx="1"/>
          </p:nvPr>
        </p:nvSpPr>
        <p:spPr/>
        <p:txBody>
          <a:bodyPr/>
          <a:lstStyle/>
          <a:p>
            <a:pPr>
              <a:buFont typeface="Wingdings" pitchFamily="2" charset="2"/>
              <a:buNone/>
            </a:pPr>
            <a:r>
              <a:rPr lang="en-GB" sz="2400" dirty="0" smtClean="0"/>
              <a:t>In this module, we discussed:</a:t>
            </a:r>
          </a:p>
          <a:p>
            <a:endParaRPr lang="en-US" sz="2400" dirty="0" smtClean="0"/>
          </a:p>
          <a:p>
            <a:r>
              <a:rPr lang="en-US" sz="2400" dirty="0" smtClean="0"/>
              <a:t>Different operations of File System</a:t>
            </a:r>
          </a:p>
          <a:p>
            <a:r>
              <a:rPr lang="en-US" sz="2400" dirty="0" smtClean="0"/>
              <a:t>Different  techniques of storing the data</a:t>
            </a:r>
          </a:p>
          <a:p>
            <a:r>
              <a:rPr lang="en-US" sz="2400" dirty="0" smtClean="0"/>
              <a:t>Usage of File permissions</a:t>
            </a:r>
          </a:p>
          <a:p>
            <a:endParaRPr lang="en-US" dirty="0" smtClean="0"/>
          </a:p>
          <a:p>
            <a:endParaRPr lang="en-US" dirty="0" smtClean="0"/>
          </a:p>
          <a:p>
            <a:pPr>
              <a:buFont typeface="Arial" charset="0"/>
              <a:buNone/>
            </a:pPr>
            <a:endParaRPr lang="en-US" dirty="0" smtClean="0"/>
          </a:p>
          <a:p>
            <a:endParaRPr lang="en-US" dirty="0" smtClean="0"/>
          </a:p>
        </p:txBody>
      </p:sp>
      <p:sp>
        <p:nvSpPr>
          <p:cNvPr id="218114" name="Title 2"/>
          <p:cNvSpPr>
            <a:spLocks noGrp="1"/>
          </p:cNvSpPr>
          <p:nvPr>
            <p:ph type="title"/>
          </p:nvPr>
        </p:nvSpPr>
        <p:spPr>
          <a:xfrm>
            <a:off x="0" y="0"/>
            <a:ext cx="7562850" cy="914400"/>
          </a:xfrm>
        </p:spPr>
        <p:txBody>
          <a:bodyPr/>
          <a:lstStyle/>
          <a:p>
            <a:r>
              <a:rPr lang="en-US" smtClean="0"/>
              <a:t>Summary</a:t>
            </a: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Title 9"/>
          <p:cNvSpPr>
            <a:spLocks noGrp="1"/>
          </p:cNvSpPr>
          <p:nvPr>
            <p:ph type="title"/>
          </p:nvPr>
        </p:nvSpPr>
        <p:spPr/>
        <p:txBody>
          <a:bodyPr/>
          <a:lstStyle/>
          <a:p>
            <a:r>
              <a:rPr lang="en-US" dirty="0" smtClean="0"/>
              <a:t>Memory Management</a:t>
            </a:r>
            <a:r>
              <a:rPr lang="en-US" sz="3200" dirty="0" smtClean="0"/>
              <a:t/>
            </a:r>
            <a:br>
              <a:rPr lang="en-US" sz="3200" dirty="0" smtClean="0"/>
            </a:br>
            <a:r>
              <a:rPr lang="en-US" sz="3200" dirty="0" smtClean="0"/>
              <a:t> </a:t>
            </a:r>
            <a:r>
              <a:rPr lang="en-US" sz="2400" b="0" dirty="0" smtClean="0">
                <a:solidFill>
                  <a:schemeClr val="tx1">
                    <a:lumMod val="50000"/>
                    <a:lumOff val="50000"/>
                  </a:schemeClr>
                </a:solidFill>
              </a:rPr>
              <a:t>Module 6</a:t>
            </a: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Content Placeholder 1"/>
          <p:cNvSpPr>
            <a:spLocks noGrp="1"/>
          </p:cNvSpPr>
          <p:nvPr>
            <p:ph idx="1"/>
          </p:nvPr>
        </p:nvSpPr>
        <p:spPr>
          <a:xfrm>
            <a:off x="457200" y="1371600"/>
            <a:ext cx="8077200" cy="4876800"/>
          </a:xfrm>
        </p:spPr>
        <p:txBody>
          <a:bodyPr/>
          <a:lstStyle/>
          <a:p>
            <a:pPr>
              <a:buNone/>
            </a:pPr>
            <a:r>
              <a:rPr lang="en-US" sz="2200" dirty="0" smtClean="0"/>
              <a:t>At the end this, session you will be able to:</a:t>
            </a:r>
          </a:p>
          <a:p>
            <a:pPr>
              <a:buFont typeface="Wingdings" pitchFamily="2" charset="2"/>
              <a:buNone/>
            </a:pPr>
            <a:r>
              <a:rPr lang="en-US" sz="2200" dirty="0" smtClean="0"/>
              <a:t>	</a:t>
            </a:r>
          </a:p>
          <a:p>
            <a:r>
              <a:rPr lang="en-US" sz="2200" dirty="0" smtClean="0"/>
              <a:t>Identify need of  Memory Management</a:t>
            </a:r>
          </a:p>
          <a:p>
            <a:r>
              <a:rPr lang="en-US" sz="2200" dirty="0" smtClean="0"/>
              <a:t>Explain operations and Techniques of Memory Management unit</a:t>
            </a:r>
          </a:p>
          <a:p>
            <a:r>
              <a:rPr lang="en-US" sz="2200" dirty="0" smtClean="0"/>
              <a:t>Explain Swapping Technique</a:t>
            </a:r>
          </a:p>
          <a:p>
            <a:r>
              <a:rPr lang="en-US" sz="2200" dirty="0" smtClean="0"/>
              <a:t>Describe Contiguous Allocation</a:t>
            </a:r>
          </a:p>
          <a:p>
            <a:r>
              <a:rPr lang="en-US" sz="2200" dirty="0" smtClean="0"/>
              <a:t>Explain Paging Technique</a:t>
            </a:r>
          </a:p>
          <a:p>
            <a:endParaRPr lang="en-US" dirty="0" smtClean="0"/>
          </a:p>
          <a:p>
            <a:endParaRPr lang="en-US" dirty="0" smtClean="0"/>
          </a:p>
        </p:txBody>
      </p:sp>
      <p:sp>
        <p:nvSpPr>
          <p:cNvPr id="221186" name="Title 2"/>
          <p:cNvSpPr>
            <a:spLocks noGrp="1"/>
          </p:cNvSpPr>
          <p:nvPr>
            <p:ph type="title"/>
          </p:nvPr>
        </p:nvSpPr>
        <p:spPr>
          <a:xfrm>
            <a:off x="3175" y="0"/>
            <a:ext cx="7564438" cy="914400"/>
          </a:xfrm>
        </p:spPr>
        <p:txBody>
          <a:bodyPr/>
          <a:lstStyle/>
          <a:p>
            <a:r>
              <a:rPr lang="en-US" smtClean="0"/>
              <a:t>Objectives</a:t>
            </a:r>
          </a:p>
        </p:txBody>
      </p:sp>
      <p:sp>
        <p:nvSpPr>
          <p:cNvPr id="221187" name="Text Placeholder 8"/>
          <p:cNvSpPr txBox="1">
            <a:spLocks/>
          </p:cNvSpPr>
          <p:nvPr/>
        </p:nvSpPr>
        <p:spPr bwMode="auto">
          <a:xfrm>
            <a:off x="4038600" y="6248400"/>
            <a:ext cx="5105400" cy="457200"/>
          </a:xfrm>
          <a:prstGeom prst="rect">
            <a:avLst/>
          </a:prstGeom>
          <a:noFill/>
          <a:ln w="9525" algn="ctr">
            <a:noFill/>
            <a:miter lim="800000"/>
            <a:headEnd/>
            <a:tailEnd/>
          </a:ln>
        </p:spPr>
        <p:txBody>
          <a:bodyPr/>
          <a:lstStyle/>
          <a:p>
            <a:pPr marL="342900" indent="-342900" algn="r">
              <a:spcBef>
                <a:spcPct val="20000"/>
              </a:spcBef>
              <a:buFont typeface="Wingdings" pitchFamily="2" charset="2"/>
              <a:buNone/>
            </a:pPr>
            <a:r>
              <a:rPr lang="en-GB" sz="2000">
                <a:solidFill>
                  <a:srgbClr val="7F7F7F"/>
                </a:solidFill>
                <a:latin typeface="Gill Sans MT" pitchFamily="34" charset="0"/>
              </a:rPr>
              <a:t>Duration: 2 hrs</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Content Placeholder 1"/>
          <p:cNvSpPr>
            <a:spLocks noGrp="1"/>
          </p:cNvSpPr>
          <p:nvPr>
            <p:ph idx="1"/>
          </p:nvPr>
        </p:nvSpPr>
        <p:spPr/>
        <p:txBody>
          <a:bodyPr/>
          <a:lstStyle/>
          <a:p>
            <a:pPr algn="just"/>
            <a:r>
              <a:rPr lang="en-US" sz="2400" dirty="0" smtClean="0"/>
              <a:t>Program need to brought into memory and to be found within a process for it to be run</a:t>
            </a:r>
          </a:p>
          <a:p>
            <a:pPr algn="just"/>
            <a:endParaRPr lang="en-US" sz="2400" dirty="0" smtClean="0"/>
          </a:p>
          <a:p>
            <a:pPr algn="just"/>
            <a:r>
              <a:rPr lang="en-US" sz="2400" dirty="0" smtClean="0"/>
              <a:t>Input queue </a:t>
            </a:r>
          </a:p>
          <a:p>
            <a:pPr algn="just">
              <a:buFont typeface="Wingdings" pitchFamily="2" charset="2"/>
              <a:buNone/>
            </a:pPr>
            <a:r>
              <a:rPr lang="en-US" sz="2400" dirty="0" smtClean="0"/>
              <a:t>     </a:t>
            </a:r>
            <a:r>
              <a:rPr lang="en-US" dirty="0" smtClean="0"/>
              <a:t>– collection of processes on the disk waiting to be brought into memory to run the program</a:t>
            </a:r>
          </a:p>
          <a:p>
            <a:pPr algn="just">
              <a:buFont typeface="Wingdings" pitchFamily="2" charset="2"/>
              <a:buNone/>
            </a:pPr>
            <a:endParaRPr lang="en-US" sz="2400" dirty="0" smtClean="0"/>
          </a:p>
          <a:p>
            <a:pPr algn="just"/>
            <a:r>
              <a:rPr lang="en-US" sz="2400" dirty="0" smtClean="0"/>
              <a:t>User programs go through several steps before being run</a:t>
            </a:r>
          </a:p>
          <a:p>
            <a:endParaRPr lang="en-US" dirty="0" smtClean="0"/>
          </a:p>
        </p:txBody>
      </p:sp>
      <p:sp>
        <p:nvSpPr>
          <p:cNvPr id="223234" name="Title 4"/>
          <p:cNvSpPr>
            <a:spLocks noGrp="1"/>
          </p:cNvSpPr>
          <p:nvPr>
            <p:ph type="title"/>
          </p:nvPr>
        </p:nvSpPr>
        <p:spPr>
          <a:xfrm>
            <a:off x="3175" y="0"/>
            <a:ext cx="7564438" cy="914400"/>
          </a:xfrm>
        </p:spPr>
        <p:txBody>
          <a:bodyPr/>
          <a:lstStyle/>
          <a:p>
            <a:r>
              <a:rPr lang="en-US" smtClean="0"/>
              <a:t>Memory Management - why?</a:t>
            </a: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Content Placeholder 1"/>
          <p:cNvSpPr>
            <a:spLocks noGrp="1"/>
          </p:cNvSpPr>
          <p:nvPr>
            <p:ph idx="1"/>
          </p:nvPr>
        </p:nvSpPr>
        <p:spPr/>
        <p:txBody>
          <a:bodyPr/>
          <a:lstStyle/>
          <a:p>
            <a:pPr algn="just"/>
            <a:r>
              <a:rPr lang="en-US" dirty="0" smtClean="0"/>
              <a:t>In MMU scheme, the value in the relocation register is added to every address generated by a user process at the time it is sent to memory</a:t>
            </a:r>
            <a:br>
              <a:rPr lang="en-US" dirty="0" smtClean="0"/>
            </a:br>
            <a:endParaRPr lang="en-US" dirty="0" smtClean="0"/>
          </a:p>
          <a:p>
            <a:pPr algn="just"/>
            <a:r>
              <a:rPr lang="en-US" dirty="0" smtClean="0"/>
              <a:t>The user program deals with logical addresses; it does not see the real physical addresses.</a:t>
            </a:r>
          </a:p>
          <a:p>
            <a:pPr algn="just"/>
            <a:endParaRPr lang="en-US" dirty="0" smtClean="0"/>
          </a:p>
        </p:txBody>
      </p:sp>
      <p:sp>
        <p:nvSpPr>
          <p:cNvPr id="224258" name="Rectangle 2"/>
          <p:cNvSpPr>
            <a:spLocks noGrp="1" noChangeArrowheads="1"/>
          </p:cNvSpPr>
          <p:nvPr>
            <p:ph type="title"/>
          </p:nvPr>
        </p:nvSpPr>
        <p:spPr>
          <a:xfrm>
            <a:off x="0" y="228600"/>
            <a:ext cx="7564438" cy="914400"/>
          </a:xfrm>
        </p:spPr>
        <p:txBody>
          <a:bodyPr anchor="t"/>
          <a:lstStyle/>
          <a:p>
            <a:r>
              <a:rPr lang="en-US" dirty="0" smtClean="0"/>
              <a:t>Memory Management  Why?(Contd.).</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Content Placeholder 5"/>
          <p:cNvSpPr>
            <a:spLocks noGrp="1"/>
          </p:cNvSpPr>
          <p:nvPr>
            <p:ph idx="1"/>
          </p:nvPr>
        </p:nvSpPr>
        <p:spPr>
          <a:xfrm>
            <a:off x="457200" y="1143000"/>
            <a:ext cx="8229600" cy="5029200"/>
          </a:xfrm>
        </p:spPr>
        <p:txBody>
          <a:bodyPr/>
          <a:lstStyle/>
          <a:p>
            <a:pPr algn="just"/>
            <a:r>
              <a:rPr lang="en-US" dirty="0" smtClean="0"/>
              <a:t>Logical versus Physical Address</a:t>
            </a:r>
          </a:p>
          <a:p>
            <a:pPr algn="just"/>
            <a:endParaRPr lang="en-US" dirty="0" smtClean="0"/>
          </a:p>
          <a:p>
            <a:pPr algn="just"/>
            <a:r>
              <a:rPr lang="en-US" dirty="0" smtClean="0"/>
              <a:t>Logical address space that is bound to a separate physical address space is central to right memory management</a:t>
            </a:r>
          </a:p>
          <a:p>
            <a:pPr algn="just"/>
            <a:endParaRPr lang="en-US" dirty="0" smtClean="0"/>
          </a:p>
          <a:p>
            <a:pPr algn="just"/>
            <a:r>
              <a:rPr lang="en-US" dirty="0" smtClean="0"/>
              <a:t>Logical address </a:t>
            </a:r>
          </a:p>
          <a:p>
            <a:pPr algn="just">
              <a:buFont typeface="Wingdings" pitchFamily="2" charset="2"/>
              <a:buNone/>
            </a:pPr>
            <a:r>
              <a:rPr lang="en-US" dirty="0" smtClean="0"/>
              <a:t>      </a:t>
            </a:r>
            <a:r>
              <a:rPr lang="en-US" sz="1800" dirty="0" smtClean="0"/>
              <a:t>– address generated by CPU; also known as virtual address</a:t>
            </a:r>
          </a:p>
          <a:p>
            <a:pPr algn="just"/>
            <a:endParaRPr lang="en-US" dirty="0" smtClean="0"/>
          </a:p>
          <a:p>
            <a:pPr algn="just"/>
            <a:r>
              <a:rPr lang="en-US" dirty="0" smtClean="0"/>
              <a:t>Physical address </a:t>
            </a:r>
          </a:p>
          <a:p>
            <a:pPr algn="just">
              <a:buFont typeface="Wingdings" pitchFamily="2" charset="2"/>
              <a:buNone/>
            </a:pPr>
            <a:r>
              <a:rPr lang="en-US" dirty="0" smtClean="0"/>
              <a:t>     </a:t>
            </a:r>
            <a:r>
              <a:rPr lang="en-US" sz="1800" dirty="0" smtClean="0"/>
              <a:t>– address seen by the memory unit</a:t>
            </a:r>
          </a:p>
          <a:p>
            <a:pPr algn="just">
              <a:buFont typeface="Wingdings" pitchFamily="2" charset="2"/>
              <a:buNone/>
            </a:pPr>
            <a:endParaRPr lang="en-US" dirty="0" smtClean="0"/>
          </a:p>
          <a:p>
            <a:pPr algn="just"/>
            <a:r>
              <a:rPr lang="en-US" dirty="0" smtClean="0"/>
              <a:t>Logical and physical addresses are the same in compile-time and load-time address-binding schemes; logical (virtual) and physical addresses differ in execution-time address-binding scheme</a:t>
            </a:r>
          </a:p>
        </p:txBody>
      </p:sp>
      <p:sp>
        <p:nvSpPr>
          <p:cNvPr id="225282" name="Rectangle 2"/>
          <p:cNvSpPr>
            <a:spLocks noGrp="1" noChangeArrowheads="1"/>
          </p:cNvSpPr>
          <p:nvPr>
            <p:ph type="title"/>
          </p:nvPr>
        </p:nvSpPr>
        <p:spPr>
          <a:xfrm>
            <a:off x="0" y="228600"/>
            <a:ext cx="7564438" cy="914400"/>
          </a:xfrm>
        </p:spPr>
        <p:txBody>
          <a:bodyPr anchor="t"/>
          <a:lstStyle/>
          <a:p>
            <a:r>
              <a:rPr lang="en-US" dirty="0" smtClean="0"/>
              <a:t>Memory Management - How?</a:t>
            </a: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2"/>
          <p:cNvSpPr>
            <a:spLocks noGrp="1"/>
          </p:cNvSpPr>
          <p:nvPr>
            <p:ph type="title"/>
          </p:nvPr>
        </p:nvSpPr>
        <p:spPr>
          <a:xfrm>
            <a:off x="3175" y="0"/>
            <a:ext cx="7564438" cy="914400"/>
          </a:xfrm>
        </p:spPr>
        <p:txBody>
          <a:bodyPr/>
          <a:lstStyle/>
          <a:p>
            <a:r>
              <a:rPr lang="en-US" dirty="0" smtClean="0"/>
              <a:t>Memory Management Operations</a:t>
            </a:r>
          </a:p>
        </p:txBody>
      </p:sp>
      <p:sp>
        <p:nvSpPr>
          <p:cNvPr id="244739" name="Rectangle 3"/>
          <p:cNvSpPr>
            <a:spLocks noChangeArrowheads="1"/>
          </p:cNvSpPr>
          <p:nvPr/>
        </p:nvSpPr>
        <p:spPr bwMode="auto">
          <a:xfrm>
            <a:off x="6629400" y="1752600"/>
            <a:ext cx="2095500" cy="3886200"/>
          </a:xfrm>
          <a:prstGeom prst="rect">
            <a:avLst/>
          </a:prstGeom>
          <a:solidFill>
            <a:schemeClr val="accent1"/>
          </a:solidFill>
          <a:ln w="9525">
            <a:solidFill>
              <a:schemeClr val="tx1"/>
            </a:solidFill>
            <a:miter lim="800000"/>
            <a:headEnd/>
            <a:tailEnd/>
          </a:ln>
          <a:effectLst/>
        </p:spPr>
        <p:txBody>
          <a:bodyPr wrap="none" anchor="ctr"/>
          <a:lstStyle/>
          <a:p>
            <a:pPr algn="ctr">
              <a:defRPr/>
            </a:pPr>
            <a:r>
              <a:rPr lang="en-US" sz="2000" dirty="0">
                <a:effectLst>
                  <a:outerShdw blurRad="38100" dist="38100" dir="2700000" algn="tl">
                    <a:srgbClr val="FFFFFF"/>
                  </a:outerShdw>
                </a:effectLst>
                <a:latin typeface="Gill Sans MT" pitchFamily="34" charset="0"/>
              </a:rPr>
              <a:t>Memory</a:t>
            </a:r>
          </a:p>
        </p:txBody>
      </p:sp>
      <p:sp>
        <p:nvSpPr>
          <p:cNvPr id="244740" name="Rectangle 4"/>
          <p:cNvSpPr>
            <a:spLocks noChangeArrowheads="1"/>
          </p:cNvSpPr>
          <p:nvPr/>
        </p:nvSpPr>
        <p:spPr bwMode="auto">
          <a:xfrm>
            <a:off x="3162300" y="2419350"/>
            <a:ext cx="2209800" cy="2686050"/>
          </a:xfrm>
          <a:prstGeom prst="rect">
            <a:avLst/>
          </a:prstGeom>
          <a:solidFill>
            <a:schemeClr val="accent1"/>
          </a:solidFill>
          <a:ln w="9525">
            <a:solidFill>
              <a:schemeClr val="tx1"/>
            </a:solidFill>
            <a:miter lim="800000"/>
            <a:headEnd/>
            <a:tailEnd/>
          </a:ln>
          <a:effectLst/>
        </p:spPr>
        <p:txBody>
          <a:bodyPr wrap="none" anchor="ctr"/>
          <a:lstStyle/>
          <a:p>
            <a:pPr algn="ctr">
              <a:defRPr/>
            </a:pPr>
            <a:endParaRPr lang="hi-IN" sz="2000">
              <a:effectLst>
                <a:outerShdw blurRad="38100" dist="38100" dir="2700000" algn="tl">
                  <a:srgbClr val="FFFFFF"/>
                </a:outerShdw>
              </a:effectLst>
              <a:latin typeface="Gill Sans MT" pitchFamily="34" charset="0"/>
            </a:endParaRPr>
          </a:p>
        </p:txBody>
      </p:sp>
      <p:sp>
        <p:nvSpPr>
          <p:cNvPr id="244741" name="Oval 5"/>
          <p:cNvSpPr>
            <a:spLocks noChangeArrowheads="1"/>
          </p:cNvSpPr>
          <p:nvPr/>
        </p:nvSpPr>
        <p:spPr bwMode="auto">
          <a:xfrm>
            <a:off x="3867150" y="3390900"/>
            <a:ext cx="914400" cy="685800"/>
          </a:xfrm>
          <a:prstGeom prst="ellipse">
            <a:avLst/>
          </a:prstGeom>
          <a:solidFill>
            <a:schemeClr val="accent1"/>
          </a:solidFill>
          <a:ln w="9525">
            <a:solidFill>
              <a:schemeClr val="tx1"/>
            </a:solidFill>
            <a:round/>
            <a:headEnd/>
            <a:tailEnd/>
          </a:ln>
          <a:effectLst/>
        </p:spPr>
        <p:txBody>
          <a:bodyPr wrap="none" anchor="ctr"/>
          <a:lstStyle/>
          <a:p>
            <a:pPr algn="ctr">
              <a:defRPr/>
            </a:pPr>
            <a:r>
              <a:rPr lang="en-US" sz="2000" dirty="0">
                <a:effectLst>
                  <a:outerShdw blurRad="38100" dist="38100" dir="2700000" algn="tl">
                    <a:srgbClr val="FFFFFF"/>
                  </a:outerShdw>
                </a:effectLst>
                <a:latin typeface="Gill Sans MT" pitchFamily="34" charset="0"/>
              </a:rPr>
              <a:t>+</a:t>
            </a:r>
          </a:p>
        </p:txBody>
      </p:sp>
      <p:sp>
        <p:nvSpPr>
          <p:cNvPr id="244742" name="Rectangle 6"/>
          <p:cNvSpPr>
            <a:spLocks noChangeArrowheads="1"/>
          </p:cNvSpPr>
          <p:nvPr/>
        </p:nvSpPr>
        <p:spPr bwMode="auto">
          <a:xfrm>
            <a:off x="895350" y="3448050"/>
            <a:ext cx="819150" cy="533400"/>
          </a:xfrm>
          <a:prstGeom prst="rect">
            <a:avLst/>
          </a:prstGeom>
          <a:solidFill>
            <a:schemeClr val="accent1"/>
          </a:solidFill>
          <a:ln w="9525">
            <a:solidFill>
              <a:schemeClr val="tx1"/>
            </a:solidFill>
            <a:miter lim="800000"/>
            <a:headEnd/>
            <a:tailEnd/>
          </a:ln>
          <a:effectLst/>
        </p:spPr>
        <p:txBody>
          <a:bodyPr wrap="none" anchor="ctr"/>
          <a:lstStyle/>
          <a:p>
            <a:pPr algn="ctr">
              <a:defRPr/>
            </a:pPr>
            <a:r>
              <a:rPr lang="en-US" sz="2000" dirty="0">
                <a:effectLst>
                  <a:outerShdw blurRad="38100" dist="38100" dir="2700000" algn="tl">
                    <a:srgbClr val="FFFFFF"/>
                  </a:outerShdw>
                </a:effectLst>
                <a:latin typeface="Gill Sans MT" pitchFamily="34" charset="0"/>
              </a:rPr>
              <a:t>cpu</a:t>
            </a:r>
          </a:p>
        </p:txBody>
      </p:sp>
      <p:sp>
        <p:nvSpPr>
          <p:cNvPr id="226310" name="Line 7"/>
          <p:cNvSpPr>
            <a:spLocks noChangeShapeType="1"/>
          </p:cNvSpPr>
          <p:nvPr/>
        </p:nvSpPr>
        <p:spPr bwMode="auto">
          <a:xfrm>
            <a:off x="1771650" y="3695700"/>
            <a:ext cx="2076450" cy="0"/>
          </a:xfrm>
          <a:prstGeom prst="line">
            <a:avLst/>
          </a:prstGeom>
          <a:noFill/>
          <a:ln w="9525">
            <a:solidFill>
              <a:schemeClr val="tx1"/>
            </a:solidFill>
            <a:round/>
            <a:headEnd/>
            <a:tailEnd type="triangle" w="med" len="med"/>
          </a:ln>
        </p:spPr>
        <p:txBody>
          <a:bodyPr wrap="none" anchor="ctr"/>
          <a:lstStyle/>
          <a:p>
            <a:endParaRPr lang="en-US"/>
          </a:p>
        </p:txBody>
      </p:sp>
      <p:sp>
        <p:nvSpPr>
          <p:cNvPr id="226311" name="Line 8"/>
          <p:cNvSpPr>
            <a:spLocks noChangeShapeType="1"/>
          </p:cNvSpPr>
          <p:nvPr/>
        </p:nvSpPr>
        <p:spPr bwMode="auto">
          <a:xfrm>
            <a:off x="4781550" y="3733800"/>
            <a:ext cx="1809750" cy="0"/>
          </a:xfrm>
          <a:prstGeom prst="line">
            <a:avLst/>
          </a:prstGeom>
          <a:noFill/>
          <a:ln w="9525">
            <a:solidFill>
              <a:schemeClr val="tx1"/>
            </a:solidFill>
            <a:round/>
            <a:headEnd/>
            <a:tailEnd type="triangle" w="med" len="med"/>
          </a:ln>
        </p:spPr>
        <p:txBody>
          <a:bodyPr wrap="none" anchor="ctr"/>
          <a:lstStyle/>
          <a:p>
            <a:endParaRPr lang="en-US"/>
          </a:p>
        </p:txBody>
      </p:sp>
      <p:sp>
        <p:nvSpPr>
          <p:cNvPr id="244745" name="Text Box 9"/>
          <p:cNvSpPr txBox="1">
            <a:spLocks noChangeArrowheads="1"/>
          </p:cNvSpPr>
          <p:nvPr/>
        </p:nvSpPr>
        <p:spPr bwMode="auto">
          <a:xfrm>
            <a:off x="1219201" y="3352800"/>
            <a:ext cx="1798638" cy="1323439"/>
          </a:xfrm>
          <a:prstGeom prst="rect">
            <a:avLst/>
          </a:prstGeom>
          <a:noFill/>
          <a:ln w="9525">
            <a:noFill/>
            <a:miter lim="800000"/>
            <a:headEnd/>
            <a:tailEnd/>
          </a:ln>
          <a:effectLst/>
        </p:spPr>
        <p:txBody>
          <a:bodyPr wrap="square">
            <a:spAutoFit/>
          </a:bodyPr>
          <a:lstStyle/>
          <a:p>
            <a:r>
              <a:rPr lang="en-US" sz="2000" dirty="0" smtClean="0">
                <a:effectLst>
                  <a:outerShdw blurRad="38100" dist="38100" dir="2700000" algn="tl">
                    <a:srgbClr val="C0C0C0"/>
                  </a:outerShdw>
                </a:effectLst>
                <a:latin typeface="Gill Sans MT" pitchFamily="34" charset="0"/>
              </a:rPr>
              <a:t>         Logical</a:t>
            </a:r>
            <a:endParaRPr lang="en-US" sz="2000" dirty="0">
              <a:effectLst>
                <a:outerShdw blurRad="38100" dist="38100" dir="2700000" algn="tl">
                  <a:srgbClr val="C0C0C0"/>
                </a:outerShdw>
              </a:effectLst>
              <a:latin typeface="Gill Sans MT" pitchFamily="34" charset="0"/>
            </a:endParaRPr>
          </a:p>
          <a:p>
            <a:r>
              <a:rPr lang="en-US" sz="2000" dirty="0" smtClean="0">
                <a:effectLst>
                  <a:outerShdw blurRad="38100" dist="38100" dir="2700000" algn="tl">
                    <a:srgbClr val="C0C0C0"/>
                  </a:outerShdw>
                </a:effectLst>
                <a:latin typeface="Gill Sans MT" pitchFamily="34" charset="0"/>
              </a:rPr>
              <a:t>         Address</a:t>
            </a:r>
            <a:endParaRPr lang="en-US" sz="2000" dirty="0">
              <a:effectLst>
                <a:outerShdw blurRad="38100" dist="38100" dir="2700000" algn="tl">
                  <a:srgbClr val="C0C0C0"/>
                </a:outerShdw>
              </a:effectLst>
              <a:latin typeface="Gill Sans MT" pitchFamily="34" charset="0"/>
            </a:endParaRPr>
          </a:p>
          <a:p>
            <a:endParaRPr lang="en-US" sz="2000" dirty="0">
              <a:effectLst>
                <a:outerShdw blurRad="38100" dist="38100" dir="2700000" algn="tl">
                  <a:srgbClr val="C0C0C0"/>
                </a:outerShdw>
              </a:effectLst>
              <a:latin typeface="Gill Sans MT" pitchFamily="34" charset="0"/>
            </a:endParaRPr>
          </a:p>
          <a:p>
            <a:r>
              <a:rPr lang="en-US" sz="2000" dirty="0" smtClean="0">
                <a:effectLst>
                  <a:outerShdw blurRad="38100" dist="38100" dir="2700000" algn="tl">
                    <a:srgbClr val="C0C0C0"/>
                  </a:outerShdw>
                </a:effectLst>
                <a:latin typeface="Gill Sans MT" pitchFamily="34" charset="0"/>
              </a:rPr>
              <a:t>          350</a:t>
            </a:r>
            <a:endParaRPr lang="en-US" sz="2000" dirty="0">
              <a:effectLst>
                <a:outerShdw blurRad="38100" dist="38100" dir="2700000" algn="tl">
                  <a:srgbClr val="C0C0C0"/>
                </a:outerShdw>
              </a:effectLst>
              <a:latin typeface="Gill Sans MT" pitchFamily="34" charset="0"/>
            </a:endParaRPr>
          </a:p>
        </p:txBody>
      </p:sp>
      <p:sp>
        <p:nvSpPr>
          <p:cNvPr id="244746" name="Text Box 10"/>
          <p:cNvSpPr txBox="1">
            <a:spLocks noChangeArrowheads="1"/>
          </p:cNvSpPr>
          <p:nvPr/>
        </p:nvSpPr>
        <p:spPr bwMode="auto">
          <a:xfrm>
            <a:off x="3048000" y="5237163"/>
            <a:ext cx="2447721" cy="707886"/>
          </a:xfrm>
          <a:prstGeom prst="rect">
            <a:avLst/>
          </a:prstGeom>
          <a:noFill/>
          <a:ln w="9525">
            <a:noFill/>
            <a:miter lim="800000"/>
            <a:headEnd/>
            <a:tailEnd/>
          </a:ln>
          <a:effectLst/>
        </p:spPr>
        <p:txBody>
          <a:bodyPr wrap="none">
            <a:spAutoFit/>
          </a:bodyPr>
          <a:lstStyle/>
          <a:p>
            <a:pPr>
              <a:defRPr/>
            </a:pPr>
            <a:r>
              <a:rPr lang="en-US" sz="2000" dirty="0" smtClean="0">
                <a:effectLst>
                  <a:outerShdw blurRad="38100" dist="38100" dir="2700000" algn="tl">
                    <a:srgbClr val="C0C0C0"/>
                  </a:outerShdw>
                </a:effectLst>
                <a:latin typeface="Gill Sans MT" pitchFamily="34" charset="0"/>
              </a:rPr>
              <a:t>Memory management</a:t>
            </a:r>
          </a:p>
          <a:p>
            <a:pPr>
              <a:defRPr/>
            </a:pPr>
            <a:r>
              <a:rPr lang="en-US" sz="2000" dirty="0" smtClean="0">
                <a:effectLst>
                  <a:outerShdw blurRad="38100" dist="38100" dir="2700000" algn="tl">
                    <a:srgbClr val="C0C0C0"/>
                  </a:outerShdw>
                </a:effectLst>
                <a:latin typeface="Gill Sans MT" pitchFamily="34" charset="0"/>
              </a:rPr>
              <a:t>unit</a:t>
            </a:r>
            <a:endParaRPr lang="en-US" sz="2000" dirty="0">
              <a:effectLst>
                <a:outerShdw blurRad="38100" dist="38100" dir="2700000" algn="tl">
                  <a:srgbClr val="C0C0C0"/>
                </a:outerShdw>
              </a:effectLst>
              <a:latin typeface="Gill Sans MT" pitchFamily="34" charset="0"/>
            </a:endParaRPr>
          </a:p>
        </p:txBody>
      </p:sp>
      <p:sp>
        <p:nvSpPr>
          <p:cNvPr id="244747" name="Text Box 11"/>
          <p:cNvSpPr txBox="1">
            <a:spLocks noChangeArrowheads="1"/>
          </p:cNvSpPr>
          <p:nvPr/>
        </p:nvSpPr>
        <p:spPr bwMode="auto">
          <a:xfrm>
            <a:off x="5508625" y="2989263"/>
            <a:ext cx="1033463" cy="1311275"/>
          </a:xfrm>
          <a:prstGeom prst="rect">
            <a:avLst/>
          </a:prstGeom>
          <a:noFill/>
          <a:ln w="9525">
            <a:noFill/>
            <a:miter lim="800000"/>
            <a:headEnd/>
            <a:tailEnd/>
          </a:ln>
          <a:effectLst/>
        </p:spPr>
        <p:txBody>
          <a:bodyPr wrap="none">
            <a:spAutoFit/>
          </a:bodyPr>
          <a:lstStyle/>
          <a:p>
            <a:r>
              <a:rPr lang="en-US" sz="2000" dirty="0">
                <a:effectLst>
                  <a:outerShdw blurRad="38100" dist="38100" dir="2700000" algn="tl">
                    <a:srgbClr val="C0C0C0"/>
                  </a:outerShdw>
                </a:effectLst>
                <a:latin typeface="Gill Sans MT" pitchFamily="34" charset="0"/>
              </a:rPr>
              <a:t>Physical</a:t>
            </a:r>
          </a:p>
          <a:p>
            <a:r>
              <a:rPr lang="en-US" sz="2000" dirty="0">
                <a:effectLst>
                  <a:outerShdw blurRad="38100" dist="38100" dir="2700000" algn="tl">
                    <a:srgbClr val="C0C0C0"/>
                  </a:outerShdw>
                </a:effectLst>
                <a:latin typeface="Gill Sans MT" pitchFamily="34" charset="0"/>
              </a:rPr>
              <a:t>Address</a:t>
            </a:r>
          </a:p>
          <a:p>
            <a:endParaRPr lang="en-US" sz="2000" dirty="0">
              <a:effectLst>
                <a:outerShdw blurRad="38100" dist="38100" dir="2700000" algn="tl">
                  <a:srgbClr val="C0C0C0"/>
                </a:outerShdw>
              </a:effectLst>
              <a:latin typeface="Gill Sans MT" pitchFamily="34" charset="0"/>
            </a:endParaRPr>
          </a:p>
          <a:p>
            <a:r>
              <a:rPr lang="en-US" sz="2000" dirty="0" smtClean="0">
                <a:effectLst>
                  <a:outerShdw blurRad="38100" dist="38100" dir="2700000" algn="tl">
                    <a:srgbClr val="C0C0C0"/>
                  </a:outerShdw>
                </a:effectLst>
                <a:latin typeface="Gill Sans MT" pitchFamily="34" charset="0"/>
              </a:rPr>
              <a:t>15350</a:t>
            </a:r>
            <a:endParaRPr lang="en-US" sz="2000" dirty="0">
              <a:effectLst>
                <a:outerShdw blurRad="38100" dist="38100" dir="2700000" algn="tl">
                  <a:srgbClr val="C0C0C0"/>
                </a:outerShdw>
              </a:effectLst>
              <a:latin typeface="Gill Sans MT" pitchFamily="34" charset="0"/>
            </a:endParaRPr>
          </a:p>
        </p:txBody>
      </p:sp>
      <p:sp>
        <p:nvSpPr>
          <p:cNvPr id="244748" name="Text Box 12"/>
          <p:cNvSpPr txBox="1">
            <a:spLocks noChangeArrowheads="1"/>
          </p:cNvSpPr>
          <p:nvPr/>
        </p:nvSpPr>
        <p:spPr bwMode="auto">
          <a:xfrm>
            <a:off x="3622675" y="2474913"/>
            <a:ext cx="1363663" cy="708025"/>
          </a:xfrm>
          <a:prstGeom prst="rect">
            <a:avLst/>
          </a:prstGeom>
          <a:noFill/>
          <a:ln w="9525">
            <a:no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Relocation </a:t>
            </a:r>
          </a:p>
          <a:p>
            <a:pPr>
              <a:defRPr/>
            </a:pPr>
            <a:r>
              <a:rPr lang="en-US" sz="2000" dirty="0">
                <a:effectLst>
                  <a:outerShdw blurRad="38100" dist="38100" dir="2700000" algn="tl">
                    <a:srgbClr val="C0C0C0"/>
                  </a:outerShdw>
                </a:effectLst>
                <a:latin typeface="Gill Sans MT" pitchFamily="34" charset="0"/>
              </a:rPr>
              <a:t>register</a:t>
            </a:r>
          </a:p>
        </p:txBody>
      </p:sp>
      <p:sp>
        <p:nvSpPr>
          <p:cNvPr id="244749" name="Text Box 13"/>
          <p:cNvSpPr txBox="1">
            <a:spLocks noChangeArrowheads="1"/>
          </p:cNvSpPr>
          <p:nvPr/>
        </p:nvSpPr>
        <p:spPr bwMode="auto">
          <a:xfrm>
            <a:off x="3813175" y="3103563"/>
            <a:ext cx="825500" cy="400050"/>
          </a:xfrm>
          <a:prstGeom prst="rect">
            <a:avLst/>
          </a:prstGeom>
          <a:noFill/>
          <a:ln w="9525">
            <a:no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15000</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Content Placeholder 1"/>
          <p:cNvSpPr>
            <a:spLocks noGrp="1"/>
          </p:cNvSpPr>
          <p:nvPr>
            <p:ph idx="1"/>
          </p:nvPr>
        </p:nvSpPr>
        <p:spPr/>
        <p:txBody>
          <a:bodyPr/>
          <a:lstStyle/>
          <a:p>
            <a:endParaRPr lang="en-US" dirty="0" smtClean="0"/>
          </a:p>
          <a:p>
            <a:pPr algn="just"/>
            <a:r>
              <a:rPr lang="en-US" dirty="0" smtClean="0"/>
              <a:t>Better memory-space utilization;  routine not used is never loaded.</a:t>
            </a:r>
          </a:p>
          <a:p>
            <a:pPr algn="just"/>
            <a:endParaRPr lang="en-US" dirty="0" smtClean="0"/>
          </a:p>
          <a:p>
            <a:pPr algn="just"/>
            <a:r>
              <a:rPr lang="en-US" dirty="0" smtClean="0"/>
              <a:t>Especially useful when, Large amounts of code are needed to handle infrequently occurring cases.</a:t>
            </a:r>
          </a:p>
          <a:p>
            <a:pPr algn="just"/>
            <a:endParaRPr lang="en-US" dirty="0" smtClean="0"/>
          </a:p>
          <a:p>
            <a:pPr algn="just"/>
            <a:r>
              <a:rPr lang="en-US" dirty="0" smtClean="0"/>
              <a:t>No special support required from the operating system as implemented through program design</a:t>
            </a:r>
          </a:p>
        </p:txBody>
      </p:sp>
      <p:sp>
        <p:nvSpPr>
          <p:cNvPr id="228354" name="Rectangle 2"/>
          <p:cNvSpPr>
            <a:spLocks noGrp="1" noChangeArrowheads="1"/>
          </p:cNvSpPr>
          <p:nvPr>
            <p:ph type="title"/>
          </p:nvPr>
        </p:nvSpPr>
        <p:spPr>
          <a:xfrm>
            <a:off x="0" y="228600"/>
            <a:ext cx="7564438" cy="914400"/>
          </a:xfrm>
        </p:spPr>
        <p:txBody>
          <a:bodyPr anchor="t"/>
          <a:lstStyle/>
          <a:p>
            <a:r>
              <a:rPr lang="en-US" dirty="0" smtClean="0"/>
              <a:t>Memory Management operations (Contd.).</a:t>
            </a: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Rectangle 3"/>
          <p:cNvSpPr>
            <a:spLocks noGrp="1" noChangeArrowheads="1"/>
          </p:cNvSpPr>
          <p:nvPr>
            <p:ph idx="1"/>
          </p:nvPr>
        </p:nvSpPr>
        <p:spPr/>
        <p:txBody>
          <a:bodyPr/>
          <a:lstStyle/>
          <a:p>
            <a:pPr algn="just"/>
            <a:r>
              <a:rPr lang="en-US" dirty="0" smtClean="0"/>
              <a:t>Dynamic linking is particularly useful for libraries.</a:t>
            </a:r>
          </a:p>
          <a:p>
            <a:pPr algn="just"/>
            <a:r>
              <a:rPr lang="en-US" dirty="0" smtClean="0"/>
              <a:t>Linking postponed until execution time.</a:t>
            </a:r>
          </a:p>
          <a:p>
            <a:pPr algn="just"/>
            <a:r>
              <a:rPr lang="en-US" dirty="0" smtClean="0"/>
              <a:t>Small piece of code, stub, used to locate the appropriate memory-resident library routine.</a:t>
            </a:r>
          </a:p>
          <a:p>
            <a:pPr algn="just"/>
            <a:r>
              <a:rPr lang="en-US" dirty="0" smtClean="0"/>
              <a:t>Stub replaces itself with the address of the routine, and executes the routine.</a:t>
            </a:r>
          </a:p>
          <a:p>
            <a:pPr algn="just"/>
            <a:r>
              <a:rPr lang="en-US" dirty="0" smtClean="0"/>
              <a:t>OS needs to check if routine is in processes’ memory address.</a:t>
            </a:r>
          </a:p>
          <a:p>
            <a:pPr algn="just"/>
            <a:endParaRPr lang="en-US" dirty="0" smtClean="0"/>
          </a:p>
          <a:p>
            <a:pPr>
              <a:buNone/>
            </a:pPr>
            <a:endParaRPr lang="en-US" dirty="0" smtClean="0"/>
          </a:p>
        </p:txBody>
      </p:sp>
      <p:sp>
        <p:nvSpPr>
          <p:cNvPr id="229378" name="Rectangle 2"/>
          <p:cNvSpPr>
            <a:spLocks noGrp="1" noChangeArrowheads="1"/>
          </p:cNvSpPr>
          <p:nvPr>
            <p:ph type="title"/>
          </p:nvPr>
        </p:nvSpPr>
        <p:spPr>
          <a:xfrm>
            <a:off x="3175" y="0"/>
            <a:ext cx="7564438" cy="914400"/>
          </a:xfrm>
        </p:spPr>
        <p:txBody>
          <a:bodyPr/>
          <a:lstStyle/>
          <a:p>
            <a:r>
              <a:rPr lang="en-US" smtClean="0"/>
              <a:t>Dynamic Linking</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Content Placeholder 1"/>
          <p:cNvSpPr>
            <a:spLocks noGrp="1"/>
          </p:cNvSpPr>
          <p:nvPr>
            <p:ph idx="1"/>
          </p:nvPr>
        </p:nvSpPr>
        <p:spPr/>
        <p:txBody>
          <a:bodyPr/>
          <a:lstStyle/>
          <a:p>
            <a:r>
              <a:rPr lang="en-US" dirty="0" smtClean="0"/>
              <a:t>Maintains  in memory only those statements and data required at any given time.</a:t>
            </a:r>
            <a:br>
              <a:rPr lang="en-US" dirty="0" smtClean="0"/>
            </a:br>
            <a:endParaRPr lang="en-US" dirty="0" smtClean="0"/>
          </a:p>
          <a:p>
            <a:r>
              <a:rPr lang="en-US" dirty="0" smtClean="0"/>
              <a:t>Required when process is more than amount of memory allocated to it.</a:t>
            </a:r>
            <a:br>
              <a:rPr lang="en-US" dirty="0" smtClean="0"/>
            </a:br>
            <a:endParaRPr lang="en-US" dirty="0" smtClean="0"/>
          </a:p>
        </p:txBody>
      </p:sp>
      <p:sp>
        <p:nvSpPr>
          <p:cNvPr id="231426" name="Rectangle 2"/>
          <p:cNvSpPr>
            <a:spLocks noGrp="1" noChangeArrowheads="1"/>
          </p:cNvSpPr>
          <p:nvPr>
            <p:ph type="title"/>
          </p:nvPr>
        </p:nvSpPr>
        <p:spPr>
          <a:xfrm>
            <a:off x="0" y="228600"/>
            <a:ext cx="7564438" cy="914400"/>
          </a:xfrm>
        </p:spPr>
        <p:txBody>
          <a:bodyPr anchor="t"/>
          <a:lstStyle/>
          <a:p>
            <a:r>
              <a:rPr lang="en-US" dirty="0" smtClean="0"/>
              <a:t>Overlays</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Content Placeholder 1"/>
          <p:cNvSpPr>
            <a:spLocks noGrp="1"/>
          </p:cNvSpPr>
          <p:nvPr>
            <p:ph idx="1"/>
          </p:nvPr>
        </p:nvSpPr>
        <p:spPr>
          <a:xfrm>
            <a:off x="457200" y="1371600"/>
            <a:ext cx="8229600" cy="5105400"/>
          </a:xfrm>
        </p:spPr>
        <p:txBody>
          <a:bodyPr/>
          <a:lstStyle/>
          <a:p>
            <a:pPr algn="just"/>
            <a:r>
              <a:rPr lang="en-US" dirty="0" smtClean="0"/>
              <a:t>back up storage – fast disk large enough to accommodate copies of all memory images for all users; must provide direct access to these memory images</a:t>
            </a:r>
          </a:p>
          <a:p>
            <a:endParaRPr lang="en-US" dirty="0" smtClean="0"/>
          </a:p>
          <a:p>
            <a:pPr algn="just"/>
            <a:r>
              <a:rPr lang="en-US" dirty="0" smtClean="0"/>
              <a:t>Major part of swap time is transfer time; total transfer time is directly proportional to the amount of memory swapped</a:t>
            </a:r>
          </a:p>
          <a:p>
            <a:endParaRPr lang="en-US" dirty="0" smtClean="0"/>
          </a:p>
          <a:p>
            <a:r>
              <a:rPr lang="en-US" dirty="0" smtClean="0"/>
              <a:t>Modified versions of swapping are found on many systems,.</a:t>
            </a:r>
          </a:p>
        </p:txBody>
      </p:sp>
      <p:sp>
        <p:nvSpPr>
          <p:cNvPr id="232450" name="Rectangle 2"/>
          <p:cNvSpPr>
            <a:spLocks noGrp="1" noChangeArrowheads="1"/>
          </p:cNvSpPr>
          <p:nvPr>
            <p:ph type="title"/>
          </p:nvPr>
        </p:nvSpPr>
        <p:spPr>
          <a:xfrm>
            <a:off x="3175" y="0"/>
            <a:ext cx="7564438" cy="914400"/>
          </a:xfrm>
        </p:spPr>
        <p:txBody>
          <a:bodyPr anchor="t"/>
          <a:lstStyle/>
          <a:p>
            <a:r>
              <a:rPr lang="en-US" smtClean="0"/>
              <a:t>Swapping</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Rectangle 2"/>
          <p:cNvSpPr>
            <a:spLocks noGrp="1" noChangeArrowheads="1"/>
          </p:cNvSpPr>
          <p:nvPr>
            <p:ph type="title"/>
          </p:nvPr>
        </p:nvSpPr>
        <p:spPr>
          <a:xfrm>
            <a:off x="0" y="228600"/>
            <a:ext cx="7564438" cy="914400"/>
          </a:xfrm>
        </p:spPr>
        <p:txBody>
          <a:bodyPr anchor="t"/>
          <a:lstStyle/>
          <a:p>
            <a:r>
              <a:rPr lang="en-US" dirty="0" smtClean="0"/>
              <a:t>Swapping - Schematic View </a:t>
            </a:r>
          </a:p>
        </p:txBody>
      </p:sp>
      <p:sp>
        <p:nvSpPr>
          <p:cNvPr id="254979" name="AutoShape 3"/>
          <p:cNvSpPr>
            <a:spLocks noChangeArrowheads="1"/>
          </p:cNvSpPr>
          <p:nvPr/>
        </p:nvSpPr>
        <p:spPr bwMode="auto">
          <a:xfrm>
            <a:off x="1314450" y="3695700"/>
            <a:ext cx="2895600" cy="2076450"/>
          </a:xfrm>
          <a:prstGeom prst="can">
            <a:avLst>
              <a:gd name="adj" fmla="val 50000"/>
            </a:avLst>
          </a:prstGeom>
          <a:solidFill>
            <a:schemeClr val="accent1"/>
          </a:solidFill>
          <a:ln w="9525">
            <a:solidFill>
              <a:schemeClr val="tx1"/>
            </a:solidFill>
            <a:round/>
            <a:headEnd/>
            <a:tailEnd/>
          </a:ln>
          <a:effectLst/>
        </p:spPr>
        <p:txBody>
          <a:bodyPr wrap="none" anchor="ctr"/>
          <a:lstStyle/>
          <a:p>
            <a:pPr algn="ctr">
              <a:defRPr/>
            </a:pPr>
            <a:endParaRPr lang="hi-IN" sz="2000" dirty="0">
              <a:effectLst>
                <a:outerShdw blurRad="38100" dist="38100" dir="2700000" algn="tl">
                  <a:srgbClr val="FFFFFF"/>
                </a:outerShdw>
              </a:effectLst>
              <a:latin typeface="Gill Sans MT" pitchFamily="34" charset="0"/>
            </a:endParaRPr>
          </a:p>
        </p:txBody>
      </p:sp>
      <p:sp>
        <p:nvSpPr>
          <p:cNvPr id="233475" name="Line 4"/>
          <p:cNvSpPr>
            <a:spLocks noChangeShapeType="1"/>
          </p:cNvSpPr>
          <p:nvPr/>
        </p:nvSpPr>
        <p:spPr bwMode="auto">
          <a:xfrm>
            <a:off x="1943100" y="3810000"/>
            <a:ext cx="876300" cy="514350"/>
          </a:xfrm>
          <a:prstGeom prst="line">
            <a:avLst/>
          </a:prstGeom>
          <a:noFill/>
          <a:ln w="9525">
            <a:solidFill>
              <a:schemeClr val="tx1"/>
            </a:solidFill>
            <a:round/>
            <a:headEnd/>
            <a:tailEnd/>
          </a:ln>
        </p:spPr>
        <p:txBody>
          <a:bodyPr wrap="none" anchor="ctr"/>
          <a:lstStyle/>
          <a:p>
            <a:endParaRPr lang="en-US"/>
          </a:p>
        </p:txBody>
      </p:sp>
      <p:sp>
        <p:nvSpPr>
          <p:cNvPr id="233476" name="Line 5"/>
          <p:cNvSpPr>
            <a:spLocks noChangeShapeType="1"/>
          </p:cNvSpPr>
          <p:nvPr/>
        </p:nvSpPr>
        <p:spPr bwMode="auto">
          <a:xfrm flipV="1">
            <a:off x="2800350" y="4114800"/>
            <a:ext cx="1371600" cy="228600"/>
          </a:xfrm>
          <a:prstGeom prst="line">
            <a:avLst/>
          </a:prstGeom>
          <a:noFill/>
          <a:ln w="9525">
            <a:solidFill>
              <a:schemeClr val="tx1"/>
            </a:solidFill>
            <a:round/>
            <a:headEnd/>
            <a:tailEnd/>
          </a:ln>
        </p:spPr>
        <p:txBody>
          <a:bodyPr wrap="none" anchor="ctr"/>
          <a:lstStyle/>
          <a:p>
            <a:endParaRPr lang="en-US"/>
          </a:p>
        </p:txBody>
      </p:sp>
      <p:sp>
        <p:nvSpPr>
          <p:cNvPr id="254982" name="Text Box 6"/>
          <p:cNvSpPr txBox="1">
            <a:spLocks noChangeArrowheads="1"/>
          </p:cNvSpPr>
          <p:nvPr/>
        </p:nvSpPr>
        <p:spPr bwMode="auto">
          <a:xfrm>
            <a:off x="2193925" y="3732213"/>
            <a:ext cx="1364476" cy="400110"/>
          </a:xfrm>
          <a:prstGeom prst="rect">
            <a:avLst/>
          </a:prstGeom>
          <a:noFill/>
          <a:ln w="9525">
            <a:noFill/>
            <a:miter lim="800000"/>
            <a:headEnd/>
            <a:tailEnd/>
          </a:ln>
          <a:effectLst/>
        </p:spPr>
        <p:txBody>
          <a:bodyPr wrap="none">
            <a:spAutoFit/>
          </a:bodyPr>
          <a:lstStyle/>
          <a:p>
            <a:pPr>
              <a:defRPr/>
            </a:pPr>
            <a:r>
              <a:rPr lang="en-US" sz="2000" dirty="0" smtClean="0">
                <a:effectLst>
                  <a:outerShdw blurRad="38100" dist="38100" dir="2700000" algn="tl">
                    <a:srgbClr val="C0C0C0"/>
                  </a:outerShdw>
                </a:effectLst>
                <a:latin typeface="Gill Sans MT" pitchFamily="34" charset="0"/>
              </a:rPr>
              <a:t>P</a:t>
            </a:r>
            <a:r>
              <a:rPr lang="en-US" sz="2000" baseline="-25000" dirty="0" smtClean="0">
                <a:effectLst>
                  <a:outerShdw blurRad="38100" dist="38100" dir="2700000" algn="tl">
                    <a:srgbClr val="C0C0C0"/>
                  </a:outerShdw>
                </a:effectLst>
                <a:latin typeface="Gill Sans MT" pitchFamily="34" charset="0"/>
              </a:rPr>
              <a:t>I</a:t>
            </a:r>
            <a:r>
              <a:rPr lang="en-US" sz="2000" dirty="0">
                <a:effectLst>
                  <a:outerShdw blurRad="38100" dist="38100" dir="2700000" algn="tl">
                    <a:srgbClr val="C0C0C0"/>
                  </a:outerShdw>
                </a:effectLst>
                <a:latin typeface="Gill Sans MT" pitchFamily="34" charset="0"/>
              </a:rPr>
              <a:t>	</a:t>
            </a:r>
            <a:r>
              <a:rPr lang="en-US" sz="2000" dirty="0" err="1" smtClean="0">
                <a:effectLst>
                  <a:outerShdw blurRad="38100" dist="38100" dir="2700000" algn="tl">
                    <a:srgbClr val="C0C0C0"/>
                  </a:outerShdw>
                </a:effectLst>
                <a:latin typeface="Gill Sans MT" pitchFamily="34" charset="0"/>
              </a:rPr>
              <a:t>pII</a:t>
            </a:r>
            <a:endParaRPr lang="en-US" sz="2000" dirty="0">
              <a:effectLst>
                <a:outerShdw blurRad="38100" dist="38100" dir="2700000" algn="tl">
                  <a:srgbClr val="C0C0C0"/>
                </a:outerShdw>
              </a:effectLst>
              <a:latin typeface="Gill Sans MT" pitchFamily="34" charset="0"/>
            </a:endParaRPr>
          </a:p>
        </p:txBody>
      </p:sp>
      <p:grpSp>
        <p:nvGrpSpPr>
          <p:cNvPr id="233478" name="Group 7"/>
          <p:cNvGrpSpPr>
            <a:grpSpLocks/>
          </p:cNvGrpSpPr>
          <p:nvPr/>
        </p:nvGrpSpPr>
        <p:grpSpPr bwMode="auto">
          <a:xfrm>
            <a:off x="762000" y="1371600"/>
            <a:ext cx="6686550" cy="862013"/>
            <a:chOff x="1296" y="1032"/>
            <a:chExt cx="4212" cy="543"/>
          </a:xfrm>
        </p:grpSpPr>
        <p:sp>
          <p:nvSpPr>
            <p:cNvPr id="254984" name="Text Box 8"/>
            <p:cNvSpPr txBox="1">
              <a:spLocks noChangeArrowheads="1"/>
            </p:cNvSpPr>
            <p:nvPr/>
          </p:nvSpPr>
          <p:spPr bwMode="auto">
            <a:xfrm>
              <a:off x="1296" y="1032"/>
              <a:ext cx="4212" cy="543"/>
            </a:xfrm>
            <a:prstGeom prst="rect">
              <a:avLst/>
            </a:prstGeom>
            <a:noFill/>
            <a:ln w="9525">
              <a:solidFill>
                <a:schemeClr val="tx1"/>
              </a:solidFill>
              <a:miter lim="800000"/>
              <a:headEnd/>
              <a:tailEnd/>
            </a:ln>
            <a:effectLst/>
          </p:spPr>
          <p:txBody>
            <a:bodyPr>
              <a:spAutoFit/>
            </a:bodyPr>
            <a:lstStyle/>
            <a:p>
              <a:pPr>
                <a:spcBef>
                  <a:spcPct val="50000"/>
                </a:spcBef>
                <a:defRPr/>
              </a:pPr>
              <a:r>
                <a:rPr lang="en-US" sz="2000" dirty="0">
                  <a:effectLst>
                    <a:outerShdw blurRad="38100" dist="38100" dir="2700000" algn="tl">
                      <a:srgbClr val="C0C0C0"/>
                    </a:outerShdw>
                  </a:effectLst>
                  <a:latin typeface="Gill Sans MT" pitchFamily="34" charset="0"/>
                </a:rPr>
                <a:t>Operating				user  space	</a:t>
              </a:r>
            </a:p>
            <a:p>
              <a:pPr>
                <a:spcBef>
                  <a:spcPct val="50000"/>
                </a:spcBef>
                <a:defRPr/>
              </a:pPr>
              <a:r>
                <a:rPr lang="en-US" sz="2000" dirty="0">
                  <a:effectLst>
                    <a:outerShdw blurRad="38100" dist="38100" dir="2700000" algn="tl">
                      <a:srgbClr val="C0C0C0"/>
                    </a:outerShdw>
                  </a:effectLst>
                  <a:latin typeface="Gill Sans MT" pitchFamily="34" charset="0"/>
                </a:rPr>
                <a:t>System	</a:t>
              </a:r>
            </a:p>
          </p:txBody>
        </p:sp>
        <p:sp>
          <p:nvSpPr>
            <p:cNvPr id="254985" name="Text Box 9"/>
            <p:cNvSpPr txBox="1">
              <a:spLocks noChangeArrowheads="1"/>
            </p:cNvSpPr>
            <p:nvPr/>
          </p:nvSpPr>
          <p:spPr bwMode="auto">
            <a:xfrm>
              <a:off x="1332" y="1056"/>
              <a:ext cx="996" cy="252"/>
            </a:xfrm>
            <a:prstGeom prst="rect">
              <a:avLst/>
            </a:prstGeom>
            <a:noFill/>
            <a:ln w="9525">
              <a:noFill/>
              <a:miter lim="800000"/>
              <a:headEnd/>
              <a:tailEnd/>
            </a:ln>
            <a:effectLst/>
          </p:spPr>
          <p:txBody>
            <a:bodyPr>
              <a:spAutoFit/>
            </a:bodyPr>
            <a:lstStyle/>
            <a:p>
              <a:pPr>
                <a:spcBef>
                  <a:spcPct val="50000"/>
                </a:spcBef>
                <a:defRPr/>
              </a:pPr>
              <a:endParaRPr lang="hi-IN" sz="2000">
                <a:effectLst>
                  <a:outerShdw blurRad="38100" dist="38100" dir="2700000" algn="tl">
                    <a:srgbClr val="C0C0C0"/>
                  </a:outerShdw>
                </a:effectLst>
                <a:latin typeface="Gill Sans MT" pitchFamily="34" charset="0"/>
              </a:endParaRPr>
            </a:p>
          </p:txBody>
        </p:sp>
        <p:sp>
          <p:nvSpPr>
            <p:cNvPr id="233487" name="Line 10"/>
            <p:cNvSpPr>
              <a:spLocks noChangeShapeType="1"/>
            </p:cNvSpPr>
            <p:nvPr/>
          </p:nvSpPr>
          <p:spPr bwMode="auto">
            <a:xfrm>
              <a:off x="2196" y="1032"/>
              <a:ext cx="0" cy="504"/>
            </a:xfrm>
            <a:prstGeom prst="line">
              <a:avLst/>
            </a:prstGeom>
            <a:noFill/>
            <a:ln w="9525">
              <a:solidFill>
                <a:schemeClr val="tx1"/>
              </a:solidFill>
              <a:round/>
              <a:headEnd/>
              <a:tailEnd/>
            </a:ln>
          </p:spPr>
          <p:txBody>
            <a:bodyPr wrap="none" anchor="ctr"/>
            <a:lstStyle/>
            <a:p>
              <a:endParaRPr lang="en-US"/>
            </a:p>
          </p:txBody>
        </p:sp>
      </p:grpSp>
      <p:sp>
        <p:nvSpPr>
          <p:cNvPr id="233479" name="Line 11"/>
          <p:cNvSpPr>
            <a:spLocks noChangeShapeType="1"/>
          </p:cNvSpPr>
          <p:nvPr/>
        </p:nvSpPr>
        <p:spPr bwMode="auto">
          <a:xfrm flipH="1">
            <a:off x="2514600" y="2114550"/>
            <a:ext cx="1714500" cy="1714500"/>
          </a:xfrm>
          <a:prstGeom prst="line">
            <a:avLst/>
          </a:prstGeom>
          <a:noFill/>
          <a:ln w="38100">
            <a:solidFill>
              <a:schemeClr val="tx1"/>
            </a:solidFill>
            <a:round/>
            <a:headEnd/>
            <a:tailEnd type="triangle" w="med" len="med"/>
          </a:ln>
        </p:spPr>
        <p:txBody>
          <a:bodyPr wrap="none" anchor="ctr"/>
          <a:lstStyle/>
          <a:p>
            <a:endParaRPr lang="en-US"/>
          </a:p>
        </p:txBody>
      </p:sp>
      <p:sp>
        <p:nvSpPr>
          <p:cNvPr id="233480" name="Line 12"/>
          <p:cNvSpPr>
            <a:spLocks noChangeShapeType="1"/>
          </p:cNvSpPr>
          <p:nvPr/>
        </p:nvSpPr>
        <p:spPr bwMode="auto">
          <a:xfrm flipV="1">
            <a:off x="3448050" y="2209800"/>
            <a:ext cx="1752600" cy="1676400"/>
          </a:xfrm>
          <a:prstGeom prst="line">
            <a:avLst/>
          </a:prstGeom>
          <a:noFill/>
          <a:ln w="38100">
            <a:solidFill>
              <a:schemeClr val="tx1"/>
            </a:solidFill>
            <a:round/>
            <a:headEnd/>
            <a:tailEnd type="triangle" w="med" len="med"/>
          </a:ln>
        </p:spPr>
        <p:txBody>
          <a:bodyPr wrap="none" anchor="ctr"/>
          <a:lstStyle/>
          <a:p>
            <a:endParaRPr lang="en-US"/>
          </a:p>
        </p:txBody>
      </p:sp>
      <p:sp>
        <p:nvSpPr>
          <p:cNvPr id="254989" name="Text Box 13"/>
          <p:cNvSpPr txBox="1">
            <a:spLocks noChangeArrowheads="1"/>
          </p:cNvSpPr>
          <p:nvPr/>
        </p:nvSpPr>
        <p:spPr bwMode="auto">
          <a:xfrm>
            <a:off x="2174875" y="2570163"/>
            <a:ext cx="720725" cy="708025"/>
          </a:xfrm>
          <a:prstGeom prst="rect">
            <a:avLst/>
          </a:prstGeom>
          <a:noFill/>
          <a:ln w="9525">
            <a:no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Swap</a:t>
            </a:r>
          </a:p>
          <a:p>
            <a:pPr>
              <a:defRPr/>
            </a:pPr>
            <a:r>
              <a:rPr lang="en-US" sz="2000" dirty="0">
                <a:effectLst>
                  <a:outerShdw blurRad="38100" dist="38100" dir="2700000" algn="tl">
                    <a:srgbClr val="C0C0C0"/>
                  </a:outerShdw>
                </a:effectLst>
                <a:latin typeface="Gill Sans MT" pitchFamily="34" charset="0"/>
              </a:rPr>
              <a:t>out</a:t>
            </a:r>
          </a:p>
        </p:txBody>
      </p:sp>
      <p:sp>
        <p:nvSpPr>
          <p:cNvPr id="254990" name="Text Box 14"/>
          <p:cNvSpPr txBox="1">
            <a:spLocks noChangeArrowheads="1"/>
          </p:cNvSpPr>
          <p:nvPr/>
        </p:nvSpPr>
        <p:spPr bwMode="auto">
          <a:xfrm>
            <a:off x="4556125" y="2855913"/>
            <a:ext cx="720725" cy="708025"/>
          </a:xfrm>
          <a:prstGeom prst="rect">
            <a:avLst/>
          </a:prstGeom>
          <a:noFill/>
          <a:ln w="9525">
            <a:no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Swap</a:t>
            </a:r>
          </a:p>
          <a:p>
            <a:pPr>
              <a:defRPr/>
            </a:pPr>
            <a:r>
              <a:rPr lang="en-US" sz="2000" dirty="0">
                <a:effectLst>
                  <a:outerShdw blurRad="38100" dist="38100" dir="2700000" algn="tl">
                    <a:srgbClr val="C0C0C0"/>
                  </a:outerShdw>
                </a:effectLst>
                <a:latin typeface="Gill Sans MT" pitchFamily="34" charset="0"/>
              </a:rPr>
              <a:t>in</a:t>
            </a:r>
          </a:p>
        </p:txBody>
      </p:sp>
      <p:sp>
        <p:nvSpPr>
          <p:cNvPr id="254991" name="Text Box 15"/>
          <p:cNvSpPr txBox="1">
            <a:spLocks noChangeArrowheads="1"/>
          </p:cNvSpPr>
          <p:nvPr/>
        </p:nvSpPr>
        <p:spPr bwMode="auto">
          <a:xfrm>
            <a:off x="3908425" y="5580063"/>
            <a:ext cx="595313" cy="400050"/>
          </a:xfrm>
          <a:prstGeom prst="rect">
            <a:avLst/>
          </a:prstGeom>
          <a:noFill/>
          <a:ln w="9525">
            <a:noFill/>
            <a:miter lim="800000"/>
            <a:headEnd/>
            <a:tailEnd/>
          </a:ln>
          <a:effectLst/>
        </p:spPr>
        <p:txBody>
          <a:bodyPr wrap="none">
            <a:spAutoFit/>
          </a:bodyPr>
          <a:lstStyle/>
          <a:p>
            <a:pPr>
              <a:defRPr/>
            </a:pPr>
            <a:r>
              <a:rPr lang="en-US" sz="2000" dirty="0">
                <a:effectLst>
                  <a:outerShdw blurRad="38100" dist="38100" dir="2700000" algn="tl">
                    <a:srgbClr val="C0C0C0"/>
                  </a:outerShdw>
                </a:effectLst>
                <a:latin typeface="Gill Sans MT" pitchFamily="34" charset="0"/>
              </a:rPr>
              <a:t>disk</a:t>
            </a:r>
          </a:p>
        </p:txBody>
      </p:sp>
      <p:sp>
        <p:nvSpPr>
          <p:cNvPr id="254992" name="Text Box 16"/>
          <p:cNvSpPr txBox="1">
            <a:spLocks noChangeArrowheads="1"/>
          </p:cNvSpPr>
          <p:nvPr/>
        </p:nvSpPr>
        <p:spPr bwMode="auto">
          <a:xfrm>
            <a:off x="7467600" y="1865313"/>
            <a:ext cx="1676400" cy="400050"/>
          </a:xfrm>
          <a:prstGeom prst="rect">
            <a:avLst/>
          </a:prstGeom>
          <a:noFill/>
          <a:ln w="9525">
            <a:noFill/>
            <a:miter lim="800000"/>
            <a:headEnd/>
            <a:tailEnd/>
          </a:ln>
          <a:effectLst/>
        </p:spPr>
        <p:txBody>
          <a:bodyPr>
            <a:spAutoFit/>
          </a:bodyPr>
          <a:lstStyle/>
          <a:p>
            <a:pPr>
              <a:defRPr/>
            </a:pPr>
            <a:r>
              <a:rPr lang="en-US" sz="2000" dirty="0">
                <a:effectLst>
                  <a:outerShdw blurRad="38100" dist="38100" dir="2700000" algn="tl">
                    <a:srgbClr val="C0C0C0"/>
                  </a:outerShdw>
                </a:effectLst>
                <a:latin typeface="Gill Sans MT" pitchFamily="34" charset="0"/>
              </a:rPr>
              <a:t>Main memory</a:t>
            </a: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21" name="Picture 3"/>
          <p:cNvPicPr>
            <a:picLocks noGrp="1" noChangeAspect="1" noChangeArrowheads="1"/>
          </p:cNvPicPr>
          <p:nvPr>
            <p:ph idx="1"/>
          </p:nvPr>
        </p:nvPicPr>
        <p:blipFill>
          <a:blip r:embed="rId3" cstate="print"/>
          <a:srcRect/>
          <a:stretch>
            <a:fillRect/>
          </a:stretch>
        </p:blipFill>
        <p:spPr>
          <a:xfrm>
            <a:off x="1219200" y="1371600"/>
            <a:ext cx="6705600" cy="5029200"/>
          </a:xfrm>
          <a:ln w="57150" cmpd="thickThin">
            <a:solidFill>
              <a:schemeClr val="tx1"/>
            </a:solidFill>
          </a:ln>
        </p:spPr>
      </p:pic>
      <p:sp>
        <p:nvSpPr>
          <p:cNvPr id="235522" name="Rectangle 2"/>
          <p:cNvSpPr>
            <a:spLocks noGrp="1"/>
          </p:cNvSpPr>
          <p:nvPr>
            <p:ph type="title"/>
          </p:nvPr>
        </p:nvSpPr>
        <p:spPr>
          <a:xfrm>
            <a:off x="3174" y="0"/>
            <a:ext cx="8378825" cy="914400"/>
          </a:xfrm>
        </p:spPr>
        <p:txBody>
          <a:bodyPr>
            <a:normAutofit fontScale="90000"/>
          </a:bodyPr>
          <a:lstStyle/>
          <a:p>
            <a:r>
              <a:rPr lang="en-US" dirty="0" smtClean="0"/>
              <a:t/>
            </a:r>
            <a:br>
              <a:rPr lang="en-US" dirty="0" smtClean="0"/>
            </a:br>
            <a:r>
              <a:rPr lang="en-US" sz="3100" dirty="0" smtClean="0"/>
              <a:t>Relocation and Limit Registers - Hardware Support </a:t>
            </a:r>
            <a:r>
              <a:rPr lang="en-US" dirty="0" smtClean="0"/>
              <a:t/>
            </a:r>
            <a:br>
              <a:rPr lang="en-US" dirty="0" smtClean="0"/>
            </a:br>
            <a:endParaRPr lang="en-US" dirty="0" smtClean="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Content Placeholder 1"/>
          <p:cNvSpPr>
            <a:spLocks noGrp="1"/>
          </p:cNvSpPr>
          <p:nvPr>
            <p:ph idx="1"/>
          </p:nvPr>
        </p:nvSpPr>
        <p:spPr/>
        <p:txBody>
          <a:bodyPr/>
          <a:lstStyle/>
          <a:p>
            <a:r>
              <a:rPr lang="en-US" dirty="0" smtClean="0"/>
              <a:t>Main memory usually into two partitions:</a:t>
            </a:r>
          </a:p>
          <a:p>
            <a:pPr>
              <a:buFont typeface="Gill Sans MT" pitchFamily="34" charset="0"/>
              <a:buChar char="–"/>
            </a:pPr>
            <a:endParaRPr lang="en-US" sz="1800" dirty="0" smtClean="0"/>
          </a:p>
          <a:p>
            <a:pPr algn="just">
              <a:buFont typeface="Gill Sans MT" pitchFamily="34" charset="0"/>
              <a:buChar char="–"/>
            </a:pPr>
            <a:r>
              <a:rPr lang="en-US" sz="1800" dirty="0" smtClean="0"/>
              <a:t>Resident operating system, usually held in low memory with interrupt vector.</a:t>
            </a:r>
          </a:p>
          <a:p>
            <a:pPr algn="just">
              <a:buFont typeface="Gill Sans MT" pitchFamily="34" charset="0"/>
              <a:buChar char="–"/>
            </a:pPr>
            <a:r>
              <a:rPr lang="en-US" sz="1800" dirty="0" smtClean="0"/>
              <a:t>User processes then held in high memory Single- partition allocation</a:t>
            </a:r>
          </a:p>
          <a:p>
            <a:pPr algn="just">
              <a:buFont typeface="Gill Sans MT" pitchFamily="34" charset="0"/>
              <a:buChar char="–"/>
            </a:pPr>
            <a:r>
              <a:rPr lang="en-US" sz="1800" dirty="0" smtClean="0"/>
              <a:t>Relocation-register scheme used to protect user processes from each other, and from changing operating-system code and data.</a:t>
            </a:r>
          </a:p>
          <a:p>
            <a:pPr algn="just">
              <a:buFont typeface="Gill Sans MT" pitchFamily="34" charset="0"/>
              <a:buChar char="–"/>
            </a:pPr>
            <a:r>
              <a:rPr lang="en-US" sz="1800" dirty="0" smtClean="0"/>
              <a:t>Relocation register contains value of smallest physical address; limit register contains range of logical addresses – each logical address must be less than the limit register</a:t>
            </a:r>
            <a:endParaRPr lang="en-US" dirty="0" smtClean="0"/>
          </a:p>
          <a:p>
            <a:endParaRPr lang="en-US" dirty="0" smtClean="0"/>
          </a:p>
        </p:txBody>
      </p:sp>
      <p:sp>
        <p:nvSpPr>
          <p:cNvPr id="237570" name="Rectangle 2"/>
          <p:cNvSpPr>
            <a:spLocks noGrp="1" noChangeArrowheads="1"/>
          </p:cNvSpPr>
          <p:nvPr>
            <p:ph type="title"/>
          </p:nvPr>
        </p:nvSpPr>
        <p:spPr>
          <a:xfrm>
            <a:off x="0" y="152400"/>
            <a:ext cx="7564438" cy="914400"/>
          </a:xfrm>
        </p:spPr>
        <p:txBody>
          <a:bodyPr anchor="t"/>
          <a:lstStyle/>
          <a:p>
            <a:r>
              <a:rPr lang="en-US" dirty="0" smtClean="0"/>
              <a:t>Contiguous Allocation</a:t>
            </a: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Content Placeholder 1"/>
          <p:cNvSpPr>
            <a:spLocks noGrp="1"/>
          </p:cNvSpPr>
          <p:nvPr>
            <p:ph idx="1"/>
          </p:nvPr>
        </p:nvSpPr>
        <p:spPr/>
        <p:txBody>
          <a:bodyPr/>
          <a:lstStyle/>
          <a:p>
            <a:r>
              <a:rPr lang="en-US" dirty="0" smtClean="0"/>
              <a:t>Multiple-partition allocation</a:t>
            </a:r>
          </a:p>
          <a:p>
            <a:endParaRPr lang="en-US" dirty="0" smtClean="0"/>
          </a:p>
          <a:p>
            <a:pPr algn="just">
              <a:buFont typeface="Gill Sans MT" pitchFamily="34" charset="0"/>
              <a:buChar char="–"/>
            </a:pPr>
            <a:r>
              <a:rPr lang="en-US" sz="1800" dirty="0" smtClean="0"/>
              <a:t>Hole – block of available memory; holes of various size are scattered throughout memory</a:t>
            </a:r>
          </a:p>
          <a:p>
            <a:pPr algn="just">
              <a:buFont typeface="Gill Sans MT" pitchFamily="34" charset="0"/>
              <a:buChar char="–"/>
            </a:pPr>
            <a:r>
              <a:rPr lang="en-US" sz="1800" dirty="0" smtClean="0"/>
              <a:t>When a process arrives, it is allocated memory from a hole large enough to accommodate it</a:t>
            </a:r>
          </a:p>
          <a:p>
            <a:pPr algn="just">
              <a:buFont typeface="Gill Sans MT" pitchFamily="34" charset="0"/>
              <a:buChar char="–"/>
            </a:pPr>
            <a:r>
              <a:rPr lang="en-US" sz="1800" dirty="0" smtClean="0"/>
              <a:t>Operating system maintains information about:</a:t>
            </a:r>
          </a:p>
          <a:p>
            <a:pPr algn="just">
              <a:buFont typeface="Gill Sans MT" pitchFamily="34" charset="0"/>
              <a:buChar char="–"/>
            </a:pPr>
            <a:r>
              <a:rPr lang="en-US" sz="1800" dirty="0" smtClean="0"/>
              <a:t>a) allocated partitions    b) free partitions (hole)</a:t>
            </a:r>
          </a:p>
          <a:p>
            <a:endParaRPr lang="en-US" dirty="0" smtClean="0"/>
          </a:p>
        </p:txBody>
      </p:sp>
      <p:sp>
        <p:nvSpPr>
          <p:cNvPr id="238594" name="Rectangle 2"/>
          <p:cNvSpPr>
            <a:spLocks noGrp="1" noChangeArrowheads="1"/>
          </p:cNvSpPr>
          <p:nvPr>
            <p:ph type="title"/>
          </p:nvPr>
        </p:nvSpPr>
        <p:spPr>
          <a:xfrm>
            <a:off x="0" y="228600"/>
            <a:ext cx="7564438" cy="914400"/>
          </a:xfrm>
        </p:spPr>
        <p:txBody>
          <a:bodyPr anchor="t"/>
          <a:lstStyle/>
          <a:p>
            <a:r>
              <a:rPr lang="en-US" dirty="0" smtClean="0"/>
              <a:t>Contiguous Allocation (Contd.).</a:t>
            </a: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Rectangle 3"/>
          <p:cNvSpPr>
            <a:spLocks noGrp="1" noChangeArrowheads="1"/>
          </p:cNvSpPr>
          <p:nvPr>
            <p:ph idx="1"/>
          </p:nvPr>
        </p:nvSpPr>
        <p:spPr/>
        <p:txBody>
          <a:bodyPr/>
          <a:lstStyle/>
          <a:p>
            <a:r>
              <a:rPr lang="en-US" b="1" dirty="0" smtClean="0"/>
              <a:t>First-fit</a:t>
            </a:r>
            <a:r>
              <a:rPr lang="en-US" dirty="0" smtClean="0"/>
              <a:t>:  Allocate the </a:t>
            </a:r>
            <a:r>
              <a:rPr lang="en-US" i="1" dirty="0" smtClean="0"/>
              <a:t>first</a:t>
            </a:r>
            <a:r>
              <a:rPr lang="en-US" dirty="0" smtClean="0"/>
              <a:t> hole that is big enough</a:t>
            </a:r>
            <a:endParaRPr lang="en-US" b="1" dirty="0" smtClean="0"/>
          </a:p>
          <a:p>
            <a:endParaRPr lang="en-US" b="1" dirty="0" smtClean="0"/>
          </a:p>
          <a:p>
            <a:r>
              <a:rPr lang="en-US" b="1" dirty="0" smtClean="0"/>
              <a:t>Best-fit</a:t>
            </a:r>
            <a:r>
              <a:rPr lang="en-US" dirty="0" smtClean="0"/>
              <a:t>:  Allocate the </a:t>
            </a:r>
            <a:r>
              <a:rPr lang="en-US" i="1" dirty="0" smtClean="0"/>
              <a:t>smallest</a:t>
            </a:r>
            <a:r>
              <a:rPr lang="en-US" dirty="0" smtClean="0"/>
              <a:t> hole that is big enough;  to search entire </a:t>
            </a:r>
          </a:p>
          <a:p>
            <a:pPr>
              <a:buFont typeface="Arial" charset="0"/>
              <a:buNone/>
            </a:pPr>
            <a:r>
              <a:rPr lang="en-US" dirty="0" smtClean="0"/>
              <a:t>                    list, unless ordered by size.  Produces the smallest leftover hole</a:t>
            </a:r>
          </a:p>
          <a:p>
            <a:endParaRPr lang="en-US" b="1" dirty="0" smtClean="0"/>
          </a:p>
          <a:p>
            <a:r>
              <a:rPr lang="en-US" b="1" dirty="0" smtClean="0"/>
              <a:t>Worst-fit</a:t>
            </a:r>
            <a:r>
              <a:rPr lang="en-US" dirty="0" smtClean="0"/>
              <a:t>:  Allocate the </a:t>
            </a:r>
            <a:r>
              <a:rPr lang="en-US" i="1" dirty="0" smtClean="0"/>
              <a:t>largest</a:t>
            </a:r>
            <a:r>
              <a:rPr lang="en-US" dirty="0" smtClean="0"/>
              <a:t> hole; to search entire list.  Produces the largest leftover hole</a:t>
            </a:r>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endParaRPr lang="en-US" sz="100" dirty="0" smtClean="0"/>
          </a:p>
          <a:p>
            <a:r>
              <a:rPr lang="en-US" sz="100" dirty="0" smtClean="0"/>
              <a:t>[</a:t>
            </a:r>
          </a:p>
        </p:txBody>
      </p:sp>
      <p:sp>
        <p:nvSpPr>
          <p:cNvPr id="239618" name="Rectangle 2"/>
          <p:cNvSpPr>
            <a:spLocks noGrp="1" noChangeArrowheads="1"/>
          </p:cNvSpPr>
          <p:nvPr>
            <p:ph type="title"/>
          </p:nvPr>
        </p:nvSpPr>
        <p:spPr>
          <a:xfrm>
            <a:off x="0" y="152400"/>
            <a:ext cx="7564438" cy="914400"/>
          </a:xfrm>
        </p:spPr>
        <p:txBody>
          <a:bodyPr anchor="t"/>
          <a:lstStyle/>
          <a:p>
            <a:r>
              <a:rPr lang="en-US" dirty="0" smtClean="0"/>
              <a:t>Dynamic Storage-Allocation Problem</a:t>
            </a:r>
          </a:p>
        </p:txBody>
      </p:sp>
      <p:sp>
        <p:nvSpPr>
          <p:cNvPr id="239619" name="Text Box 4"/>
          <p:cNvSpPr txBox="1">
            <a:spLocks noChangeArrowheads="1"/>
          </p:cNvSpPr>
          <p:nvPr/>
        </p:nvSpPr>
        <p:spPr bwMode="auto">
          <a:xfrm>
            <a:off x="609600" y="4870450"/>
            <a:ext cx="7116763" cy="400050"/>
          </a:xfrm>
          <a:prstGeom prst="rect">
            <a:avLst/>
          </a:prstGeom>
          <a:noFill/>
          <a:ln w="9525">
            <a:noFill/>
            <a:miter lim="800000"/>
            <a:headEnd/>
            <a:tailEnd/>
          </a:ln>
        </p:spPr>
        <p:txBody>
          <a:bodyPr anchor="ctr">
            <a:spAutoFit/>
          </a:bodyPr>
          <a:lstStyle/>
          <a:p>
            <a:pPr eaLnBrk="0" hangingPunct="0">
              <a:spcBef>
                <a:spcPct val="50000"/>
              </a:spcBef>
              <a:buFont typeface="Wingdings" pitchFamily="2" charset="2"/>
              <a:buChar char="§"/>
            </a:pPr>
            <a:r>
              <a:rPr lang="en-US" sz="2000" b="1">
                <a:latin typeface="Gill Sans MT" pitchFamily="34" charset="0"/>
              </a:rPr>
              <a:t>How to satisfy a request of size </a:t>
            </a:r>
            <a:r>
              <a:rPr lang="en-US" sz="2000" b="1" i="1">
                <a:latin typeface="Gill Sans MT" pitchFamily="34" charset="0"/>
              </a:rPr>
              <a:t>n</a:t>
            </a:r>
            <a:r>
              <a:rPr lang="en-US" sz="2000" b="1">
                <a:latin typeface="Gill Sans MT" pitchFamily="34" charset="0"/>
              </a:rPr>
              <a:t> from a list of free holes</a:t>
            </a:r>
          </a:p>
        </p:txBody>
      </p:sp>
      <p:sp>
        <p:nvSpPr>
          <p:cNvPr id="239620" name="Text Box 5"/>
          <p:cNvSpPr txBox="1">
            <a:spLocks noChangeArrowheads="1"/>
          </p:cNvSpPr>
          <p:nvPr/>
        </p:nvSpPr>
        <p:spPr bwMode="auto">
          <a:xfrm>
            <a:off x="533400" y="5562600"/>
            <a:ext cx="8077200" cy="708025"/>
          </a:xfrm>
          <a:prstGeom prst="rect">
            <a:avLst/>
          </a:prstGeom>
          <a:noFill/>
          <a:ln w="9525">
            <a:noFill/>
            <a:miter lim="800000"/>
            <a:headEnd/>
            <a:tailEnd/>
          </a:ln>
        </p:spPr>
        <p:txBody>
          <a:bodyPr anchor="ctr">
            <a:spAutoFit/>
          </a:bodyPr>
          <a:lstStyle/>
          <a:p>
            <a:pPr eaLnBrk="0" hangingPunct="0">
              <a:spcBef>
                <a:spcPct val="50000"/>
              </a:spcBef>
              <a:buFont typeface="Wingdings" pitchFamily="2" charset="2"/>
              <a:buChar char="§"/>
            </a:pPr>
            <a:r>
              <a:rPr lang="en-US" sz="2000" b="1">
                <a:latin typeface="Gill Sans MT" pitchFamily="34" charset="0"/>
              </a:rPr>
              <a:t>First-fit and best-fit better than worst-fit in terms of speed and storage utilization</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Content Placeholder 4"/>
          <p:cNvSpPr>
            <a:spLocks noGrp="1"/>
          </p:cNvSpPr>
          <p:nvPr>
            <p:ph idx="1"/>
          </p:nvPr>
        </p:nvSpPr>
        <p:spPr/>
        <p:txBody>
          <a:bodyPr/>
          <a:lstStyle/>
          <a:p>
            <a:pPr>
              <a:buFont typeface="Wingdings" pitchFamily="2" charset="2"/>
              <a:buNone/>
            </a:pPr>
            <a:r>
              <a:rPr lang="en-GB" sz="2400" dirty="0" smtClean="0"/>
              <a:t>In this module, we discussed</a:t>
            </a:r>
          </a:p>
          <a:p>
            <a:endParaRPr lang="en-GB" sz="2400" dirty="0" smtClean="0"/>
          </a:p>
          <a:p>
            <a:r>
              <a:rPr lang="en-GB" sz="2400" dirty="0" smtClean="0"/>
              <a:t>Dynamic Loading</a:t>
            </a:r>
          </a:p>
          <a:p>
            <a:r>
              <a:rPr lang="en-GB" sz="2400" dirty="0" smtClean="0"/>
              <a:t>Dynamic Linking and swapping</a:t>
            </a:r>
          </a:p>
          <a:p>
            <a:endParaRPr lang="en-GB" dirty="0" smtClean="0"/>
          </a:p>
          <a:p>
            <a:endParaRPr lang="en-GB" dirty="0" smtClean="0"/>
          </a:p>
          <a:p>
            <a:pPr>
              <a:buFont typeface="Arial" charset="0"/>
              <a:buNone/>
            </a:pPr>
            <a:endParaRPr lang="en-GB" dirty="0" smtClean="0"/>
          </a:p>
          <a:p>
            <a:endParaRPr lang="en-GB" dirty="0" smtClean="0"/>
          </a:p>
          <a:p>
            <a:endParaRPr lang="en-US" dirty="0" smtClean="0"/>
          </a:p>
        </p:txBody>
      </p:sp>
      <p:sp>
        <p:nvSpPr>
          <p:cNvPr id="241666" name="Title 2"/>
          <p:cNvSpPr>
            <a:spLocks noGrp="1"/>
          </p:cNvSpPr>
          <p:nvPr>
            <p:ph type="title"/>
          </p:nvPr>
        </p:nvSpPr>
        <p:spPr>
          <a:xfrm>
            <a:off x="3175" y="0"/>
            <a:ext cx="7564438" cy="914400"/>
          </a:xfrm>
        </p:spPr>
        <p:txBody>
          <a:bodyPr/>
          <a:lstStyle/>
          <a:p>
            <a:r>
              <a:rPr lang="en-US" smtClean="0"/>
              <a:t>Summary</a:t>
            </a: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Title 3"/>
          <p:cNvSpPr>
            <a:spLocks noGrp="1"/>
          </p:cNvSpPr>
          <p:nvPr>
            <p:ph type="title"/>
          </p:nvPr>
        </p:nvSpPr>
        <p:spPr/>
        <p:txBody>
          <a:bodyPr/>
          <a:lstStyle/>
          <a:p>
            <a:r>
              <a:rPr lang="en-US" dirty="0" smtClean="0"/>
              <a:t>Memory Management (Advanced)</a:t>
            </a:r>
            <a:br>
              <a:rPr lang="en-US" dirty="0" smtClean="0"/>
            </a:br>
            <a:r>
              <a:rPr lang="en-US" sz="2400" b="0" dirty="0" smtClean="0">
                <a:solidFill>
                  <a:schemeClr val="tx1">
                    <a:lumMod val="50000"/>
                    <a:lumOff val="50000"/>
                  </a:schemeClr>
                </a:solidFill>
              </a:rPr>
              <a:t>Module 7</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7" name="Content Placeholder 4"/>
          <p:cNvSpPr>
            <a:spLocks noGrp="1"/>
          </p:cNvSpPr>
          <p:nvPr>
            <p:ph idx="1"/>
          </p:nvPr>
        </p:nvSpPr>
        <p:spPr/>
        <p:txBody>
          <a:bodyPr/>
          <a:lstStyle/>
          <a:p>
            <a:pPr>
              <a:buFont typeface="Wingdings" pitchFamily="2" charset="2"/>
              <a:buNone/>
            </a:pPr>
            <a:r>
              <a:rPr lang="en-US" sz="2400" dirty="0" smtClean="0"/>
              <a:t>At the end of this session, you will be able to:</a:t>
            </a:r>
          </a:p>
          <a:p>
            <a:endParaRPr lang="en-US" sz="2400" dirty="0" smtClean="0"/>
          </a:p>
          <a:p>
            <a:pPr lvl="1">
              <a:buFont typeface="Arial" charset="0"/>
              <a:buChar char="•"/>
            </a:pPr>
            <a:r>
              <a:rPr lang="en-US" sz="2400" dirty="0" smtClean="0"/>
              <a:t>Define fragmentation</a:t>
            </a:r>
          </a:p>
          <a:p>
            <a:pPr lvl="1">
              <a:buFont typeface="Arial" charset="0"/>
              <a:buChar char="•"/>
            </a:pPr>
            <a:r>
              <a:rPr lang="en-US" sz="2400" dirty="0" smtClean="0"/>
              <a:t>Explain technique used to implement fragmentation</a:t>
            </a:r>
          </a:p>
          <a:p>
            <a:pPr lvl="1">
              <a:buFont typeface="Arial" charset="0"/>
              <a:buChar char="•"/>
            </a:pPr>
            <a:r>
              <a:rPr lang="en-US" sz="2400" dirty="0" smtClean="0"/>
              <a:t>List various Inter process communications methods</a:t>
            </a:r>
          </a:p>
          <a:p>
            <a:pPr lvl="1">
              <a:buFont typeface="Arial" charset="0"/>
              <a:buChar char="•"/>
            </a:pPr>
            <a:r>
              <a:rPr lang="en-US" sz="2400" dirty="0" smtClean="0"/>
              <a:t>Explain Pipe technique to implement IPC</a:t>
            </a:r>
          </a:p>
          <a:p>
            <a:pPr lvl="1">
              <a:buFont typeface="Arial" charset="0"/>
              <a:buChar char="•"/>
            </a:pPr>
            <a:r>
              <a:rPr lang="en-US" sz="2400" dirty="0" smtClean="0"/>
              <a:t>Define Semaphore </a:t>
            </a:r>
          </a:p>
          <a:p>
            <a:pPr>
              <a:buFont typeface="Wingdings" pitchFamily="2" charset="2"/>
              <a:buNone/>
            </a:pPr>
            <a:endParaRPr lang="en-US" dirty="0" smtClean="0"/>
          </a:p>
        </p:txBody>
      </p:sp>
      <p:sp>
        <p:nvSpPr>
          <p:cNvPr id="244738" name="Title 3"/>
          <p:cNvSpPr>
            <a:spLocks noGrp="1"/>
          </p:cNvSpPr>
          <p:nvPr>
            <p:ph type="title"/>
          </p:nvPr>
        </p:nvSpPr>
        <p:spPr>
          <a:xfrm>
            <a:off x="0" y="0"/>
            <a:ext cx="7562850" cy="914400"/>
          </a:xfrm>
        </p:spPr>
        <p:txBody>
          <a:bodyPr/>
          <a:lstStyle/>
          <a:p>
            <a:r>
              <a:rPr lang="en-US" smtClean="0"/>
              <a:t>Objectives</a:t>
            </a:r>
          </a:p>
        </p:txBody>
      </p:sp>
      <p:sp>
        <p:nvSpPr>
          <p:cNvPr id="244739" name="Text Placeholder 8"/>
          <p:cNvSpPr txBox="1">
            <a:spLocks/>
          </p:cNvSpPr>
          <p:nvPr/>
        </p:nvSpPr>
        <p:spPr bwMode="auto">
          <a:xfrm>
            <a:off x="4038600" y="6248400"/>
            <a:ext cx="5105400" cy="457200"/>
          </a:xfrm>
          <a:prstGeom prst="rect">
            <a:avLst/>
          </a:prstGeom>
          <a:noFill/>
          <a:ln w="9525" algn="ctr">
            <a:noFill/>
            <a:miter lim="800000"/>
            <a:headEnd/>
            <a:tailEnd/>
          </a:ln>
        </p:spPr>
        <p:txBody>
          <a:bodyPr/>
          <a:lstStyle/>
          <a:p>
            <a:pPr marL="342900" indent="-342900" algn="r">
              <a:spcBef>
                <a:spcPct val="20000"/>
              </a:spcBef>
              <a:buFont typeface="Wingdings" pitchFamily="2" charset="2"/>
              <a:buNone/>
            </a:pPr>
            <a:r>
              <a:rPr lang="en-GB" sz="2000">
                <a:solidFill>
                  <a:srgbClr val="7F7F7F"/>
                </a:solidFill>
                <a:latin typeface="Gill Sans MT" pitchFamily="34" charset="0"/>
              </a:rPr>
              <a:t>Duration: 2 hrs</a:t>
            </a: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Content Placeholder 1"/>
          <p:cNvSpPr>
            <a:spLocks noGrp="1"/>
          </p:cNvSpPr>
          <p:nvPr>
            <p:ph idx="1"/>
          </p:nvPr>
        </p:nvSpPr>
        <p:spPr/>
        <p:txBody>
          <a:bodyPr/>
          <a:lstStyle/>
          <a:p>
            <a:pPr algn="just"/>
            <a:r>
              <a:rPr lang="en-US" dirty="0" smtClean="0"/>
              <a:t>External Fragmentation – total memory space exists to satisfy a request, but it is not contiguous</a:t>
            </a:r>
          </a:p>
          <a:p>
            <a:pPr algn="just"/>
            <a:endParaRPr lang="en-US" dirty="0" smtClean="0"/>
          </a:p>
          <a:p>
            <a:pPr algn="just"/>
            <a:r>
              <a:rPr lang="en-US" dirty="0" smtClean="0"/>
              <a:t>Internal Fragmentation – allocated memory may be slightly larger than requested memory; this size difference is memory internal to a partition, but not being used</a:t>
            </a:r>
          </a:p>
          <a:p>
            <a:pPr algn="just"/>
            <a:endParaRPr lang="en-US" dirty="0" smtClean="0"/>
          </a:p>
          <a:p>
            <a:pPr algn="just"/>
            <a:r>
              <a:rPr lang="en-US" dirty="0" smtClean="0"/>
              <a:t>Decrease external fragmentation by compaction</a:t>
            </a:r>
          </a:p>
          <a:p>
            <a:pPr marL="342900" lvl="1" indent="-342900" algn="just"/>
            <a:endParaRPr lang="en-US" dirty="0" smtClean="0"/>
          </a:p>
          <a:p>
            <a:pPr marL="342900" lvl="1" indent="-342900" algn="just"/>
            <a:r>
              <a:rPr lang="en-US" dirty="0" smtClean="0"/>
              <a:t>Mix up memory contents to place all free memory together in one large block</a:t>
            </a:r>
          </a:p>
          <a:p>
            <a:pPr marL="342900" lvl="1" indent="-342900" algn="just"/>
            <a:r>
              <a:rPr lang="en-US" dirty="0" smtClean="0"/>
              <a:t>Compaction is possible only if relocation is dynamic, and is done at execution time</a:t>
            </a:r>
          </a:p>
          <a:p>
            <a:pPr marL="342900" lvl="1" indent="-342900" algn="just"/>
            <a:r>
              <a:rPr lang="en-US" dirty="0" smtClean="0"/>
              <a:t>I/O problem</a:t>
            </a:r>
          </a:p>
          <a:p>
            <a:pPr marL="342900" lvl="1" indent="-342900" algn="just">
              <a:buFont typeface="Arial" charset="0"/>
              <a:buChar char="•"/>
            </a:pPr>
            <a:r>
              <a:rPr lang="en-US" dirty="0" smtClean="0"/>
              <a:t>Latch job in memory while it is involved in I/O</a:t>
            </a:r>
          </a:p>
          <a:p>
            <a:pPr marL="342900" lvl="1" indent="-342900" algn="just">
              <a:buFont typeface="Arial" charset="0"/>
              <a:buChar char="•"/>
            </a:pPr>
            <a:r>
              <a:rPr lang="en-US" dirty="0" smtClean="0"/>
              <a:t>Do I/O only into Operating System buffers</a:t>
            </a:r>
          </a:p>
        </p:txBody>
      </p:sp>
      <p:sp>
        <p:nvSpPr>
          <p:cNvPr id="246786" name="Rectangle 2"/>
          <p:cNvSpPr>
            <a:spLocks noGrp="1" noChangeArrowheads="1"/>
          </p:cNvSpPr>
          <p:nvPr>
            <p:ph type="title"/>
          </p:nvPr>
        </p:nvSpPr>
        <p:spPr>
          <a:xfrm>
            <a:off x="0" y="304800"/>
            <a:ext cx="7562850" cy="914400"/>
          </a:xfrm>
        </p:spPr>
        <p:txBody>
          <a:bodyPr anchor="t"/>
          <a:lstStyle/>
          <a:p>
            <a:r>
              <a:rPr lang="en-US" dirty="0" smtClean="0"/>
              <a:t>Fragmentation</a:t>
            </a: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Content Placeholder 1"/>
          <p:cNvSpPr>
            <a:spLocks noGrp="1"/>
          </p:cNvSpPr>
          <p:nvPr>
            <p:ph idx="1"/>
          </p:nvPr>
        </p:nvSpPr>
        <p:spPr>
          <a:xfrm>
            <a:off x="457200" y="1371600"/>
            <a:ext cx="8229600" cy="5257800"/>
          </a:xfrm>
        </p:spPr>
        <p:txBody>
          <a:bodyPr/>
          <a:lstStyle/>
          <a:p>
            <a:pPr algn="just"/>
            <a:r>
              <a:rPr lang="en-US" dirty="0" smtClean="0"/>
              <a:t>Logical address space of a process can be noncontiguous; process is allocated physical memory whenever the latter is available</a:t>
            </a:r>
          </a:p>
          <a:p>
            <a:pPr algn="just"/>
            <a:endParaRPr lang="en-US" dirty="0" smtClean="0"/>
          </a:p>
          <a:p>
            <a:pPr algn="just"/>
            <a:r>
              <a:rPr lang="en-US" dirty="0" smtClean="0"/>
              <a:t>Divide physical memory into fixed-sized blocks called frames</a:t>
            </a:r>
          </a:p>
          <a:p>
            <a:pPr algn="just"/>
            <a:endParaRPr lang="en-US" dirty="0" smtClean="0"/>
          </a:p>
          <a:p>
            <a:pPr algn="just"/>
            <a:r>
              <a:rPr lang="en-US" dirty="0" smtClean="0"/>
              <a:t>Divide logical memory into blocks of similar size called pages</a:t>
            </a:r>
          </a:p>
          <a:p>
            <a:pPr algn="just"/>
            <a:endParaRPr lang="en-US" dirty="0" smtClean="0"/>
          </a:p>
          <a:p>
            <a:pPr algn="just"/>
            <a:r>
              <a:rPr lang="en-US" dirty="0" smtClean="0"/>
              <a:t>Follow-up of all free frames</a:t>
            </a:r>
          </a:p>
          <a:p>
            <a:pPr algn="just"/>
            <a:endParaRPr lang="en-US" dirty="0" smtClean="0"/>
          </a:p>
          <a:p>
            <a:pPr algn="just"/>
            <a:r>
              <a:rPr lang="en-US" dirty="0" smtClean="0"/>
              <a:t>To run a program of size n pages, need to find n free frames and load program</a:t>
            </a:r>
          </a:p>
          <a:p>
            <a:endParaRPr lang="en-US" dirty="0" smtClean="0"/>
          </a:p>
          <a:p>
            <a:endParaRPr lang="en-US" dirty="0" smtClean="0"/>
          </a:p>
        </p:txBody>
      </p:sp>
      <p:sp>
        <p:nvSpPr>
          <p:cNvPr id="247810" name="Rectangle 2"/>
          <p:cNvSpPr>
            <a:spLocks noGrp="1" noChangeArrowheads="1"/>
          </p:cNvSpPr>
          <p:nvPr>
            <p:ph type="title"/>
          </p:nvPr>
        </p:nvSpPr>
        <p:spPr>
          <a:xfrm>
            <a:off x="0" y="0"/>
            <a:ext cx="7562850" cy="914400"/>
          </a:xfrm>
        </p:spPr>
        <p:txBody>
          <a:bodyPr/>
          <a:lstStyle/>
          <a:p>
            <a:r>
              <a:rPr lang="en-US" smtClean="0"/>
              <a:t>Paging</a:t>
            </a: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Rectangle 3"/>
          <p:cNvSpPr>
            <a:spLocks noGrp="1" noChangeArrowheads="1"/>
          </p:cNvSpPr>
          <p:nvPr>
            <p:ph idx="1"/>
          </p:nvPr>
        </p:nvSpPr>
        <p:spPr/>
        <p:txBody>
          <a:bodyPr/>
          <a:lstStyle/>
          <a:p>
            <a:pPr>
              <a:spcBef>
                <a:spcPct val="0"/>
              </a:spcBef>
              <a:buClr>
                <a:schemeClr val="bg1"/>
              </a:buClr>
            </a:pPr>
            <a:r>
              <a:rPr lang="en-US" dirty="0" smtClean="0"/>
              <a:t>Address generated by CPU is bifurcated into:</a:t>
            </a:r>
          </a:p>
          <a:p>
            <a:pPr lvl="1" algn="just">
              <a:spcBef>
                <a:spcPct val="0"/>
              </a:spcBef>
              <a:buClr>
                <a:schemeClr val="bg1"/>
              </a:buClr>
              <a:buFontTx/>
              <a:buChar char="•"/>
            </a:pPr>
            <a:r>
              <a:rPr lang="en-US" dirty="0" smtClean="0"/>
              <a:t>Page number (p) – used as an index into a page table which contains base address of each page in physical memory</a:t>
            </a:r>
          </a:p>
          <a:p>
            <a:pPr lvl="1" algn="just">
              <a:spcBef>
                <a:spcPct val="0"/>
              </a:spcBef>
              <a:buClr>
                <a:schemeClr val="bg1"/>
              </a:buClr>
              <a:buFontTx/>
              <a:buChar char="•"/>
            </a:pPr>
            <a:endParaRPr lang="en-US" dirty="0" smtClean="0"/>
          </a:p>
          <a:p>
            <a:pPr lvl="1" algn="just">
              <a:spcBef>
                <a:spcPct val="0"/>
              </a:spcBef>
              <a:buClr>
                <a:schemeClr val="bg1"/>
              </a:buClr>
              <a:buFontTx/>
              <a:buChar char="•"/>
            </a:pPr>
            <a:r>
              <a:rPr lang="en-US" dirty="0" smtClean="0"/>
              <a:t>Page offset (d) – combined with base address to define the physical memory address that is sent to the memory unit</a:t>
            </a:r>
          </a:p>
        </p:txBody>
      </p:sp>
      <p:sp>
        <p:nvSpPr>
          <p:cNvPr id="248834" name="Rectangle 2"/>
          <p:cNvSpPr>
            <a:spLocks noGrp="1" noChangeArrowheads="1"/>
          </p:cNvSpPr>
          <p:nvPr>
            <p:ph type="title"/>
          </p:nvPr>
        </p:nvSpPr>
        <p:spPr>
          <a:xfrm>
            <a:off x="0" y="152400"/>
            <a:ext cx="7562850" cy="914400"/>
          </a:xfrm>
        </p:spPr>
        <p:txBody>
          <a:bodyPr anchor="t"/>
          <a:lstStyle/>
          <a:p>
            <a:r>
              <a:rPr lang="en-US" dirty="0" smtClean="0"/>
              <a:t>Paging - Address Translation Scheme</a:t>
            </a:r>
          </a:p>
        </p:txBody>
      </p:sp>
      <p:grpSp>
        <p:nvGrpSpPr>
          <p:cNvPr id="248835" name="Group 4"/>
          <p:cNvGrpSpPr>
            <a:grpSpLocks/>
          </p:cNvGrpSpPr>
          <p:nvPr/>
        </p:nvGrpSpPr>
        <p:grpSpPr bwMode="auto">
          <a:xfrm>
            <a:off x="1371600" y="3429000"/>
            <a:ext cx="7010400" cy="3175000"/>
            <a:chOff x="428" y="948"/>
            <a:chExt cx="5755" cy="3014"/>
          </a:xfrm>
        </p:grpSpPr>
        <p:sp>
          <p:nvSpPr>
            <p:cNvPr id="5" name="Text Box 5"/>
            <p:cNvSpPr txBox="1">
              <a:spLocks noChangeArrowheads="1"/>
            </p:cNvSpPr>
            <p:nvPr/>
          </p:nvSpPr>
          <p:spPr bwMode="auto">
            <a:xfrm>
              <a:off x="428" y="1827"/>
              <a:ext cx="536" cy="351"/>
            </a:xfrm>
            <a:prstGeom prst="rect">
              <a:avLst/>
            </a:prstGeom>
            <a:noFill/>
            <a:ln w="9525">
              <a:solidFill>
                <a:schemeClr val="tx1"/>
              </a:solidFill>
              <a:miter lim="800000"/>
              <a:headEnd/>
              <a:tailEnd/>
            </a:ln>
            <a:effectLst/>
          </p:spPr>
          <p:txBody>
            <a:bodyPr wrap="square">
              <a:spAutoFit/>
            </a:bodyPr>
            <a:lstStyle/>
            <a:p>
              <a:pPr>
                <a:spcBef>
                  <a:spcPct val="50000"/>
                </a:spcBef>
                <a:defRPr/>
              </a:pPr>
              <a:r>
                <a:rPr lang="en-US" dirty="0">
                  <a:effectLst>
                    <a:outerShdw blurRad="38100" dist="38100" dir="2700000" algn="tl">
                      <a:srgbClr val="C0C0C0"/>
                    </a:outerShdw>
                  </a:effectLst>
                  <a:latin typeface="Gill Sans MT" pitchFamily="34" charset="0"/>
                </a:rPr>
                <a:t>cpu</a:t>
              </a:r>
            </a:p>
          </p:txBody>
        </p:sp>
        <p:sp>
          <p:nvSpPr>
            <p:cNvPr id="6" name="Text Box 6"/>
            <p:cNvSpPr txBox="1">
              <a:spLocks noChangeArrowheads="1"/>
            </p:cNvSpPr>
            <p:nvPr/>
          </p:nvSpPr>
          <p:spPr bwMode="auto">
            <a:xfrm>
              <a:off x="1274" y="1860"/>
              <a:ext cx="1131" cy="350"/>
            </a:xfrm>
            <a:prstGeom prst="rect">
              <a:avLst/>
            </a:prstGeom>
            <a:noFill/>
            <a:ln w="9525">
              <a:solidFill>
                <a:schemeClr val="tx1"/>
              </a:solidFill>
              <a:miter lim="800000"/>
              <a:headEnd/>
              <a:tailEnd/>
            </a:ln>
            <a:effectLst/>
          </p:spPr>
          <p:txBody>
            <a:bodyPr wrap="none">
              <a:spAutoFit/>
            </a:bodyPr>
            <a:lstStyle/>
            <a:p>
              <a:pPr>
                <a:defRPr/>
              </a:pPr>
              <a:r>
                <a:rPr lang="en-US" dirty="0">
                  <a:effectLst>
                    <a:outerShdw blurRad="38100" dist="38100" dir="2700000" algn="tl">
                      <a:srgbClr val="C0C0C0"/>
                    </a:outerShdw>
                  </a:effectLst>
                  <a:latin typeface="Gill Sans MT" pitchFamily="34" charset="0"/>
                </a:rPr>
                <a:t>P	d</a:t>
              </a:r>
            </a:p>
          </p:txBody>
        </p:sp>
        <p:sp>
          <p:nvSpPr>
            <p:cNvPr id="248838" name="Line 7"/>
            <p:cNvSpPr>
              <a:spLocks noChangeShapeType="1"/>
            </p:cNvSpPr>
            <p:nvPr/>
          </p:nvSpPr>
          <p:spPr bwMode="auto">
            <a:xfrm flipH="1">
              <a:off x="1804" y="1860"/>
              <a:ext cx="0" cy="390"/>
            </a:xfrm>
            <a:prstGeom prst="line">
              <a:avLst/>
            </a:prstGeom>
            <a:noFill/>
            <a:ln w="9525">
              <a:solidFill>
                <a:schemeClr val="tx1"/>
              </a:solidFill>
              <a:round/>
              <a:headEnd/>
              <a:tailEnd/>
            </a:ln>
          </p:spPr>
          <p:txBody>
            <a:bodyPr wrap="none" anchor="ctr"/>
            <a:lstStyle/>
            <a:p>
              <a:endParaRPr lang="en-US"/>
            </a:p>
          </p:txBody>
        </p:sp>
        <p:sp>
          <p:nvSpPr>
            <p:cNvPr id="8" name="Text Box 8"/>
            <p:cNvSpPr txBox="1">
              <a:spLocks noChangeArrowheads="1"/>
            </p:cNvSpPr>
            <p:nvPr/>
          </p:nvSpPr>
          <p:spPr bwMode="auto">
            <a:xfrm>
              <a:off x="3338" y="1870"/>
              <a:ext cx="1131" cy="351"/>
            </a:xfrm>
            <a:prstGeom prst="rect">
              <a:avLst/>
            </a:prstGeom>
            <a:noFill/>
            <a:ln w="9525">
              <a:solidFill>
                <a:schemeClr val="tx1"/>
              </a:solidFill>
              <a:miter lim="800000"/>
              <a:headEnd/>
              <a:tailEnd/>
            </a:ln>
            <a:effectLst/>
          </p:spPr>
          <p:txBody>
            <a:bodyPr wrap="none">
              <a:spAutoFit/>
            </a:bodyPr>
            <a:lstStyle/>
            <a:p>
              <a:pPr>
                <a:defRPr/>
              </a:pPr>
              <a:r>
                <a:rPr lang="en-US" dirty="0">
                  <a:effectLst>
                    <a:outerShdw blurRad="38100" dist="38100" dir="2700000" algn="tl">
                      <a:srgbClr val="C0C0C0"/>
                    </a:outerShdw>
                  </a:effectLst>
                  <a:latin typeface="Gill Sans MT" pitchFamily="34" charset="0"/>
                </a:rPr>
                <a:t>f	d</a:t>
              </a:r>
            </a:p>
          </p:txBody>
        </p:sp>
        <p:sp>
          <p:nvSpPr>
            <p:cNvPr id="248840" name="Line 9"/>
            <p:cNvSpPr>
              <a:spLocks noChangeShapeType="1"/>
            </p:cNvSpPr>
            <p:nvPr/>
          </p:nvSpPr>
          <p:spPr bwMode="auto">
            <a:xfrm flipH="1">
              <a:off x="3868" y="1872"/>
              <a:ext cx="0" cy="378"/>
            </a:xfrm>
            <a:prstGeom prst="line">
              <a:avLst/>
            </a:prstGeom>
            <a:noFill/>
            <a:ln w="9525">
              <a:solidFill>
                <a:schemeClr val="tx1"/>
              </a:solidFill>
              <a:round/>
              <a:headEnd/>
              <a:tailEnd/>
            </a:ln>
          </p:spPr>
          <p:txBody>
            <a:bodyPr wrap="none" anchor="ctr"/>
            <a:lstStyle/>
            <a:p>
              <a:endParaRPr lang="en-US"/>
            </a:p>
          </p:txBody>
        </p:sp>
        <p:sp>
          <p:nvSpPr>
            <p:cNvPr id="10" name="Rectangle 10"/>
            <p:cNvSpPr>
              <a:spLocks noChangeArrowheads="1"/>
            </p:cNvSpPr>
            <p:nvPr/>
          </p:nvSpPr>
          <p:spPr bwMode="auto">
            <a:xfrm>
              <a:off x="2376" y="2556"/>
              <a:ext cx="684" cy="1068"/>
            </a:xfrm>
            <a:prstGeom prst="rect">
              <a:avLst/>
            </a:prstGeom>
            <a:solidFill>
              <a:schemeClr val="accent1"/>
            </a:solidFill>
            <a:ln w="9525">
              <a:solidFill>
                <a:schemeClr val="tx1"/>
              </a:solidFill>
              <a:miter lim="800000"/>
              <a:headEnd/>
              <a:tailEnd/>
            </a:ln>
            <a:effectLst/>
          </p:spPr>
          <p:txBody>
            <a:bodyPr wrap="none" anchor="ctr"/>
            <a:lstStyle/>
            <a:p>
              <a:pPr algn="ctr">
                <a:defRPr/>
              </a:pPr>
              <a:endParaRPr lang="hi-IN">
                <a:effectLst>
                  <a:outerShdw blurRad="38100" dist="38100" dir="2700000" algn="tl">
                    <a:srgbClr val="FFFFFF"/>
                  </a:outerShdw>
                </a:effectLst>
                <a:latin typeface="Gill Sans MT" pitchFamily="34" charset="0"/>
              </a:endParaRPr>
            </a:p>
          </p:txBody>
        </p:sp>
        <p:sp>
          <p:nvSpPr>
            <p:cNvPr id="248842" name="Line 11"/>
            <p:cNvSpPr>
              <a:spLocks noChangeShapeType="1"/>
            </p:cNvSpPr>
            <p:nvPr/>
          </p:nvSpPr>
          <p:spPr bwMode="auto">
            <a:xfrm>
              <a:off x="2496" y="2748"/>
              <a:ext cx="384" cy="0"/>
            </a:xfrm>
            <a:prstGeom prst="line">
              <a:avLst/>
            </a:prstGeom>
            <a:noFill/>
            <a:ln w="9525">
              <a:solidFill>
                <a:schemeClr val="tx1"/>
              </a:solidFill>
              <a:round/>
              <a:headEnd/>
              <a:tailEnd/>
            </a:ln>
          </p:spPr>
          <p:txBody>
            <a:bodyPr wrap="none" anchor="ctr"/>
            <a:lstStyle/>
            <a:p>
              <a:endParaRPr lang="en-US"/>
            </a:p>
          </p:txBody>
        </p:sp>
        <p:sp>
          <p:nvSpPr>
            <p:cNvPr id="248843" name="Line 12"/>
            <p:cNvSpPr>
              <a:spLocks noChangeShapeType="1"/>
            </p:cNvSpPr>
            <p:nvPr/>
          </p:nvSpPr>
          <p:spPr bwMode="auto">
            <a:xfrm>
              <a:off x="2496" y="2904"/>
              <a:ext cx="384" cy="0"/>
            </a:xfrm>
            <a:prstGeom prst="line">
              <a:avLst/>
            </a:prstGeom>
            <a:noFill/>
            <a:ln w="9525">
              <a:solidFill>
                <a:schemeClr val="tx1"/>
              </a:solidFill>
              <a:round/>
              <a:headEnd/>
              <a:tailEnd/>
            </a:ln>
          </p:spPr>
          <p:txBody>
            <a:bodyPr wrap="none" anchor="ctr"/>
            <a:lstStyle/>
            <a:p>
              <a:endParaRPr lang="en-US"/>
            </a:p>
          </p:txBody>
        </p:sp>
        <p:sp>
          <p:nvSpPr>
            <p:cNvPr id="248844" name="Line 13"/>
            <p:cNvSpPr>
              <a:spLocks noChangeShapeType="1"/>
            </p:cNvSpPr>
            <p:nvPr/>
          </p:nvSpPr>
          <p:spPr bwMode="auto">
            <a:xfrm>
              <a:off x="2532" y="3096"/>
              <a:ext cx="384" cy="0"/>
            </a:xfrm>
            <a:prstGeom prst="line">
              <a:avLst/>
            </a:prstGeom>
            <a:noFill/>
            <a:ln w="9525">
              <a:solidFill>
                <a:schemeClr val="tx1"/>
              </a:solidFill>
              <a:round/>
              <a:headEnd/>
              <a:tailEnd/>
            </a:ln>
          </p:spPr>
          <p:txBody>
            <a:bodyPr wrap="none" anchor="ctr"/>
            <a:lstStyle/>
            <a:p>
              <a:endParaRPr lang="en-US"/>
            </a:p>
          </p:txBody>
        </p:sp>
        <p:sp>
          <p:nvSpPr>
            <p:cNvPr id="248845" name="Line 14"/>
            <p:cNvSpPr>
              <a:spLocks noChangeShapeType="1"/>
            </p:cNvSpPr>
            <p:nvPr/>
          </p:nvSpPr>
          <p:spPr bwMode="auto">
            <a:xfrm>
              <a:off x="2580" y="3240"/>
              <a:ext cx="384" cy="0"/>
            </a:xfrm>
            <a:prstGeom prst="line">
              <a:avLst/>
            </a:prstGeom>
            <a:noFill/>
            <a:ln w="9525">
              <a:solidFill>
                <a:schemeClr val="tx1"/>
              </a:solidFill>
              <a:round/>
              <a:headEnd/>
              <a:tailEnd/>
            </a:ln>
          </p:spPr>
          <p:txBody>
            <a:bodyPr wrap="none" anchor="ctr"/>
            <a:lstStyle/>
            <a:p>
              <a:endParaRPr lang="en-US"/>
            </a:p>
          </p:txBody>
        </p:sp>
        <p:sp>
          <p:nvSpPr>
            <p:cNvPr id="15" name="Rectangle 15"/>
            <p:cNvSpPr>
              <a:spLocks noChangeArrowheads="1"/>
            </p:cNvSpPr>
            <p:nvPr/>
          </p:nvSpPr>
          <p:spPr bwMode="auto">
            <a:xfrm>
              <a:off x="4740" y="948"/>
              <a:ext cx="756" cy="2413"/>
            </a:xfrm>
            <a:prstGeom prst="rect">
              <a:avLst/>
            </a:prstGeom>
            <a:solidFill>
              <a:schemeClr val="accent1"/>
            </a:solidFill>
            <a:ln w="9525">
              <a:solidFill>
                <a:schemeClr val="tx1"/>
              </a:solidFill>
              <a:miter lim="800000"/>
              <a:headEnd/>
              <a:tailEnd/>
            </a:ln>
            <a:effectLst/>
          </p:spPr>
          <p:txBody>
            <a:bodyPr wrap="none" anchor="ctr"/>
            <a:lstStyle/>
            <a:p>
              <a:pPr algn="ctr">
                <a:defRPr/>
              </a:pPr>
              <a:endParaRPr lang="hi-IN">
                <a:effectLst>
                  <a:outerShdw blurRad="38100" dist="38100" dir="2700000" algn="tl">
                    <a:srgbClr val="FFFFFF"/>
                  </a:outerShdw>
                </a:effectLst>
                <a:latin typeface="Gill Sans MT" pitchFamily="34" charset="0"/>
              </a:endParaRPr>
            </a:p>
          </p:txBody>
        </p:sp>
        <p:sp>
          <p:nvSpPr>
            <p:cNvPr id="16" name="Text Box 16"/>
            <p:cNvSpPr txBox="1">
              <a:spLocks noChangeArrowheads="1"/>
            </p:cNvSpPr>
            <p:nvPr/>
          </p:nvSpPr>
          <p:spPr bwMode="auto">
            <a:xfrm>
              <a:off x="4730" y="1391"/>
              <a:ext cx="778" cy="613"/>
            </a:xfrm>
            <a:prstGeom prst="rect">
              <a:avLst/>
            </a:prstGeom>
            <a:noFill/>
            <a:ln w="9525">
              <a:solidFill>
                <a:schemeClr val="tx1"/>
              </a:solidFill>
              <a:miter lim="800000"/>
              <a:headEnd/>
              <a:tailEnd/>
            </a:ln>
            <a:effectLst/>
          </p:spPr>
          <p:txBody>
            <a:bodyPr>
              <a:spAutoFit/>
            </a:bodyPr>
            <a:lstStyle/>
            <a:p>
              <a:pPr>
                <a:defRPr/>
              </a:pPr>
              <a:r>
                <a:rPr lang="en-US" dirty="0">
                  <a:effectLst>
                    <a:outerShdw blurRad="38100" dist="38100" dir="2700000" algn="tl">
                      <a:srgbClr val="C0C0C0"/>
                    </a:outerShdw>
                  </a:effectLst>
                  <a:latin typeface="Gill Sans MT" pitchFamily="34" charset="0"/>
                </a:rPr>
                <a:t>F0000….00</a:t>
              </a:r>
            </a:p>
          </p:txBody>
        </p:sp>
        <p:sp>
          <p:nvSpPr>
            <p:cNvPr id="17" name="Text Box 17"/>
            <p:cNvSpPr txBox="1">
              <a:spLocks noChangeArrowheads="1"/>
            </p:cNvSpPr>
            <p:nvPr/>
          </p:nvSpPr>
          <p:spPr bwMode="auto">
            <a:xfrm>
              <a:off x="4742" y="2484"/>
              <a:ext cx="766" cy="613"/>
            </a:xfrm>
            <a:prstGeom prst="rect">
              <a:avLst/>
            </a:prstGeom>
            <a:noFill/>
            <a:ln w="9525">
              <a:solidFill>
                <a:schemeClr val="tx1"/>
              </a:solidFill>
              <a:miter lim="800000"/>
              <a:headEnd/>
              <a:tailEnd/>
            </a:ln>
            <a:effectLst/>
          </p:spPr>
          <p:txBody>
            <a:bodyPr>
              <a:spAutoFit/>
            </a:bodyPr>
            <a:lstStyle/>
            <a:p>
              <a:pPr>
                <a:defRPr/>
              </a:pPr>
              <a:r>
                <a:rPr lang="en-US" dirty="0">
                  <a:effectLst>
                    <a:outerShdw blurRad="38100" dist="38100" dir="2700000" algn="tl">
                      <a:srgbClr val="C0C0C0"/>
                    </a:outerShdw>
                  </a:effectLst>
                  <a:latin typeface="Gill Sans MT" pitchFamily="34" charset="0"/>
                </a:rPr>
                <a:t>F1111….11</a:t>
              </a:r>
            </a:p>
          </p:txBody>
        </p:sp>
        <p:sp>
          <p:nvSpPr>
            <p:cNvPr id="18" name="Text Box 18"/>
            <p:cNvSpPr txBox="1">
              <a:spLocks noChangeArrowheads="1"/>
            </p:cNvSpPr>
            <p:nvPr/>
          </p:nvSpPr>
          <p:spPr bwMode="auto">
            <a:xfrm>
              <a:off x="4562" y="3407"/>
              <a:ext cx="1621" cy="351"/>
            </a:xfrm>
            <a:prstGeom prst="rect">
              <a:avLst/>
            </a:prstGeom>
            <a:noFill/>
            <a:ln w="9525">
              <a:noFill/>
              <a:miter lim="800000"/>
              <a:headEnd/>
              <a:tailEnd/>
            </a:ln>
            <a:effectLst/>
          </p:spPr>
          <p:txBody>
            <a:bodyPr wrap="none">
              <a:spAutoFit/>
            </a:bodyPr>
            <a:lstStyle/>
            <a:p>
              <a:pPr>
                <a:defRPr/>
              </a:pPr>
              <a:r>
                <a:rPr lang="en-US" dirty="0">
                  <a:effectLst>
                    <a:outerShdw blurRad="38100" dist="38100" dir="2700000" algn="tl">
                      <a:srgbClr val="C0C0C0"/>
                    </a:outerShdw>
                  </a:effectLst>
                  <a:latin typeface="Gill Sans MT" pitchFamily="34" charset="0"/>
                </a:rPr>
                <a:t>Physical memory</a:t>
              </a:r>
            </a:p>
          </p:txBody>
        </p:sp>
        <p:sp>
          <p:nvSpPr>
            <p:cNvPr id="19" name="Text Box 19"/>
            <p:cNvSpPr txBox="1">
              <a:spLocks noChangeArrowheads="1"/>
            </p:cNvSpPr>
            <p:nvPr/>
          </p:nvSpPr>
          <p:spPr bwMode="auto">
            <a:xfrm>
              <a:off x="2282" y="3611"/>
              <a:ext cx="1037" cy="351"/>
            </a:xfrm>
            <a:prstGeom prst="rect">
              <a:avLst/>
            </a:prstGeom>
            <a:noFill/>
            <a:ln w="9525">
              <a:noFill/>
              <a:miter lim="800000"/>
              <a:headEnd/>
              <a:tailEnd/>
            </a:ln>
            <a:effectLst/>
          </p:spPr>
          <p:txBody>
            <a:bodyPr wrap="none">
              <a:spAutoFit/>
            </a:bodyPr>
            <a:lstStyle/>
            <a:p>
              <a:pPr>
                <a:defRPr/>
              </a:pPr>
              <a:r>
                <a:rPr lang="en-US" dirty="0">
                  <a:effectLst>
                    <a:outerShdw blurRad="38100" dist="38100" dir="2700000" algn="tl">
                      <a:srgbClr val="C0C0C0"/>
                    </a:outerShdw>
                  </a:effectLst>
                  <a:latin typeface="Gill Sans MT" pitchFamily="34" charset="0"/>
                </a:rPr>
                <a:t>Page table</a:t>
              </a:r>
            </a:p>
          </p:txBody>
        </p:sp>
        <p:sp>
          <p:nvSpPr>
            <p:cNvPr id="248851" name="AutoShape 20"/>
            <p:cNvSpPr>
              <a:spLocks/>
            </p:cNvSpPr>
            <p:nvPr/>
          </p:nvSpPr>
          <p:spPr bwMode="auto">
            <a:xfrm>
              <a:off x="2064" y="2580"/>
              <a:ext cx="240" cy="612"/>
            </a:xfrm>
            <a:prstGeom prst="leftBrace">
              <a:avLst>
                <a:gd name="adj1" fmla="val 21250"/>
                <a:gd name="adj2" fmla="val 50000"/>
              </a:avLst>
            </a:prstGeom>
            <a:noFill/>
            <a:ln w="9525">
              <a:solidFill>
                <a:schemeClr val="tx1"/>
              </a:solidFill>
              <a:round/>
              <a:headEnd/>
              <a:tailEnd/>
            </a:ln>
          </p:spPr>
          <p:txBody>
            <a:bodyPr wrap="none" anchor="ctr"/>
            <a:lstStyle/>
            <a:p>
              <a:endParaRPr lang="en-US">
                <a:latin typeface="Gill Sans MT" pitchFamily="34" charset="0"/>
              </a:endParaRPr>
            </a:p>
          </p:txBody>
        </p:sp>
        <p:sp>
          <p:nvSpPr>
            <p:cNvPr id="21" name="Text Box 21"/>
            <p:cNvSpPr txBox="1">
              <a:spLocks noChangeArrowheads="1"/>
            </p:cNvSpPr>
            <p:nvPr/>
          </p:nvSpPr>
          <p:spPr bwMode="auto">
            <a:xfrm>
              <a:off x="1910" y="2820"/>
              <a:ext cx="278" cy="350"/>
            </a:xfrm>
            <a:prstGeom prst="rect">
              <a:avLst/>
            </a:prstGeom>
            <a:noFill/>
            <a:ln w="9525">
              <a:noFill/>
              <a:miter lim="800000"/>
              <a:headEnd/>
              <a:tailEnd/>
            </a:ln>
            <a:effectLst/>
          </p:spPr>
          <p:txBody>
            <a:bodyPr wrap="none">
              <a:spAutoFit/>
            </a:bodyPr>
            <a:lstStyle/>
            <a:p>
              <a:pPr>
                <a:defRPr/>
              </a:pPr>
              <a:r>
                <a:rPr lang="en-US" dirty="0">
                  <a:effectLst>
                    <a:outerShdw blurRad="38100" dist="38100" dir="2700000" algn="tl">
                      <a:srgbClr val="C0C0C0"/>
                    </a:outerShdw>
                  </a:effectLst>
                  <a:latin typeface="Gill Sans MT" pitchFamily="34" charset="0"/>
                </a:rPr>
                <a:t>p</a:t>
              </a:r>
            </a:p>
          </p:txBody>
        </p:sp>
        <p:sp>
          <p:nvSpPr>
            <p:cNvPr id="248853" name="Line 22"/>
            <p:cNvSpPr>
              <a:spLocks noChangeShapeType="1"/>
            </p:cNvSpPr>
            <p:nvPr/>
          </p:nvSpPr>
          <p:spPr bwMode="auto">
            <a:xfrm>
              <a:off x="1476" y="2100"/>
              <a:ext cx="0" cy="1224"/>
            </a:xfrm>
            <a:prstGeom prst="line">
              <a:avLst/>
            </a:prstGeom>
            <a:noFill/>
            <a:ln w="9525">
              <a:solidFill>
                <a:schemeClr val="tx1"/>
              </a:solidFill>
              <a:round/>
              <a:headEnd/>
              <a:tailEnd/>
            </a:ln>
          </p:spPr>
          <p:txBody>
            <a:bodyPr wrap="none" anchor="ctr"/>
            <a:lstStyle/>
            <a:p>
              <a:endParaRPr lang="en-US"/>
            </a:p>
          </p:txBody>
        </p:sp>
        <p:sp>
          <p:nvSpPr>
            <p:cNvPr id="23" name="Text Box 23"/>
            <p:cNvSpPr txBox="1">
              <a:spLocks noChangeArrowheads="1"/>
            </p:cNvSpPr>
            <p:nvPr/>
          </p:nvSpPr>
          <p:spPr bwMode="auto">
            <a:xfrm>
              <a:off x="2414" y="2839"/>
              <a:ext cx="631" cy="351"/>
            </a:xfrm>
            <a:prstGeom prst="rect">
              <a:avLst/>
            </a:prstGeom>
            <a:noFill/>
            <a:ln w="9525">
              <a:solidFill>
                <a:schemeClr val="tx1"/>
              </a:solidFill>
              <a:miter lim="800000"/>
              <a:headEnd/>
              <a:tailEnd/>
            </a:ln>
            <a:effectLst/>
          </p:spPr>
          <p:txBody>
            <a:bodyPr>
              <a:spAutoFit/>
            </a:bodyPr>
            <a:lstStyle/>
            <a:p>
              <a:pPr>
                <a:defRPr/>
              </a:pPr>
              <a:r>
                <a:rPr lang="en-US" dirty="0">
                  <a:effectLst>
                    <a:outerShdw blurRad="38100" dist="38100" dir="2700000" algn="tl">
                      <a:srgbClr val="C0C0C0"/>
                    </a:outerShdw>
                  </a:effectLst>
                  <a:latin typeface="Gill Sans MT" pitchFamily="34" charset="0"/>
                </a:rPr>
                <a:t>F          </a:t>
              </a:r>
            </a:p>
          </p:txBody>
        </p:sp>
        <p:sp>
          <p:nvSpPr>
            <p:cNvPr id="248855" name="Line 24"/>
            <p:cNvSpPr>
              <a:spLocks noChangeShapeType="1"/>
            </p:cNvSpPr>
            <p:nvPr/>
          </p:nvSpPr>
          <p:spPr bwMode="auto">
            <a:xfrm>
              <a:off x="1488" y="3360"/>
              <a:ext cx="900" cy="0"/>
            </a:xfrm>
            <a:prstGeom prst="line">
              <a:avLst/>
            </a:prstGeom>
            <a:noFill/>
            <a:ln w="9525">
              <a:solidFill>
                <a:schemeClr val="tx1"/>
              </a:solidFill>
              <a:round/>
              <a:headEnd/>
              <a:tailEnd type="triangle" w="med" len="med"/>
            </a:ln>
          </p:spPr>
          <p:txBody>
            <a:bodyPr wrap="none" anchor="ctr"/>
            <a:lstStyle/>
            <a:p>
              <a:endParaRPr lang="en-US"/>
            </a:p>
          </p:txBody>
        </p:sp>
        <p:sp>
          <p:nvSpPr>
            <p:cNvPr id="248856" name="Line 25"/>
            <p:cNvSpPr>
              <a:spLocks noChangeShapeType="1"/>
            </p:cNvSpPr>
            <p:nvPr/>
          </p:nvSpPr>
          <p:spPr bwMode="auto">
            <a:xfrm flipV="1">
              <a:off x="3024" y="3372"/>
              <a:ext cx="360" cy="12"/>
            </a:xfrm>
            <a:prstGeom prst="line">
              <a:avLst/>
            </a:prstGeom>
            <a:noFill/>
            <a:ln w="9525">
              <a:solidFill>
                <a:schemeClr val="tx1"/>
              </a:solidFill>
              <a:round/>
              <a:headEnd/>
              <a:tailEnd/>
            </a:ln>
          </p:spPr>
          <p:txBody>
            <a:bodyPr wrap="none" anchor="ctr"/>
            <a:lstStyle/>
            <a:p>
              <a:endParaRPr lang="en-US"/>
            </a:p>
          </p:txBody>
        </p:sp>
        <p:sp>
          <p:nvSpPr>
            <p:cNvPr id="248857" name="Line 26"/>
            <p:cNvSpPr>
              <a:spLocks noChangeShapeType="1"/>
            </p:cNvSpPr>
            <p:nvPr/>
          </p:nvSpPr>
          <p:spPr bwMode="auto">
            <a:xfrm flipV="1">
              <a:off x="3408" y="2124"/>
              <a:ext cx="0" cy="1248"/>
            </a:xfrm>
            <a:prstGeom prst="line">
              <a:avLst/>
            </a:prstGeom>
            <a:noFill/>
            <a:ln w="9525">
              <a:solidFill>
                <a:schemeClr val="tx1"/>
              </a:solidFill>
              <a:round/>
              <a:headEnd/>
              <a:tailEnd type="triangle" w="med" len="med"/>
            </a:ln>
          </p:spPr>
          <p:txBody>
            <a:bodyPr wrap="none" anchor="ctr"/>
            <a:lstStyle/>
            <a:p>
              <a:endParaRPr lang="en-US"/>
            </a:p>
          </p:txBody>
        </p:sp>
        <p:sp>
          <p:nvSpPr>
            <p:cNvPr id="248858" name="Line 27"/>
            <p:cNvSpPr>
              <a:spLocks noChangeShapeType="1"/>
            </p:cNvSpPr>
            <p:nvPr/>
          </p:nvSpPr>
          <p:spPr bwMode="auto">
            <a:xfrm flipV="1">
              <a:off x="1836" y="1524"/>
              <a:ext cx="0" cy="336"/>
            </a:xfrm>
            <a:prstGeom prst="line">
              <a:avLst/>
            </a:prstGeom>
            <a:noFill/>
            <a:ln w="9525">
              <a:solidFill>
                <a:schemeClr val="tx1"/>
              </a:solidFill>
              <a:round/>
              <a:headEnd/>
              <a:tailEnd/>
            </a:ln>
          </p:spPr>
          <p:txBody>
            <a:bodyPr wrap="none" anchor="ctr"/>
            <a:lstStyle/>
            <a:p>
              <a:endParaRPr lang="en-US"/>
            </a:p>
          </p:txBody>
        </p:sp>
        <p:sp>
          <p:nvSpPr>
            <p:cNvPr id="248859" name="Line 28"/>
            <p:cNvSpPr>
              <a:spLocks noChangeShapeType="1"/>
            </p:cNvSpPr>
            <p:nvPr/>
          </p:nvSpPr>
          <p:spPr bwMode="auto">
            <a:xfrm>
              <a:off x="1836" y="1548"/>
              <a:ext cx="2040" cy="0"/>
            </a:xfrm>
            <a:prstGeom prst="line">
              <a:avLst/>
            </a:prstGeom>
            <a:noFill/>
            <a:ln w="9525">
              <a:solidFill>
                <a:schemeClr val="tx1"/>
              </a:solidFill>
              <a:round/>
              <a:headEnd/>
              <a:tailEnd/>
            </a:ln>
          </p:spPr>
          <p:txBody>
            <a:bodyPr wrap="none" anchor="ctr"/>
            <a:lstStyle/>
            <a:p>
              <a:endParaRPr lang="en-US"/>
            </a:p>
          </p:txBody>
        </p:sp>
        <p:sp>
          <p:nvSpPr>
            <p:cNvPr id="248860" name="Line 29"/>
            <p:cNvSpPr>
              <a:spLocks noChangeShapeType="1"/>
            </p:cNvSpPr>
            <p:nvPr/>
          </p:nvSpPr>
          <p:spPr bwMode="auto">
            <a:xfrm>
              <a:off x="3888" y="1548"/>
              <a:ext cx="0" cy="324"/>
            </a:xfrm>
            <a:prstGeom prst="line">
              <a:avLst/>
            </a:prstGeom>
            <a:noFill/>
            <a:ln w="9525">
              <a:solidFill>
                <a:schemeClr val="tx1"/>
              </a:solidFill>
              <a:round/>
              <a:headEnd/>
              <a:tailEnd type="triangle" w="med" len="med"/>
            </a:ln>
          </p:spPr>
          <p:txBody>
            <a:bodyPr wrap="none" anchor="ctr"/>
            <a:lstStyle/>
            <a:p>
              <a:endParaRPr lang="en-US"/>
            </a:p>
          </p:txBody>
        </p:sp>
        <p:sp>
          <p:nvSpPr>
            <p:cNvPr id="248861" name="Line 30"/>
            <p:cNvSpPr>
              <a:spLocks noChangeShapeType="1"/>
            </p:cNvSpPr>
            <p:nvPr/>
          </p:nvSpPr>
          <p:spPr bwMode="auto">
            <a:xfrm>
              <a:off x="4140" y="1944"/>
              <a:ext cx="612" cy="0"/>
            </a:xfrm>
            <a:prstGeom prst="line">
              <a:avLst/>
            </a:prstGeom>
            <a:noFill/>
            <a:ln w="9525">
              <a:solidFill>
                <a:schemeClr val="tx1"/>
              </a:solidFill>
              <a:round/>
              <a:headEnd/>
              <a:tailEnd type="triangle" w="med" len="med"/>
            </a:ln>
          </p:spPr>
          <p:txBody>
            <a:bodyPr wrap="none" anchor="ctr"/>
            <a:lstStyle/>
            <a:p>
              <a:endParaRPr lang="en-US"/>
            </a:p>
          </p:txBody>
        </p:sp>
        <p:sp>
          <p:nvSpPr>
            <p:cNvPr id="248862" name="Line 31"/>
            <p:cNvSpPr>
              <a:spLocks noChangeShapeType="1"/>
            </p:cNvSpPr>
            <p:nvPr/>
          </p:nvSpPr>
          <p:spPr bwMode="auto">
            <a:xfrm>
              <a:off x="960" y="1980"/>
              <a:ext cx="276" cy="0"/>
            </a:xfrm>
            <a:prstGeom prst="line">
              <a:avLst/>
            </a:prstGeom>
            <a:noFill/>
            <a:ln w="9525">
              <a:solidFill>
                <a:schemeClr val="tx1"/>
              </a:solidFill>
              <a:round/>
              <a:headEnd/>
              <a:tailEnd type="triangle" w="med" len="med"/>
            </a:ln>
          </p:spPr>
          <p:txBody>
            <a:bodyPr wrap="none" anchor="ctr"/>
            <a:lstStyle/>
            <a:p>
              <a:endParaRPr lang="en-US"/>
            </a:p>
          </p:txBody>
        </p:sp>
      </p:grpSp>
      <p:sp>
        <p:nvSpPr>
          <p:cNvPr id="33" name="TextBox 32"/>
          <p:cNvSpPr txBox="1"/>
          <p:nvPr/>
        </p:nvSpPr>
        <p:spPr bwMode="auto">
          <a:xfrm>
            <a:off x="1981200" y="3733800"/>
            <a:ext cx="990600" cy="707886"/>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20000"/>
              </a:spcBef>
              <a:spcAft>
                <a:spcPct val="0"/>
              </a:spcAft>
              <a:buClrTx/>
              <a:buSzTx/>
              <a:buFont typeface="Arial" charset="0"/>
              <a:buNone/>
              <a:tabLst/>
            </a:pPr>
            <a:r>
              <a:rPr kumimoji="0" lang="en-US" sz="2000" b="0" i="0" u="none" strike="noStrike" kern="1200" cap="none" spc="0" normalizeH="0" baseline="0" noProof="0" dirty="0" smtClean="0">
                <a:ln>
                  <a:noFill/>
                </a:ln>
                <a:solidFill>
                  <a:schemeClr val="tx1">
                    <a:tint val="75000"/>
                  </a:schemeClr>
                </a:solidFill>
                <a:effectLst/>
                <a:uLnTx/>
                <a:uFillTx/>
                <a:latin typeface="Gill Sans MT" pitchFamily="34" charset="0"/>
                <a:ea typeface="+mn-ea"/>
                <a:cs typeface="+mn-cs"/>
              </a:rPr>
              <a:t>Logical</a:t>
            </a:r>
            <a:r>
              <a:rPr kumimoji="0" lang="en-US" sz="2000" b="0" i="0" u="none" strike="noStrike" kern="1200" cap="none" spc="0" normalizeH="0" noProof="0" dirty="0" smtClean="0">
                <a:ln>
                  <a:noFill/>
                </a:ln>
                <a:solidFill>
                  <a:schemeClr val="tx1">
                    <a:tint val="75000"/>
                  </a:schemeClr>
                </a:solidFill>
                <a:effectLst/>
                <a:uLnTx/>
                <a:uFillTx/>
                <a:latin typeface="Gill Sans MT" pitchFamily="34" charset="0"/>
                <a:ea typeface="+mn-ea"/>
                <a:cs typeface="+mn-cs"/>
              </a:rPr>
              <a:t> address</a:t>
            </a:r>
            <a:endParaRPr kumimoji="0" lang="en-US" sz="2000" b="0" i="0" u="none" strike="noStrike" kern="1200" cap="none" spc="0" normalizeH="0" baseline="0" noProof="0" dirty="0" smtClean="0">
              <a:ln>
                <a:noFill/>
              </a:ln>
              <a:solidFill>
                <a:schemeClr val="tx1">
                  <a:tint val="75000"/>
                </a:schemeClr>
              </a:solidFill>
              <a:effectLst/>
              <a:uLnTx/>
              <a:uFillTx/>
              <a:latin typeface="Gill Sans MT" pitchFamily="34" charset="0"/>
              <a:ea typeface="+mn-ea"/>
              <a:cs typeface="+mn-cs"/>
            </a:endParaRPr>
          </a:p>
        </p:txBody>
      </p:sp>
      <p:sp>
        <p:nvSpPr>
          <p:cNvPr id="34" name="TextBox 33"/>
          <p:cNvSpPr txBox="1"/>
          <p:nvPr/>
        </p:nvSpPr>
        <p:spPr bwMode="auto">
          <a:xfrm>
            <a:off x="5562600" y="3581400"/>
            <a:ext cx="990600" cy="707886"/>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20000"/>
              </a:spcBef>
              <a:spcAft>
                <a:spcPct val="0"/>
              </a:spcAft>
              <a:buClrTx/>
              <a:buSzTx/>
              <a:buFont typeface="Arial" charset="0"/>
              <a:buNone/>
              <a:tabLst/>
            </a:pPr>
            <a:r>
              <a:rPr kumimoji="0" lang="en-US" sz="2000" b="0" i="0" u="none" strike="noStrike" kern="1200" cap="none" spc="0" normalizeH="0" baseline="0" noProof="0" dirty="0" smtClean="0">
                <a:ln>
                  <a:noFill/>
                </a:ln>
                <a:solidFill>
                  <a:schemeClr val="tx1">
                    <a:tint val="75000"/>
                  </a:schemeClr>
                </a:solidFill>
                <a:effectLst/>
                <a:uLnTx/>
                <a:uFillTx/>
                <a:latin typeface="Gill Sans MT" pitchFamily="34" charset="0"/>
                <a:ea typeface="+mn-ea"/>
                <a:cs typeface="+mn-cs"/>
              </a:rPr>
              <a:t>Physical address</a:t>
            </a: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Content Placeholder 1"/>
          <p:cNvSpPr>
            <a:spLocks noGrp="1"/>
          </p:cNvSpPr>
          <p:nvPr>
            <p:ph idx="1"/>
          </p:nvPr>
        </p:nvSpPr>
        <p:spPr>
          <a:xfrm>
            <a:off x="457200" y="1219200"/>
            <a:ext cx="8229600" cy="5029200"/>
          </a:xfrm>
        </p:spPr>
        <p:txBody>
          <a:bodyPr/>
          <a:lstStyle/>
          <a:p>
            <a:r>
              <a:rPr lang="en-US" dirty="0" smtClean="0"/>
              <a:t>Page table is kept in main memory</a:t>
            </a:r>
          </a:p>
          <a:p>
            <a:endParaRPr lang="en-US" dirty="0" smtClean="0"/>
          </a:p>
          <a:p>
            <a:r>
              <a:rPr lang="en-US" dirty="0" smtClean="0"/>
              <a:t>Page-table base register (PTBR) points to the page table</a:t>
            </a:r>
          </a:p>
          <a:p>
            <a:endParaRPr lang="en-US" dirty="0" smtClean="0"/>
          </a:p>
          <a:p>
            <a:r>
              <a:rPr lang="en-US" dirty="0" smtClean="0"/>
              <a:t>Page-table length register (PRLR) indicates size of the page table</a:t>
            </a:r>
          </a:p>
          <a:p>
            <a:endParaRPr lang="en-US" dirty="0" smtClean="0"/>
          </a:p>
          <a:p>
            <a:pPr algn="just"/>
            <a:r>
              <a:rPr lang="en-US" dirty="0" smtClean="0"/>
              <a:t>In this scheme every data/instruction access requires two memory accesses.  One for the page table and one for the data/instruction</a:t>
            </a:r>
          </a:p>
          <a:p>
            <a:pPr algn="just"/>
            <a:endParaRPr lang="en-US" dirty="0" smtClean="0"/>
          </a:p>
          <a:p>
            <a:pPr algn="just"/>
            <a:r>
              <a:rPr lang="en-US" dirty="0" smtClean="0"/>
              <a:t>The two memory access problem can be solved by the use of a special fast-lookup hardware cache called associative memory or translation look-aside buffers (TLBs)</a:t>
            </a:r>
          </a:p>
          <a:p>
            <a:endParaRPr lang="en-US" dirty="0" smtClean="0"/>
          </a:p>
        </p:txBody>
      </p:sp>
      <p:sp>
        <p:nvSpPr>
          <p:cNvPr id="250882" name="Rectangle 2"/>
          <p:cNvSpPr>
            <a:spLocks noGrp="1" noChangeArrowheads="1"/>
          </p:cNvSpPr>
          <p:nvPr>
            <p:ph type="title"/>
          </p:nvPr>
        </p:nvSpPr>
        <p:spPr>
          <a:xfrm>
            <a:off x="0" y="304800"/>
            <a:ext cx="7562850" cy="914400"/>
          </a:xfrm>
        </p:spPr>
        <p:txBody>
          <a:bodyPr anchor="t"/>
          <a:lstStyle/>
          <a:p>
            <a:r>
              <a:rPr lang="en-US" dirty="0" smtClean="0"/>
              <a:t>Implementation of Page Table</a:t>
            </a: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Rectangle 2"/>
          <p:cNvSpPr>
            <a:spLocks noGrp="1"/>
          </p:cNvSpPr>
          <p:nvPr>
            <p:ph type="title"/>
          </p:nvPr>
        </p:nvSpPr>
        <p:spPr>
          <a:xfrm>
            <a:off x="0" y="0"/>
            <a:ext cx="7562850" cy="914400"/>
          </a:xfrm>
        </p:spPr>
        <p:txBody>
          <a:bodyPr/>
          <a:lstStyle/>
          <a:p>
            <a:r>
              <a:rPr lang="en-US" smtClean="0"/>
              <a:t>Paging Hardware With TLB</a:t>
            </a:r>
          </a:p>
        </p:txBody>
      </p:sp>
      <p:grpSp>
        <p:nvGrpSpPr>
          <p:cNvPr id="251906" name="Group 3"/>
          <p:cNvGrpSpPr>
            <a:grpSpLocks/>
          </p:cNvGrpSpPr>
          <p:nvPr/>
        </p:nvGrpSpPr>
        <p:grpSpPr bwMode="auto">
          <a:xfrm>
            <a:off x="276225" y="1524000"/>
            <a:ext cx="8258175" cy="4495800"/>
            <a:chOff x="174" y="924"/>
            <a:chExt cx="5183" cy="2910"/>
          </a:xfrm>
        </p:grpSpPr>
        <p:sp>
          <p:nvSpPr>
            <p:cNvPr id="275460" name="Text Box 4"/>
            <p:cNvSpPr txBox="1">
              <a:spLocks noChangeArrowheads="1"/>
            </p:cNvSpPr>
            <p:nvPr/>
          </p:nvSpPr>
          <p:spPr bwMode="auto">
            <a:xfrm>
              <a:off x="174" y="1427"/>
              <a:ext cx="536" cy="248"/>
            </a:xfrm>
            <a:prstGeom prst="rect">
              <a:avLst/>
            </a:prstGeom>
            <a:noFill/>
            <a:ln w="9525">
              <a:solidFill>
                <a:schemeClr val="tx1"/>
              </a:solidFill>
              <a:miter lim="800000"/>
              <a:headEnd/>
              <a:tailEnd/>
            </a:ln>
            <a:effectLst/>
          </p:spPr>
          <p:txBody>
            <a:bodyPr>
              <a:spAutoFit/>
            </a:bodyPr>
            <a:lstStyle/>
            <a:p>
              <a:pPr>
                <a:spcBef>
                  <a:spcPct val="50000"/>
                </a:spcBef>
                <a:defRPr/>
              </a:pPr>
              <a:r>
                <a:rPr lang="en-US" sz="1600" dirty="0">
                  <a:effectLst>
                    <a:outerShdw blurRad="38100" dist="38100" dir="2700000" algn="tl">
                      <a:srgbClr val="C0C0C0"/>
                    </a:outerShdw>
                  </a:effectLst>
                  <a:latin typeface="Gill Sans MT" pitchFamily="34" charset="0"/>
                </a:rPr>
                <a:t>cpu</a:t>
              </a:r>
            </a:p>
          </p:txBody>
        </p:sp>
        <p:sp>
          <p:nvSpPr>
            <p:cNvPr id="275461" name="Text Box 5"/>
            <p:cNvSpPr txBox="1">
              <a:spLocks noChangeArrowheads="1"/>
            </p:cNvSpPr>
            <p:nvPr/>
          </p:nvSpPr>
          <p:spPr bwMode="auto">
            <a:xfrm>
              <a:off x="1020" y="1439"/>
              <a:ext cx="821" cy="248"/>
            </a:xfrm>
            <a:prstGeom prst="rect">
              <a:avLst/>
            </a:prstGeom>
            <a:noFill/>
            <a:ln w="9525">
              <a:solidFill>
                <a:schemeClr val="tx1"/>
              </a:solidFill>
              <a:miter lim="800000"/>
              <a:headEnd/>
              <a:tailEnd/>
            </a:ln>
            <a:effectLst/>
          </p:spPr>
          <p:txBody>
            <a:bodyPr wrap="none">
              <a:spAutoFit/>
            </a:bodyPr>
            <a:lstStyle/>
            <a:p>
              <a:pPr>
                <a:defRPr/>
              </a:pPr>
              <a:r>
                <a:rPr lang="en-US" sz="1600" dirty="0">
                  <a:effectLst>
                    <a:outerShdw blurRad="38100" dist="38100" dir="2700000" algn="tl">
                      <a:srgbClr val="C0C0C0"/>
                    </a:outerShdw>
                  </a:effectLst>
                  <a:latin typeface="Gill Sans MT" pitchFamily="34" charset="0"/>
                </a:rPr>
                <a:t>P	d</a:t>
              </a:r>
            </a:p>
          </p:txBody>
        </p:sp>
        <p:sp>
          <p:nvSpPr>
            <p:cNvPr id="251909" name="Line 6"/>
            <p:cNvSpPr>
              <a:spLocks noChangeShapeType="1"/>
            </p:cNvSpPr>
            <p:nvPr/>
          </p:nvSpPr>
          <p:spPr bwMode="auto">
            <a:xfrm flipH="1">
              <a:off x="1390" y="1440"/>
              <a:ext cx="12" cy="288"/>
            </a:xfrm>
            <a:prstGeom prst="line">
              <a:avLst/>
            </a:prstGeom>
            <a:noFill/>
            <a:ln w="9525">
              <a:solidFill>
                <a:schemeClr val="tx1"/>
              </a:solidFill>
              <a:round/>
              <a:headEnd/>
              <a:tailEnd/>
            </a:ln>
          </p:spPr>
          <p:txBody>
            <a:bodyPr wrap="none" anchor="ctr"/>
            <a:lstStyle/>
            <a:p>
              <a:endParaRPr lang="en-US"/>
            </a:p>
          </p:txBody>
        </p:sp>
        <p:sp>
          <p:nvSpPr>
            <p:cNvPr id="275463" name="Text Box 7"/>
            <p:cNvSpPr txBox="1">
              <a:spLocks noChangeArrowheads="1"/>
            </p:cNvSpPr>
            <p:nvPr/>
          </p:nvSpPr>
          <p:spPr bwMode="auto">
            <a:xfrm>
              <a:off x="3084" y="1451"/>
              <a:ext cx="821" cy="247"/>
            </a:xfrm>
            <a:prstGeom prst="rect">
              <a:avLst/>
            </a:prstGeom>
            <a:noFill/>
            <a:ln w="9525">
              <a:solidFill>
                <a:schemeClr val="tx1"/>
              </a:solidFill>
              <a:miter lim="800000"/>
              <a:headEnd/>
              <a:tailEnd/>
            </a:ln>
            <a:effectLst/>
          </p:spPr>
          <p:txBody>
            <a:bodyPr wrap="none">
              <a:spAutoFit/>
            </a:bodyPr>
            <a:lstStyle/>
            <a:p>
              <a:pPr>
                <a:defRPr/>
              </a:pPr>
              <a:r>
                <a:rPr lang="en-US" sz="1600" dirty="0">
                  <a:effectLst>
                    <a:outerShdw blurRad="38100" dist="38100" dir="2700000" algn="tl">
                      <a:srgbClr val="C0C0C0"/>
                    </a:outerShdw>
                  </a:effectLst>
                  <a:latin typeface="Gill Sans MT" pitchFamily="34" charset="0"/>
                </a:rPr>
                <a:t>f	d</a:t>
              </a:r>
            </a:p>
          </p:txBody>
        </p:sp>
        <p:sp>
          <p:nvSpPr>
            <p:cNvPr id="251911" name="Line 8"/>
            <p:cNvSpPr>
              <a:spLocks noChangeShapeType="1"/>
            </p:cNvSpPr>
            <p:nvPr/>
          </p:nvSpPr>
          <p:spPr bwMode="auto">
            <a:xfrm flipH="1">
              <a:off x="3454" y="1452"/>
              <a:ext cx="12" cy="228"/>
            </a:xfrm>
            <a:prstGeom prst="line">
              <a:avLst/>
            </a:prstGeom>
            <a:noFill/>
            <a:ln w="9525">
              <a:solidFill>
                <a:schemeClr val="tx1"/>
              </a:solidFill>
              <a:round/>
              <a:headEnd/>
              <a:tailEnd/>
            </a:ln>
          </p:spPr>
          <p:txBody>
            <a:bodyPr wrap="none" anchor="ctr"/>
            <a:lstStyle/>
            <a:p>
              <a:endParaRPr lang="en-US"/>
            </a:p>
          </p:txBody>
        </p:sp>
        <p:sp>
          <p:nvSpPr>
            <p:cNvPr id="275465" name="Rectangle 9"/>
            <p:cNvSpPr>
              <a:spLocks noChangeArrowheads="1"/>
            </p:cNvSpPr>
            <p:nvPr/>
          </p:nvSpPr>
          <p:spPr bwMode="auto">
            <a:xfrm>
              <a:off x="2122" y="2664"/>
              <a:ext cx="687" cy="1071"/>
            </a:xfrm>
            <a:prstGeom prst="rect">
              <a:avLst/>
            </a:prstGeom>
            <a:solidFill>
              <a:schemeClr val="accent1"/>
            </a:solidFill>
            <a:ln w="9525">
              <a:solidFill>
                <a:schemeClr val="tx1"/>
              </a:solidFill>
              <a:miter lim="800000"/>
              <a:headEnd/>
              <a:tailEnd/>
            </a:ln>
            <a:effectLst/>
          </p:spPr>
          <p:txBody>
            <a:bodyPr wrap="none" anchor="ctr"/>
            <a:lstStyle/>
            <a:p>
              <a:pPr algn="ctr">
                <a:defRPr/>
              </a:pPr>
              <a:endParaRPr lang="hi-IN" sz="1600">
                <a:effectLst>
                  <a:outerShdw blurRad="38100" dist="38100" dir="2700000" algn="tl">
                    <a:srgbClr val="FFFFFF"/>
                  </a:outerShdw>
                </a:effectLst>
                <a:latin typeface="Gill Sans MT" pitchFamily="34" charset="0"/>
              </a:endParaRPr>
            </a:p>
          </p:txBody>
        </p:sp>
        <p:sp>
          <p:nvSpPr>
            <p:cNvPr id="251913" name="Line 10"/>
            <p:cNvSpPr>
              <a:spLocks noChangeShapeType="1"/>
            </p:cNvSpPr>
            <p:nvPr/>
          </p:nvSpPr>
          <p:spPr bwMode="auto">
            <a:xfrm>
              <a:off x="2242" y="2808"/>
              <a:ext cx="384" cy="0"/>
            </a:xfrm>
            <a:prstGeom prst="line">
              <a:avLst/>
            </a:prstGeom>
            <a:noFill/>
            <a:ln w="9525">
              <a:solidFill>
                <a:schemeClr val="tx1"/>
              </a:solidFill>
              <a:round/>
              <a:headEnd/>
              <a:tailEnd/>
            </a:ln>
          </p:spPr>
          <p:txBody>
            <a:bodyPr wrap="none" anchor="ctr"/>
            <a:lstStyle/>
            <a:p>
              <a:endParaRPr lang="en-US"/>
            </a:p>
          </p:txBody>
        </p:sp>
        <p:sp>
          <p:nvSpPr>
            <p:cNvPr id="251914" name="Line 11"/>
            <p:cNvSpPr>
              <a:spLocks noChangeShapeType="1"/>
            </p:cNvSpPr>
            <p:nvPr/>
          </p:nvSpPr>
          <p:spPr bwMode="auto">
            <a:xfrm>
              <a:off x="2242" y="2964"/>
              <a:ext cx="384" cy="0"/>
            </a:xfrm>
            <a:prstGeom prst="line">
              <a:avLst/>
            </a:prstGeom>
            <a:noFill/>
            <a:ln w="9525">
              <a:solidFill>
                <a:schemeClr val="tx1"/>
              </a:solidFill>
              <a:round/>
              <a:headEnd/>
              <a:tailEnd/>
            </a:ln>
          </p:spPr>
          <p:txBody>
            <a:bodyPr wrap="none" anchor="ctr"/>
            <a:lstStyle/>
            <a:p>
              <a:endParaRPr lang="en-US"/>
            </a:p>
          </p:txBody>
        </p:sp>
        <p:sp>
          <p:nvSpPr>
            <p:cNvPr id="251915" name="Line 12"/>
            <p:cNvSpPr>
              <a:spLocks noChangeShapeType="1"/>
            </p:cNvSpPr>
            <p:nvPr/>
          </p:nvSpPr>
          <p:spPr bwMode="auto">
            <a:xfrm>
              <a:off x="2278" y="3156"/>
              <a:ext cx="384" cy="0"/>
            </a:xfrm>
            <a:prstGeom prst="line">
              <a:avLst/>
            </a:prstGeom>
            <a:noFill/>
            <a:ln w="9525">
              <a:solidFill>
                <a:schemeClr val="tx1"/>
              </a:solidFill>
              <a:round/>
              <a:headEnd/>
              <a:tailEnd/>
            </a:ln>
          </p:spPr>
          <p:txBody>
            <a:bodyPr wrap="none" anchor="ctr"/>
            <a:lstStyle/>
            <a:p>
              <a:endParaRPr lang="en-US"/>
            </a:p>
          </p:txBody>
        </p:sp>
        <p:sp>
          <p:nvSpPr>
            <p:cNvPr id="251916" name="Line 13"/>
            <p:cNvSpPr>
              <a:spLocks noChangeShapeType="1"/>
            </p:cNvSpPr>
            <p:nvPr/>
          </p:nvSpPr>
          <p:spPr bwMode="auto">
            <a:xfrm>
              <a:off x="2326" y="3300"/>
              <a:ext cx="384" cy="0"/>
            </a:xfrm>
            <a:prstGeom prst="line">
              <a:avLst/>
            </a:prstGeom>
            <a:noFill/>
            <a:ln w="9525">
              <a:solidFill>
                <a:schemeClr val="tx1"/>
              </a:solidFill>
              <a:round/>
              <a:headEnd/>
              <a:tailEnd/>
            </a:ln>
          </p:spPr>
          <p:txBody>
            <a:bodyPr wrap="none" anchor="ctr"/>
            <a:lstStyle/>
            <a:p>
              <a:endParaRPr lang="en-US"/>
            </a:p>
          </p:txBody>
        </p:sp>
        <p:sp>
          <p:nvSpPr>
            <p:cNvPr id="275470" name="Rectangle 14"/>
            <p:cNvSpPr>
              <a:spLocks noChangeArrowheads="1"/>
            </p:cNvSpPr>
            <p:nvPr/>
          </p:nvSpPr>
          <p:spPr bwMode="auto">
            <a:xfrm>
              <a:off x="4486" y="924"/>
              <a:ext cx="756" cy="2412"/>
            </a:xfrm>
            <a:prstGeom prst="rect">
              <a:avLst/>
            </a:prstGeom>
            <a:solidFill>
              <a:schemeClr val="accent1"/>
            </a:solidFill>
            <a:ln w="9525">
              <a:solidFill>
                <a:schemeClr val="tx1"/>
              </a:solidFill>
              <a:miter lim="800000"/>
              <a:headEnd/>
              <a:tailEnd/>
            </a:ln>
            <a:effectLst/>
          </p:spPr>
          <p:txBody>
            <a:bodyPr wrap="none" anchor="ctr"/>
            <a:lstStyle/>
            <a:p>
              <a:pPr algn="ctr">
                <a:defRPr/>
              </a:pPr>
              <a:endParaRPr lang="hi-IN" sz="1600">
                <a:effectLst>
                  <a:outerShdw blurRad="38100" dist="38100" dir="2700000" algn="tl">
                    <a:srgbClr val="FFFFFF"/>
                  </a:outerShdw>
                </a:effectLst>
                <a:latin typeface="Gill Sans MT" pitchFamily="34" charset="0"/>
              </a:endParaRPr>
            </a:p>
          </p:txBody>
        </p:sp>
        <p:sp>
          <p:nvSpPr>
            <p:cNvPr id="275471" name="Text Box 15"/>
            <p:cNvSpPr txBox="1">
              <a:spLocks noChangeArrowheads="1"/>
            </p:cNvSpPr>
            <p:nvPr/>
          </p:nvSpPr>
          <p:spPr bwMode="auto">
            <a:xfrm>
              <a:off x="4476" y="1367"/>
              <a:ext cx="778" cy="248"/>
            </a:xfrm>
            <a:prstGeom prst="rect">
              <a:avLst/>
            </a:prstGeom>
            <a:noFill/>
            <a:ln w="9525">
              <a:solidFill>
                <a:schemeClr val="tx1"/>
              </a:solidFill>
              <a:miter lim="800000"/>
              <a:headEnd/>
              <a:tailEnd/>
            </a:ln>
            <a:effectLst/>
          </p:spPr>
          <p:txBody>
            <a:bodyPr>
              <a:spAutoFit/>
            </a:bodyPr>
            <a:lstStyle/>
            <a:p>
              <a:pPr>
                <a:defRPr/>
              </a:pPr>
              <a:r>
                <a:rPr lang="en-US" sz="1600" dirty="0">
                  <a:effectLst>
                    <a:outerShdw blurRad="38100" dist="38100" dir="2700000" algn="tl">
                      <a:srgbClr val="C0C0C0"/>
                    </a:outerShdw>
                  </a:effectLst>
                  <a:latin typeface="Gill Sans MT" pitchFamily="34" charset="0"/>
                </a:rPr>
                <a:t>F0000….00</a:t>
              </a:r>
            </a:p>
          </p:txBody>
        </p:sp>
        <p:sp>
          <p:nvSpPr>
            <p:cNvPr id="275472" name="Text Box 16"/>
            <p:cNvSpPr txBox="1">
              <a:spLocks noChangeArrowheads="1"/>
            </p:cNvSpPr>
            <p:nvPr/>
          </p:nvSpPr>
          <p:spPr bwMode="auto">
            <a:xfrm>
              <a:off x="4488" y="2459"/>
              <a:ext cx="761" cy="426"/>
            </a:xfrm>
            <a:prstGeom prst="rect">
              <a:avLst/>
            </a:prstGeom>
            <a:noFill/>
            <a:ln w="9525">
              <a:solidFill>
                <a:schemeClr val="tx1"/>
              </a:solidFill>
              <a:miter lim="800000"/>
              <a:headEnd/>
              <a:tailEnd/>
            </a:ln>
            <a:effectLst/>
          </p:spPr>
          <p:txBody>
            <a:bodyPr>
              <a:spAutoFit/>
            </a:bodyPr>
            <a:lstStyle/>
            <a:p>
              <a:pPr>
                <a:defRPr/>
              </a:pPr>
              <a:r>
                <a:rPr lang="en-US" sz="1600" dirty="0">
                  <a:effectLst>
                    <a:outerShdw blurRad="38100" dist="38100" dir="2700000" algn="tl">
                      <a:srgbClr val="C0C0C0"/>
                    </a:outerShdw>
                  </a:effectLst>
                  <a:latin typeface="Gill Sans MT" pitchFamily="34" charset="0"/>
                </a:rPr>
                <a:t>F1111….11</a:t>
              </a:r>
            </a:p>
          </p:txBody>
        </p:sp>
        <p:sp>
          <p:nvSpPr>
            <p:cNvPr id="275473" name="Text Box 17"/>
            <p:cNvSpPr txBox="1">
              <a:spLocks noChangeArrowheads="1"/>
            </p:cNvSpPr>
            <p:nvPr/>
          </p:nvSpPr>
          <p:spPr bwMode="auto">
            <a:xfrm>
              <a:off x="4284" y="3491"/>
              <a:ext cx="1073" cy="248"/>
            </a:xfrm>
            <a:prstGeom prst="rect">
              <a:avLst/>
            </a:prstGeom>
            <a:noFill/>
            <a:ln w="9525">
              <a:noFill/>
              <a:miter lim="800000"/>
              <a:headEnd/>
              <a:tailEnd/>
            </a:ln>
            <a:effectLst/>
          </p:spPr>
          <p:txBody>
            <a:bodyPr wrap="none">
              <a:spAutoFit/>
            </a:bodyPr>
            <a:lstStyle/>
            <a:p>
              <a:pPr>
                <a:defRPr/>
              </a:pPr>
              <a:r>
                <a:rPr lang="en-US" sz="1600" dirty="0">
                  <a:effectLst>
                    <a:outerShdw blurRad="38100" dist="38100" dir="2700000" algn="tl">
                      <a:srgbClr val="C0C0C0"/>
                    </a:outerShdw>
                  </a:effectLst>
                  <a:latin typeface="Gill Sans MT" pitchFamily="34" charset="0"/>
                </a:rPr>
                <a:t>Physical memory</a:t>
              </a:r>
            </a:p>
          </p:txBody>
        </p:sp>
        <p:sp>
          <p:nvSpPr>
            <p:cNvPr id="275474" name="Text Box 18"/>
            <p:cNvSpPr txBox="1">
              <a:spLocks noChangeArrowheads="1"/>
            </p:cNvSpPr>
            <p:nvPr/>
          </p:nvSpPr>
          <p:spPr bwMode="auto">
            <a:xfrm>
              <a:off x="2844" y="3587"/>
              <a:ext cx="692" cy="247"/>
            </a:xfrm>
            <a:prstGeom prst="rect">
              <a:avLst/>
            </a:prstGeom>
            <a:noFill/>
            <a:ln w="9525">
              <a:noFill/>
              <a:miter lim="800000"/>
              <a:headEnd/>
              <a:tailEnd/>
            </a:ln>
            <a:effectLst/>
          </p:spPr>
          <p:txBody>
            <a:bodyPr wrap="none">
              <a:spAutoFit/>
            </a:bodyPr>
            <a:lstStyle/>
            <a:p>
              <a:pPr>
                <a:defRPr/>
              </a:pPr>
              <a:r>
                <a:rPr lang="en-US" sz="1600" dirty="0">
                  <a:effectLst>
                    <a:outerShdw blurRad="38100" dist="38100" dir="2700000" algn="tl">
                      <a:srgbClr val="C0C0C0"/>
                    </a:outerShdw>
                  </a:effectLst>
                  <a:latin typeface="Gill Sans MT" pitchFamily="34" charset="0"/>
                </a:rPr>
                <a:t>Page table</a:t>
              </a:r>
            </a:p>
          </p:txBody>
        </p:sp>
        <p:sp>
          <p:nvSpPr>
            <p:cNvPr id="251922" name="AutoShape 19"/>
            <p:cNvSpPr>
              <a:spLocks/>
            </p:cNvSpPr>
            <p:nvPr/>
          </p:nvSpPr>
          <p:spPr bwMode="auto">
            <a:xfrm>
              <a:off x="1810" y="2688"/>
              <a:ext cx="240" cy="612"/>
            </a:xfrm>
            <a:prstGeom prst="leftBrace">
              <a:avLst>
                <a:gd name="adj1" fmla="val 21250"/>
                <a:gd name="adj2" fmla="val 50000"/>
              </a:avLst>
            </a:prstGeom>
            <a:noFill/>
            <a:ln w="9525">
              <a:solidFill>
                <a:schemeClr val="tx1"/>
              </a:solidFill>
              <a:round/>
              <a:headEnd/>
              <a:tailEnd/>
            </a:ln>
          </p:spPr>
          <p:txBody>
            <a:bodyPr wrap="none" anchor="ctr"/>
            <a:lstStyle/>
            <a:p>
              <a:endParaRPr lang="en-US" sz="1600">
                <a:latin typeface="Gill Sans MT" pitchFamily="34" charset="0"/>
              </a:endParaRPr>
            </a:p>
          </p:txBody>
        </p:sp>
        <p:sp>
          <p:nvSpPr>
            <p:cNvPr id="275476" name="Text Box 20"/>
            <p:cNvSpPr txBox="1">
              <a:spLocks noChangeArrowheads="1"/>
            </p:cNvSpPr>
            <p:nvPr/>
          </p:nvSpPr>
          <p:spPr bwMode="auto">
            <a:xfrm>
              <a:off x="1655" y="2926"/>
              <a:ext cx="194" cy="248"/>
            </a:xfrm>
            <a:prstGeom prst="rect">
              <a:avLst/>
            </a:prstGeom>
            <a:noFill/>
            <a:ln w="9525">
              <a:noFill/>
              <a:miter lim="800000"/>
              <a:headEnd/>
              <a:tailEnd/>
            </a:ln>
            <a:effectLst/>
          </p:spPr>
          <p:txBody>
            <a:bodyPr wrap="none">
              <a:spAutoFit/>
            </a:bodyPr>
            <a:lstStyle/>
            <a:p>
              <a:pPr>
                <a:defRPr/>
              </a:pPr>
              <a:r>
                <a:rPr lang="en-US" sz="1600" dirty="0">
                  <a:effectLst>
                    <a:outerShdw blurRad="38100" dist="38100" dir="2700000" algn="tl">
                      <a:srgbClr val="C0C0C0"/>
                    </a:outerShdw>
                  </a:effectLst>
                  <a:latin typeface="Gill Sans MT" pitchFamily="34" charset="0"/>
                </a:rPr>
                <a:t>p</a:t>
              </a:r>
            </a:p>
          </p:txBody>
        </p:sp>
        <p:sp>
          <p:nvSpPr>
            <p:cNvPr id="251924" name="Line 21"/>
            <p:cNvSpPr>
              <a:spLocks noChangeShapeType="1"/>
            </p:cNvSpPr>
            <p:nvPr/>
          </p:nvSpPr>
          <p:spPr bwMode="auto">
            <a:xfrm>
              <a:off x="1222" y="1680"/>
              <a:ext cx="24" cy="1836"/>
            </a:xfrm>
            <a:prstGeom prst="line">
              <a:avLst/>
            </a:prstGeom>
            <a:noFill/>
            <a:ln w="9525">
              <a:solidFill>
                <a:schemeClr val="tx1"/>
              </a:solidFill>
              <a:round/>
              <a:headEnd/>
              <a:tailEnd/>
            </a:ln>
          </p:spPr>
          <p:txBody>
            <a:bodyPr wrap="none" anchor="ctr"/>
            <a:lstStyle/>
            <a:p>
              <a:endParaRPr lang="en-US"/>
            </a:p>
          </p:txBody>
        </p:sp>
        <p:sp>
          <p:nvSpPr>
            <p:cNvPr id="275478" name="Text Box 22"/>
            <p:cNvSpPr txBox="1">
              <a:spLocks noChangeArrowheads="1"/>
            </p:cNvSpPr>
            <p:nvPr/>
          </p:nvSpPr>
          <p:spPr bwMode="auto">
            <a:xfrm>
              <a:off x="2159" y="3409"/>
              <a:ext cx="633" cy="248"/>
            </a:xfrm>
            <a:prstGeom prst="rect">
              <a:avLst/>
            </a:prstGeom>
            <a:noFill/>
            <a:ln w="9525">
              <a:solidFill>
                <a:schemeClr val="tx1"/>
              </a:solidFill>
              <a:miter lim="800000"/>
              <a:headEnd/>
              <a:tailEnd/>
            </a:ln>
            <a:effectLst/>
          </p:spPr>
          <p:txBody>
            <a:bodyPr>
              <a:spAutoFit/>
            </a:bodyPr>
            <a:lstStyle/>
            <a:p>
              <a:pPr>
                <a:defRPr/>
              </a:pPr>
              <a:r>
                <a:rPr lang="en-US" sz="1600" dirty="0">
                  <a:effectLst>
                    <a:outerShdw blurRad="38100" dist="38100" dir="2700000" algn="tl">
                      <a:srgbClr val="C0C0C0"/>
                    </a:outerShdw>
                  </a:effectLst>
                  <a:latin typeface="Gill Sans MT" pitchFamily="34" charset="0"/>
                </a:rPr>
                <a:t>F          </a:t>
              </a:r>
            </a:p>
          </p:txBody>
        </p:sp>
        <p:sp>
          <p:nvSpPr>
            <p:cNvPr id="251926" name="Line 23"/>
            <p:cNvSpPr>
              <a:spLocks noChangeShapeType="1"/>
            </p:cNvSpPr>
            <p:nvPr/>
          </p:nvSpPr>
          <p:spPr bwMode="auto">
            <a:xfrm>
              <a:off x="1258" y="3456"/>
              <a:ext cx="900" cy="0"/>
            </a:xfrm>
            <a:prstGeom prst="line">
              <a:avLst/>
            </a:prstGeom>
            <a:noFill/>
            <a:ln w="9525">
              <a:solidFill>
                <a:schemeClr val="tx1"/>
              </a:solidFill>
              <a:round/>
              <a:headEnd/>
              <a:tailEnd type="triangle" w="med" len="med"/>
            </a:ln>
          </p:spPr>
          <p:txBody>
            <a:bodyPr wrap="none" anchor="ctr"/>
            <a:lstStyle/>
            <a:p>
              <a:endParaRPr lang="en-US"/>
            </a:p>
          </p:txBody>
        </p:sp>
        <p:sp>
          <p:nvSpPr>
            <p:cNvPr id="251927" name="Line 24"/>
            <p:cNvSpPr>
              <a:spLocks noChangeShapeType="1"/>
            </p:cNvSpPr>
            <p:nvPr/>
          </p:nvSpPr>
          <p:spPr bwMode="auto">
            <a:xfrm flipV="1">
              <a:off x="2770" y="2952"/>
              <a:ext cx="360" cy="12"/>
            </a:xfrm>
            <a:prstGeom prst="line">
              <a:avLst/>
            </a:prstGeom>
            <a:noFill/>
            <a:ln w="9525">
              <a:solidFill>
                <a:schemeClr val="tx1"/>
              </a:solidFill>
              <a:round/>
              <a:headEnd/>
              <a:tailEnd/>
            </a:ln>
          </p:spPr>
          <p:txBody>
            <a:bodyPr wrap="none" anchor="ctr"/>
            <a:lstStyle/>
            <a:p>
              <a:endParaRPr lang="en-US"/>
            </a:p>
          </p:txBody>
        </p:sp>
        <p:sp>
          <p:nvSpPr>
            <p:cNvPr id="251928" name="Line 25"/>
            <p:cNvSpPr>
              <a:spLocks noChangeShapeType="1"/>
            </p:cNvSpPr>
            <p:nvPr/>
          </p:nvSpPr>
          <p:spPr bwMode="auto">
            <a:xfrm flipV="1">
              <a:off x="3154" y="1704"/>
              <a:ext cx="0" cy="1248"/>
            </a:xfrm>
            <a:prstGeom prst="line">
              <a:avLst/>
            </a:prstGeom>
            <a:noFill/>
            <a:ln w="9525">
              <a:solidFill>
                <a:schemeClr val="tx1"/>
              </a:solidFill>
              <a:round/>
              <a:headEnd/>
              <a:tailEnd type="triangle" w="med" len="med"/>
            </a:ln>
          </p:spPr>
          <p:txBody>
            <a:bodyPr wrap="none" anchor="ctr"/>
            <a:lstStyle/>
            <a:p>
              <a:endParaRPr lang="en-US"/>
            </a:p>
          </p:txBody>
        </p:sp>
        <p:sp>
          <p:nvSpPr>
            <p:cNvPr id="251929" name="Line 26"/>
            <p:cNvSpPr>
              <a:spLocks noChangeShapeType="1"/>
            </p:cNvSpPr>
            <p:nvPr/>
          </p:nvSpPr>
          <p:spPr bwMode="auto">
            <a:xfrm flipV="1">
              <a:off x="1582" y="1104"/>
              <a:ext cx="0" cy="336"/>
            </a:xfrm>
            <a:prstGeom prst="line">
              <a:avLst/>
            </a:prstGeom>
            <a:noFill/>
            <a:ln w="9525">
              <a:solidFill>
                <a:schemeClr val="tx1"/>
              </a:solidFill>
              <a:round/>
              <a:headEnd/>
              <a:tailEnd/>
            </a:ln>
          </p:spPr>
          <p:txBody>
            <a:bodyPr wrap="none" anchor="ctr"/>
            <a:lstStyle/>
            <a:p>
              <a:endParaRPr lang="en-US"/>
            </a:p>
          </p:txBody>
        </p:sp>
        <p:sp>
          <p:nvSpPr>
            <p:cNvPr id="251930" name="Line 27"/>
            <p:cNvSpPr>
              <a:spLocks noChangeShapeType="1"/>
            </p:cNvSpPr>
            <p:nvPr/>
          </p:nvSpPr>
          <p:spPr bwMode="auto">
            <a:xfrm>
              <a:off x="1582" y="1128"/>
              <a:ext cx="2040" cy="0"/>
            </a:xfrm>
            <a:prstGeom prst="line">
              <a:avLst/>
            </a:prstGeom>
            <a:noFill/>
            <a:ln w="9525">
              <a:solidFill>
                <a:schemeClr val="tx1"/>
              </a:solidFill>
              <a:round/>
              <a:headEnd/>
              <a:tailEnd/>
            </a:ln>
          </p:spPr>
          <p:txBody>
            <a:bodyPr wrap="none" anchor="ctr"/>
            <a:lstStyle/>
            <a:p>
              <a:endParaRPr lang="en-US"/>
            </a:p>
          </p:txBody>
        </p:sp>
        <p:sp>
          <p:nvSpPr>
            <p:cNvPr id="251931" name="Line 28"/>
            <p:cNvSpPr>
              <a:spLocks noChangeShapeType="1"/>
            </p:cNvSpPr>
            <p:nvPr/>
          </p:nvSpPr>
          <p:spPr bwMode="auto">
            <a:xfrm>
              <a:off x="3634" y="1128"/>
              <a:ext cx="0" cy="324"/>
            </a:xfrm>
            <a:prstGeom prst="line">
              <a:avLst/>
            </a:prstGeom>
            <a:noFill/>
            <a:ln w="9525">
              <a:solidFill>
                <a:schemeClr val="tx1"/>
              </a:solidFill>
              <a:round/>
              <a:headEnd/>
              <a:tailEnd type="triangle" w="med" len="med"/>
            </a:ln>
          </p:spPr>
          <p:txBody>
            <a:bodyPr wrap="none" anchor="ctr"/>
            <a:lstStyle/>
            <a:p>
              <a:endParaRPr lang="en-US"/>
            </a:p>
          </p:txBody>
        </p:sp>
        <p:sp>
          <p:nvSpPr>
            <p:cNvPr id="251932" name="Line 29"/>
            <p:cNvSpPr>
              <a:spLocks noChangeShapeType="1"/>
            </p:cNvSpPr>
            <p:nvPr/>
          </p:nvSpPr>
          <p:spPr bwMode="auto">
            <a:xfrm>
              <a:off x="3886" y="1656"/>
              <a:ext cx="612" cy="0"/>
            </a:xfrm>
            <a:prstGeom prst="line">
              <a:avLst/>
            </a:prstGeom>
            <a:noFill/>
            <a:ln w="9525">
              <a:solidFill>
                <a:schemeClr val="tx1"/>
              </a:solidFill>
              <a:round/>
              <a:headEnd/>
              <a:tailEnd type="triangle" w="med" len="med"/>
            </a:ln>
          </p:spPr>
          <p:txBody>
            <a:bodyPr wrap="none" anchor="ctr"/>
            <a:lstStyle/>
            <a:p>
              <a:endParaRPr lang="en-US"/>
            </a:p>
          </p:txBody>
        </p:sp>
        <p:sp>
          <p:nvSpPr>
            <p:cNvPr id="251933" name="Line 30"/>
            <p:cNvSpPr>
              <a:spLocks noChangeShapeType="1"/>
            </p:cNvSpPr>
            <p:nvPr/>
          </p:nvSpPr>
          <p:spPr bwMode="auto">
            <a:xfrm>
              <a:off x="706" y="1560"/>
              <a:ext cx="276" cy="0"/>
            </a:xfrm>
            <a:prstGeom prst="line">
              <a:avLst/>
            </a:prstGeom>
            <a:noFill/>
            <a:ln w="9525">
              <a:solidFill>
                <a:schemeClr val="tx1"/>
              </a:solidFill>
              <a:round/>
              <a:headEnd/>
              <a:tailEnd type="triangle" w="med" len="med"/>
            </a:ln>
          </p:spPr>
          <p:txBody>
            <a:bodyPr wrap="none" anchor="ctr"/>
            <a:lstStyle/>
            <a:p>
              <a:endParaRPr lang="en-US"/>
            </a:p>
          </p:txBody>
        </p:sp>
        <p:sp>
          <p:nvSpPr>
            <p:cNvPr id="251934" name="Rectangle 31"/>
            <p:cNvSpPr>
              <a:spLocks noChangeArrowheads="1"/>
            </p:cNvSpPr>
            <p:nvPr/>
          </p:nvSpPr>
          <p:spPr bwMode="auto">
            <a:xfrm>
              <a:off x="2350" y="2142"/>
              <a:ext cx="414" cy="143"/>
            </a:xfrm>
            <a:prstGeom prst="rect">
              <a:avLst/>
            </a:prstGeom>
            <a:noFill/>
            <a:ln w="9525">
              <a:noFill/>
              <a:miter lim="800000"/>
              <a:headEnd/>
              <a:tailEnd/>
            </a:ln>
          </p:spPr>
          <p:txBody>
            <a:bodyPr/>
            <a:lstStyle/>
            <a:p>
              <a:pPr algn="just">
                <a:spcBef>
                  <a:spcPct val="20000"/>
                </a:spcBef>
                <a:buClr>
                  <a:srgbClr val="CC3300"/>
                </a:buClr>
                <a:buFont typeface="Wingdings" pitchFamily="2" charset="2"/>
                <a:buNone/>
              </a:pPr>
              <a:endParaRPr lang="hi-IN" sz="1600">
                <a:solidFill>
                  <a:srgbClr val="993300"/>
                </a:solidFill>
                <a:latin typeface="Gill Sans MT" pitchFamily="34" charset="0"/>
                <a:ea typeface="Mangal" pitchFamily="2"/>
              </a:endParaRPr>
            </a:p>
          </p:txBody>
        </p:sp>
        <p:sp>
          <p:nvSpPr>
            <p:cNvPr id="251935" name="Rectangle 32"/>
            <p:cNvSpPr>
              <a:spLocks noChangeArrowheads="1"/>
            </p:cNvSpPr>
            <p:nvPr/>
          </p:nvSpPr>
          <p:spPr bwMode="auto">
            <a:xfrm>
              <a:off x="1936" y="2142"/>
              <a:ext cx="414" cy="143"/>
            </a:xfrm>
            <a:prstGeom prst="rect">
              <a:avLst/>
            </a:prstGeom>
            <a:noFill/>
            <a:ln w="9525">
              <a:noFill/>
              <a:miter lim="800000"/>
              <a:headEnd/>
              <a:tailEnd/>
            </a:ln>
          </p:spPr>
          <p:txBody>
            <a:bodyPr/>
            <a:lstStyle/>
            <a:p>
              <a:pPr algn="just">
                <a:spcBef>
                  <a:spcPct val="20000"/>
                </a:spcBef>
                <a:buClr>
                  <a:srgbClr val="CC3300"/>
                </a:buClr>
                <a:buFont typeface="Wingdings" pitchFamily="2" charset="2"/>
                <a:buNone/>
              </a:pPr>
              <a:endParaRPr lang="hi-IN" sz="1600">
                <a:solidFill>
                  <a:srgbClr val="993300"/>
                </a:solidFill>
                <a:latin typeface="Gill Sans MT" pitchFamily="34" charset="0"/>
                <a:ea typeface="Mangal" pitchFamily="2"/>
              </a:endParaRPr>
            </a:p>
          </p:txBody>
        </p:sp>
        <p:sp>
          <p:nvSpPr>
            <p:cNvPr id="251936" name="Rectangle 33"/>
            <p:cNvSpPr>
              <a:spLocks noChangeArrowheads="1"/>
            </p:cNvSpPr>
            <p:nvPr/>
          </p:nvSpPr>
          <p:spPr bwMode="auto">
            <a:xfrm>
              <a:off x="2350" y="1999"/>
              <a:ext cx="414" cy="143"/>
            </a:xfrm>
            <a:prstGeom prst="rect">
              <a:avLst/>
            </a:prstGeom>
            <a:noFill/>
            <a:ln w="9525">
              <a:noFill/>
              <a:miter lim="800000"/>
              <a:headEnd/>
              <a:tailEnd/>
            </a:ln>
          </p:spPr>
          <p:txBody>
            <a:bodyPr/>
            <a:lstStyle/>
            <a:p>
              <a:pPr algn="just">
                <a:spcBef>
                  <a:spcPct val="20000"/>
                </a:spcBef>
                <a:buClr>
                  <a:srgbClr val="CC3300"/>
                </a:buClr>
                <a:buFont typeface="Wingdings" pitchFamily="2" charset="2"/>
                <a:buNone/>
              </a:pPr>
              <a:endParaRPr lang="hi-IN" sz="1600">
                <a:solidFill>
                  <a:srgbClr val="993300"/>
                </a:solidFill>
                <a:latin typeface="Gill Sans MT" pitchFamily="34" charset="0"/>
                <a:ea typeface="Mangal" pitchFamily="2"/>
              </a:endParaRPr>
            </a:p>
          </p:txBody>
        </p:sp>
        <p:sp>
          <p:nvSpPr>
            <p:cNvPr id="251937" name="Rectangle 34"/>
            <p:cNvSpPr>
              <a:spLocks noChangeArrowheads="1"/>
            </p:cNvSpPr>
            <p:nvPr/>
          </p:nvSpPr>
          <p:spPr bwMode="auto">
            <a:xfrm>
              <a:off x="1936" y="1999"/>
              <a:ext cx="414" cy="143"/>
            </a:xfrm>
            <a:prstGeom prst="rect">
              <a:avLst/>
            </a:prstGeom>
            <a:noFill/>
            <a:ln w="9525">
              <a:noFill/>
              <a:miter lim="800000"/>
              <a:headEnd/>
              <a:tailEnd/>
            </a:ln>
          </p:spPr>
          <p:txBody>
            <a:bodyPr/>
            <a:lstStyle/>
            <a:p>
              <a:pPr algn="just">
                <a:spcBef>
                  <a:spcPct val="20000"/>
                </a:spcBef>
                <a:buClr>
                  <a:srgbClr val="CC3300"/>
                </a:buClr>
                <a:buFont typeface="Wingdings" pitchFamily="2" charset="2"/>
                <a:buNone/>
              </a:pPr>
              <a:endParaRPr lang="hi-IN" sz="1600">
                <a:solidFill>
                  <a:srgbClr val="993300"/>
                </a:solidFill>
                <a:latin typeface="Gill Sans MT" pitchFamily="34" charset="0"/>
                <a:ea typeface="Mangal" pitchFamily="2"/>
              </a:endParaRPr>
            </a:p>
          </p:txBody>
        </p:sp>
        <p:sp>
          <p:nvSpPr>
            <p:cNvPr id="251938" name="Rectangle 35"/>
            <p:cNvSpPr>
              <a:spLocks noChangeArrowheads="1"/>
            </p:cNvSpPr>
            <p:nvPr/>
          </p:nvSpPr>
          <p:spPr bwMode="auto">
            <a:xfrm>
              <a:off x="2350" y="1856"/>
              <a:ext cx="414" cy="143"/>
            </a:xfrm>
            <a:prstGeom prst="rect">
              <a:avLst/>
            </a:prstGeom>
            <a:noFill/>
            <a:ln w="9525">
              <a:noFill/>
              <a:miter lim="800000"/>
              <a:headEnd/>
              <a:tailEnd/>
            </a:ln>
          </p:spPr>
          <p:txBody>
            <a:bodyPr/>
            <a:lstStyle/>
            <a:p>
              <a:pPr algn="just">
                <a:spcBef>
                  <a:spcPct val="20000"/>
                </a:spcBef>
                <a:buClr>
                  <a:srgbClr val="CC3300"/>
                </a:buClr>
                <a:buFont typeface="Wingdings" pitchFamily="2" charset="2"/>
                <a:buNone/>
              </a:pPr>
              <a:endParaRPr lang="hi-IN" sz="1600">
                <a:solidFill>
                  <a:srgbClr val="993300"/>
                </a:solidFill>
                <a:latin typeface="Gill Sans MT" pitchFamily="34" charset="0"/>
                <a:ea typeface="Mangal" pitchFamily="2"/>
              </a:endParaRPr>
            </a:p>
          </p:txBody>
        </p:sp>
        <p:sp>
          <p:nvSpPr>
            <p:cNvPr id="251939" name="Rectangle 36"/>
            <p:cNvSpPr>
              <a:spLocks noChangeArrowheads="1"/>
            </p:cNvSpPr>
            <p:nvPr/>
          </p:nvSpPr>
          <p:spPr bwMode="auto">
            <a:xfrm>
              <a:off x="1936" y="1856"/>
              <a:ext cx="414" cy="143"/>
            </a:xfrm>
            <a:prstGeom prst="rect">
              <a:avLst/>
            </a:prstGeom>
            <a:noFill/>
            <a:ln w="9525">
              <a:noFill/>
              <a:miter lim="800000"/>
              <a:headEnd/>
              <a:tailEnd/>
            </a:ln>
          </p:spPr>
          <p:txBody>
            <a:bodyPr/>
            <a:lstStyle/>
            <a:p>
              <a:pPr algn="just">
                <a:spcBef>
                  <a:spcPct val="20000"/>
                </a:spcBef>
                <a:buClr>
                  <a:srgbClr val="CC3300"/>
                </a:buClr>
                <a:buFont typeface="Wingdings" pitchFamily="2" charset="2"/>
                <a:buNone/>
              </a:pPr>
              <a:endParaRPr lang="hi-IN" sz="1600">
                <a:solidFill>
                  <a:srgbClr val="993300"/>
                </a:solidFill>
                <a:latin typeface="Gill Sans MT" pitchFamily="34" charset="0"/>
                <a:ea typeface="Mangal" pitchFamily="2"/>
              </a:endParaRPr>
            </a:p>
          </p:txBody>
        </p:sp>
        <p:sp>
          <p:nvSpPr>
            <p:cNvPr id="251940" name="Rectangle 37"/>
            <p:cNvSpPr>
              <a:spLocks noChangeArrowheads="1"/>
            </p:cNvSpPr>
            <p:nvPr/>
          </p:nvSpPr>
          <p:spPr bwMode="auto">
            <a:xfrm>
              <a:off x="2350" y="1713"/>
              <a:ext cx="414" cy="143"/>
            </a:xfrm>
            <a:prstGeom prst="rect">
              <a:avLst/>
            </a:prstGeom>
            <a:noFill/>
            <a:ln w="9525">
              <a:noFill/>
              <a:miter lim="800000"/>
              <a:headEnd/>
              <a:tailEnd/>
            </a:ln>
          </p:spPr>
          <p:txBody>
            <a:bodyPr/>
            <a:lstStyle/>
            <a:p>
              <a:pPr algn="just">
                <a:spcBef>
                  <a:spcPct val="20000"/>
                </a:spcBef>
                <a:buClr>
                  <a:srgbClr val="CC3300"/>
                </a:buClr>
                <a:buFont typeface="Wingdings" pitchFamily="2" charset="2"/>
                <a:buNone/>
              </a:pPr>
              <a:endParaRPr lang="hi-IN" sz="1600">
                <a:solidFill>
                  <a:srgbClr val="993300"/>
                </a:solidFill>
                <a:latin typeface="Gill Sans MT" pitchFamily="34" charset="0"/>
                <a:ea typeface="Mangal" pitchFamily="2"/>
              </a:endParaRPr>
            </a:p>
          </p:txBody>
        </p:sp>
        <p:sp>
          <p:nvSpPr>
            <p:cNvPr id="251941" name="Rectangle 38"/>
            <p:cNvSpPr>
              <a:spLocks noChangeArrowheads="1"/>
            </p:cNvSpPr>
            <p:nvPr/>
          </p:nvSpPr>
          <p:spPr bwMode="auto">
            <a:xfrm>
              <a:off x="1936" y="1713"/>
              <a:ext cx="414" cy="143"/>
            </a:xfrm>
            <a:prstGeom prst="rect">
              <a:avLst/>
            </a:prstGeom>
            <a:noFill/>
            <a:ln w="9525">
              <a:noFill/>
              <a:miter lim="800000"/>
              <a:headEnd/>
              <a:tailEnd/>
            </a:ln>
          </p:spPr>
          <p:txBody>
            <a:bodyPr/>
            <a:lstStyle/>
            <a:p>
              <a:pPr algn="just">
                <a:spcBef>
                  <a:spcPct val="20000"/>
                </a:spcBef>
                <a:buClr>
                  <a:srgbClr val="CC3300"/>
                </a:buClr>
                <a:buFont typeface="Wingdings" pitchFamily="2" charset="2"/>
                <a:buNone/>
              </a:pPr>
              <a:endParaRPr lang="hi-IN" sz="1600">
                <a:solidFill>
                  <a:srgbClr val="993300"/>
                </a:solidFill>
                <a:latin typeface="Gill Sans MT" pitchFamily="34" charset="0"/>
                <a:ea typeface="Mangal" pitchFamily="2"/>
              </a:endParaRPr>
            </a:p>
          </p:txBody>
        </p:sp>
        <p:sp>
          <p:nvSpPr>
            <p:cNvPr id="251942" name="Line 39"/>
            <p:cNvSpPr>
              <a:spLocks noChangeShapeType="1"/>
            </p:cNvSpPr>
            <p:nvPr/>
          </p:nvSpPr>
          <p:spPr bwMode="auto">
            <a:xfrm>
              <a:off x="1936" y="1713"/>
              <a:ext cx="828" cy="0"/>
            </a:xfrm>
            <a:prstGeom prst="line">
              <a:avLst/>
            </a:prstGeom>
            <a:noFill/>
            <a:ln w="28575" cap="sq">
              <a:solidFill>
                <a:schemeClr val="tx1"/>
              </a:solidFill>
              <a:round/>
              <a:headEnd/>
              <a:tailEnd/>
            </a:ln>
          </p:spPr>
          <p:txBody>
            <a:bodyPr wrap="none" anchor="ctr"/>
            <a:lstStyle/>
            <a:p>
              <a:endParaRPr lang="en-US"/>
            </a:p>
          </p:txBody>
        </p:sp>
        <p:sp>
          <p:nvSpPr>
            <p:cNvPr id="251943" name="Line 40"/>
            <p:cNvSpPr>
              <a:spLocks noChangeShapeType="1"/>
            </p:cNvSpPr>
            <p:nvPr/>
          </p:nvSpPr>
          <p:spPr bwMode="auto">
            <a:xfrm>
              <a:off x="1936" y="1856"/>
              <a:ext cx="828" cy="0"/>
            </a:xfrm>
            <a:prstGeom prst="line">
              <a:avLst/>
            </a:prstGeom>
            <a:noFill/>
            <a:ln w="12700">
              <a:solidFill>
                <a:schemeClr val="tx1"/>
              </a:solidFill>
              <a:round/>
              <a:headEnd/>
              <a:tailEnd/>
            </a:ln>
          </p:spPr>
          <p:txBody>
            <a:bodyPr wrap="none" anchor="ctr"/>
            <a:lstStyle/>
            <a:p>
              <a:endParaRPr lang="en-US"/>
            </a:p>
          </p:txBody>
        </p:sp>
        <p:sp>
          <p:nvSpPr>
            <p:cNvPr id="251944" name="Line 41"/>
            <p:cNvSpPr>
              <a:spLocks noChangeShapeType="1"/>
            </p:cNvSpPr>
            <p:nvPr/>
          </p:nvSpPr>
          <p:spPr bwMode="auto">
            <a:xfrm>
              <a:off x="1936" y="1999"/>
              <a:ext cx="828" cy="0"/>
            </a:xfrm>
            <a:prstGeom prst="line">
              <a:avLst/>
            </a:prstGeom>
            <a:noFill/>
            <a:ln w="12700">
              <a:solidFill>
                <a:schemeClr val="tx1"/>
              </a:solidFill>
              <a:round/>
              <a:headEnd/>
              <a:tailEnd/>
            </a:ln>
          </p:spPr>
          <p:txBody>
            <a:bodyPr wrap="none" anchor="ctr"/>
            <a:lstStyle/>
            <a:p>
              <a:endParaRPr lang="en-US"/>
            </a:p>
          </p:txBody>
        </p:sp>
        <p:sp>
          <p:nvSpPr>
            <p:cNvPr id="251945" name="Line 42"/>
            <p:cNvSpPr>
              <a:spLocks noChangeShapeType="1"/>
            </p:cNvSpPr>
            <p:nvPr/>
          </p:nvSpPr>
          <p:spPr bwMode="auto">
            <a:xfrm>
              <a:off x="1936" y="2142"/>
              <a:ext cx="828" cy="0"/>
            </a:xfrm>
            <a:prstGeom prst="line">
              <a:avLst/>
            </a:prstGeom>
            <a:noFill/>
            <a:ln w="12700">
              <a:solidFill>
                <a:schemeClr val="tx1"/>
              </a:solidFill>
              <a:round/>
              <a:headEnd/>
              <a:tailEnd/>
            </a:ln>
          </p:spPr>
          <p:txBody>
            <a:bodyPr wrap="none" anchor="ctr"/>
            <a:lstStyle/>
            <a:p>
              <a:endParaRPr lang="en-US"/>
            </a:p>
          </p:txBody>
        </p:sp>
        <p:sp>
          <p:nvSpPr>
            <p:cNvPr id="251946" name="Line 43"/>
            <p:cNvSpPr>
              <a:spLocks noChangeShapeType="1"/>
            </p:cNvSpPr>
            <p:nvPr/>
          </p:nvSpPr>
          <p:spPr bwMode="auto">
            <a:xfrm>
              <a:off x="1936" y="2285"/>
              <a:ext cx="828" cy="0"/>
            </a:xfrm>
            <a:prstGeom prst="line">
              <a:avLst/>
            </a:prstGeom>
            <a:noFill/>
            <a:ln w="28575" cap="sq">
              <a:solidFill>
                <a:schemeClr val="tx1"/>
              </a:solidFill>
              <a:round/>
              <a:headEnd/>
              <a:tailEnd/>
            </a:ln>
          </p:spPr>
          <p:txBody>
            <a:bodyPr wrap="none" anchor="ctr"/>
            <a:lstStyle/>
            <a:p>
              <a:endParaRPr lang="en-US"/>
            </a:p>
          </p:txBody>
        </p:sp>
        <p:sp>
          <p:nvSpPr>
            <p:cNvPr id="251947" name="Line 44"/>
            <p:cNvSpPr>
              <a:spLocks noChangeShapeType="1"/>
            </p:cNvSpPr>
            <p:nvPr/>
          </p:nvSpPr>
          <p:spPr bwMode="auto">
            <a:xfrm>
              <a:off x="1936" y="1713"/>
              <a:ext cx="0" cy="572"/>
            </a:xfrm>
            <a:prstGeom prst="line">
              <a:avLst/>
            </a:prstGeom>
            <a:noFill/>
            <a:ln w="28575" cap="sq">
              <a:solidFill>
                <a:schemeClr val="tx1"/>
              </a:solidFill>
              <a:round/>
              <a:headEnd/>
              <a:tailEnd/>
            </a:ln>
          </p:spPr>
          <p:txBody>
            <a:bodyPr wrap="none" anchor="ctr"/>
            <a:lstStyle/>
            <a:p>
              <a:endParaRPr lang="en-US"/>
            </a:p>
          </p:txBody>
        </p:sp>
        <p:sp>
          <p:nvSpPr>
            <p:cNvPr id="251948" name="Line 45"/>
            <p:cNvSpPr>
              <a:spLocks noChangeShapeType="1"/>
            </p:cNvSpPr>
            <p:nvPr/>
          </p:nvSpPr>
          <p:spPr bwMode="auto">
            <a:xfrm>
              <a:off x="2350" y="1713"/>
              <a:ext cx="0" cy="572"/>
            </a:xfrm>
            <a:prstGeom prst="line">
              <a:avLst/>
            </a:prstGeom>
            <a:noFill/>
            <a:ln w="12700">
              <a:solidFill>
                <a:schemeClr val="tx1"/>
              </a:solidFill>
              <a:round/>
              <a:headEnd/>
              <a:tailEnd/>
            </a:ln>
          </p:spPr>
          <p:txBody>
            <a:bodyPr wrap="none" anchor="ctr"/>
            <a:lstStyle/>
            <a:p>
              <a:endParaRPr lang="en-US"/>
            </a:p>
          </p:txBody>
        </p:sp>
        <p:sp>
          <p:nvSpPr>
            <p:cNvPr id="251949" name="Line 46"/>
            <p:cNvSpPr>
              <a:spLocks noChangeShapeType="1"/>
            </p:cNvSpPr>
            <p:nvPr/>
          </p:nvSpPr>
          <p:spPr bwMode="auto">
            <a:xfrm>
              <a:off x="2764" y="1713"/>
              <a:ext cx="0" cy="572"/>
            </a:xfrm>
            <a:prstGeom prst="line">
              <a:avLst/>
            </a:prstGeom>
            <a:noFill/>
            <a:ln w="28575" cap="sq">
              <a:solidFill>
                <a:schemeClr val="tx1"/>
              </a:solidFill>
              <a:round/>
              <a:headEnd/>
              <a:tailEnd/>
            </a:ln>
          </p:spPr>
          <p:txBody>
            <a:bodyPr wrap="none" anchor="ctr"/>
            <a:lstStyle/>
            <a:p>
              <a:endParaRPr lang="en-US"/>
            </a:p>
          </p:txBody>
        </p:sp>
        <p:sp>
          <p:nvSpPr>
            <p:cNvPr id="251950" name="Line 47"/>
            <p:cNvSpPr>
              <a:spLocks noChangeShapeType="1"/>
            </p:cNvSpPr>
            <p:nvPr/>
          </p:nvSpPr>
          <p:spPr bwMode="auto">
            <a:xfrm>
              <a:off x="1320" y="1644"/>
              <a:ext cx="0" cy="432"/>
            </a:xfrm>
            <a:prstGeom prst="line">
              <a:avLst/>
            </a:prstGeom>
            <a:noFill/>
            <a:ln w="9525">
              <a:solidFill>
                <a:schemeClr val="tx1"/>
              </a:solidFill>
              <a:round/>
              <a:headEnd/>
              <a:tailEnd/>
            </a:ln>
          </p:spPr>
          <p:txBody>
            <a:bodyPr wrap="none" anchor="ctr"/>
            <a:lstStyle/>
            <a:p>
              <a:endParaRPr lang="en-US"/>
            </a:p>
          </p:txBody>
        </p:sp>
        <p:sp>
          <p:nvSpPr>
            <p:cNvPr id="251951" name="Line 48"/>
            <p:cNvSpPr>
              <a:spLocks noChangeShapeType="1"/>
            </p:cNvSpPr>
            <p:nvPr/>
          </p:nvSpPr>
          <p:spPr bwMode="auto">
            <a:xfrm>
              <a:off x="1332" y="2064"/>
              <a:ext cx="552" cy="12"/>
            </a:xfrm>
            <a:prstGeom prst="line">
              <a:avLst/>
            </a:prstGeom>
            <a:noFill/>
            <a:ln w="9525">
              <a:solidFill>
                <a:schemeClr val="tx1"/>
              </a:solidFill>
              <a:round/>
              <a:headEnd/>
              <a:tailEnd/>
            </a:ln>
          </p:spPr>
          <p:txBody>
            <a:bodyPr wrap="none" anchor="ctr"/>
            <a:lstStyle/>
            <a:p>
              <a:endParaRPr lang="en-US"/>
            </a:p>
          </p:txBody>
        </p:sp>
        <p:sp>
          <p:nvSpPr>
            <p:cNvPr id="251952" name="Line 49"/>
            <p:cNvSpPr>
              <a:spLocks noChangeShapeType="1"/>
            </p:cNvSpPr>
            <p:nvPr/>
          </p:nvSpPr>
          <p:spPr bwMode="auto">
            <a:xfrm>
              <a:off x="1824" y="1728"/>
              <a:ext cx="0" cy="552"/>
            </a:xfrm>
            <a:prstGeom prst="line">
              <a:avLst/>
            </a:prstGeom>
            <a:noFill/>
            <a:ln w="9525">
              <a:solidFill>
                <a:schemeClr val="tx1"/>
              </a:solidFill>
              <a:round/>
              <a:headEnd/>
              <a:tailEnd/>
            </a:ln>
          </p:spPr>
          <p:txBody>
            <a:bodyPr wrap="none" anchor="ctr"/>
            <a:lstStyle/>
            <a:p>
              <a:endParaRPr lang="en-US"/>
            </a:p>
          </p:txBody>
        </p:sp>
        <p:sp>
          <p:nvSpPr>
            <p:cNvPr id="251953" name="Line 50"/>
            <p:cNvSpPr>
              <a:spLocks noChangeShapeType="1"/>
            </p:cNvSpPr>
            <p:nvPr/>
          </p:nvSpPr>
          <p:spPr bwMode="auto">
            <a:xfrm>
              <a:off x="1824" y="2256"/>
              <a:ext cx="96" cy="0"/>
            </a:xfrm>
            <a:prstGeom prst="line">
              <a:avLst/>
            </a:prstGeom>
            <a:noFill/>
            <a:ln w="9525">
              <a:solidFill>
                <a:schemeClr val="tx1"/>
              </a:solidFill>
              <a:round/>
              <a:headEnd/>
              <a:tailEnd type="triangle" w="med" len="med"/>
            </a:ln>
          </p:spPr>
          <p:txBody>
            <a:bodyPr wrap="none" anchor="ctr"/>
            <a:lstStyle/>
            <a:p>
              <a:endParaRPr lang="en-US"/>
            </a:p>
          </p:txBody>
        </p:sp>
        <p:sp>
          <p:nvSpPr>
            <p:cNvPr id="251954" name="Line 51"/>
            <p:cNvSpPr>
              <a:spLocks noChangeShapeType="1"/>
            </p:cNvSpPr>
            <p:nvPr/>
          </p:nvSpPr>
          <p:spPr bwMode="auto">
            <a:xfrm>
              <a:off x="1824" y="2160"/>
              <a:ext cx="96" cy="0"/>
            </a:xfrm>
            <a:prstGeom prst="line">
              <a:avLst/>
            </a:prstGeom>
            <a:noFill/>
            <a:ln w="9525">
              <a:solidFill>
                <a:schemeClr val="tx1"/>
              </a:solidFill>
              <a:round/>
              <a:headEnd/>
              <a:tailEnd type="triangle" w="med" len="med"/>
            </a:ln>
          </p:spPr>
          <p:txBody>
            <a:bodyPr wrap="none" anchor="ctr"/>
            <a:lstStyle/>
            <a:p>
              <a:endParaRPr lang="en-US"/>
            </a:p>
          </p:txBody>
        </p:sp>
        <p:sp>
          <p:nvSpPr>
            <p:cNvPr id="251955" name="Line 52"/>
            <p:cNvSpPr>
              <a:spLocks noChangeShapeType="1"/>
            </p:cNvSpPr>
            <p:nvPr/>
          </p:nvSpPr>
          <p:spPr bwMode="auto">
            <a:xfrm>
              <a:off x="1836" y="2064"/>
              <a:ext cx="96" cy="0"/>
            </a:xfrm>
            <a:prstGeom prst="line">
              <a:avLst/>
            </a:prstGeom>
            <a:noFill/>
            <a:ln w="9525">
              <a:solidFill>
                <a:schemeClr val="tx1"/>
              </a:solidFill>
              <a:round/>
              <a:headEnd/>
              <a:tailEnd type="triangle" w="med" len="med"/>
            </a:ln>
          </p:spPr>
          <p:txBody>
            <a:bodyPr wrap="none" anchor="ctr"/>
            <a:lstStyle/>
            <a:p>
              <a:endParaRPr lang="en-US"/>
            </a:p>
          </p:txBody>
        </p:sp>
        <p:sp>
          <p:nvSpPr>
            <p:cNvPr id="251956" name="Line 53"/>
            <p:cNvSpPr>
              <a:spLocks noChangeShapeType="1"/>
            </p:cNvSpPr>
            <p:nvPr/>
          </p:nvSpPr>
          <p:spPr bwMode="auto">
            <a:xfrm>
              <a:off x="1836" y="1944"/>
              <a:ext cx="96" cy="0"/>
            </a:xfrm>
            <a:prstGeom prst="line">
              <a:avLst/>
            </a:prstGeom>
            <a:noFill/>
            <a:ln w="9525">
              <a:solidFill>
                <a:schemeClr val="tx1"/>
              </a:solidFill>
              <a:round/>
              <a:headEnd/>
              <a:tailEnd type="triangle" w="med" len="med"/>
            </a:ln>
          </p:spPr>
          <p:txBody>
            <a:bodyPr wrap="none" anchor="ctr"/>
            <a:lstStyle/>
            <a:p>
              <a:endParaRPr lang="en-US"/>
            </a:p>
          </p:txBody>
        </p:sp>
        <p:sp>
          <p:nvSpPr>
            <p:cNvPr id="251957" name="Line 54"/>
            <p:cNvSpPr>
              <a:spLocks noChangeShapeType="1"/>
            </p:cNvSpPr>
            <p:nvPr/>
          </p:nvSpPr>
          <p:spPr bwMode="auto">
            <a:xfrm>
              <a:off x="1824" y="1836"/>
              <a:ext cx="96" cy="0"/>
            </a:xfrm>
            <a:prstGeom prst="line">
              <a:avLst/>
            </a:prstGeom>
            <a:noFill/>
            <a:ln w="9525">
              <a:solidFill>
                <a:schemeClr val="tx1"/>
              </a:solidFill>
              <a:round/>
              <a:headEnd/>
              <a:tailEnd type="triangle" w="med" len="med"/>
            </a:ln>
          </p:spPr>
          <p:txBody>
            <a:bodyPr wrap="none" anchor="ctr"/>
            <a:lstStyle/>
            <a:p>
              <a:endParaRPr lang="en-US"/>
            </a:p>
          </p:txBody>
        </p:sp>
        <p:sp>
          <p:nvSpPr>
            <p:cNvPr id="251958" name="Line 55"/>
            <p:cNvSpPr>
              <a:spLocks noChangeShapeType="1"/>
            </p:cNvSpPr>
            <p:nvPr/>
          </p:nvSpPr>
          <p:spPr bwMode="auto">
            <a:xfrm>
              <a:off x="1836" y="1728"/>
              <a:ext cx="96" cy="0"/>
            </a:xfrm>
            <a:prstGeom prst="line">
              <a:avLst/>
            </a:prstGeom>
            <a:noFill/>
            <a:ln w="9525">
              <a:solidFill>
                <a:schemeClr val="tx1"/>
              </a:solidFill>
              <a:round/>
              <a:headEnd/>
              <a:tailEnd type="triangle" w="med" len="med"/>
            </a:ln>
          </p:spPr>
          <p:txBody>
            <a:bodyPr wrap="none" anchor="ctr"/>
            <a:lstStyle/>
            <a:p>
              <a:endParaRPr lang="en-US"/>
            </a:p>
          </p:txBody>
        </p:sp>
        <p:sp>
          <p:nvSpPr>
            <p:cNvPr id="275512" name="Text Box 56"/>
            <p:cNvSpPr txBox="1">
              <a:spLocks noChangeArrowheads="1"/>
            </p:cNvSpPr>
            <p:nvPr/>
          </p:nvSpPr>
          <p:spPr bwMode="auto">
            <a:xfrm>
              <a:off x="1850" y="1405"/>
              <a:ext cx="1100" cy="379"/>
            </a:xfrm>
            <a:prstGeom prst="rect">
              <a:avLst/>
            </a:prstGeom>
            <a:noFill/>
            <a:ln w="9525">
              <a:noFill/>
              <a:miter lim="800000"/>
              <a:headEnd/>
              <a:tailEnd/>
            </a:ln>
            <a:effectLst/>
          </p:spPr>
          <p:txBody>
            <a:bodyPr wrap="none">
              <a:spAutoFit/>
            </a:bodyPr>
            <a:lstStyle/>
            <a:p>
              <a:pPr>
                <a:defRPr/>
              </a:pPr>
              <a:r>
                <a:rPr lang="en-US" sz="1600" dirty="0">
                  <a:effectLst>
                    <a:outerShdw blurRad="38100" dist="38100" dir="2700000" algn="tl">
                      <a:srgbClr val="C0C0C0"/>
                    </a:outerShdw>
                  </a:effectLst>
                  <a:latin typeface="Gill Sans MT" pitchFamily="34" charset="0"/>
                </a:rPr>
                <a:t>Page 	frame</a:t>
              </a:r>
            </a:p>
            <a:p>
              <a:pPr>
                <a:defRPr/>
              </a:pPr>
              <a:r>
                <a:rPr lang="en-US" sz="1600" dirty="0">
                  <a:effectLst>
                    <a:outerShdw blurRad="38100" dist="38100" dir="2700000" algn="tl">
                      <a:srgbClr val="C0C0C0"/>
                    </a:outerShdw>
                  </a:effectLst>
                  <a:latin typeface="Gill Sans MT" pitchFamily="34" charset="0"/>
                </a:rPr>
                <a:t>Number	number</a:t>
              </a:r>
            </a:p>
          </p:txBody>
        </p:sp>
        <p:sp>
          <p:nvSpPr>
            <p:cNvPr id="275513" name="Text Box 57"/>
            <p:cNvSpPr txBox="1">
              <a:spLocks noChangeArrowheads="1"/>
            </p:cNvSpPr>
            <p:nvPr/>
          </p:nvSpPr>
          <p:spPr bwMode="auto">
            <a:xfrm>
              <a:off x="2198" y="2315"/>
              <a:ext cx="356" cy="247"/>
            </a:xfrm>
            <a:prstGeom prst="rect">
              <a:avLst/>
            </a:prstGeom>
            <a:noFill/>
            <a:ln w="9525">
              <a:noFill/>
              <a:miter lim="800000"/>
              <a:headEnd/>
              <a:tailEnd/>
            </a:ln>
            <a:effectLst/>
          </p:spPr>
          <p:txBody>
            <a:bodyPr wrap="none">
              <a:spAutoFit/>
            </a:bodyPr>
            <a:lstStyle/>
            <a:p>
              <a:pPr>
                <a:defRPr/>
              </a:pPr>
              <a:r>
                <a:rPr lang="en-US" sz="1600" dirty="0">
                  <a:effectLst>
                    <a:outerShdw blurRad="38100" dist="38100" dir="2700000" algn="tl">
                      <a:srgbClr val="C0C0C0"/>
                    </a:outerShdw>
                  </a:effectLst>
                  <a:latin typeface="Gill Sans MT" pitchFamily="34" charset="0"/>
                </a:rPr>
                <a:t>TLB</a:t>
              </a:r>
            </a:p>
          </p:txBody>
        </p:sp>
        <p:sp>
          <p:nvSpPr>
            <p:cNvPr id="251961" name="Line 58"/>
            <p:cNvSpPr>
              <a:spLocks noChangeShapeType="1"/>
            </p:cNvSpPr>
            <p:nvPr/>
          </p:nvSpPr>
          <p:spPr bwMode="auto">
            <a:xfrm>
              <a:off x="2784" y="1944"/>
              <a:ext cx="144" cy="0"/>
            </a:xfrm>
            <a:prstGeom prst="line">
              <a:avLst/>
            </a:prstGeom>
            <a:noFill/>
            <a:ln w="9525">
              <a:solidFill>
                <a:schemeClr val="tx1"/>
              </a:solidFill>
              <a:round/>
              <a:headEnd/>
              <a:tailEnd/>
            </a:ln>
          </p:spPr>
          <p:txBody>
            <a:bodyPr wrap="none" anchor="ctr"/>
            <a:lstStyle/>
            <a:p>
              <a:endParaRPr lang="en-US"/>
            </a:p>
          </p:txBody>
        </p:sp>
        <p:sp>
          <p:nvSpPr>
            <p:cNvPr id="251962" name="Line 59"/>
            <p:cNvSpPr>
              <a:spLocks noChangeShapeType="1"/>
            </p:cNvSpPr>
            <p:nvPr/>
          </p:nvSpPr>
          <p:spPr bwMode="auto">
            <a:xfrm flipV="1">
              <a:off x="2916" y="1284"/>
              <a:ext cx="12" cy="672"/>
            </a:xfrm>
            <a:prstGeom prst="line">
              <a:avLst/>
            </a:prstGeom>
            <a:noFill/>
            <a:ln w="9525">
              <a:solidFill>
                <a:schemeClr val="tx1"/>
              </a:solidFill>
              <a:round/>
              <a:headEnd/>
              <a:tailEnd/>
            </a:ln>
          </p:spPr>
          <p:txBody>
            <a:bodyPr wrap="none" anchor="ctr"/>
            <a:lstStyle/>
            <a:p>
              <a:endParaRPr lang="en-US"/>
            </a:p>
          </p:txBody>
        </p:sp>
        <p:sp>
          <p:nvSpPr>
            <p:cNvPr id="251963" name="Line 60"/>
            <p:cNvSpPr>
              <a:spLocks noChangeShapeType="1"/>
            </p:cNvSpPr>
            <p:nvPr/>
          </p:nvSpPr>
          <p:spPr bwMode="auto">
            <a:xfrm>
              <a:off x="2928" y="1284"/>
              <a:ext cx="324" cy="0"/>
            </a:xfrm>
            <a:prstGeom prst="line">
              <a:avLst/>
            </a:prstGeom>
            <a:noFill/>
            <a:ln w="9525">
              <a:solidFill>
                <a:schemeClr val="tx1"/>
              </a:solidFill>
              <a:round/>
              <a:headEnd/>
              <a:tailEnd/>
            </a:ln>
          </p:spPr>
          <p:txBody>
            <a:bodyPr wrap="none" anchor="ctr"/>
            <a:lstStyle/>
            <a:p>
              <a:endParaRPr lang="en-US"/>
            </a:p>
          </p:txBody>
        </p:sp>
        <p:sp>
          <p:nvSpPr>
            <p:cNvPr id="251964" name="Line 61"/>
            <p:cNvSpPr>
              <a:spLocks noChangeShapeType="1"/>
            </p:cNvSpPr>
            <p:nvPr/>
          </p:nvSpPr>
          <p:spPr bwMode="auto">
            <a:xfrm>
              <a:off x="3276" y="1296"/>
              <a:ext cx="0" cy="132"/>
            </a:xfrm>
            <a:prstGeom prst="line">
              <a:avLst/>
            </a:prstGeom>
            <a:noFill/>
            <a:ln w="9525">
              <a:solidFill>
                <a:schemeClr val="tx1"/>
              </a:solidFill>
              <a:round/>
              <a:headEnd/>
              <a:tailEnd type="triangle" w="med" len="med"/>
            </a:ln>
          </p:spPr>
          <p:txBody>
            <a:bodyPr wrap="none" anchor="ctr"/>
            <a:lstStyle/>
            <a:p>
              <a:endParaRPr lang="en-US"/>
            </a:p>
          </p:txBody>
        </p:sp>
        <p:sp>
          <p:nvSpPr>
            <p:cNvPr id="275518" name="Text Box 62"/>
            <p:cNvSpPr txBox="1">
              <a:spLocks noChangeArrowheads="1"/>
            </p:cNvSpPr>
            <p:nvPr/>
          </p:nvSpPr>
          <p:spPr bwMode="auto">
            <a:xfrm>
              <a:off x="2905" y="1091"/>
              <a:ext cx="458" cy="219"/>
            </a:xfrm>
            <a:prstGeom prst="rect">
              <a:avLst/>
            </a:prstGeom>
            <a:noFill/>
            <a:ln w="9525">
              <a:noFill/>
              <a:miter lim="800000"/>
              <a:headEnd/>
              <a:tailEnd/>
            </a:ln>
            <a:effectLst/>
          </p:spPr>
          <p:txBody>
            <a:bodyPr wrap="none">
              <a:spAutoFit/>
            </a:bodyPr>
            <a:lstStyle/>
            <a:p>
              <a:pPr>
                <a:defRPr/>
              </a:pPr>
              <a:r>
                <a:rPr lang="en-US" sz="1600" dirty="0">
                  <a:effectLst>
                    <a:outerShdw blurRad="38100" dist="38100" dir="2700000" algn="tl">
                      <a:srgbClr val="C0C0C0"/>
                    </a:outerShdw>
                  </a:effectLst>
                  <a:latin typeface="Gill Sans MT" pitchFamily="34" charset="0"/>
                </a:rPr>
                <a:t>Tlb hit</a:t>
              </a:r>
            </a:p>
          </p:txBody>
        </p:sp>
      </p:gr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29" name="Content Placeholder 1"/>
          <p:cNvSpPr>
            <a:spLocks noGrp="1"/>
          </p:cNvSpPr>
          <p:nvPr>
            <p:ph idx="1"/>
          </p:nvPr>
        </p:nvSpPr>
        <p:spPr>
          <a:xfrm>
            <a:off x="457200" y="1066800"/>
            <a:ext cx="8229600" cy="5257800"/>
          </a:xfrm>
        </p:spPr>
        <p:txBody>
          <a:bodyPr/>
          <a:lstStyle/>
          <a:p>
            <a:r>
              <a:rPr lang="en-US" dirty="0" smtClean="0"/>
              <a:t>A way for processes to converse and to synchronize their actions</a:t>
            </a:r>
          </a:p>
          <a:p>
            <a:endParaRPr lang="en-US" dirty="0" smtClean="0"/>
          </a:p>
          <a:p>
            <a:pPr algn="just"/>
            <a:r>
              <a:rPr lang="en-US" dirty="0" smtClean="0"/>
              <a:t>Message system – processes communicate with each other without resorting to shared variables.</a:t>
            </a:r>
          </a:p>
          <a:p>
            <a:endParaRPr lang="en-US" dirty="0" smtClean="0"/>
          </a:p>
          <a:p>
            <a:r>
              <a:rPr lang="en-US" dirty="0" smtClean="0"/>
              <a:t>IPC facility presents two operations:</a:t>
            </a:r>
          </a:p>
          <a:p>
            <a:pPr>
              <a:buFont typeface="Gill Sans MT" pitchFamily="34" charset="0"/>
              <a:buChar char="–"/>
            </a:pPr>
            <a:r>
              <a:rPr lang="en-US" sz="1800" dirty="0" smtClean="0"/>
              <a:t>send(message) – receive(message)</a:t>
            </a:r>
          </a:p>
          <a:p>
            <a:endParaRPr lang="en-US" dirty="0" smtClean="0"/>
          </a:p>
          <a:p>
            <a:r>
              <a:rPr lang="en-US" dirty="0" smtClean="0"/>
              <a:t>If P and Q wish to converse , they need to:</a:t>
            </a:r>
          </a:p>
          <a:p>
            <a:pPr>
              <a:buFont typeface="Gill Sans MT" pitchFamily="34" charset="0"/>
              <a:buChar char="–"/>
            </a:pPr>
            <a:r>
              <a:rPr lang="en-US" sz="1800" dirty="0" smtClean="0"/>
              <a:t>establish a communication link between them</a:t>
            </a:r>
          </a:p>
          <a:p>
            <a:pPr>
              <a:buFont typeface="Gill Sans MT" pitchFamily="34" charset="0"/>
              <a:buChar char="–"/>
            </a:pPr>
            <a:r>
              <a:rPr lang="en-US" sz="1800" dirty="0" smtClean="0"/>
              <a:t>swap messages through send/receive</a:t>
            </a:r>
          </a:p>
          <a:p>
            <a:endParaRPr lang="en-US" dirty="0" smtClean="0"/>
          </a:p>
          <a:p>
            <a:r>
              <a:rPr lang="en-US" dirty="0" smtClean="0"/>
              <a:t>Implementation of communication link</a:t>
            </a:r>
          </a:p>
          <a:p>
            <a:pPr>
              <a:buFont typeface="Gill Sans MT" pitchFamily="34" charset="0"/>
              <a:buChar char="–"/>
            </a:pPr>
            <a:r>
              <a:rPr lang="en-US" sz="1800" dirty="0" smtClean="0"/>
              <a:t>physical (e.g., shared memory, hardware bus)</a:t>
            </a:r>
          </a:p>
          <a:p>
            <a:pPr>
              <a:buFont typeface="Gill Sans MT" pitchFamily="34" charset="0"/>
              <a:buChar char="–"/>
            </a:pPr>
            <a:r>
              <a:rPr lang="en-US" sz="1800" dirty="0" smtClean="0"/>
              <a:t>logical (e.g., logical properties)</a:t>
            </a:r>
          </a:p>
        </p:txBody>
      </p:sp>
      <p:sp>
        <p:nvSpPr>
          <p:cNvPr id="252930" name="Rectangle 2"/>
          <p:cNvSpPr>
            <a:spLocks noGrp="1" noChangeArrowheads="1"/>
          </p:cNvSpPr>
          <p:nvPr>
            <p:ph type="title"/>
          </p:nvPr>
        </p:nvSpPr>
        <p:spPr>
          <a:xfrm>
            <a:off x="0" y="0"/>
            <a:ext cx="7562850" cy="914400"/>
          </a:xfrm>
        </p:spPr>
        <p:txBody>
          <a:bodyPr anchor="t"/>
          <a:lstStyle/>
          <a:p>
            <a:r>
              <a:rPr lang="en-US" smtClean="0"/>
              <a:t>Inter Process Communication</a:t>
            </a: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Rectangle 3"/>
          <p:cNvSpPr>
            <a:spLocks noGrp="1" noChangeArrowheads="1"/>
          </p:cNvSpPr>
          <p:nvPr>
            <p:ph idx="1"/>
          </p:nvPr>
        </p:nvSpPr>
        <p:spPr/>
        <p:txBody>
          <a:bodyPr/>
          <a:lstStyle/>
          <a:p>
            <a:r>
              <a:rPr lang="en-US" smtClean="0"/>
              <a:t>Pipe</a:t>
            </a:r>
          </a:p>
          <a:p>
            <a:endParaRPr lang="en-US" smtClean="0"/>
          </a:p>
          <a:p>
            <a:r>
              <a:rPr lang="en-US" smtClean="0"/>
              <a:t>FIFO</a:t>
            </a:r>
          </a:p>
          <a:p>
            <a:endParaRPr lang="en-US" smtClean="0"/>
          </a:p>
          <a:p>
            <a:r>
              <a:rPr lang="en-US" smtClean="0"/>
              <a:t>Message queues</a:t>
            </a:r>
          </a:p>
          <a:p>
            <a:endParaRPr lang="en-US" smtClean="0"/>
          </a:p>
          <a:p>
            <a:r>
              <a:rPr lang="en-US" smtClean="0"/>
              <a:t>Shared memory</a:t>
            </a:r>
          </a:p>
          <a:p>
            <a:endParaRPr lang="en-US" smtClean="0"/>
          </a:p>
          <a:p>
            <a:r>
              <a:rPr lang="en-US" smtClean="0"/>
              <a:t>Semaphores</a:t>
            </a:r>
          </a:p>
        </p:txBody>
      </p:sp>
      <p:sp>
        <p:nvSpPr>
          <p:cNvPr id="253954" name="Rectangle 2"/>
          <p:cNvSpPr>
            <a:spLocks noGrp="1" noChangeArrowheads="1"/>
          </p:cNvSpPr>
          <p:nvPr>
            <p:ph type="title"/>
          </p:nvPr>
        </p:nvSpPr>
        <p:spPr>
          <a:xfrm>
            <a:off x="0" y="304800"/>
            <a:ext cx="7562850" cy="914400"/>
          </a:xfrm>
        </p:spPr>
        <p:txBody>
          <a:bodyPr anchor="t"/>
          <a:lstStyle/>
          <a:p>
            <a:r>
              <a:rPr lang="en-US" dirty="0" smtClean="0"/>
              <a:t>Inter Process Communications - Methods</a:t>
            </a: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3"/>
          <p:cNvSpPr>
            <a:spLocks noGrp="1"/>
          </p:cNvSpPr>
          <p:nvPr>
            <p:ph idx="1"/>
          </p:nvPr>
        </p:nvSpPr>
        <p:spPr/>
        <p:txBody>
          <a:bodyPr/>
          <a:lstStyle/>
          <a:p>
            <a:pPr algn="just"/>
            <a:r>
              <a:rPr lang="en-US" dirty="0" smtClean="0"/>
              <a:t>A pipe is a set of two file descriptors. A pipe allows two associated processes to communicate by sending some data from one process to another process</a:t>
            </a:r>
          </a:p>
          <a:p>
            <a:endParaRPr lang="en-US" dirty="0" smtClean="0"/>
          </a:p>
          <a:p>
            <a:pPr algn="just"/>
            <a:r>
              <a:rPr lang="en-US" dirty="0" smtClean="0"/>
              <a:t> The processes must co-operate and assume the role of a reader or a writer with respect to a specific pipe</a:t>
            </a:r>
          </a:p>
          <a:p>
            <a:endParaRPr lang="en-US" dirty="0" smtClean="0"/>
          </a:p>
          <a:p>
            <a:r>
              <a:rPr lang="en-US" dirty="0" smtClean="0"/>
              <a:t>Data is passed in order</a:t>
            </a:r>
          </a:p>
          <a:p>
            <a:endParaRPr lang="en-US" dirty="0" smtClean="0"/>
          </a:p>
          <a:p>
            <a:r>
              <a:rPr lang="en-US" dirty="0" smtClean="0"/>
              <a:t>Data doesn’t get lost in middle</a:t>
            </a:r>
          </a:p>
          <a:p>
            <a:r>
              <a:rPr lang="en-US" dirty="0" smtClean="0"/>
              <a:t> </a:t>
            </a:r>
          </a:p>
          <a:p>
            <a:r>
              <a:rPr lang="en-US" dirty="0" smtClean="0"/>
              <a:t>Zero buffering capacity</a:t>
            </a:r>
          </a:p>
          <a:p>
            <a:endParaRPr lang="en-US" dirty="0" smtClean="0"/>
          </a:p>
        </p:txBody>
      </p:sp>
      <p:sp>
        <p:nvSpPr>
          <p:cNvPr id="256002" name="Rectangle 2"/>
          <p:cNvSpPr>
            <a:spLocks noGrp="1"/>
          </p:cNvSpPr>
          <p:nvPr>
            <p:ph type="title"/>
          </p:nvPr>
        </p:nvSpPr>
        <p:spPr>
          <a:xfrm>
            <a:off x="0" y="0"/>
            <a:ext cx="7562850" cy="914400"/>
          </a:xfrm>
        </p:spPr>
        <p:txBody>
          <a:bodyPr/>
          <a:lstStyle/>
          <a:p>
            <a:r>
              <a:rPr lang="en-US" smtClean="0"/>
              <a:t>PIPE  Definition</a:t>
            </a: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0" y="304800"/>
            <a:ext cx="7562850" cy="914400"/>
          </a:xfrm>
        </p:spPr>
        <p:txBody>
          <a:bodyPr anchor="t">
            <a:normAutofit fontScale="90000"/>
          </a:bodyPr>
          <a:lstStyle/>
          <a:p>
            <a:pPr>
              <a:defRPr/>
            </a:pPr>
            <a:r>
              <a:rPr lang="en-US" dirty="0" smtClean="0"/>
              <a:t>PIPE : Example</a:t>
            </a:r>
            <a:br>
              <a:rPr lang="en-US" dirty="0" smtClean="0"/>
            </a:br>
            <a:endParaRPr lang="en-US" dirty="0" smtClean="0"/>
          </a:p>
        </p:txBody>
      </p:sp>
      <p:sp>
        <p:nvSpPr>
          <p:cNvPr id="287747" name="Rectangle 3"/>
          <p:cNvSpPr>
            <a:spLocks noChangeArrowheads="1"/>
          </p:cNvSpPr>
          <p:nvPr/>
        </p:nvSpPr>
        <p:spPr bwMode="auto">
          <a:xfrm>
            <a:off x="0" y="0"/>
            <a:ext cx="7772400" cy="914400"/>
          </a:xfrm>
          <a:prstGeom prst="rect">
            <a:avLst/>
          </a:prstGeom>
          <a:noFill/>
          <a:ln w="9525">
            <a:noFill/>
            <a:miter lim="800000"/>
            <a:headEnd/>
            <a:tailEnd/>
          </a:ln>
          <a:effectLst>
            <a:outerShdw dist="28398" dir="9206097" algn="ctr" rotWithShape="0">
              <a:schemeClr val="bg2"/>
            </a:outerShdw>
          </a:effectLst>
        </p:spPr>
        <p:txBody>
          <a:bodyPr anchor="ctr"/>
          <a:lstStyle/>
          <a:p>
            <a:pPr>
              <a:defRPr/>
            </a:pPr>
            <a:endParaRPr lang="hi-IN" sz="2800" b="1">
              <a:solidFill>
                <a:srgbClr val="1C3D94"/>
              </a:solidFill>
              <a:latin typeface="Verdana" pitchFamily="34" charset="0"/>
            </a:endParaRPr>
          </a:p>
        </p:txBody>
      </p:sp>
      <p:sp>
        <p:nvSpPr>
          <p:cNvPr id="257027" name="Rectangle 4"/>
          <p:cNvSpPr>
            <a:spLocks noChangeArrowheads="1"/>
          </p:cNvSpPr>
          <p:nvPr/>
        </p:nvSpPr>
        <p:spPr bwMode="auto">
          <a:xfrm>
            <a:off x="1447800" y="2362200"/>
            <a:ext cx="1524000" cy="2362200"/>
          </a:xfrm>
          <a:prstGeom prst="rect">
            <a:avLst/>
          </a:prstGeom>
          <a:noFill/>
          <a:ln w="9525">
            <a:solidFill>
              <a:schemeClr val="tx1"/>
            </a:solidFill>
            <a:miter lim="800000"/>
            <a:headEnd/>
            <a:tailEnd/>
          </a:ln>
        </p:spPr>
        <p:txBody>
          <a:bodyPr wrap="none" anchor="ctr">
            <a:spAutoFit/>
          </a:bodyPr>
          <a:lstStyle/>
          <a:p>
            <a:endParaRPr lang="en-US"/>
          </a:p>
        </p:txBody>
      </p:sp>
      <p:sp>
        <p:nvSpPr>
          <p:cNvPr id="257028" name="Rectangle 5"/>
          <p:cNvSpPr>
            <a:spLocks noChangeArrowheads="1"/>
          </p:cNvSpPr>
          <p:nvPr/>
        </p:nvSpPr>
        <p:spPr bwMode="auto">
          <a:xfrm>
            <a:off x="6248400" y="2362200"/>
            <a:ext cx="1524000" cy="2362200"/>
          </a:xfrm>
          <a:prstGeom prst="rect">
            <a:avLst/>
          </a:prstGeom>
          <a:noFill/>
          <a:ln w="9525">
            <a:solidFill>
              <a:schemeClr val="tx1"/>
            </a:solidFill>
            <a:miter lim="800000"/>
            <a:headEnd/>
            <a:tailEnd/>
          </a:ln>
        </p:spPr>
        <p:txBody>
          <a:bodyPr wrap="none" anchor="ctr">
            <a:spAutoFit/>
          </a:bodyPr>
          <a:lstStyle/>
          <a:p>
            <a:endParaRPr lang="en-US"/>
          </a:p>
        </p:txBody>
      </p:sp>
      <p:sp>
        <p:nvSpPr>
          <p:cNvPr id="257029" name="Line 6"/>
          <p:cNvSpPr>
            <a:spLocks noChangeShapeType="1"/>
          </p:cNvSpPr>
          <p:nvPr/>
        </p:nvSpPr>
        <p:spPr bwMode="auto">
          <a:xfrm>
            <a:off x="2971800" y="2743200"/>
            <a:ext cx="3276600" cy="0"/>
          </a:xfrm>
          <a:prstGeom prst="line">
            <a:avLst/>
          </a:prstGeom>
          <a:noFill/>
          <a:ln w="9525">
            <a:solidFill>
              <a:schemeClr val="tx1"/>
            </a:solidFill>
            <a:round/>
            <a:headEnd/>
            <a:tailEnd type="triangle" w="med" len="med"/>
          </a:ln>
        </p:spPr>
        <p:txBody>
          <a:bodyPr>
            <a:spAutoFit/>
          </a:bodyPr>
          <a:lstStyle/>
          <a:p>
            <a:endParaRPr lang="en-US"/>
          </a:p>
        </p:txBody>
      </p:sp>
      <p:sp>
        <p:nvSpPr>
          <p:cNvPr id="257030" name="Line 7"/>
          <p:cNvSpPr>
            <a:spLocks noChangeShapeType="1"/>
          </p:cNvSpPr>
          <p:nvPr/>
        </p:nvSpPr>
        <p:spPr bwMode="auto">
          <a:xfrm>
            <a:off x="2971800" y="4419600"/>
            <a:ext cx="3276600" cy="0"/>
          </a:xfrm>
          <a:prstGeom prst="line">
            <a:avLst/>
          </a:prstGeom>
          <a:noFill/>
          <a:ln w="9525">
            <a:solidFill>
              <a:schemeClr val="tx1"/>
            </a:solidFill>
            <a:round/>
            <a:headEnd type="triangle" w="med" len="med"/>
            <a:tailEnd/>
          </a:ln>
        </p:spPr>
        <p:txBody>
          <a:bodyPr>
            <a:spAutoFit/>
          </a:bodyPr>
          <a:lstStyle/>
          <a:p>
            <a:endParaRPr lang="en-US"/>
          </a:p>
        </p:txBody>
      </p:sp>
      <p:sp>
        <p:nvSpPr>
          <p:cNvPr id="257031" name="Line 8"/>
          <p:cNvSpPr>
            <a:spLocks noChangeShapeType="1"/>
          </p:cNvSpPr>
          <p:nvPr/>
        </p:nvSpPr>
        <p:spPr bwMode="auto">
          <a:xfrm>
            <a:off x="381000" y="2895600"/>
            <a:ext cx="1066800" cy="0"/>
          </a:xfrm>
          <a:prstGeom prst="line">
            <a:avLst/>
          </a:prstGeom>
          <a:noFill/>
          <a:ln w="9525">
            <a:solidFill>
              <a:schemeClr val="tx1"/>
            </a:solidFill>
            <a:round/>
            <a:headEnd/>
            <a:tailEnd type="triangle" w="med" len="med"/>
          </a:ln>
        </p:spPr>
        <p:txBody>
          <a:bodyPr>
            <a:spAutoFit/>
          </a:bodyPr>
          <a:lstStyle/>
          <a:p>
            <a:endParaRPr lang="en-US"/>
          </a:p>
        </p:txBody>
      </p:sp>
      <p:sp>
        <p:nvSpPr>
          <p:cNvPr id="257032" name="Line 9"/>
          <p:cNvSpPr>
            <a:spLocks noChangeShapeType="1"/>
          </p:cNvSpPr>
          <p:nvPr/>
        </p:nvSpPr>
        <p:spPr bwMode="auto">
          <a:xfrm>
            <a:off x="381000" y="4419600"/>
            <a:ext cx="1066800" cy="0"/>
          </a:xfrm>
          <a:prstGeom prst="line">
            <a:avLst/>
          </a:prstGeom>
          <a:noFill/>
          <a:ln w="9525">
            <a:solidFill>
              <a:schemeClr val="tx1"/>
            </a:solidFill>
            <a:round/>
            <a:headEnd type="triangle" w="med" len="med"/>
            <a:tailEnd/>
          </a:ln>
        </p:spPr>
        <p:txBody>
          <a:bodyPr>
            <a:spAutoFit/>
          </a:bodyPr>
          <a:lstStyle/>
          <a:p>
            <a:endParaRPr lang="en-US"/>
          </a:p>
        </p:txBody>
      </p:sp>
      <p:sp>
        <p:nvSpPr>
          <p:cNvPr id="257033" name="Text Box 10"/>
          <p:cNvSpPr txBox="1">
            <a:spLocks noChangeArrowheads="1"/>
          </p:cNvSpPr>
          <p:nvPr/>
        </p:nvSpPr>
        <p:spPr bwMode="auto">
          <a:xfrm>
            <a:off x="1600200" y="3352800"/>
            <a:ext cx="1295400" cy="861774"/>
          </a:xfrm>
          <a:prstGeom prst="rect">
            <a:avLst/>
          </a:prstGeom>
          <a:noFill/>
          <a:ln w="9525">
            <a:noFill/>
            <a:miter lim="800000"/>
            <a:headEnd/>
            <a:tailEnd/>
          </a:ln>
        </p:spPr>
        <p:txBody>
          <a:bodyPr>
            <a:spAutoFit/>
          </a:bodyPr>
          <a:lstStyle/>
          <a:p>
            <a:pPr algn="ctr">
              <a:spcBef>
                <a:spcPct val="50000"/>
              </a:spcBef>
            </a:pPr>
            <a:r>
              <a:rPr lang="en-US" sz="2000" b="1" dirty="0" smtClean="0">
                <a:solidFill>
                  <a:srgbClr val="CC3300"/>
                </a:solidFill>
                <a:latin typeface="Gill Sans MT" pitchFamily="34" charset="0"/>
              </a:rPr>
              <a:t>Client</a:t>
            </a:r>
          </a:p>
          <a:p>
            <a:pPr algn="ctr">
              <a:spcBef>
                <a:spcPct val="50000"/>
              </a:spcBef>
            </a:pPr>
            <a:r>
              <a:rPr lang="en-US" sz="2000" b="1" dirty="0" smtClean="0">
                <a:solidFill>
                  <a:srgbClr val="CC3300"/>
                </a:solidFill>
                <a:latin typeface="Gill Sans MT" pitchFamily="34" charset="0"/>
              </a:rPr>
              <a:t>Machine   </a:t>
            </a:r>
            <a:endParaRPr lang="en-US" sz="2000" b="1" dirty="0">
              <a:solidFill>
                <a:srgbClr val="CC3300"/>
              </a:solidFill>
              <a:latin typeface="Gill Sans MT" pitchFamily="34" charset="0"/>
            </a:endParaRPr>
          </a:p>
        </p:txBody>
      </p:sp>
      <p:sp>
        <p:nvSpPr>
          <p:cNvPr id="257034" name="Text Box 11"/>
          <p:cNvSpPr txBox="1">
            <a:spLocks noChangeArrowheads="1"/>
          </p:cNvSpPr>
          <p:nvPr/>
        </p:nvSpPr>
        <p:spPr bwMode="auto">
          <a:xfrm>
            <a:off x="6324600" y="3352800"/>
            <a:ext cx="1295400" cy="861774"/>
          </a:xfrm>
          <a:prstGeom prst="rect">
            <a:avLst/>
          </a:prstGeom>
          <a:noFill/>
          <a:ln w="9525">
            <a:noFill/>
            <a:miter lim="800000"/>
            <a:headEnd/>
            <a:tailEnd/>
          </a:ln>
        </p:spPr>
        <p:txBody>
          <a:bodyPr>
            <a:spAutoFit/>
          </a:bodyPr>
          <a:lstStyle/>
          <a:p>
            <a:pPr algn="ctr">
              <a:spcBef>
                <a:spcPct val="50000"/>
              </a:spcBef>
            </a:pPr>
            <a:r>
              <a:rPr lang="en-US" sz="2000" b="1" dirty="0">
                <a:solidFill>
                  <a:srgbClr val="CC3300"/>
                </a:solidFill>
                <a:latin typeface="Gill Sans MT" pitchFamily="34" charset="0"/>
              </a:rPr>
              <a:t>   </a:t>
            </a:r>
            <a:r>
              <a:rPr lang="en-US" sz="2000" b="1" dirty="0" smtClean="0">
                <a:solidFill>
                  <a:srgbClr val="CC3300"/>
                </a:solidFill>
                <a:latin typeface="Gill Sans MT" pitchFamily="34" charset="0"/>
              </a:rPr>
              <a:t>Server</a:t>
            </a:r>
          </a:p>
          <a:p>
            <a:pPr algn="ctr">
              <a:spcBef>
                <a:spcPct val="50000"/>
              </a:spcBef>
            </a:pPr>
            <a:r>
              <a:rPr lang="en-US" sz="2000" b="1" dirty="0" smtClean="0">
                <a:solidFill>
                  <a:srgbClr val="CC3300"/>
                </a:solidFill>
                <a:latin typeface="Gill Sans MT" pitchFamily="34" charset="0"/>
              </a:rPr>
              <a:t>Machine</a:t>
            </a:r>
            <a:endParaRPr lang="en-US" sz="2000" b="1" dirty="0">
              <a:solidFill>
                <a:srgbClr val="CC3300"/>
              </a:solidFill>
              <a:latin typeface="Gill Sans MT" pitchFamily="34" charset="0"/>
            </a:endParaRPr>
          </a:p>
        </p:txBody>
      </p:sp>
      <p:sp>
        <p:nvSpPr>
          <p:cNvPr id="257035" name="Oval 12"/>
          <p:cNvSpPr>
            <a:spLocks noChangeArrowheads="1"/>
          </p:cNvSpPr>
          <p:nvPr/>
        </p:nvSpPr>
        <p:spPr bwMode="auto">
          <a:xfrm>
            <a:off x="8001000" y="2514600"/>
            <a:ext cx="914400" cy="1905000"/>
          </a:xfrm>
          <a:prstGeom prst="ellipse">
            <a:avLst/>
          </a:prstGeom>
          <a:noFill/>
          <a:ln w="9525">
            <a:solidFill>
              <a:schemeClr val="tx1"/>
            </a:solidFill>
            <a:round/>
            <a:headEnd/>
            <a:tailEnd/>
          </a:ln>
        </p:spPr>
        <p:txBody>
          <a:bodyPr wrap="none" anchor="ctr">
            <a:spAutoFit/>
          </a:bodyPr>
          <a:lstStyle/>
          <a:p>
            <a:endParaRPr lang="en-US"/>
          </a:p>
        </p:txBody>
      </p:sp>
      <p:sp>
        <p:nvSpPr>
          <p:cNvPr id="257036" name="Text Box 13"/>
          <p:cNvSpPr txBox="1">
            <a:spLocks noChangeArrowheads="1"/>
          </p:cNvSpPr>
          <p:nvPr/>
        </p:nvSpPr>
        <p:spPr bwMode="auto">
          <a:xfrm>
            <a:off x="8077200" y="3276600"/>
            <a:ext cx="762000" cy="396875"/>
          </a:xfrm>
          <a:prstGeom prst="rect">
            <a:avLst/>
          </a:prstGeom>
          <a:noFill/>
          <a:ln w="9525">
            <a:noFill/>
            <a:miter lim="800000"/>
            <a:headEnd/>
            <a:tailEnd/>
          </a:ln>
        </p:spPr>
        <p:txBody>
          <a:bodyPr>
            <a:spAutoFit/>
          </a:bodyPr>
          <a:lstStyle/>
          <a:p>
            <a:pPr algn="ctr">
              <a:spcBef>
                <a:spcPct val="50000"/>
              </a:spcBef>
            </a:pPr>
            <a:r>
              <a:rPr lang="en-US" sz="2000" b="1">
                <a:solidFill>
                  <a:srgbClr val="CC3300"/>
                </a:solidFill>
                <a:latin typeface="Gill Sans MT" pitchFamily="34" charset="0"/>
              </a:rPr>
              <a:t>File</a:t>
            </a:r>
          </a:p>
        </p:txBody>
      </p:sp>
      <p:sp>
        <p:nvSpPr>
          <p:cNvPr id="257037" name="Line 14"/>
          <p:cNvSpPr>
            <a:spLocks noChangeShapeType="1"/>
          </p:cNvSpPr>
          <p:nvPr/>
        </p:nvSpPr>
        <p:spPr bwMode="auto">
          <a:xfrm>
            <a:off x="7772400" y="3429000"/>
            <a:ext cx="228600" cy="0"/>
          </a:xfrm>
          <a:prstGeom prst="line">
            <a:avLst/>
          </a:prstGeom>
          <a:noFill/>
          <a:ln w="9525">
            <a:solidFill>
              <a:schemeClr val="tx1"/>
            </a:solidFill>
            <a:round/>
            <a:headEnd type="triangle" w="med" len="med"/>
            <a:tailEnd type="triangle" w="med" len="med"/>
          </a:ln>
        </p:spPr>
        <p:txBody>
          <a:bodyPr>
            <a:spAutoFit/>
          </a:bodyPr>
          <a:lstStyle/>
          <a:p>
            <a:endParaRPr lang="en-US"/>
          </a:p>
        </p:txBody>
      </p:sp>
      <p:sp>
        <p:nvSpPr>
          <p:cNvPr id="257038" name="Text Box 15"/>
          <p:cNvSpPr txBox="1">
            <a:spLocks noChangeArrowheads="1"/>
          </p:cNvSpPr>
          <p:nvPr/>
        </p:nvSpPr>
        <p:spPr bwMode="auto">
          <a:xfrm>
            <a:off x="3200400" y="2286000"/>
            <a:ext cx="2819400" cy="396875"/>
          </a:xfrm>
          <a:prstGeom prst="rect">
            <a:avLst/>
          </a:prstGeom>
          <a:noFill/>
          <a:ln w="9525" algn="ctr">
            <a:noFill/>
            <a:miter lim="800000"/>
            <a:headEnd/>
            <a:tailEnd/>
          </a:ln>
        </p:spPr>
        <p:txBody>
          <a:bodyPr/>
          <a:lstStyle/>
          <a:p>
            <a:pPr marL="342900" indent="-342900" algn="just">
              <a:spcBef>
                <a:spcPct val="20000"/>
              </a:spcBef>
            </a:pPr>
            <a:r>
              <a:rPr lang="en-US" sz="2000">
                <a:latin typeface="Gill Sans MT" pitchFamily="34" charset="0"/>
              </a:rPr>
              <a:t>Path Name</a:t>
            </a:r>
          </a:p>
        </p:txBody>
      </p:sp>
      <p:sp>
        <p:nvSpPr>
          <p:cNvPr id="257039" name="Text Box 16"/>
          <p:cNvSpPr txBox="1">
            <a:spLocks noChangeArrowheads="1"/>
          </p:cNvSpPr>
          <p:nvPr/>
        </p:nvSpPr>
        <p:spPr bwMode="auto">
          <a:xfrm>
            <a:off x="3048000" y="4495800"/>
            <a:ext cx="3124200" cy="854075"/>
          </a:xfrm>
          <a:prstGeom prst="rect">
            <a:avLst/>
          </a:prstGeom>
          <a:noFill/>
          <a:ln w="9525" algn="ctr">
            <a:noFill/>
            <a:miter lim="800000"/>
            <a:headEnd/>
            <a:tailEnd/>
          </a:ln>
        </p:spPr>
        <p:txBody>
          <a:bodyPr/>
          <a:lstStyle/>
          <a:p>
            <a:pPr marL="342900" indent="-342900" algn="just">
              <a:spcBef>
                <a:spcPct val="20000"/>
              </a:spcBef>
            </a:pPr>
            <a:r>
              <a:rPr lang="en-US" sz="2000" dirty="0">
                <a:latin typeface="Gill Sans MT" pitchFamily="34" charset="0"/>
              </a:rPr>
              <a:t>File </a:t>
            </a:r>
            <a:r>
              <a:rPr lang="en-US" sz="2000" dirty="0" smtClean="0">
                <a:latin typeface="Gill Sans MT" pitchFamily="34" charset="0"/>
              </a:rPr>
              <a:t>Information </a:t>
            </a:r>
            <a:r>
              <a:rPr lang="en-US" sz="2000" dirty="0">
                <a:latin typeface="Gill Sans MT" pitchFamily="34" charset="0"/>
              </a:rPr>
              <a:t>or Error</a:t>
            </a:r>
          </a:p>
          <a:p>
            <a:pPr marL="342900" indent="-342900" algn="just">
              <a:spcBef>
                <a:spcPct val="20000"/>
              </a:spcBef>
            </a:pPr>
            <a:r>
              <a:rPr lang="en-US" sz="2000" dirty="0">
                <a:latin typeface="Gill Sans MT" pitchFamily="34" charset="0"/>
              </a:rPr>
              <a:t>Message</a:t>
            </a:r>
          </a:p>
        </p:txBody>
      </p:sp>
      <p:sp>
        <p:nvSpPr>
          <p:cNvPr id="257040" name="Text Box 17"/>
          <p:cNvSpPr txBox="1">
            <a:spLocks noChangeArrowheads="1"/>
          </p:cNvSpPr>
          <p:nvPr/>
        </p:nvSpPr>
        <p:spPr bwMode="auto">
          <a:xfrm>
            <a:off x="152400" y="1905000"/>
            <a:ext cx="1295400" cy="707886"/>
          </a:xfrm>
          <a:prstGeom prst="rect">
            <a:avLst/>
          </a:prstGeom>
          <a:noFill/>
          <a:ln w="9525">
            <a:noFill/>
            <a:miter lim="800000"/>
            <a:headEnd/>
            <a:tailEnd/>
          </a:ln>
        </p:spPr>
        <p:txBody>
          <a:bodyPr wrap="square">
            <a:spAutoFit/>
          </a:bodyPr>
          <a:lstStyle/>
          <a:p>
            <a:pPr>
              <a:spcBef>
                <a:spcPct val="50000"/>
              </a:spcBef>
            </a:pPr>
            <a:r>
              <a:rPr lang="en-US" sz="2000" b="1" dirty="0" smtClean="0">
                <a:solidFill>
                  <a:srgbClr val="333399"/>
                </a:solidFill>
                <a:latin typeface="Gill Sans MT" pitchFamily="34" charset="0"/>
              </a:rPr>
              <a:t>Standard input</a:t>
            </a:r>
            <a:endParaRPr lang="en-US" sz="2000" b="1" dirty="0">
              <a:solidFill>
                <a:srgbClr val="333399"/>
              </a:solidFill>
              <a:latin typeface="Gill Sans MT" pitchFamily="34" charset="0"/>
            </a:endParaRPr>
          </a:p>
        </p:txBody>
      </p:sp>
      <p:sp>
        <p:nvSpPr>
          <p:cNvPr id="257041" name="Text Box 18"/>
          <p:cNvSpPr txBox="1">
            <a:spLocks noChangeArrowheads="1"/>
          </p:cNvSpPr>
          <p:nvPr/>
        </p:nvSpPr>
        <p:spPr bwMode="auto">
          <a:xfrm>
            <a:off x="0" y="4572000"/>
            <a:ext cx="1371600" cy="707886"/>
          </a:xfrm>
          <a:prstGeom prst="rect">
            <a:avLst/>
          </a:prstGeom>
          <a:noFill/>
          <a:ln w="9525">
            <a:noFill/>
            <a:miter lim="800000"/>
            <a:headEnd/>
            <a:tailEnd/>
          </a:ln>
        </p:spPr>
        <p:txBody>
          <a:bodyPr wrap="square">
            <a:spAutoFit/>
          </a:bodyPr>
          <a:lstStyle/>
          <a:p>
            <a:pPr>
              <a:spcBef>
                <a:spcPct val="50000"/>
              </a:spcBef>
            </a:pPr>
            <a:r>
              <a:rPr lang="en-US" sz="2000" b="1" dirty="0" smtClean="0">
                <a:solidFill>
                  <a:srgbClr val="333399"/>
                </a:solidFill>
                <a:latin typeface="Gill Sans MT" pitchFamily="34" charset="0"/>
              </a:rPr>
              <a:t>Standard          output </a:t>
            </a:r>
            <a:endParaRPr lang="en-US" sz="2000" b="1" dirty="0">
              <a:solidFill>
                <a:srgbClr val="333399"/>
              </a:solidFill>
              <a:latin typeface="Gill Sans MT" pitchFamily="34" charset="0"/>
            </a:endParaRPr>
          </a:p>
        </p:txBody>
      </p:sp>
      <p:sp>
        <p:nvSpPr>
          <p:cNvPr id="257042" name="Text Box 19"/>
          <p:cNvSpPr txBox="1">
            <a:spLocks noChangeArrowheads="1"/>
          </p:cNvSpPr>
          <p:nvPr/>
        </p:nvSpPr>
        <p:spPr bwMode="auto">
          <a:xfrm>
            <a:off x="1676400" y="1219200"/>
            <a:ext cx="6172200" cy="396875"/>
          </a:xfrm>
          <a:prstGeom prst="rect">
            <a:avLst/>
          </a:prstGeom>
          <a:noFill/>
          <a:ln w="9525" algn="ctr">
            <a:noFill/>
            <a:miter lim="800000"/>
            <a:headEnd/>
            <a:tailEnd/>
          </a:ln>
        </p:spPr>
        <p:txBody>
          <a:bodyPr/>
          <a:lstStyle/>
          <a:p>
            <a:pPr marL="342900" indent="-342900" algn="ctr">
              <a:spcBef>
                <a:spcPct val="20000"/>
              </a:spcBef>
            </a:pPr>
            <a:r>
              <a:rPr lang="en-US" sz="2000">
                <a:latin typeface="Gill Sans MT" pitchFamily="34" charset="0"/>
              </a:rPr>
              <a:t>Client - Server </a:t>
            </a: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Rectangle 3"/>
          <p:cNvSpPr>
            <a:spLocks noGrp="1" noChangeArrowheads="1"/>
          </p:cNvSpPr>
          <p:nvPr>
            <p:ph idx="1"/>
          </p:nvPr>
        </p:nvSpPr>
        <p:spPr/>
        <p:txBody>
          <a:bodyPr/>
          <a:lstStyle/>
          <a:p>
            <a:r>
              <a:rPr lang="en-US" dirty="0" smtClean="0"/>
              <a:t>Pipes were the widely used form of Inter Process Communication.</a:t>
            </a:r>
          </a:p>
          <a:p>
            <a:endParaRPr lang="en-US" dirty="0" smtClean="0"/>
          </a:p>
          <a:p>
            <a:pPr algn="just"/>
            <a:r>
              <a:rPr lang="en-US" dirty="0" smtClean="0"/>
              <a:t>Problem with pipes  - Used only between processes that have a common  ancestor (</a:t>
            </a:r>
            <a:r>
              <a:rPr lang="en-US" dirty="0" err="1" smtClean="0"/>
              <a:t>ie</a:t>
            </a:r>
            <a:r>
              <a:rPr lang="en-US" dirty="0" smtClean="0"/>
              <a:t>., a parent-child relationship). however, fixed with the  introduction of named pipes or FIFOs</a:t>
            </a:r>
          </a:p>
          <a:p>
            <a:endParaRPr lang="en-US" dirty="0" smtClean="0"/>
          </a:p>
        </p:txBody>
      </p:sp>
      <p:sp>
        <p:nvSpPr>
          <p:cNvPr id="259074" name="Rectangle 2"/>
          <p:cNvSpPr>
            <a:spLocks noGrp="1" noChangeArrowheads="1"/>
          </p:cNvSpPr>
          <p:nvPr>
            <p:ph type="title"/>
          </p:nvPr>
        </p:nvSpPr>
        <p:spPr>
          <a:xfrm>
            <a:off x="0" y="228600"/>
            <a:ext cx="7562850" cy="914400"/>
          </a:xfrm>
        </p:spPr>
        <p:txBody>
          <a:bodyPr anchor="t"/>
          <a:lstStyle/>
          <a:p>
            <a:r>
              <a:rPr lang="en-US" dirty="0" smtClean="0"/>
              <a:t>FIFO  - Introduction</a:t>
            </a: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Rectangle 3"/>
          <p:cNvSpPr>
            <a:spLocks noGrp="1"/>
          </p:cNvSpPr>
          <p:nvPr>
            <p:ph idx="1"/>
          </p:nvPr>
        </p:nvSpPr>
        <p:spPr/>
        <p:txBody>
          <a:bodyPr/>
          <a:lstStyle/>
          <a:p>
            <a:pPr algn="just"/>
            <a:r>
              <a:rPr lang="en-US" dirty="0" smtClean="0"/>
              <a:t>Named pipe works similar to a regular pipe, but have certain differences</a:t>
            </a:r>
          </a:p>
          <a:p>
            <a:pPr algn="just"/>
            <a:endParaRPr lang="en-US" dirty="0" smtClean="0"/>
          </a:p>
          <a:p>
            <a:pPr algn="just"/>
            <a:r>
              <a:rPr lang="en-US" dirty="0" smtClean="0"/>
              <a:t>   Named pipes exist as a device special file in the file system</a:t>
            </a:r>
          </a:p>
          <a:p>
            <a:pPr algn="just"/>
            <a:endParaRPr lang="en-US" dirty="0" smtClean="0"/>
          </a:p>
          <a:p>
            <a:pPr algn="just"/>
            <a:r>
              <a:rPr lang="en-US" dirty="0" smtClean="0"/>
              <a:t>    Processes of different ancestry can share data through  a named pipe</a:t>
            </a:r>
          </a:p>
          <a:p>
            <a:pPr algn="just"/>
            <a:endParaRPr lang="en-US" dirty="0" smtClean="0"/>
          </a:p>
          <a:p>
            <a:pPr algn="just"/>
            <a:r>
              <a:rPr lang="en-US" dirty="0" smtClean="0"/>
              <a:t>    When all I/O is done by sharing processes, the named pipe remains in  the file system for later use</a:t>
            </a:r>
          </a:p>
          <a:p>
            <a:endParaRPr lang="en-US" dirty="0" smtClean="0"/>
          </a:p>
        </p:txBody>
      </p:sp>
      <p:sp>
        <p:nvSpPr>
          <p:cNvPr id="261122" name="Rectangle 2"/>
          <p:cNvSpPr>
            <a:spLocks noGrp="1"/>
          </p:cNvSpPr>
          <p:nvPr>
            <p:ph type="title"/>
          </p:nvPr>
        </p:nvSpPr>
        <p:spPr>
          <a:xfrm>
            <a:off x="0" y="0"/>
            <a:ext cx="7562850" cy="914400"/>
          </a:xfrm>
        </p:spPr>
        <p:txBody>
          <a:bodyPr/>
          <a:lstStyle/>
          <a:p>
            <a:r>
              <a:rPr lang="en-US" smtClean="0"/>
              <a:t>FIFO Basic concepts</a:t>
            </a: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Rectangle 3"/>
          <p:cNvSpPr>
            <a:spLocks noGrp="1" noChangeArrowheads="1"/>
          </p:cNvSpPr>
          <p:nvPr>
            <p:ph idx="1"/>
          </p:nvPr>
        </p:nvSpPr>
        <p:spPr/>
        <p:txBody>
          <a:bodyPr/>
          <a:lstStyle/>
          <a:p>
            <a:pPr algn="just"/>
            <a:r>
              <a:rPr lang="en-US" dirty="0" smtClean="0"/>
              <a:t>Shared memory, as the name implies, allows two or more processes, which have the appropriate permissions, to read and/or write to the same  area of memory</a:t>
            </a:r>
          </a:p>
          <a:p>
            <a:pPr algn="just">
              <a:buFont typeface="Wingdings" pitchFamily="2" charset="2"/>
              <a:buNone/>
            </a:pPr>
            <a:endParaRPr lang="en-US" dirty="0" smtClean="0"/>
          </a:p>
          <a:p>
            <a:pPr algn="just"/>
            <a:r>
              <a:rPr lang="en-US" dirty="0" smtClean="0"/>
              <a:t>The distinguishing features of shared memory as an IPC mechanism are speed, flexibility and ease of use</a:t>
            </a:r>
          </a:p>
          <a:p>
            <a:pPr algn="just"/>
            <a:endParaRPr lang="en-US" dirty="0" smtClean="0"/>
          </a:p>
          <a:p>
            <a:pPr algn="just"/>
            <a:r>
              <a:rPr lang="en-US" dirty="0" smtClean="0"/>
              <a:t>Shared memory is commonly implemented when editors or word processors are used in multi user environment</a:t>
            </a:r>
          </a:p>
          <a:p>
            <a:pPr algn="just"/>
            <a:endParaRPr lang="en-US" dirty="0" smtClean="0"/>
          </a:p>
          <a:p>
            <a:pPr algn="just"/>
            <a:r>
              <a:rPr lang="en-US" dirty="0" smtClean="0"/>
              <a:t>It can also be used in the multi –player gaming environment</a:t>
            </a:r>
          </a:p>
          <a:p>
            <a:pPr algn="just">
              <a:buNone/>
            </a:pPr>
            <a:r>
              <a:rPr lang="en-US" dirty="0" smtClean="0"/>
              <a:t> </a:t>
            </a:r>
            <a:br>
              <a:rPr lang="en-US" dirty="0" smtClean="0"/>
            </a:br>
            <a:endParaRPr lang="en-US" dirty="0" smtClean="0"/>
          </a:p>
        </p:txBody>
      </p:sp>
      <p:sp>
        <p:nvSpPr>
          <p:cNvPr id="262146" name="Rectangle 2"/>
          <p:cNvSpPr>
            <a:spLocks noGrp="1" noChangeArrowheads="1"/>
          </p:cNvSpPr>
          <p:nvPr>
            <p:ph type="title"/>
          </p:nvPr>
        </p:nvSpPr>
        <p:spPr>
          <a:xfrm>
            <a:off x="0" y="228600"/>
            <a:ext cx="7562850" cy="914400"/>
          </a:xfrm>
        </p:spPr>
        <p:txBody>
          <a:bodyPr anchor="t"/>
          <a:lstStyle/>
          <a:p>
            <a:r>
              <a:rPr lang="en-US" dirty="0" smtClean="0"/>
              <a:t>What is Shared Memory ?</a:t>
            </a: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3"/>
          <p:cNvSpPr>
            <a:spLocks noGrp="1" noChangeArrowheads="1"/>
          </p:cNvSpPr>
          <p:nvPr>
            <p:ph idx="1"/>
          </p:nvPr>
        </p:nvSpPr>
        <p:spPr/>
        <p:txBody>
          <a:bodyPr/>
          <a:lstStyle/>
          <a:p>
            <a:pPr algn="just"/>
            <a:r>
              <a:rPr lang="en-US" dirty="0" smtClean="0"/>
              <a:t>Shared memory is a much faster method of communication than either semaphores or message queues</a:t>
            </a:r>
          </a:p>
          <a:p>
            <a:pPr algn="just"/>
            <a:endParaRPr lang="en-US" dirty="0" smtClean="0"/>
          </a:p>
          <a:p>
            <a:pPr algn="just"/>
            <a:r>
              <a:rPr lang="en-US" dirty="0" smtClean="0"/>
              <a:t> Data need not be copied to a  kernel buffer and back again. Accessing shared memory takes as much time as a normal memory access</a:t>
            </a:r>
          </a:p>
          <a:p>
            <a:pPr algn="just"/>
            <a:endParaRPr lang="en-US" dirty="0" smtClean="0"/>
          </a:p>
          <a:p>
            <a:pPr algn="just"/>
            <a:r>
              <a:rPr lang="en-US" dirty="0" smtClean="0"/>
              <a:t>Using shared memory is quite easy. After a shared memory segment is set up, it is manipulated exactly like any other memory area</a:t>
            </a:r>
          </a:p>
          <a:p>
            <a:endParaRPr lang="en-US" dirty="0" smtClean="0"/>
          </a:p>
          <a:p>
            <a:endParaRPr lang="en-US" dirty="0" smtClean="0"/>
          </a:p>
          <a:p>
            <a:endParaRPr lang="en-US" dirty="0" smtClean="0"/>
          </a:p>
        </p:txBody>
      </p:sp>
      <p:sp>
        <p:nvSpPr>
          <p:cNvPr id="264194" name="Rectangle 2"/>
          <p:cNvSpPr>
            <a:spLocks noGrp="1" noChangeArrowheads="1"/>
          </p:cNvSpPr>
          <p:nvPr>
            <p:ph type="title"/>
          </p:nvPr>
        </p:nvSpPr>
        <p:spPr>
          <a:xfrm>
            <a:off x="0" y="304800"/>
            <a:ext cx="7562850" cy="914400"/>
          </a:xfrm>
        </p:spPr>
        <p:txBody>
          <a:bodyPr anchor="t"/>
          <a:lstStyle/>
          <a:p>
            <a:r>
              <a:rPr lang="en-US" dirty="0" smtClean="0"/>
              <a:t>Why go for Shared Memory</a:t>
            </a: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2"/>
          <p:cNvSpPr>
            <a:spLocks noGrp="1" noChangeArrowheads="1"/>
          </p:cNvSpPr>
          <p:nvPr>
            <p:ph idx="1"/>
          </p:nvPr>
        </p:nvSpPr>
        <p:spPr/>
        <p:txBody>
          <a:bodyPr/>
          <a:lstStyle/>
          <a:p>
            <a:pPr algn="just"/>
            <a:r>
              <a:rPr lang="en-US" dirty="0" smtClean="0"/>
              <a:t>Shared memory is also much more flexible than other System V IPC mechanisms. Its use is not limited to sending limited-length messages (message queues) or monitoring a counter (semaphores)</a:t>
            </a:r>
          </a:p>
          <a:p>
            <a:pPr algn="just"/>
            <a:endParaRPr lang="en-US" sz="900" dirty="0" smtClean="0"/>
          </a:p>
          <a:p>
            <a:pPr algn="just"/>
            <a:endParaRPr lang="en-US" dirty="0" smtClean="0"/>
          </a:p>
          <a:p>
            <a:pPr algn="just"/>
            <a:r>
              <a:rPr lang="en-US" dirty="0" smtClean="0"/>
              <a:t> It can be used to share entire data structures between several processes, thus  eliminating the overhead of splitting the information into message-sized packets and reassembling it later</a:t>
            </a:r>
          </a:p>
        </p:txBody>
      </p:sp>
      <p:sp>
        <p:nvSpPr>
          <p:cNvPr id="266242" name="Title 3"/>
          <p:cNvSpPr>
            <a:spLocks noGrp="1"/>
          </p:cNvSpPr>
          <p:nvPr>
            <p:ph type="title"/>
          </p:nvPr>
        </p:nvSpPr>
        <p:spPr>
          <a:xfrm>
            <a:off x="0" y="0"/>
            <a:ext cx="7562850" cy="914400"/>
          </a:xfrm>
        </p:spPr>
        <p:txBody>
          <a:bodyPr/>
          <a:lstStyle/>
          <a:p>
            <a:r>
              <a:rPr lang="en-US" dirty="0" smtClean="0"/>
              <a:t>Shared Memory (Contd.).</a:t>
            </a:r>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2"/>
          <p:cNvSpPr>
            <a:spLocks noGrp="1" noChangeArrowheads="1"/>
          </p:cNvSpPr>
          <p:nvPr>
            <p:ph idx="1"/>
          </p:nvPr>
        </p:nvSpPr>
        <p:spPr/>
        <p:txBody>
          <a:bodyPr/>
          <a:lstStyle/>
          <a:p>
            <a:r>
              <a:rPr lang="en-US" smtClean="0"/>
              <a:t>The steps involved are:</a:t>
            </a:r>
          </a:p>
          <a:p>
            <a:pPr lvl="1">
              <a:buFontTx/>
              <a:buChar char="•"/>
            </a:pPr>
            <a:endParaRPr lang="en-US" smtClean="0"/>
          </a:p>
          <a:p>
            <a:pPr lvl="1">
              <a:buFontTx/>
              <a:buChar char="•"/>
            </a:pPr>
            <a:r>
              <a:rPr lang="en-US" smtClean="0"/>
              <a:t>Creating shared memory</a:t>
            </a:r>
          </a:p>
          <a:p>
            <a:pPr lvl="1">
              <a:buFontTx/>
              <a:buChar char="•"/>
            </a:pPr>
            <a:r>
              <a:rPr lang="en-US" smtClean="0"/>
              <a:t>Connecting to the memory &amp; obtaining a pointer to the memory</a:t>
            </a:r>
          </a:p>
          <a:p>
            <a:pPr lvl="1">
              <a:buFontTx/>
              <a:buChar char="•"/>
            </a:pPr>
            <a:r>
              <a:rPr lang="en-US" smtClean="0"/>
              <a:t>Reading/Writing &amp; changing access mode to the memory</a:t>
            </a:r>
          </a:p>
          <a:p>
            <a:pPr lvl="1">
              <a:buFontTx/>
              <a:buChar char="•"/>
            </a:pPr>
            <a:r>
              <a:rPr lang="en-US" smtClean="0"/>
              <a:t>shedding from memory</a:t>
            </a:r>
          </a:p>
          <a:p>
            <a:pPr lvl="1">
              <a:buFontTx/>
              <a:buChar char="•"/>
            </a:pPr>
            <a:r>
              <a:rPr lang="en-US" smtClean="0"/>
              <a:t>delete shared segment</a:t>
            </a:r>
          </a:p>
          <a:p>
            <a:pPr lvl="1">
              <a:buFontTx/>
              <a:buChar char="•"/>
            </a:pPr>
            <a:endParaRPr lang="en-US" smtClean="0"/>
          </a:p>
        </p:txBody>
      </p:sp>
      <p:sp>
        <p:nvSpPr>
          <p:cNvPr id="268290" name="Title 3"/>
          <p:cNvSpPr>
            <a:spLocks noGrp="1"/>
          </p:cNvSpPr>
          <p:nvPr>
            <p:ph type="title"/>
          </p:nvPr>
        </p:nvSpPr>
        <p:spPr>
          <a:xfrm>
            <a:off x="0" y="0"/>
            <a:ext cx="7562850" cy="914400"/>
          </a:xfrm>
        </p:spPr>
        <p:txBody>
          <a:bodyPr/>
          <a:lstStyle/>
          <a:p>
            <a:r>
              <a:rPr lang="en-US" dirty="0" smtClean="0"/>
              <a:t>Shared Memory (Contd.).</a:t>
            </a: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Rectangle 3"/>
          <p:cNvSpPr>
            <a:spLocks noGrp="1" noChangeArrowheads="1"/>
          </p:cNvSpPr>
          <p:nvPr>
            <p:ph idx="1"/>
          </p:nvPr>
        </p:nvSpPr>
        <p:spPr/>
        <p:txBody>
          <a:bodyPr/>
          <a:lstStyle/>
          <a:p>
            <a:pPr algn="just"/>
            <a:r>
              <a:rPr lang="en-US" dirty="0" smtClean="0"/>
              <a:t>Concurrent access to shared data may result in data inconsistency</a:t>
            </a:r>
          </a:p>
          <a:p>
            <a:pPr algn="just"/>
            <a:endParaRPr lang="en-US" dirty="0" smtClean="0"/>
          </a:p>
          <a:p>
            <a:pPr algn="just"/>
            <a:r>
              <a:rPr lang="en-US" dirty="0" smtClean="0"/>
              <a:t>Maintaining data consistency requires mechanisms to ensure the orderly execution of cooperating processes</a:t>
            </a:r>
          </a:p>
          <a:p>
            <a:pPr algn="just"/>
            <a:endParaRPr lang="en-US" dirty="0" smtClean="0"/>
          </a:p>
          <a:p>
            <a:pPr algn="just"/>
            <a:r>
              <a:rPr lang="en-US" dirty="0" smtClean="0"/>
              <a:t>Shared-memory solution to bounded-buffer problem allows at most n – 1 items in buffer at the same time.  A solution, where all N buffers are used is not simple</a:t>
            </a:r>
          </a:p>
          <a:p>
            <a:pPr lvl="1" algn="just">
              <a:buFontTx/>
              <a:buChar char="•"/>
            </a:pPr>
            <a:r>
              <a:rPr lang="en-US" dirty="0" smtClean="0"/>
              <a:t>Suppose that we modify the producer-consumer code by adding a variable counter, initialized to 0 and incremented each time a new item is added to the buffer</a:t>
            </a:r>
          </a:p>
        </p:txBody>
      </p:sp>
      <p:sp>
        <p:nvSpPr>
          <p:cNvPr id="270338" name="Rectangle 2"/>
          <p:cNvSpPr>
            <a:spLocks noGrp="1" noChangeArrowheads="1"/>
          </p:cNvSpPr>
          <p:nvPr>
            <p:ph type="title"/>
          </p:nvPr>
        </p:nvSpPr>
        <p:spPr>
          <a:xfrm>
            <a:off x="0" y="228600"/>
            <a:ext cx="7562850" cy="914400"/>
          </a:xfrm>
        </p:spPr>
        <p:txBody>
          <a:bodyPr anchor="t"/>
          <a:lstStyle/>
          <a:p>
            <a:r>
              <a:rPr lang="en-US" dirty="0" smtClean="0"/>
              <a:t>Semaphore</a:t>
            </a: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Rectangle 3"/>
          <p:cNvSpPr>
            <a:spLocks noGrp="1" noChangeArrowheads="1"/>
          </p:cNvSpPr>
          <p:nvPr>
            <p:ph idx="1"/>
          </p:nvPr>
        </p:nvSpPr>
        <p:spPr/>
        <p:txBody>
          <a:bodyPr/>
          <a:lstStyle/>
          <a:p>
            <a:pPr>
              <a:buFont typeface="Wingdings" pitchFamily="2" charset="2"/>
              <a:buNone/>
            </a:pPr>
            <a:r>
              <a:rPr lang="en-US" dirty="0" smtClean="0"/>
              <a:t>     A semaphore is only a synchronization tool</a:t>
            </a:r>
          </a:p>
          <a:p>
            <a:pPr algn="just">
              <a:buFont typeface="Wingdings" pitchFamily="2" charset="2"/>
              <a:buNone/>
            </a:pPr>
            <a:r>
              <a:rPr lang="en-US" dirty="0" smtClean="0"/>
              <a:t>     It does not allow process to exchange any data, but control simultaneous access to some shared objects such as :</a:t>
            </a:r>
          </a:p>
          <a:p>
            <a:pPr lvl="1" algn="just"/>
            <a:r>
              <a:rPr lang="en-US" dirty="0" smtClean="0"/>
              <a:t>	shared memory segment</a:t>
            </a:r>
          </a:p>
          <a:p>
            <a:pPr lvl="1" algn="just"/>
            <a:r>
              <a:rPr lang="en-US" dirty="0" smtClean="0"/>
              <a:t>	message queue</a:t>
            </a:r>
          </a:p>
          <a:p>
            <a:pPr lvl="1" algn="just"/>
            <a:r>
              <a:rPr lang="en-US" dirty="0" smtClean="0"/>
              <a:t>	file </a:t>
            </a:r>
          </a:p>
          <a:p>
            <a:pPr algn="just">
              <a:buFont typeface="Wingdings" pitchFamily="2" charset="2"/>
              <a:buNone/>
            </a:pPr>
            <a:r>
              <a:rPr lang="en-US" dirty="0" smtClean="0"/>
              <a:t>Semaphore are integer-valued objects that support two atomic operations – P() (</a:t>
            </a:r>
            <a:r>
              <a:rPr lang="en-US" dirty="0" err="1" smtClean="0"/>
              <a:t>Proberen</a:t>
            </a:r>
            <a:r>
              <a:rPr lang="en-US" dirty="0" smtClean="0"/>
              <a:t>-wait)  and V() (</a:t>
            </a:r>
            <a:r>
              <a:rPr lang="en-US" dirty="0" err="1" smtClean="0"/>
              <a:t>Verhogen</a:t>
            </a:r>
            <a:r>
              <a:rPr lang="en-US" dirty="0" smtClean="0"/>
              <a:t>-signal)</a:t>
            </a:r>
          </a:p>
          <a:p>
            <a:pPr lvl="1">
              <a:buFontTx/>
              <a:buNone/>
            </a:pPr>
            <a:endParaRPr lang="en-US" dirty="0" smtClean="0"/>
          </a:p>
        </p:txBody>
      </p:sp>
      <p:sp>
        <p:nvSpPr>
          <p:cNvPr id="272386" name="Rectangle 2"/>
          <p:cNvSpPr>
            <a:spLocks noGrp="1" noChangeArrowheads="1"/>
          </p:cNvSpPr>
          <p:nvPr>
            <p:ph type="title"/>
          </p:nvPr>
        </p:nvSpPr>
        <p:spPr>
          <a:xfrm>
            <a:off x="0" y="152400"/>
            <a:ext cx="7562850" cy="914400"/>
          </a:xfrm>
        </p:spPr>
        <p:txBody>
          <a:bodyPr anchor="t"/>
          <a:lstStyle/>
          <a:p>
            <a:r>
              <a:rPr lang="en-US" dirty="0" smtClean="0"/>
              <a:t>Semaphore (Contd.).</a:t>
            </a: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3" name="Content Placeholder 1"/>
          <p:cNvSpPr>
            <a:spLocks noGrp="1"/>
          </p:cNvSpPr>
          <p:nvPr>
            <p:ph idx="1"/>
          </p:nvPr>
        </p:nvSpPr>
        <p:spPr/>
        <p:txBody>
          <a:bodyPr/>
          <a:lstStyle/>
          <a:p>
            <a:pPr>
              <a:buFont typeface="Arial" charset="0"/>
              <a:buNone/>
            </a:pPr>
            <a:r>
              <a:rPr lang="en-GB" smtClean="0"/>
              <a:t>In this module, we discussed:</a:t>
            </a:r>
          </a:p>
          <a:p>
            <a:endParaRPr lang="en-GB" smtClean="0"/>
          </a:p>
          <a:p>
            <a:pPr lvl="1">
              <a:buFont typeface="Arial" charset="0"/>
              <a:buChar char="•"/>
            </a:pPr>
            <a:r>
              <a:rPr lang="en-US" sz="2000" smtClean="0"/>
              <a:t>Fragmentation and Memory protection</a:t>
            </a:r>
          </a:p>
          <a:p>
            <a:pPr lvl="1">
              <a:buFont typeface="Arial" charset="0"/>
              <a:buChar char="•"/>
            </a:pPr>
            <a:r>
              <a:rPr lang="en-US" sz="2000" smtClean="0"/>
              <a:t>Various inter process communication methods</a:t>
            </a:r>
            <a:endParaRPr lang="en-GB" sz="2000" smtClean="0"/>
          </a:p>
          <a:p>
            <a:pPr>
              <a:buFont typeface="Arial" charset="0"/>
              <a:buNone/>
            </a:pPr>
            <a:endParaRPr lang="en-US" smtClean="0"/>
          </a:p>
          <a:p>
            <a:endParaRPr lang="en-GB" smtClean="0"/>
          </a:p>
          <a:p>
            <a:endParaRPr lang="en-GB" smtClean="0"/>
          </a:p>
          <a:p>
            <a:pPr>
              <a:buFont typeface="Arial" charset="0"/>
              <a:buNone/>
            </a:pPr>
            <a:endParaRPr lang="en-US" smtClean="0"/>
          </a:p>
        </p:txBody>
      </p:sp>
      <p:sp>
        <p:nvSpPr>
          <p:cNvPr id="274434" name="Title 2"/>
          <p:cNvSpPr>
            <a:spLocks noGrp="1"/>
          </p:cNvSpPr>
          <p:nvPr>
            <p:ph type="title"/>
          </p:nvPr>
        </p:nvSpPr>
        <p:spPr>
          <a:xfrm>
            <a:off x="0" y="0"/>
            <a:ext cx="7562850" cy="914400"/>
          </a:xfrm>
        </p:spPr>
        <p:txBody>
          <a:bodyPr/>
          <a:lstStyle/>
          <a:p>
            <a:r>
              <a:rPr lang="en-US" smtClean="0"/>
              <a:t>Summary</a:t>
            </a: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143000"/>
            <a:ext cx="8458200" cy="5029200"/>
          </a:xfrm>
        </p:spPr>
        <p:txBody>
          <a:bodyPr/>
          <a:lstStyle/>
          <a:p>
            <a:pPr>
              <a:buFont typeface="+mj-lt"/>
              <a:buAutoNum type="arabicPeriod"/>
            </a:pPr>
            <a:r>
              <a:rPr lang="en-US" sz="1700" dirty="0" err="1" smtClean="0"/>
              <a:t>Silberschatz,Abraham</a:t>
            </a:r>
            <a:r>
              <a:rPr lang="en-US" sz="1700" dirty="0" smtClean="0"/>
              <a:t>. </a:t>
            </a:r>
            <a:r>
              <a:rPr lang="en-US" sz="1700" dirty="0" err="1" smtClean="0"/>
              <a:t>Baer,Peter,Galvin</a:t>
            </a:r>
            <a:r>
              <a:rPr lang="en-US" sz="1700" dirty="0" smtClean="0"/>
              <a:t> and </a:t>
            </a:r>
            <a:r>
              <a:rPr lang="en-US" sz="1700" dirty="0" err="1" smtClean="0"/>
              <a:t>Gagne,Greg</a:t>
            </a:r>
            <a:r>
              <a:rPr lang="en-US" sz="1700" dirty="0" smtClean="0"/>
              <a:t>(1999):Operating System Principles 7th Edition. Retrieved on April 11. 2011, from  </a:t>
            </a:r>
            <a:r>
              <a:rPr lang="en-US" sz="1700" u="sng" dirty="0" smtClean="0">
                <a:hlinkClick r:id="rId2"/>
              </a:rPr>
              <a:t>http://www.csc.gatech.edu/%7Ecopeland/305500/pdf/ch02_computer_struct_notes.pdf</a:t>
            </a:r>
            <a:endParaRPr lang="en-US" sz="1700" u="sng" dirty="0" smtClean="0"/>
          </a:p>
          <a:p>
            <a:pPr>
              <a:buFont typeface="+mj-lt"/>
              <a:buAutoNum type="arabicPeriod"/>
            </a:pPr>
            <a:endParaRPr lang="en-US" sz="1700" dirty="0" smtClean="0"/>
          </a:p>
          <a:p>
            <a:pPr>
              <a:buFont typeface="+mj-lt"/>
              <a:buAutoNum type="arabicPeriod"/>
            </a:pPr>
            <a:r>
              <a:rPr lang="en-US" sz="1700" dirty="0" err="1" smtClean="0"/>
              <a:t>Rusling</a:t>
            </a:r>
            <a:r>
              <a:rPr lang="en-US" sz="1700" dirty="0" smtClean="0"/>
              <a:t> A David(1996-1999 ) File translated from TEX by TTH, version 1.0. Retrieved on April 11. 2011, from </a:t>
            </a:r>
            <a:r>
              <a:rPr lang="en-US" sz="1700" u="sng" dirty="0" smtClean="0">
                <a:hlinkClick r:id="rId3"/>
              </a:rPr>
              <a:t>http://www.tldp.org/LDP/tlk/kernel/processes.html</a:t>
            </a:r>
            <a:endParaRPr lang="en-US" sz="1700" u="sng" dirty="0" smtClean="0"/>
          </a:p>
          <a:p>
            <a:pPr>
              <a:buFont typeface="+mj-lt"/>
              <a:buAutoNum type="arabicPeriod"/>
            </a:pPr>
            <a:endParaRPr lang="en-US" sz="1700" dirty="0" smtClean="0"/>
          </a:p>
          <a:p>
            <a:pPr>
              <a:buFont typeface="+mj-lt"/>
              <a:buAutoNum type="arabicPeriod"/>
            </a:pPr>
            <a:r>
              <a:rPr lang="en-US" sz="1700" dirty="0" err="1" smtClean="0"/>
              <a:t>Silberschatz,Galvin</a:t>
            </a:r>
            <a:r>
              <a:rPr lang="en-US" sz="1700" dirty="0" smtClean="0"/>
              <a:t> and Gagne (2009):Operating Systems Concepts-8th Edition. Retrieved on April 11. 2011, from  </a:t>
            </a:r>
            <a:r>
              <a:rPr lang="en-US" sz="1700" u="sng" dirty="0" smtClean="0">
                <a:hlinkClick r:id="rId4"/>
              </a:rPr>
              <a:t>http://www.cse.sc.edu/~rose/311/ppt/ch08.ppt</a:t>
            </a:r>
            <a:endParaRPr lang="en-US" sz="1700" u="sng" dirty="0" smtClean="0"/>
          </a:p>
          <a:p>
            <a:pPr>
              <a:buFont typeface="+mj-lt"/>
              <a:buAutoNum type="arabicPeriod"/>
            </a:pPr>
            <a:endParaRPr lang="en-US" sz="1700" dirty="0" smtClean="0"/>
          </a:p>
          <a:p>
            <a:pPr>
              <a:buFont typeface="+mj-lt"/>
              <a:buAutoNum type="arabicPeriod"/>
            </a:pPr>
            <a:r>
              <a:rPr lang="en-US" sz="1700" dirty="0" err="1" smtClean="0"/>
              <a:t>Silberschatz,Galvin</a:t>
            </a:r>
            <a:r>
              <a:rPr lang="en-US" sz="1700" dirty="0" smtClean="0"/>
              <a:t> and Gagne(2002) Operating System Concepts-9.1. Retrieved on April 11. 2011, from </a:t>
            </a:r>
            <a:r>
              <a:rPr lang="en-US" sz="1700" u="sng" dirty="0" smtClean="0">
                <a:hlinkClick r:id="rId5"/>
              </a:rPr>
              <a:t>http://www.massey.ac.nz/~mjjohnso/notes/59305/mod8.html</a:t>
            </a:r>
            <a:endParaRPr lang="en-US" sz="1700" u="sng" dirty="0" smtClean="0"/>
          </a:p>
          <a:p>
            <a:pPr>
              <a:buFont typeface="+mj-lt"/>
              <a:buAutoNum type="arabicPeriod"/>
            </a:pPr>
            <a:endParaRPr lang="en-US" sz="1700" dirty="0" smtClean="0"/>
          </a:p>
          <a:p>
            <a:pPr>
              <a:buFont typeface="+mj-lt"/>
              <a:buAutoNum type="arabicPeriod"/>
            </a:pPr>
            <a:r>
              <a:rPr lang="en-US" sz="1700" dirty="0" err="1" smtClean="0"/>
              <a:t>Siberschatz</a:t>
            </a:r>
            <a:r>
              <a:rPr lang="en-US" sz="1700" dirty="0" smtClean="0"/>
              <a:t> and Galvin (2011) Memory Management . Retrieved on April 11. 2011, from </a:t>
            </a:r>
            <a:r>
              <a:rPr lang="en-US" sz="1700" u="sng" dirty="0" smtClean="0">
                <a:hlinkClick r:id="rId6"/>
              </a:rPr>
              <a:t>http://www.cse.buffalo.edu/%7Ebina/cse421/fall2002/memoryOct15.ppt</a:t>
            </a:r>
            <a:endParaRPr lang="en-US" sz="1700" dirty="0" smtClean="0"/>
          </a:p>
          <a:p>
            <a:pPr>
              <a:buNone/>
            </a:pPr>
            <a:endParaRPr lang="en-US" sz="1600" dirty="0" smtClean="0"/>
          </a:p>
          <a:p>
            <a:endParaRPr lang="en-US" dirty="0"/>
          </a:p>
        </p:txBody>
      </p:sp>
      <p:sp>
        <p:nvSpPr>
          <p:cNvPr id="3" name="Title 2"/>
          <p:cNvSpPr>
            <a:spLocks noGrp="1"/>
          </p:cNvSpPr>
          <p:nvPr>
            <p:ph type="title"/>
          </p:nvPr>
        </p:nvSpPr>
        <p:spPr/>
        <p:txBody>
          <a:bodyPr/>
          <a:lstStyle/>
          <a:p>
            <a:r>
              <a:rPr lang="en-US" dirty="0" smtClean="0"/>
              <a:t>References</a:t>
            </a:r>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457200" indent="-457200">
              <a:buAutoNum type="arabicPeriod" startAt="6"/>
            </a:pPr>
            <a:r>
              <a:rPr lang="en-US" sz="1700" dirty="0" smtClean="0"/>
              <a:t>University of Rochester(2010) Basic Memory Management. Retrieved on April 11. 2011, from </a:t>
            </a:r>
            <a:r>
              <a:rPr lang="en-US" sz="1700" u="sng" dirty="0" smtClean="0">
                <a:hlinkClick r:id="rId2"/>
              </a:rPr>
              <a:t>http://www.cs.rochester.edu/~sandhya/csc256/lectures</a:t>
            </a:r>
            <a:r>
              <a:rPr lang="en-US" sz="1700" dirty="0" smtClean="0">
                <a:hlinkClick r:id="rId2"/>
              </a:rPr>
              <a:t>/lecture09-11-memory.pdf</a:t>
            </a:r>
            <a:endParaRPr lang="en-US" sz="1700" dirty="0" smtClean="0"/>
          </a:p>
          <a:p>
            <a:pPr marL="457200" indent="-457200">
              <a:buAutoNum type="arabicPeriod" startAt="6"/>
            </a:pPr>
            <a:endParaRPr lang="en-US" sz="1700" dirty="0" smtClean="0"/>
          </a:p>
          <a:p>
            <a:pPr marL="457200" indent="-457200">
              <a:buAutoNum type="arabicPeriod" startAt="6"/>
            </a:pPr>
            <a:r>
              <a:rPr lang="en-US" sz="1700" dirty="0" smtClean="0"/>
              <a:t>Unix Process , Retrieved on April 11. 2011, from  </a:t>
            </a:r>
            <a:r>
              <a:rPr lang="en-US" sz="1700" u="sng" dirty="0" smtClean="0">
                <a:hlinkClick r:id="rId3"/>
              </a:rPr>
              <a:t>http://www.cse.buffalo.edu/~bina/cse321/fall2009/UnixProcessesOct15.ppt</a:t>
            </a:r>
            <a:endParaRPr lang="en-US" sz="1700" dirty="0" smtClean="0"/>
          </a:p>
          <a:p>
            <a:pPr marL="457200" indent="-457200">
              <a:buAutoNum type="arabicPeriod" startAt="6"/>
            </a:pPr>
            <a:endParaRPr lang="en-US" sz="1700" dirty="0" smtClean="0"/>
          </a:p>
          <a:p>
            <a:pPr marL="457200" indent="-457200">
              <a:buAutoNum type="arabicPeriod" startAt="6"/>
            </a:pPr>
            <a:r>
              <a:rPr lang="en-US" sz="1700" dirty="0" err="1" smtClean="0"/>
              <a:t>Brinton,Stephen:Gordon</a:t>
            </a:r>
            <a:r>
              <a:rPr lang="en-US" sz="1700" dirty="0" smtClean="0"/>
              <a:t> College, Memory Management. Retrieved on April 11. 2011, </a:t>
            </a:r>
            <a:r>
              <a:rPr lang="en-US" sz="1700" u="sng" dirty="0" smtClean="0">
                <a:hlinkClick r:id="rId4"/>
              </a:rPr>
              <a:t>http://www.cs.gordon.edu/courses/cs312/lectures/mem_management.ppt</a:t>
            </a:r>
            <a:endParaRPr lang="en-US" sz="1700" dirty="0" smtClean="0"/>
          </a:p>
          <a:p>
            <a:pPr marL="457200" indent="-457200">
              <a:buAutoNum type="arabicPeriod" startAt="6"/>
            </a:pPr>
            <a:endParaRPr lang="en-US" sz="1700" dirty="0" smtClean="0"/>
          </a:p>
          <a:p>
            <a:pPr marL="457200" indent="-457200">
              <a:buAutoNum type="arabicPeriod" startAt="6"/>
            </a:pPr>
            <a:r>
              <a:rPr lang="en-US" sz="1700" dirty="0" err="1" smtClean="0"/>
              <a:t>Watson,Dan</a:t>
            </a:r>
            <a:r>
              <a:rPr lang="en-US" sz="1700" dirty="0" smtClean="0"/>
              <a:t> (2008) Department of computer Science. Retrieved on April 11. 2011, from  </a:t>
            </a:r>
            <a:r>
              <a:rPr lang="en-US" sz="1700" u="sng" dirty="0" smtClean="0">
                <a:hlinkClick r:id="rId5"/>
              </a:rPr>
              <a:t>http://digital.cs.usu.edu/~watson/cs3100/slides/Processes.ppt</a:t>
            </a:r>
            <a:endParaRPr lang="en-US" sz="1700" dirty="0" smtClean="0"/>
          </a:p>
          <a:p>
            <a:endParaRPr lang="en-US" dirty="0"/>
          </a:p>
        </p:txBody>
      </p:sp>
      <p:sp>
        <p:nvSpPr>
          <p:cNvPr id="3" name="Title 2"/>
          <p:cNvSpPr>
            <a:spLocks noGrp="1"/>
          </p:cNvSpPr>
          <p:nvPr>
            <p:ph type="title"/>
          </p:nvPr>
        </p:nvSpPr>
        <p:spPr/>
        <p:txBody>
          <a:bodyPr/>
          <a:lstStyle/>
          <a:p>
            <a:r>
              <a:rPr lang="en-US" dirty="0" smtClean="0"/>
              <a:t>References</a:t>
            </a:r>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29" name="Title 7"/>
          <p:cNvSpPr>
            <a:spLocks noGrp="1"/>
          </p:cNvSpPr>
          <p:nvPr>
            <p:ph type="ctrTitle"/>
          </p:nvPr>
        </p:nvSpPr>
        <p:spPr>
          <a:xfrm>
            <a:off x="3352800" y="2209800"/>
            <a:ext cx="5791200" cy="1981200"/>
          </a:xfrm>
        </p:spPr>
        <p:txBody>
          <a:bodyPr/>
          <a:lstStyle/>
          <a:p>
            <a:r>
              <a:rPr lang="en-US" smtClean="0"/>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Wipro_Presentation_Template_MS_2007_Pot">
  <a:themeElements>
    <a:clrScheme name="Wipro standard color pallets">
      <a:dk1>
        <a:sysClr val="windowText" lastClr="000000"/>
      </a:dk1>
      <a:lt1>
        <a:srgbClr val="FFFFFF"/>
      </a:lt1>
      <a:dk2>
        <a:srgbClr val="000000"/>
      </a:dk2>
      <a:lt2>
        <a:srgbClr val="FFFFFF"/>
      </a:lt2>
      <a:accent1>
        <a:srgbClr val="ADEBAC"/>
      </a:accent1>
      <a:accent2>
        <a:srgbClr val="FEFF99"/>
      </a:accent2>
      <a:accent3>
        <a:srgbClr val="FF9899"/>
      </a:accent3>
      <a:accent4>
        <a:srgbClr val="C299C3"/>
      </a:accent4>
      <a:accent5>
        <a:srgbClr val="9AC2FF"/>
      </a:accent5>
      <a:accent6>
        <a:srgbClr val="FFFFFF"/>
      </a:accent6>
      <a:hlink>
        <a:srgbClr val="0000FF"/>
      </a:hlink>
      <a:folHlink>
        <a:srgbClr val="800080"/>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bwMode="auto">
        <a:noFill/>
        <a:ln w="9525">
          <a:noFill/>
          <a:miter lim="800000"/>
          <a:headEnd/>
          <a:tailEnd/>
        </a:ln>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20000"/>
          </a:spcBef>
          <a:spcAft>
            <a:spcPct val="0"/>
          </a:spcAft>
          <a:buClrTx/>
          <a:buSzTx/>
          <a:buFont typeface="Arial" charset="0"/>
          <a:buNone/>
          <a:tabLst/>
          <a:defRPr kumimoji="0" sz="2000" b="0" i="0" u="none" strike="noStrike" kern="1200" cap="none" spc="0" normalizeH="0" baseline="0" noProof="0" dirty="0" smtClean="0">
            <a:ln>
              <a:noFill/>
            </a:ln>
            <a:solidFill>
              <a:schemeClr val="tx1">
                <a:tint val="75000"/>
              </a:schemeClr>
            </a:solidFill>
            <a:effectLst/>
            <a:uLnTx/>
            <a:uFillTx/>
            <a:latin typeface="Gill Sans MT" pitchFamily="34" charset="0"/>
            <a:ea typeface="+mn-ea"/>
            <a:cs typeface="+mn-cs"/>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Wipro_Presentation_Template_MS_2007_Pot</Template>
  <TotalTime>2796</TotalTime>
  <Words>10769</Words>
  <Application>Microsoft Office PowerPoint</Application>
  <PresentationFormat>On-screen Show (4:3)</PresentationFormat>
  <Paragraphs>1619</Paragraphs>
  <Slides>138</Slides>
  <Notes>111</Notes>
  <HiddenSlides>0</HiddenSlides>
  <MMClips>0</MMClips>
  <ScaleCrop>false</ScaleCrop>
  <HeadingPairs>
    <vt:vector size="4" baseType="variant">
      <vt:variant>
        <vt:lpstr>Theme</vt:lpstr>
      </vt:variant>
      <vt:variant>
        <vt:i4>1</vt:i4>
      </vt:variant>
      <vt:variant>
        <vt:lpstr>Slide Titles</vt:lpstr>
      </vt:variant>
      <vt:variant>
        <vt:i4>138</vt:i4>
      </vt:variant>
    </vt:vector>
  </HeadingPairs>
  <TitlesOfParts>
    <vt:vector size="139" baseType="lpstr">
      <vt:lpstr>Wipro_Presentation_Template_MS_2007_Pot</vt:lpstr>
      <vt:lpstr>Operating Systems</vt:lpstr>
      <vt:lpstr>Agenda</vt:lpstr>
      <vt:lpstr>Introduction  Module 1 </vt:lpstr>
      <vt:lpstr>Objectives</vt:lpstr>
      <vt:lpstr>Conceptual View of System Components</vt:lpstr>
      <vt:lpstr>Computer System Components</vt:lpstr>
      <vt:lpstr>Goals of Operating System </vt:lpstr>
      <vt:lpstr>Functions of Operating Systems</vt:lpstr>
      <vt:lpstr>Types of OS</vt:lpstr>
      <vt:lpstr>Time-Sharing Systems –Interactive Computing </vt:lpstr>
      <vt:lpstr>Desktop Systems</vt:lpstr>
      <vt:lpstr>Real-Time Systems</vt:lpstr>
      <vt:lpstr>Real-Time Systems (Contd.).</vt:lpstr>
      <vt:lpstr>Handheld Systems</vt:lpstr>
      <vt:lpstr>Other OS types</vt:lpstr>
      <vt:lpstr>Summary</vt:lpstr>
      <vt:lpstr>Functions of Operating System  Module 2</vt:lpstr>
      <vt:lpstr>Objectives</vt:lpstr>
      <vt:lpstr>Operating System Functionalities</vt:lpstr>
      <vt:lpstr>File Management </vt:lpstr>
      <vt:lpstr>Main-Memory Management </vt:lpstr>
      <vt:lpstr>Process Management</vt:lpstr>
      <vt:lpstr>I/O Management - structure</vt:lpstr>
      <vt:lpstr>I/ O Management - Operations </vt:lpstr>
      <vt:lpstr>Security Management &amp; User management</vt:lpstr>
      <vt:lpstr>Security Management (Contd.).</vt:lpstr>
      <vt:lpstr>Computer System Operation</vt:lpstr>
      <vt:lpstr>Interrupts</vt:lpstr>
      <vt:lpstr>Interrupt Handling</vt:lpstr>
      <vt:lpstr>Storage Structure</vt:lpstr>
      <vt:lpstr>Moving-Head Disk Mechanism</vt:lpstr>
      <vt:lpstr>Direct Memory Access Structure</vt:lpstr>
      <vt:lpstr>Storage Hierarchy</vt:lpstr>
      <vt:lpstr>Caching</vt:lpstr>
      <vt:lpstr>Memory &amp; I/O Protection</vt:lpstr>
      <vt:lpstr>CPU Protection</vt:lpstr>
      <vt:lpstr>Booting a system </vt:lpstr>
      <vt:lpstr>Summary</vt:lpstr>
      <vt:lpstr>Process Management  Module 3</vt:lpstr>
      <vt:lpstr>Objectives</vt:lpstr>
      <vt:lpstr>Process Management</vt:lpstr>
      <vt:lpstr>Processes</vt:lpstr>
      <vt:lpstr>Process Execution</vt:lpstr>
      <vt:lpstr>Process Life cycle</vt:lpstr>
      <vt:lpstr>Process Life cycle (Contd.).</vt:lpstr>
      <vt:lpstr>Times and Timers</vt:lpstr>
      <vt:lpstr>Process Scheduling</vt:lpstr>
      <vt:lpstr>Process Creation</vt:lpstr>
      <vt:lpstr> Process &amp; Thread</vt:lpstr>
      <vt:lpstr> Thread</vt:lpstr>
      <vt:lpstr>Multiple Threads: </vt:lpstr>
      <vt:lpstr>Single and Multithreaded Processes</vt:lpstr>
      <vt:lpstr>Threads - Benefits</vt:lpstr>
      <vt:lpstr>Types of Thread</vt:lpstr>
      <vt:lpstr>User Threads</vt:lpstr>
      <vt:lpstr>Kernel Threads</vt:lpstr>
      <vt:lpstr>Pthreads</vt:lpstr>
      <vt:lpstr>Process Management : Hands-on (1 hour)</vt:lpstr>
      <vt:lpstr>Summary</vt:lpstr>
      <vt:lpstr>CPU Scheduling  Module 4</vt:lpstr>
      <vt:lpstr>Objectives</vt:lpstr>
      <vt:lpstr>CPU Utilization</vt:lpstr>
      <vt:lpstr>CPU Scheduling</vt:lpstr>
      <vt:lpstr>Scheduling Criteria - Optimization</vt:lpstr>
      <vt:lpstr>Optimization Criteria</vt:lpstr>
      <vt:lpstr>Scheduling Algorithm</vt:lpstr>
      <vt:lpstr>First-Come, First-Served (FCFS) Scheduling</vt:lpstr>
      <vt:lpstr>FCFS Scheduling (Contd.).</vt:lpstr>
      <vt:lpstr>Shortest-Job-First (SJF) Scheduling</vt:lpstr>
      <vt:lpstr>Example of Non-Preemptive SJF</vt:lpstr>
      <vt:lpstr>Example of Preemptive SJF</vt:lpstr>
      <vt:lpstr>Priority Scheduling</vt:lpstr>
      <vt:lpstr>Round Robin (RR) Scheduling</vt:lpstr>
      <vt:lpstr>Summary</vt:lpstr>
      <vt:lpstr>File Management  Module 5</vt:lpstr>
      <vt:lpstr>Objectives</vt:lpstr>
      <vt:lpstr>File System</vt:lpstr>
      <vt:lpstr>File Types</vt:lpstr>
      <vt:lpstr>File Name &amp; Extension</vt:lpstr>
      <vt:lpstr>File Properties</vt:lpstr>
      <vt:lpstr>File Operations</vt:lpstr>
      <vt:lpstr>Open Files</vt:lpstr>
      <vt:lpstr>Directory Organization - Goals</vt:lpstr>
      <vt:lpstr>Directory Structure</vt:lpstr>
      <vt:lpstr>Directory Structure (Contd.).</vt:lpstr>
      <vt:lpstr>Directory Structure Example</vt:lpstr>
      <vt:lpstr> Directory - Operations</vt:lpstr>
      <vt:lpstr>Access Methods</vt:lpstr>
      <vt:lpstr>File Sharing</vt:lpstr>
      <vt:lpstr>File Sharing – Multiple Users</vt:lpstr>
      <vt:lpstr>File Sharing – Remote File Systems</vt:lpstr>
      <vt:lpstr>File Sharing – Failure Modes</vt:lpstr>
      <vt:lpstr>Protection</vt:lpstr>
      <vt:lpstr>File System - Unix </vt:lpstr>
      <vt:lpstr>Example (Contd.).</vt:lpstr>
      <vt:lpstr>Example – (Contd.).</vt:lpstr>
      <vt:lpstr>Example – (Contd.).</vt:lpstr>
      <vt:lpstr>File System:  Hands-on (2 hours)</vt:lpstr>
      <vt:lpstr>Summary</vt:lpstr>
      <vt:lpstr>Memory Management  Module 6</vt:lpstr>
      <vt:lpstr>Objectives</vt:lpstr>
      <vt:lpstr>Memory Management - why?</vt:lpstr>
      <vt:lpstr>Memory Management  Why?(Contd.).</vt:lpstr>
      <vt:lpstr>Memory Management - How?</vt:lpstr>
      <vt:lpstr>Memory Management Operations</vt:lpstr>
      <vt:lpstr>Memory Management operations (Contd.).</vt:lpstr>
      <vt:lpstr>Dynamic Linking</vt:lpstr>
      <vt:lpstr>Overlays</vt:lpstr>
      <vt:lpstr>Swapping</vt:lpstr>
      <vt:lpstr>Swapping - Schematic View </vt:lpstr>
      <vt:lpstr> Relocation and Limit Registers - Hardware Support  </vt:lpstr>
      <vt:lpstr>Contiguous Allocation</vt:lpstr>
      <vt:lpstr>Contiguous Allocation (Contd.).</vt:lpstr>
      <vt:lpstr>Dynamic Storage-Allocation Problem</vt:lpstr>
      <vt:lpstr>Summary</vt:lpstr>
      <vt:lpstr>Memory Management (Advanced) Module 7</vt:lpstr>
      <vt:lpstr>Objectives</vt:lpstr>
      <vt:lpstr>Fragmentation</vt:lpstr>
      <vt:lpstr>Paging</vt:lpstr>
      <vt:lpstr>Paging - Address Translation Scheme</vt:lpstr>
      <vt:lpstr>Implementation of Page Table</vt:lpstr>
      <vt:lpstr>Paging Hardware With TLB</vt:lpstr>
      <vt:lpstr>Inter Process Communication</vt:lpstr>
      <vt:lpstr>Inter Process Communications - Methods</vt:lpstr>
      <vt:lpstr>PIPE  Definition</vt:lpstr>
      <vt:lpstr>PIPE : Example </vt:lpstr>
      <vt:lpstr>FIFO  - Introduction</vt:lpstr>
      <vt:lpstr>FIFO Basic concepts</vt:lpstr>
      <vt:lpstr>What is Shared Memory ?</vt:lpstr>
      <vt:lpstr>Why go for Shared Memory</vt:lpstr>
      <vt:lpstr>Shared Memory (Contd.).</vt:lpstr>
      <vt:lpstr>Shared Memory (Contd.).</vt:lpstr>
      <vt:lpstr>Semaphore</vt:lpstr>
      <vt:lpstr>Semaphore (Contd.).</vt:lpstr>
      <vt:lpstr>Summary</vt:lpstr>
      <vt:lpstr>References</vt:lpstr>
      <vt:lpstr>References</vt:lpstr>
      <vt:lpstr>Thank You</vt:lpstr>
    </vt:vector>
  </TitlesOfParts>
  <Company>Wipro LTD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subject>Standard Presentation Template</dc:subject>
  <dc:creator>ikisp</dc:creator>
  <cp:lastModifiedBy>admin</cp:lastModifiedBy>
  <cp:revision>529</cp:revision>
  <dcterms:created xsi:type="dcterms:W3CDTF">2010-02-09T11:39:18Z</dcterms:created>
  <dcterms:modified xsi:type="dcterms:W3CDTF">2015-06-20T15:06:03Z</dcterms:modified>
</cp:coreProperties>
</file>