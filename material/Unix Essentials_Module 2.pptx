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Default Extension="png" ContentType="image/png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customXml/itemProps2.xml" ContentType="application/vnd.openxmlformats-officedocument.customXmlPropertie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9.xml" ContentType="application/vnd.openxmlformats-officedocument.presentationml.notesSlide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Default Extension="jpeg" ContentType="image/jpeg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67.xml" ContentType="application/vnd.openxmlformats-officedocument.presentationml.notesSlide+xml"/>
  <Override PartName="/customXml/itemProps1.xml" ContentType="application/vnd.openxmlformats-officedocument.customXmlProperties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4"/>
  </p:notesMasterIdLst>
  <p:handoutMasterIdLst>
    <p:handoutMasterId r:id="rId85"/>
  </p:handoutMasterIdLst>
  <p:sldIdLst>
    <p:sldId id="296" r:id="rId2"/>
    <p:sldId id="466" r:id="rId3"/>
    <p:sldId id="409" r:id="rId4"/>
    <p:sldId id="473" r:id="rId5"/>
    <p:sldId id="474" r:id="rId6"/>
    <p:sldId id="490" r:id="rId7"/>
    <p:sldId id="492" r:id="rId8"/>
    <p:sldId id="491" r:id="rId9"/>
    <p:sldId id="624" r:id="rId10"/>
    <p:sldId id="625" r:id="rId11"/>
    <p:sldId id="518" r:id="rId12"/>
    <p:sldId id="519" r:id="rId13"/>
    <p:sldId id="520" r:id="rId14"/>
    <p:sldId id="521" r:id="rId15"/>
    <p:sldId id="522" r:id="rId16"/>
    <p:sldId id="523" r:id="rId17"/>
    <p:sldId id="543" r:id="rId18"/>
    <p:sldId id="545" r:id="rId19"/>
    <p:sldId id="546" r:id="rId20"/>
    <p:sldId id="547" r:id="rId21"/>
    <p:sldId id="548" r:id="rId22"/>
    <p:sldId id="475" r:id="rId23"/>
    <p:sldId id="496" r:id="rId24"/>
    <p:sldId id="635" r:id="rId25"/>
    <p:sldId id="476" r:id="rId26"/>
    <p:sldId id="477" r:id="rId27"/>
    <p:sldId id="478" r:id="rId28"/>
    <p:sldId id="498" r:id="rId29"/>
    <p:sldId id="499" r:id="rId30"/>
    <p:sldId id="500" r:id="rId31"/>
    <p:sldId id="502" r:id="rId32"/>
    <p:sldId id="525" r:id="rId33"/>
    <p:sldId id="526" r:id="rId34"/>
    <p:sldId id="538" r:id="rId35"/>
    <p:sldId id="527" r:id="rId36"/>
    <p:sldId id="539" r:id="rId37"/>
    <p:sldId id="549" r:id="rId38"/>
    <p:sldId id="550" r:id="rId39"/>
    <p:sldId id="552" r:id="rId40"/>
    <p:sldId id="551" r:id="rId41"/>
    <p:sldId id="479" r:id="rId42"/>
    <p:sldId id="480" r:id="rId43"/>
    <p:sldId id="508" r:id="rId44"/>
    <p:sldId id="509" r:id="rId45"/>
    <p:sldId id="537" r:id="rId46"/>
    <p:sldId id="517" r:id="rId47"/>
    <p:sldId id="556" r:id="rId48"/>
    <p:sldId id="512" r:id="rId49"/>
    <p:sldId id="557" r:id="rId50"/>
    <p:sldId id="558" r:id="rId51"/>
    <p:sldId id="559" r:id="rId52"/>
    <p:sldId id="626" r:id="rId53"/>
    <p:sldId id="631" r:id="rId54"/>
    <p:sldId id="561" r:id="rId55"/>
    <p:sldId id="562" r:id="rId56"/>
    <p:sldId id="515" r:id="rId57"/>
    <p:sldId id="564" r:id="rId58"/>
    <p:sldId id="565" r:id="rId59"/>
    <p:sldId id="566" r:id="rId60"/>
    <p:sldId id="570" r:id="rId61"/>
    <p:sldId id="516" r:id="rId62"/>
    <p:sldId id="567" r:id="rId63"/>
    <p:sldId id="573" r:id="rId64"/>
    <p:sldId id="575" r:id="rId65"/>
    <p:sldId id="574" r:id="rId66"/>
    <p:sldId id="576" r:id="rId67"/>
    <p:sldId id="577" r:id="rId68"/>
    <p:sldId id="571" r:id="rId69"/>
    <p:sldId id="628" r:id="rId70"/>
    <p:sldId id="627" r:id="rId71"/>
    <p:sldId id="572" r:id="rId72"/>
    <p:sldId id="629" r:id="rId73"/>
    <p:sldId id="503" r:id="rId74"/>
    <p:sldId id="504" r:id="rId75"/>
    <p:sldId id="426" r:id="rId76"/>
    <p:sldId id="630" r:id="rId77"/>
    <p:sldId id="633" r:id="rId78"/>
    <p:sldId id="634" r:id="rId79"/>
    <p:sldId id="422" r:id="rId80"/>
    <p:sldId id="433" r:id="rId81"/>
    <p:sldId id="636" r:id="rId82"/>
    <p:sldId id="329" r:id="rId83"/>
  </p:sldIdLst>
  <p:sldSz cx="9144000" cy="6858000" type="screen4x3"/>
  <p:notesSz cx="6669088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D2D2D2"/>
    <a:srgbClr val="580BF3"/>
    <a:srgbClr val="FFFFFF"/>
    <a:srgbClr val="FE0000"/>
    <a:srgbClr val="0000FF"/>
    <a:srgbClr val="595959"/>
    <a:srgbClr val="1965A7"/>
    <a:srgbClr val="FECA22"/>
    <a:srgbClr val="9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992" autoAdjust="0"/>
    <p:restoredTop sz="99833" autoAdjust="0"/>
  </p:normalViewPr>
  <p:slideViewPr>
    <p:cSldViewPr snapToGrid="0">
      <p:cViewPr>
        <p:scale>
          <a:sx n="55" d="100"/>
          <a:sy n="55" d="100"/>
        </p:scale>
        <p:origin x="-1320" y="-384"/>
      </p:cViewPr>
      <p:guideLst>
        <p:guide orient="horz" pos="3940"/>
        <p:guide orient="horz" pos="495"/>
        <p:guide pos="5474"/>
        <p:guide pos="290"/>
        <p:guide pos="32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-2790" y="-102"/>
      </p:cViewPr>
      <p:guideLst>
        <p:guide orient="horz" pos="3127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customXml" Target="../customXml/item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9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8A402-E630-46ED-87D1-A51FF2D77B8A}" type="datetimeFigureOut">
              <a:rPr lang="en-US" smtClean="0"/>
              <a:pPr/>
              <a:t>6/5/2012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6F43C-4BC5-4140-89F5-C89E66D4E1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28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5A60B-6956-964B-91B0-61DE2403173E}" type="datetimeFigureOut">
              <a:rPr lang="en-US" smtClean="0"/>
              <a:pPr/>
              <a:t>6/5/2012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4AA71-C613-6B42-8773-688627DE3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53</a:t>
            </a:fld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58</a:t>
            </a:fld>
            <a:endParaRPr 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59</a:t>
            </a:fld>
            <a:endParaRPr 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60</a:t>
            </a:fld>
            <a:endParaRPr 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61</a:t>
            </a:fld>
            <a:endParaRPr 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62</a:t>
            </a:fld>
            <a:endParaRPr 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63</a:t>
            </a:fld>
            <a:endParaRPr 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64</a:t>
            </a:fld>
            <a:endParaRPr 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65</a:t>
            </a:fld>
            <a:endParaRPr 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66</a:t>
            </a:fld>
            <a:endParaRPr 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67</a:t>
            </a:fld>
            <a:endParaRPr 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68</a:t>
            </a:fld>
            <a:endParaRPr 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69</a:t>
            </a:fld>
            <a:endParaRPr lang="en-US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70</a:t>
            </a:fld>
            <a:endParaRPr lang="en-US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71</a:t>
            </a:fld>
            <a:endParaRPr 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72</a:t>
            </a:fld>
            <a:endParaRPr lang="en-US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73</a:t>
            </a:fld>
            <a:endParaRPr lang="en-US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74</a:t>
            </a:fld>
            <a:endParaRPr lang="en-US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76</a:t>
            </a:fld>
            <a:endParaRPr lang="en-US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77</a:t>
            </a:fld>
            <a:endParaRPr lang="en-US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78</a:t>
            </a:fld>
            <a:endParaRPr lang="en-US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82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IPRO PPT Desig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47710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47710" y="3318659"/>
            <a:ext cx="4142266" cy="338554"/>
          </a:xfrm>
          <a:noFill/>
        </p:spPr>
        <p:txBody>
          <a:bodyPr wrap="square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Your Name</a:t>
            </a:r>
          </a:p>
        </p:txBody>
      </p:sp>
      <p:pic>
        <p:nvPicPr>
          <p:cNvPr id="7" name="Picture 6" descr="Slides Master - 51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4549775" y="3766911"/>
            <a:ext cx="4148138" cy="347889"/>
          </a:xfrm>
        </p:spPr>
        <p:txBody>
          <a:bodyPr>
            <a:normAutofit/>
          </a:bodyPr>
          <a:lstStyle>
            <a:lvl1pPr>
              <a:buNone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smtClean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046882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0375" y="145522"/>
            <a:ext cx="8189776" cy="55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1005339" y="1350509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40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005339" y="2380789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tabLst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41" name="Text Placeholder 38"/>
          <p:cNvSpPr>
            <a:spLocks noGrp="1"/>
          </p:cNvSpPr>
          <p:nvPr>
            <p:ph type="body" sz="quarter" idx="12" hasCustomPrompt="1"/>
          </p:nvPr>
        </p:nvSpPr>
        <p:spPr>
          <a:xfrm>
            <a:off x="1005339" y="3403153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42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005339" y="4462030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31" name="Text Placeholder 38"/>
          <p:cNvSpPr>
            <a:spLocks noGrp="1"/>
          </p:cNvSpPr>
          <p:nvPr>
            <p:ph type="body" sz="quarter" idx="14" hasCustomPrompt="1"/>
          </p:nvPr>
        </p:nvSpPr>
        <p:spPr>
          <a:xfrm>
            <a:off x="1005339" y="5504120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He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1" y="2612799"/>
            <a:ext cx="8220074" cy="623887"/>
          </a:xfrm>
        </p:spPr>
        <p:txBody>
          <a:bodyPr>
            <a:normAutofit/>
          </a:bodyPr>
          <a:lstStyle>
            <a:lvl1pPr algn="ctr">
              <a:buNone/>
              <a:def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9901" y="3290677"/>
            <a:ext cx="8220074" cy="439496"/>
          </a:xfrm>
        </p:spPr>
        <p:txBody>
          <a:bodyPr>
            <a:normAutofit/>
          </a:bodyPr>
          <a:lstStyle>
            <a:lvl1pPr algn="ctr">
              <a:buNone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  <p:pic>
        <p:nvPicPr>
          <p:cNvPr id="7" name="Picture 6" descr="WIPRO PPT Desig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0" name="Picture 9" descr="Slides Master - 51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981685" y="105908"/>
            <a:ext cx="1044840" cy="1163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751112" y="2394858"/>
            <a:ext cx="3624943" cy="631371"/>
          </a:xfrm>
          <a:prstGeom prst="rect">
            <a:avLst/>
          </a:prstGeom>
          <a:solidFill>
            <a:srgbClr val="0070C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defTabSz="457200" rtl="0" eaLnBrk="1" latinLnBrk="0" hangingPunct="1">
              <a:spcBef>
                <a:spcPts val="0"/>
              </a:spcBef>
              <a:buFont typeface="Arial"/>
              <a:buNone/>
            </a:pPr>
            <a:endParaRPr kumimoji="0" lang="en-IN" sz="26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751339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729340" y="2384652"/>
            <a:ext cx="3679372" cy="663575"/>
          </a:xfrm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1</a:t>
            </a:r>
            <a:endParaRPr lang="en-IN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751389" y="2394858"/>
            <a:ext cx="3624943" cy="631371"/>
          </a:xfrm>
          <a:prstGeom prst="rect">
            <a:avLst/>
          </a:prstGeom>
          <a:solidFill>
            <a:srgbClr val="0070C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defTabSz="457200" rtl="0" eaLnBrk="1" latinLnBrk="0" hangingPunct="1">
              <a:spcBef>
                <a:spcPts val="0"/>
              </a:spcBef>
              <a:buFont typeface="Arial"/>
              <a:buNone/>
            </a:pPr>
            <a:endParaRPr kumimoji="0" lang="en-IN" sz="26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4751616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729617" y="2384652"/>
            <a:ext cx="3679372" cy="663575"/>
          </a:xfrm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2</a:t>
            </a:r>
            <a:endParaRPr lang="en-IN" dirty="0"/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Slide with two columns and a title</a:t>
            </a:r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451301" y="1465489"/>
            <a:ext cx="8238674" cy="360000"/>
          </a:xfrm>
        </p:spPr>
        <p:txBody>
          <a:bodyPr>
            <a:noAutofit/>
          </a:bodyPr>
          <a:lstStyle>
            <a:lvl1pPr marL="231775" indent="-231775" algn="ctr" defTabSz="457200" rtl="0" eaLnBrk="1" latinLnBrk="0" hangingPunct="1">
              <a:spcBef>
                <a:spcPct val="20000"/>
              </a:spcBef>
              <a:buFont typeface="Arial"/>
              <a:buNone/>
              <a:defRPr kumimoji="0" lang="en-IN" sz="2200" b="1" i="0" u="none" strike="noStrike" kern="1200" cap="none" spc="8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COLUMN HEADING HERE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60488"/>
            <a:ext cx="8240713" cy="4473575"/>
          </a:xfrm>
        </p:spPr>
        <p:txBody>
          <a:bodyPr/>
          <a:lstStyle>
            <a:lvl1pPr>
              <a:buClr>
                <a:srgbClr val="0070C0"/>
              </a:buClr>
              <a:defRPr sz="2200"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IN" dirty="0" smtClean="0"/>
              <a:t>Please use bullet points on this slide when the content is heavy break it up into highlights, don’t use paragraphs of text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957943"/>
            <a:ext cx="9144000" cy="5442858"/>
          </a:xfrm>
        </p:spPr>
        <p:txBody>
          <a:bodyPr anchor="ctr">
            <a:normAutofit/>
          </a:bodyPr>
          <a:lstStyle>
            <a:lvl1pPr algn="ctr">
              <a:buNone/>
              <a:defRPr sz="5400" baseline="0"/>
            </a:lvl1pPr>
          </a:lstStyle>
          <a:p>
            <a:r>
              <a:rPr lang="en-US" dirty="0" smtClean="0"/>
              <a:t>Click Icon to Add Picture</a:t>
            </a:r>
            <a:endParaRPr lang="en-IN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517571"/>
            <a:ext cx="9144000" cy="1110343"/>
          </a:xfr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anchor="ctr">
            <a:normAutofit/>
          </a:bodyPr>
          <a:lstStyle>
            <a:lvl1pPr algn="ctr">
              <a:buNone/>
              <a:defRPr 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aragarp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paragraph text</a:t>
            </a:r>
            <a:endParaRPr lang="en-IN" dirty="0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5159829" y="2331357"/>
            <a:ext cx="3530146" cy="280035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>
              <a:buNone/>
              <a:defRPr lang="en-IN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</a:lstStyle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This vertical image should be aligned left and centered vertically on the slide. Paragraph text should be centered vertically to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the image. Insert Text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Here.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 Keep text as minimal as possible.</a:t>
            </a: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73663" y="2204017"/>
            <a:ext cx="3516312" cy="3055030"/>
          </a:xfrm>
        </p:spPr>
        <p:txBody>
          <a:bodyPr/>
          <a:lstStyle>
            <a:lvl1pPr>
              <a:buClr>
                <a:srgbClr val="0070C0"/>
              </a:buClr>
              <a:buFont typeface="Arial" pitchFamily="34" charset="0"/>
              <a:buChar char="•"/>
              <a:defRPr/>
            </a:lvl1pPr>
          </a:lstStyle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/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bullet points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atal image with p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paragraph text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314960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46289" y="4498975"/>
            <a:ext cx="6851423" cy="1495425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lang="en-US" sz="2000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N" dirty="0" smtClean="0"/>
              <a:t>Paragraph text should be left aligned. Adjust the height of this text box when needed. Make sure this box is </a:t>
            </a:r>
            <a:r>
              <a:rPr lang="en-IN" dirty="0" err="1" smtClean="0"/>
              <a:t>centered</a:t>
            </a:r>
            <a:r>
              <a:rPr lang="en-IN" dirty="0" smtClean="0"/>
              <a:t> horizontally on the page and to the image. 20 </a:t>
            </a:r>
            <a:r>
              <a:rPr lang="en-IN" dirty="0" err="1" smtClean="0"/>
              <a:t>pt</a:t>
            </a:r>
            <a:r>
              <a:rPr lang="en-IN" dirty="0" smtClean="0"/>
              <a:t> text should be used. Keep text as minimal as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atal imag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0374" y="140511"/>
            <a:ext cx="8229601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bullet points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269943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30300" y="4508500"/>
            <a:ext cx="6883400" cy="1498600"/>
          </a:xfrm>
        </p:spPr>
        <p:txBody>
          <a:bodyPr>
            <a:normAutofit/>
          </a:bodyPr>
          <a:lstStyle>
            <a:lvl1pPr>
              <a:buClr>
                <a:srgbClr val="0070C0"/>
              </a:buClr>
              <a:buFont typeface="Arial" pitchFamily="34" charset="0"/>
              <a:buChar char="•"/>
              <a:defRPr sz="2000" baseline="0"/>
            </a:lvl1pPr>
          </a:lstStyle>
          <a:p>
            <a:pPr lvl="0"/>
            <a:r>
              <a:rPr lang="en-US" dirty="0" smtClean="0"/>
              <a:t>The horizontal image should be center aligned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in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"/>
          <p:cNvSpPr>
            <a:spLocks noChangeArrowheads="1"/>
          </p:cNvSpPr>
          <p:nvPr userDrawn="1"/>
        </p:nvSpPr>
        <p:spPr bwMode="auto">
          <a:xfrm>
            <a:off x="-4825" y="5486400"/>
            <a:ext cx="8542400" cy="685800"/>
          </a:xfrm>
          <a:prstGeom prst="rect">
            <a:avLst/>
          </a:prstGeom>
          <a:gradFill rotWithShape="1">
            <a:gsLst>
              <a:gs pos="0">
                <a:srgbClr val="77787D"/>
              </a:gs>
              <a:gs pos="50000">
                <a:srgbClr val="ADAEB5"/>
              </a:gs>
              <a:gs pos="100000">
                <a:srgbClr val="CED0D8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2"/>
          <p:cNvSpPr>
            <a:spLocks noChangeArrowheads="1"/>
          </p:cNvSpPr>
          <p:nvPr userDrawn="1"/>
        </p:nvSpPr>
        <p:spPr bwMode="auto">
          <a:xfrm>
            <a:off x="-4825" y="5611813"/>
            <a:ext cx="8542400" cy="407987"/>
          </a:xfrm>
          <a:prstGeom prst="rect">
            <a:avLst/>
          </a:prstGeom>
          <a:gradFill rotWithShape="1">
            <a:gsLst>
              <a:gs pos="0">
                <a:srgbClr val="494A58"/>
              </a:gs>
              <a:gs pos="50000">
                <a:srgbClr val="6C6E81"/>
              </a:gs>
              <a:gs pos="100000">
                <a:srgbClr val="81849B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Right Arrow 14"/>
          <p:cNvSpPr/>
          <p:nvPr userDrawn="1"/>
        </p:nvSpPr>
        <p:spPr>
          <a:xfrm>
            <a:off x="5037466" y="772886"/>
            <a:ext cx="160131" cy="315459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03A3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023713" y="1164317"/>
            <a:ext cx="3929063" cy="479424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8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Title</a:t>
            </a: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23713" y="758593"/>
            <a:ext cx="3929063" cy="286438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b="1" kern="1200" dirty="0" smtClean="0">
                <a:solidFill>
                  <a:srgbClr val="A1A2B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HIGHLIGHTS</a:t>
            </a:r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903515" y="2104328"/>
            <a:ext cx="4049262" cy="1596815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600" kern="1200" baseline="0">
                <a:solidFill>
                  <a:schemeClr val="accent6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dirty="0" smtClean="0"/>
              <a:t>Add a small brief of the case study / point of view / Define a concept / theme / topic. You may add up to 6 lines of text. Beyond 6 lines will not be readable.</a:t>
            </a:r>
          </a:p>
        </p:txBody>
      </p:sp>
      <p:sp>
        <p:nvSpPr>
          <p:cNvPr id="40" name="Picture Placeholder 38"/>
          <p:cNvSpPr>
            <a:spLocks noGrp="1"/>
          </p:cNvSpPr>
          <p:nvPr>
            <p:ph type="pic" sz="quarter" idx="14"/>
          </p:nvPr>
        </p:nvSpPr>
        <p:spPr>
          <a:xfrm>
            <a:off x="5690960" y="490538"/>
            <a:ext cx="2874963" cy="5692775"/>
          </a:xfrm>
          <a:ln>
            <a:noFill/>
          </a:ln>
          <a:effectLst/>
        </p:spPr>
        <p:txBody>
          <a:bodyPr>
            <a:flatTx/>
          </a:bodyPr>
          <a:lstStyle>
            <a:lvl1pPr>
              <a:buNone/>
              <a:defRPr>
                <a:effectLst/>
              </a:defRPr>
            </a:lvl1pPr>
          </a:lstStyle>
          <a:p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903515" y="3864429"/>
            <a:ext cx="4049262" cy="1545771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400" kern="1200" baseline="0">
                <a:solidFill>
                  <a:srgbClr val="0070C0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Add Highlights of the topic and only </a:t>
            </a:r>
            <a:br>
              <a:rPr lang="en-US" dirty="0" smtClean="0"/>
            </a:br>
            <a:r>
              <a:rPr lang="en-US" dirty="0" smtClean="0"/>
              <a:t>5 lines of text is allowed, beyond </a:t>
            </a:r>
            <a:br>
              <a:rPr lang="en-US" dirty="0" smtClean="0"/>
            </a:br>
            <a:r>
              <a:rPr lang="en-US" dirty="0" smtClean="0"/>
              <a:t>that it will not be readable.</a:t>
            </a: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se in poi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451756" y="1668732"/>
            <a:ext cx="2590800" cy="3873500"/>
          </a:xfrm>
        </p:spPr>
        <p:txBody>
          <a:bodyPr/>
          <a:lstStyle/>
          <a:p>
            <a:endParaRPr lang="en-IN"/>
          </a:p>
        </p:txBody>
      </p:sp>
      <p:sp>
        <p:nvSpPr>
          <p:cNvPr id="37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990974" y="1565729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15" name="Text Placeholder 31"/>
          <p:cNvSpPr>
            <a:spLocks noGrp="1"/>
          </p:cNvSpPr>
          <p:nvPr>
            <p:ph type="body" sz="quarter" idx="14" hasCustomPrompt="1"/>
          </p:nvPr>
        </p:nvSpPr>
        <p:spPr>
          <a:xfrm>
            <a:off x="3990974" y="1162957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Opportunity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32589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Case Study Heading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32" name="Text Placeholder 34"/>
          <p:cNvSpPr>
            <a:spLocks noGrp="1"/>
          </p:cNvSpPr>
          <p:nvPr>
            <p:ph type="body" sz="quarter" idx="19" hasCustomPrompt="1"/>
          </p:nvPr>
        </p:nvSpPr>
        <p:spPr>
          <a:xfrm>
            <a:off x="3990974" y="3246435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20" hasCustomPrompt="1"/>
          </p:nvPr>
        </p:nvSpPr>
        <p:spPr>
          <a:xfrm>
            <a:off x="3990974" y="2843663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Challenges 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1" hasCustomPrompt="1"/>
          </p:nvPr>
        </p:nvSpPr>
        <p:spPr>
          <a:xfrm>
            <a:off x="3990974" y="4962546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6" name="Text Placeholder 31"/>
          <p:cNvSpPr>
            <a:spLocks noGrp="1"/>
          </p:cNvSpPr>
          <p:nvPr>
            <p:ph type="body" sz="quarter" idx="22" hasCustomPrompt="1"/>
          </p:nvPr>
        </p:nvSpPr>
        <p:spPr>
          <a:xfrm>
            <a:off x="3990974" y="4559774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Impact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Coloumn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Column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Bar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Pie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f Pie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>
            <a:spLocks noChangeArrowheads="1"/>
          </p:cNvSpPr>
          <p:nvPr userDrawn="1"/>
        </p:nvSpPr>
        <p:spPr bwMode="gray">
          <a:xfrm>
            <a:off x="355600" y="5858423"/>
            <a:ext cx="8432800" cy="550531"/>
          </a:xfrm>
          <a:prstGeom prst="ellipse">
            <a:avLst/>
          </a:prstGeom>
          <a:gradFill rotWithShape="1">
            <a:gsLst>
              <a:gs pos="0">
                <a:srgbClr val="080808">
                  <a:alpha val="30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10" hasCustomPrompt="1"/>
          </p:nvPr>
        </p:nvSpPr>
        <p:spPr>
          <a:xfrm>
            <a:off x="785078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1</a:t>
            </a:r>
            <a:endParaRPr lang="en-IN" dirty="0"/>
          </a:p>
        </p:txBody>
      </p:sp>
      <p:sp>
        <p:nvSpPr>
          <p:cNvPr id="60" name="Text Placeholder 56"/>
          <p:cNvSpPr>
            <a:spLocks noGrp="1"/>
          </p:cNvSpPr>
          <p:nvPr>
            <p:ph type="body" sz="quarter" idx="12" hasCustomPrompt="1"/>
          </p:nvPr>
        </p:nvSpPr>
        <p:spPr>
          <a:xfrm>
            <a:off x="2832365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2</a:t>
            </a:r>
            <a:endParaRPr lang="en-IN" dirty="0"/>
          </a:p>
        </p:txBody>
      </p:sp>
      <p:sp>
        <p:nvSpPr>
          <p:cNvPr id="63" name="Text Placeholder 56"/>
          <p:cNvSpPr>
            <a:spLocks noGrp="1"/>
          </p:cNvSpPr>
          <p:nvPr>
            <p:ph type="body" sz="quarter" idx="14" hasCustomPrompt="1"/>
          </p:nvPr>
        </p:nvSpPr>
        <p:spPr>
          <a:xfrm>
            <a:off x="4905665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3</a:t>
            </a:r>
          </a:p>
        </p:txBody>
      </p:sp>
      <p:sp>
        <p:nvSpPr>
          <p:cNvPr id="66" name="Text Placeholder 56"/>
          <p:cNvSpPr>
            <a:spLocks noGrp="1"/>
          </p:cNvSpPr>
          <p:nvPr>
            <p:ph type="body" sz="quarter" idx="16" hasCustomPrompt="1"/>
          </p:nvPr>
        </p:nvSpPr>
        <p:spPr>
          <a:xfrm>
            <a:off x="688439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4</a:t>
            </a:r>
            <a:endParaRPr lang="en-IN" dirty="0"/>
          </a:p>
        </p:txBody>
      </p:sp>
      <p:sp>
        <p:nvSpPr>
          <p:cNvPr id="12" name="Title 4"/>
          <p:cNvSpPr>
            <a:spLocks noGrp="1"/>
          </p:cNvSpPr>
          <p:nvPr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in Cir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 userDrawn="1"/>
        </p:nvSpPr>
        <p:spPr>
          <a:xfrm>
            <a:off x="2643450" y="1730903"/>
            <a:ext cx="3857101" cy="3857101"/>
          </a:xfrm>
          <a:prstGeom prst="ellipse">
            <a:avLst/>
          </a:prstGeom>
          <a:noFill/>
          <a:ln w="12700" cap="rnd">
            <a:solidFill>
              <a:schemeClr val="accent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itle 4"/>
          <p:cNvSpPr>
            <a:spLocks noGrp="1"/>
          </p:cNvSpPr>
          <p:nvPr userDrawn="1"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22" name="Oval 21"/>
          <p:cNvSpPr/>
          <p:nvPr userDrawn="1"/>
        </p:nvSpPr>
        <p:spPr>
          <a:xfrm>
            <a:off x="2153393" y="2931726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Placeholder 56"/>
          <p:cNvSpPr>
            <a:spLocks noGrp="1"/>
          </p:cNvSpPr>
          <p:nvPr>
            <p:ph type="body" sz="quarter" idx="14" hasCustomPrompt="1"/>
          </p:nvPr>
        </p:nvSpPr>
        <p:spPr>
          <a:xfrm>
            <a:off x="3474131" y="3152631"/>
            <a:ext cx="2231528" cy="693655"/>
          </a:xfrm>
        </p:spPr>
        <p:txBody>
          <a:bodyPr>
            <a:noAutofit/>
          </a:bodyPr>
          <a:lstStyle>
            <a:lvl1pPr marL="0" indent="0" algn="ctr">
              <a:buNone/>
              <a:defRPr lang="en-IN" sz="2000" kern="1200" baseline="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Subject Matter</a:t>
            </a:r>
            <a:endParaRPr lang="en-IN" dirty="0"/>
          </a:p>
        </p:txBody>
      </p:sp>
      <p:sp>
        <p:nvSpPr>
          <p:cNvPr id="25" name="Oval 24"/>
          <p:cNvSpPr/>
          <p:nvPr userDrawn="1"/>
        </p:nvSpPr>
        <p:spPr>
          <a:xfrm>
            <a:off x="5956137" y="2931726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4093278" y="1338103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Oval 30"/>
          <p:cNvSpPr/>
          <p:nvPr userDrawn="1"/>
        </p:nvSpPr>
        <p:spPr>
          <a:xfrm>
            <a:off x="4093278" y="5126298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Text Placeholder 56"/>
          <p:cNvSpPr>
            <a:spLocks noGrp="1"/>
          </p:cNvSpPr>
          <p:nvPr>
            <p:ph type="body" sz="quarter" idx="13" hasCustomPrompt="1"/>
          </p:nvPr>
        </p:nvSpPr>
        <p:spPr>
          <a:xfrm>
            <a:off x="3863878" y="953610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7" name="Text Placeholder 56"/>
          <p:cNvSpPr>
            <a:spLocks noGrp="1"/>
          </p:cNvSpPr>
          <p:nvPr>
            <p:ph type="body" sz="quarter" idx="15" hasCustomPrompt="1"/>
          </p:nvPr>
        </p:nvSpPr>
        <p:spPr>
          <a:xfrm>
            <a:off x="3863878" y="6124845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9" name="Text Placeholder 56"/>
          <p:cNvSpPr>
            <a:spLocks noGrp="1"/>
          </p:cNvSpPr>
          <p:nvPr>
            <p:ph type="body" sz="quarter" idx="16" hasCustomPrompt="1"/>
          </p:nvPr>
        </p:nvSpPr>
        <p:spPr>
          <a:xfrm>
            <a:off x="6998963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40" name="Text Placehold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701622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 userDrawn="1">
            <p:ph type="ctrTitle" hasCustomPrompt="1"/>
          </p:nvPr>
        </p:nvSpPr>
        <p:spPr>
          <a:xfrm>
            <a:off x="4547710" y="1767649"/>
            <a:ext cx="4203553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10" name="Text Placehold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4547710" y="2589326"/>
            <a:ext cx="4158442" cy="707231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Name, </a:t>
            </a:r>
            <a:br>
              <a:rPr lang="en-US" dirty="0" smtClean="0"/>
            </a:br>
            <a:r>
              <a:rPr lang="en-US" dirty="0" smtClean="0"/>
              <a:t>Designation</a:t>
            </a:r>
            <a:endParaRPr lang="en-IN" dirty="0"/>
          </a:p>
        </p:txBody>
      </p:sp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47710" y="3446236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WIPRO PPT Desig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3" name="Picture 12" descr="Slides Master - 51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_title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9" name="Picture 8" descr="Slides Master - 5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 rot="5400000">
            <a:off x="30172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 descr="WIPRO PPT Desig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968" y="3114100"/>
            <a:ext cx="4158442" cy="38709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559742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25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0" y="3599045"/>
            <a:ext cx="4158442" cy="409914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468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_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14" name="Picture 13" descr="Slides Master - 5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 rot="5400000">
            <a:off x="30172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WIPRO PPT Desig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3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700110" y="2589326"/>
            <a:ext cx="4158442" cy="707231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Name, </a:t>
            </a:r>
            <a:br>
              <a:rPr lang="en-US" dirty="0" smtClean="0"/>
            </a:br>
            <a:r>
              <a:rPr lang="en-US" dirty="0" smtClean="0"/>
              <a:t>Designation</a:t>
            </a:r>
            <a:endParaRPr lang="en-IN" dirty="0"/>
          </a:p>
        </p:txBody>
      </p:sp>
      <p:sp>
        <p:nvSpPr>
          <p:cNvPr id="24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700110" y="3446236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10" name="Title 3"/>
          <p:cNvSpPr>
            <a:spLocks noGrp="1"/>
          </p:cNvSpPr>
          <p:nvPr>
            <p:ph type="ctrTitle" hasCustomPrompt="1"/>
          </p:nvPr>
        </p:nvSpPr>
        <p:spPr>
          <a:xfrm>
            <a:off x="4700110" y="1767649"/>
            <a:ext cx="4203553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4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80524"/>
            <a:ext cx="82296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lvl="0" eaLnBrk="0" hangingPunct="0">
              <a:spcBef>
                <a:spcPct val="20000"/>
              </a:spcBef>
            </a:pP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5877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124200" y="6673207"/>
            <a:ext cx="2895600" cy="1489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© 2012 WIPRO LTD | WWW.WIPRO.COM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10884" y="6647351"/>
            <a:ext cx="360000" cy="1489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5D61087F-CA7B-4F6C-AD54-FCE24029CF22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‹#›</a:t>
            </a:fld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0" y="760413"/>
            <a:ext cx="9145588" cy="25200"/>
            <a:chOff x="0" y="3408363"/>
            <a:chExt cx="9145588" cy="41275"/>
          </a:xfrm>
        </p:grpSpPr>
        <p:sp>
          <p:nvSpPr>
            <p:cNvPr id="64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0" y="3408363"/>
              <a:ext cx="9144000" cy="4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Rectangle 5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182563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Rectangle 6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365125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Rectangle 7"/>
            <p:cNvSpPr>
              <a:spLocks noChangeArrowheads="1"/>
            </p:cNvSpPr>
            <p:nvPr userDrawn="1"/>
          </p:nvSpPr>
          <p:spPr bwMode="auto">
            <a:xfrm>
              <a:off x="182563" y="3408363"/>
              <a:ext cx="366713" cy="41275"/>
            </a:xfrm>
            <a:prstGeom prst="rect">
              <a:avLst/>
            </a:prstGeom>
            <a:solidFill>
              <a:srgbClr val="E42C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Rectangle 8"/>
            <p:cNvSpPr>
              <a:spLocks noChangeArrowheads="1"/>
            </p:cNvSpPr>
            <p:nvPr userDrawn="1"/>
          </p:nvSpPr>
          <p:spPr bwMode="auto">
            <a:xfrm>
              <a:off x="365125" y="3408363"/>
              <a:ext cx="366713" cy="41275"/>
            </a:xfrm>
            <a:prstGeom prst="rect">
              <a:avLst/>
            </a:prstGeom>
            <a:solidFill>
              <a:srgbClr val="E53A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Rectangle 9"/>
            <p:cNvSpPr>
              <a:spLocks noChangeArrowheads="1"/>
            </p:cNvSpPr>
            <p:nvPr userDrawn="1"/>
          </p:nvSpPr>
          <p:spPr bwMode="auto">
            <a:xfrm>
              <a:off x="549275" y="3408363"/>
              <a:ext cx="365125" cy="41275"/>
            </a:xfrm>
            <a:prstGeom prst="rect">
              <a:avLst/>
            </a:prstGeom>
            <a:solidFill>
              <a:srgbClr val="E7462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Rectangle 10"/>
            <p:cNvSpPr>
              <a:spLocks noChangeArrowheads="1"/>
            </p:cNvSpPr>
            <p:nvPr userDrawn="1"/>
          </p:nvSpPr>
          <p:spPr bwMode="auto">
            <a:xfrm>
              <a:off x="731838" y="3408363"/>
              <a:ext cx="365125" cy="41275"/>
            </a:xfrm>
            <a:prstGeom prst="rect">
              <a:avLst/>
            </a:prstGeom>
            <a:solidFill>
              <a:srgbClr val="E8512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Rectangle 11"/>
            <p:cNvSpPr>
              <a:spLocks noChangeArrowheads="1"/>
            </p:cNvSpPr>
            <p:nvPr userDrawn="1"/>
          </p:nvSpPr>
          <p:spPr bwMode="auto">
            <a:xfrm>
              <a:off x="914400" y="3408363"/>
              <a:ext cx="365125" cy="41275"/>
            </a:xfrm>
            <a:prstGeom prst="rect">
              <a:avLst/>
            </a:prstGeom>
            <a:solidFill>
              <a:srgbClr val="EA5D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Rectangle 12"/>
            <p:cNvSpPr>
              <a:spLocks noChangeArrowheads="1"/>
            </p:cNvSpPr>
            <p:nvPr userDrawn="1"/>
          </p:nvSpPr>
          <p:spPr bwMode="auto">
            <a:xfrm>
              <a:off x="1096963" y="3408363"/>
              <a:ext cx="366713" cy="41275"/>
            </a:xfrm>
            <a:prstGeom prst="rect">
              <a:avLst/>
            </a:prstGeom>
            <a:solidFill>
              <a:srgbClr val="EC691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Rectangle 13"/>
            <p:cNvSpPr>
              <a:spLocks noChangeArrowheads="1"/>
            </p:cNvSpPr>
            <p:nvPr userDrawn="1"/>
          </p:nvSpPr>
          <p:spPr bwMode="auto">
            <a:xfrm>
              <a:off x="1279525" y="3408363"/>
              <a:ext cx="366713" cy="41275"/>
            </a:xfrm>
            <a:prstGeom prst="rect">
              <a:avLst/>
            </a:prstGeom>
            <a:solidFill>
              <a:srgbClr val="EE741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Rectangle 14"/>
            <p:cNvSpPr>
              <a:spLocks noChangeArrowheads="1"/>
            </p:cNvSpPr>
            <p:nvPr userDrawn="1"/>
          </p:nvSpPr>
          <p:spPr bwMode="auto">
            <a:xfrm>
              <a:off x="1463675" y="3408363"/>
              <a:ext cx="365125" cy="41275"/>
            </a:xfrm>
            <a:prstGeom prst="rect">
              <a:avLst/>
            </a:prstGeom>
            <a:solidFill>
              <a:srgbClr val="EF7E1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Rectangle 15"/>
            <p:cNvSpPr>
              <a:spLocks noChangeArrowheads="1"/>
            </p:cNvSpPr>
            <p:nvPr userDrawn="1"/>
          </p:nvSpPr>
          <p:spPr bwMode="auto">
            <a:xfrm>
              <a:off x="1646238" y="3408363"/>
              <a:ext cx="365125" cy="41275"/>
            </a:xfrm>
            <a:prstGeom prst="rect">
              <a:avLst/>
            </a:prstGeom>
            <a:solidFill>
              <a:srgbClr val="F188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Rectangle 16"/>
            <p:cNvSpPr>
              <a:spLocks noChangeArrowheads="1"/>
            </p:cNvSpPr>
            <p:nvPr userDrawn="1"/>
          </p:nvSpPr>
          <p:spPr bwMode="auto">
            <a:xfrm>
              <a:off x="1828800" y="3408363"/>
              <a:ext cx="365125" cy="41275"/>
            </a:xfrm>
            <a:prstGeom prst="rect">
              <a:avLst/>
            </a:prstGeom>
            <a:solidFill>
              <a:srgbClr val="F3931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Rectangle 17"/>
            <p:cNvSpPr>
              <a:spLocks noChangeArrowheads="1"/>
            </p:cNvSpPr>
            <p:nvPr userDrawn="1"/>
          </p:nvSpPr>
          <p:spPr bwMode="auto">
            <a:xfrm>
              <a:off x="2011363" y="3408363"/>
              <a:ext cx="366713" cy="41275"/>
            </a:xfrm>
            <a:prstGeom prst="rect">
              <a:avLst/>
            </a:prstGeom>
            <a:solidFill>
              <a:srgbClr val="F49C0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Rectangle 18"/>
            <p:cNvSpPr>
              <a:spLocks noChangeArrowheads="1"/>
            </p:cNvSpPr>
            <p:nvPr userDrawn="1"/>
          </p:nvSpPr>
          <p:spPr bwMode="auto">
            <a:xfrm>
              <a:off x="2193925" y="3408363"/>
              <a:ext cx="366713" cy="41275"/>
            </a:xfrm>
            <a:prstGeom prst="rect">
              <a:avLst/>
            </a:prstGeom>
            <a:solidFill>
              <a:srgbClr val="F6A60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Rectangle 19"/>
            <p:cNvSpPr>
              <a:spLocks noChangeArrowheads="1"/>
            </p:cNvSpPr>
            <p:nvPr userDrawn="1"/>
          </p:nvSpPr>
          <p:spPr bwMode="auto">
            <a:xfrm>
              <a:off x="2378075" y="3408363"/>
              <a:ext cx="365125" cy="41275"/>
            </a:xfrm>
            <a:prstGeom prst="rect">
              <a:avLst/>
            </a:prstGeom>
            <a:solidFill>
              <a:srgbClr val="F8B0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Rectangle 20"/>
            <p:cNvSpPr>
              <a:spLocks noChangeArrowheads="1"/>
            </p:cNvSpPr>
            <p:nvPr userDrawn="1"/>
          </p:nvSpPr>
          <p:spPr bwMode="auto">
            <a:xfrm>
              <a:off x="2560638" y="3408363"/>
              <a:ext cx="365125" cy="41275"/>
            </a:xfrm>
            <a:prstGeom prst="rect">
              <a:avLst/>
            </a:prstGeom>
            <a:solidFill>
              <a:srgbClr val="FBB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Rectangle 21"/>
            <p:cNvSpPr>
              <a:spLocks noChangeArrowheads="1"/>
            </p:cNvSpPr>
            <p:nvPr userDrawn="1"/>
          </p:nvSpPr>
          <p:spPr bwMode="auto">
            <a:xfrm>
              <a:off x="2743200" y="3408363"/>
              <a:ext cx="365125" cy="41275"/>
            </a:xfrm>
            <a:prstGeom prst="rect">
              <a:avLst/>
            </a:prstGeom>
            <a:solidFill>
              <a:srgbClr val="FBB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Rectangle 22"/>
            <p:cNvSpPr>
              <a:spLocks noChangeArrowheads="1"/>
            </p:cNvSpPr>
            <p:nvPr userDrawn="1"/>
          </p:nvSpPr>
          <p:spPr bwMode="auto">
            <a:xfrm>
              <a:off x="2925763" y="3408363"/>
              <a:ext cx="366713" cy="41275"/>
            </a:xfrm>
            <a:prstGeom prst="rect">
              <a:avLst/>
            </a:prstGeom>
            <a:solidFill>
              <a:srgbClr val="FBBD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Rectangle 23"/>
            <p:cNvSpPr>
              <a:spLocks noChangeArrowheads="1"/>
            </p:cNvSpPr>
            <p:nvPr userDrawn="1"/>
          </p:nvSpPr>
          <p:spPr bwMode="auto">
            <a:xfrm>
              <a:off x="3108325" y="3408363"/>
              <a:ext cx="366713" cy="41275"/>
            </a:xfrm>
            <a:prstGeom prst="rect">
              <a:avLst/>
            </a:prstGeom>
            <a:solidFill>
              <a:srgbClr val="FCBF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Rectangle 24"/>
            <p:cNvSpPr>
              <a:spLocks noChangeArrowheads="1"/>
            </p:cNvSpPr>
            <p:nvPr userDrawn="1"/>
          </p:nvSpPr>
          <p:spPr bwMode="auto">
            <a:xfrm>
              <a:off x="3292475" y="3408363"/>
              <a:ext cx="365125" cy="41275"/>
            </a:xfrm>
            <a:prstGeom prst="rect">
              <a:avLst/>
            </a:prstGeom>
            <a:solidFill>
              <a:srgbClr val="FCC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Rectangle 25"/>
            <p:cNvSpPr>
              <a:spLocks noChangeArrowheads="1"/>
            </p:cNvSpPr>
            <p:nvPr userDrawn="1"/>
          </p:nvSpPr>
          <p:spPr bwMode="auto">
            <a:xfrm>
              <a:off x="3475038" y="3408363"/>
              <a:ext cx="365125" cy="41275"/>
            </a:xfrm>
            <a:prstGeom prst="rect">
              <a:avLst/>
            </a:prstGeom>
            <a:solidFill>
              <a:srgbClr val="FCC2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Rectangle 26"/>
            <p:cNvSpPr>
              <a:spLocks noChangeArrowheads="1"/>
            </p:cNvSpPr>
            <p:nvPr userDrawn="1"/>
          </p:nvSpPr>
          <p:spPr bwMode="auto">
            <a:xfrm>
              <a:off x="3657600" y="3408363"/>
              <a:ext cx="365125" cy="41275"/>
            </a:xfrm>
            <a:prstGeom prst="rect">
              <a:avLst/>
            </a:prstGeom>
            <a:solidFill>
              <a:srgbClr val="FDC4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Rectangle 27"/>
            <p:cNvSpPr>
              <a:spLocks noChangeArrowheads="1"/>
            </p:cNvSpPr>
            <p:nvPr userDrawn="1"/>
          </p:nvSpPr>
          <p:spPr bwMode="auto">
            <a:xfrm>
              <a:off x="3840163" y="3408363"/>
              <a:ext cx="366713" cy="41275"/>
            </a:xfrm>
            <a:prstGeom prst="rect">
              <a:avLst/>
            </a:prstGeom>
            <a:solidFill>
              <a:srgbClr val="FDC6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Rectangle 28"/>
            <p:cNvSpPr>
              <a:spLocks noChangeArrowheads="1"/>
            </p:cNvSpPr>
            <p:nvPr userDrawn="1"/>
          </p:nvSpPr>
          <p:spPr bwMode="auto">
            <a:xfrm>
              <a:off x="4022725" y="3408363"/>
              <a:ext cx="366713" cy="41275"/>
            </a:xfrm>
            <a:prstGeom prst="rect">
              <a:avLst/>
            </a:prstGeom>
            <a:solidFill>
              <a:srgbClr val="FDC7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Rectangle 29"/>
            <p:cNvSpPr>
              <a:spLocks noChangeArrowheads="1"/>
            </p:cNvSpPr>
            <p:nvPr userDrawn="1"/>
          </p:nvSpPr>
          <p:spPr bwMode="auto">
            <a:xfrm>
              <a:off x="4206875" y="3408363"/>
              <a:ext cx="365125" cy="41275"/>
            </a:xfrm>
            <a:prstGeom prst="rect">
              <a:avLst/>
            </a:prstGeom>
            <a:solidFill>
              <a:srgbClr val="FEC9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Rectangle 30"/>
            <p:cNvSpPr>
              <a:spLocks noChangeArrowheads="1"/>
            </p:cNvSpPr>
            <p:nvPr userDrawn="1"/>
          </p:nvSpPr>
          <p:spPr bwMode="auto">
            <a:xfrm>
              <a:off x="4389438" y="3408363"/>
              <a:ext cx="365125" cy="41275"/>
            </a:xfrm>
            <a:prstGeom prst="rect">
              <a:avLst/>
            </a:prstGeom>
            <a:solidFill>
              <a:srgbClr val="FE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Rectangle 31"/>
            <p:cNvSpPr>
              <a:spLocks noChangeArrowheads="1"/>
            </p:cNvSpPr>
            <p:nvPr userDrawn="1"/>
          </p:nvSpPr>
          <p:spPr bwMode="auto">
            <a:xfrm>
              <a:off x="4572000" y="3408363"/>
              <a:ext cx="365125" cy="41275"/>
            </a:xfrm>
            <a:prstGeom prst="rect">
              <a:avLst/>
            </a:prstGeom>
            <a:solidFill>
              <a:srgbClr val="FB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Rectangle 32"/>
            <p:cNvSpPr>
              <a:spLocks noChangeArrowheads="1"/>
            </p:cNvSpPr>
            <p:nvPr userDrawn="1"/>
          </p:nvSpPr>
          <p:spPr bwMode="auto">
            <a:xfrm>
              <a:off x="4754563" y="3408363"/>
              <a:ext cx="366713" cy="41275"/>
            </a:xfrm>
            <a:prstGeom prst="rect">
              <a:avLst/>
            </a:prstGeom>
            <a:solidFill>
              <a:srgbClr val="F3C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Rectangle 33"/>
            <p:cNvSpPr>
              <a:spLocks noChangeArrowheads="1"/>
            </p:cNvSpPr>
            <p:nvPr userDrawn="1"/>
          </p:nvSpPr>
          <p:spPr bwMode="auto">
            <a:xfrm>
              <a:off x="4937125" y="3408363"/>
              <a:ext cx="366713" cy="41275"/>
            </a:xfrm>
            <a:prstGeom prst="rect">
              <a:avLst/>
            </a:prstGeom>
            <a:solidFill>
              <a:srgbClr val="ECC8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Rectangle 34"/>
            <p:cNvSpPr>
              <a:spLocks noChangeArrowheads="1"/>
            </p:cNvSpPr>
            <p:nvPr userDrawn="1"/>
          </p:nvSpPr>
          <p:spPr bwMode="auto">
            <a:xfrm>
              <a:off x="5121275" y="3408363"/>
              <a:ext cx="365125" cy="41275"/>
            </a:xfrm>
            <a:prstGeom prst="rect">
              <a:avLst/>
            </a:prstGeom>
            <a:solidFill>
              <a:srgbClr val="E4C6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Rectangle 35"/>
            <p:cNvSpPr>
              <a:spLocks noChangeArrowheads="1"/>
            </p:cNvSpPr>
            <p:nvPr userDrawn="1"/>
          </p:nvSpPr>
          <p:spPr bwMode="auto">
            <a:xfrm>
              <a:off x="5303838" y="3408363"/>
              <a:ext cx="365125" cy="41275"/>
            </a:xfrm>
            <a:prstGeom prst="rect">
              <a:avLst/>
            </a:prstGeom>
            <a:solidFill>
              <a:srgbClr val="DCC50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Rectangle 36"/>
            <p:cNvSpPr>
              <a:spLocks noChangeArrowheads="1"/>
            </p:cNvSpPr>
            <p:nvPr userDrawn="1"/>
          </p:nvSpPr>
          <p:spPr bwMode="auto">
            <a:xfrm>
              <a:off x="5486400" y="3408363"/>
              <a:ext cx="365125" cy="41275"/>
            </a:xfrm>
            <a:prstGeom prst="rect">
              <a:avLst/>
            </a:prstGeom>
            <a:solidFill>
              <a:srgbClr val="D5C30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Rectangle 37"/>
            <p:cNvSpPr>
              <a:spLocks noChangeArrowheads="1"/>
            </p:cNvSpPr>
            <p:nvPr userDrawn="1"/>
          </p:nvSpPr>
          <p:spPr bwMode="auto">
            <a:xfrm>
              <a:off x="5668963" y="3408363"/>
              <a:ext cx="366713" cy="41275"/>
            </a:xfrm>
            <a:prstGeom prst="rect">
              <a:avLst/>
            </a:prstGeom>
            <a:solidFill>
              <a:srgbClr val="CCC1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Rectangle 38"/>
            <p:cNvSpPr>
              <a:spLocks noChangeArrowheads="1"/>
            </p:cNvSpPr>
            <p:nvPr userDrawn="1"/>
          </p:nvSpPr>
          <p:spPr bwMode="auto">
            <a:xfrm>
              <a:off x="5851525" y="3408363"/>
              <a:ext cx="366713" cy="41275"/>
            </a:xfrm>
            <a:prstGeom prst="rect">
              <a:avLst/>
            </a:prstGeom>
            <a:solidFill>
              <a:srgbClr val="B8BC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Rectangle 39"/>
            <p:cNvSpPr>
              <a:spLocks noChangeArrowheads="1"/>
            </p:cNvSpPr>
            <p:nvPr userDrawn="1"/>
          </p:nvSpPr>
          <p:spPr bwMode="auto">
            <a:xfrm>
              <a:off x="6035675" y="3408363"/>
              <a:ext cx="365125" cy="41275"/>
            </a:xfrm>
            <a:prstGeom prst="rect">
              <a:avLst/>
            </a:prstGeom>
            <a:solidFill>
              <a:srgbClr val="A3B829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Rectangle 40"/>
            <p:cNvSpPr>
              <a:spLocks noChangeArrowheads="1"/>
            </p:cNvSpPr>
            <p:nvPr userDrawn="1"/>
          </p:nvSpPr>
          <p:spPr bwMode="auto">
            <a:xfrm>
              <a:off x="6218238" y="3408363"/>
              <a:ext cx="365125" cy="41275"/>
            </a:xfrm>
            <a:prstGeom prst="rect">
              <a:avLst/>
            </a:prstGeom>
            <a:solidFill>
              <a:srgbClr val="8CB23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Rectangle 41"/>
            <p:cNvSpPr>
              <a:spLocks noChangeArrowheads="1"/>
            </p:cNvSpPr>
            <p:nvPr userDrawn="1"/>
          </p:nvSpPr>
          <p:spPr bwMode="auto">
            <a:xfrm>
              <a:off x="6400800" y="3408363"/>
              <a:ext cx="365125" cy="41275"/>
            </a:xfrm>
            <a:prstGeom prst="rect">
              <a:avLst/>
            </a:prstGeom>
            <a:solidFill>
              <a:srgbClr val="71AD3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Rectangle 42"/>
            <p:cNvSpPr>
              <a:spLocks noChangeArrowheads="1"/>
            </p:cNvSpPr>
            <p:nvPr userDrawn="1"/>
          </p:nvSpPr>
          <p:spPr bwMode="auto">
            <a:xfrm>
              <a:off x="6583363" y="3408363"/>
              <a:ext cx="366713" cy="41275"/>
            </a:xfrm>
            <a:prstGeom prst="rect">
              <a:avLst/>
            </a:prstGeom>
            <a:solidFill>
              <a:srgbClr val="51A73B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Rectangle 43"/>
            <p:cNvSpPr>
              <a:spLocks noChangeArrowheads="1"/>
            </p:cNvSpPr>
            <p:nvPr userDrawn="1"/>
          </p:nvSpPr>
          <p:spPr bwMode="auto">
            <a:xfrm>
              <a:off x="6765925" y="3408363"/>
              <a:ext cx="366713" cy="41275"/>
            </a:xfrm>
            <a:prstGeom prst="rect">
              <a:avLst/>
            </a:prstGeom>
            <a:solidFill>
              <a:srgbClr val="1DA24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Rectangle 44"/>
            <p:cNvSpPr>
              <a:spLocks noChangeArrowheads="1"/>
            </p:cNvSpPr>
            <p:nvPr userDrawn="1"/>
          </p:nvSpPr>
          <p:spPr bwMode="auto">
            <a:xfrm>
              <a:off x="6950075" y="3408363"/>
              <a:ext cx="365125" cy="41275"/>
            </a:xfrm>
            <a:prstGeom prst="rect">
              <a:avLst/>
            </a:prstGeom>
            <a:solidFill>
              <a:srgbClr val="009D4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Rectangle 45"/>
            <p:cNvSpPr>
              <a:spLocks noChangeArrowheads="1"/>
            </p:cNvSpPr>
            <p:nvPr userDrawn="1"/>
          </p:nvSpPr>
          <p:spPr bwMode="auto">
            <a:xfrm>
              <a:off x="7132638" y="3408363"/>
              <a:ext cx="365125" cy="41275"/>
            </a:xfrm>
            <a:prstGeom prst="rect">
              <a:avLst/>
            </a:prstGeom>
            <a:solidFill>
              <a:srgbClr val="00984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" name="Rectangle 46"/>
            <p:cNvSpPr>
              <a:spLocks noChangeArrowheads="1"/>
            </p:cNvSpPr>
            <p:nvPr userDrawn="1"/>
          </p:nvSpPr>
          <p:spPr bwMode="auto">
            <a:xfrm>
              <a:off x="7315200" y="3408363"/>
              <a:ext cx="365125" cy="41275"/>
            </a:xfrm>
            <a:prstGeom prst="rect">
              <a:avLst/>
            </a:prstGeom>
            <a:solidFill>
              <a:srgbClr val="008C5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Rectangle 47"/>
            <p:cNvSpPr>
              <a:spLocks noChangeArrowheads="1"/>
            </p:cNvSpPr>
            <p:nvPr userDrawn="1"/>
          </p:nvSpPr>
          <p:spPr bwMode="auto">
            <a:xfrm>
              <a:off x="7497763" y="3408363"/>
              <a:ext cx="366713" cy="41275"/>
            </a:xfrm>
            <a:prstGeom prst="rect">
              <a:avLst/>
            </a:prstGeom>
            <a:solidFill>
              <a:srgbClr val="008068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Rectangle 48"/>
            <p:cNvSpPr>
              <a:spLocks noChangeArrowheads="1"/>
            </p:cNvSpPr>
            <p:nvPr userDrawn="1"/>
          </p:nvSpPr>
          <p:spPr bwMode="auto">
            <a:xfrm>
              <a:off x="7680325" y="3408363"/>
              <a:ext cx="366713" cy="41275"/>
            </a:xfrm>
            <a:prstGeom prst="rect">
              <a:avLst/>
            </a:prstGeom>
            <a:solidFill>
              <a:srgbClr val="00727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9" name="Rectangle 49"/>
            <p:cNvSpPr>
              <a:spLocks noChangeArrowheads="1"/>
            </p:cNvSpPr>
            <p:nvPr userDrawn="1"/>
          </p:nvSpPr>
          <p:spPr bwMode="auto">
            <a:xfrm>
              <a:off x="7864475" y="3408363"/>
              <a:ext cx="365125" cy="41275"/>
            </a:xfrm>
            <a:prstGeom prst="rect">
              <a:avLst/>
            </a:prstGeom>
            <a:solidFill>
              <a:srgbClr val="00637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0" name="Rectangle 50"/>
            <p:cNvSpPr>
              <a:spLocks noChangeArrowheads="1"/>
            </p:cNvSpPr>
            <p:nvPr userDrawn="1"/>
          </p:nvSpPr>
          <p:spPr bwMode="auto">
            <a:xfrm>
              <a:off x="8047038" y="3408363"/>
              <a:ext cx="365125" cy="41275"/>
            </a:xfrm>
            <a:prstGeom prst="rect">
              <a:avLst/>
            </a:prstGeom>
            <a:solidFill>
              <a:srgbClr val="18538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1" name="Rectangle 51"/>
            <p:cNvSpPr>
              <a:spLocks noChangeArrowheads="1"/>
            </p:cNvSpPr>
            <p:nvPr userDrawn="1"/>
          </p:nvSpPr>
          <p:spPr bwMode="auto">
            <a:xfrm>
              <a:off x="8229600" y="3408363"/>
              <a:ext cx="365125" cy="41275"/>
            </a:xfrm>
            <a:prstGeom prst="rect">
              <a:avLst/>
            </a:prstGeom>
            <a:solidFill>
              <a:srgbClr val="2E42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2" name="Rectangle 52"/>
            <p:cNvSpPr>
              <a:spLocks noChangeArrowheads="1"/>
            </p:cNvSpPr>
            <p:nvPr userDrawn="1"/>
          </p:nvSpPr>
          <p:spPr bwMode="auto">
            <a:xfrm>
              <a:off x="8412163" y="3408363"/>
              <a:ext cx="366713" cy="41275"/>
            </a:xfrm>
            <a:prstGeom prst="rect">
              <a:avLst/>
            </a:prstGeom>
            <a:solidFill>
              <a:srgbClr val="313E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3" name="Rectangle 53"/>
            <p:cNvSpPr>
              <a:spLocks noChangeArrowheads="1"/>
            </p:cNvSpPr>
            <p:nvPr userDrawn="1"/>
          </p:nvSpPr>
          <p:spPr bwMode="auto">
            <a:xfrm>
              <a:off x="8594725" y="3408363"/>
              <a:ext cx="366713" cy="41275"/>
            </a:xfrm>
            <a:prstGeom prst="rect">
              <a:avLst/>
            </a:prstGeom>
            <a:solidFill>
              <a:srgbClr val="333B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4" name="Rectangle 54"/>
            <p:cNvSpPr>
              <a:spLocks noChangeArrowheads="1"/>
            </p:cNvSpPr>
            <p:nvPr userDrawn="1"/>
          </p:nvSpPr>
          <p:spPr bwMode="auto">
            <a:xfrm>
              <a:off x="8778875" y="3408363"/>
              <a:ext cx="365125" cy="41275"/>
            </a:xfrm>
            <a:prstGeom prst="rect">
              <a:avLst/>
            </a:prstGeom>
            <a:solidFill>
              <a:srgbClr val="3538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5" name="Rectangle 55"/>
            <p:cNvSpPr>
              <a:spLocks noChangeArrowheads="1"/>
            </p:cNvSpPr>
            <p:nvPr userDrawn="1"/>
          </p:nvSpPr>
          <p:spPr bwMode="auto">
            <a:xfrm>
              <a:off x="8961438" y="3408363"/>
              <a:ext cx="182563" cy="41275"/>
            </a:xfrm>
            <a:prstGeom prst="rect">
              <a:avLst/>
            </a:prstGeom>
            <a:solidFill>
              <a:srgbClr val="3931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6" name="Freeform 56"/>
            <p:cNvSpPr>
              <a:spLocks/>
            </p:cNvSpPr>
            <p:nvPr userDrawn="1"/>
          </p:nvSpPr>
          <p:spPr bwMode="auto">
            <a:xfrm>
              <a:off x="9144000" y="3408363"/>
              <a:ext cx="1588" cy="41275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0" y="0"/>
                </a:cxn>
                <a:cxn ang="0">
                  <a:pos x="0" y="78"/>
                </a:cxn>
              </a:cxnLst>
              <a:rect l="0" t="0" r="r" b="b"/>
              <a:pathLst>
                <a:path h="78">
                  <a:moveTo>
                    <a:pt x="0" y="78"/>
                  </a:moveTo>
                  <a:lnTo>
                    <a:pt x="0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39318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81303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0" r:id="rId2"/>
    <p:sldLayoutId id="2147483660" r:id="rId3"/>
    <p:sldLayoutId id="2147483663" r:id="rId4"/>
    <p:sldLayoutId id="2147483664" r:id="rId5"/>
    <p:sldLayoutId id="2147483676" r:id="rId6"/>
    <p:sldLayoutId id="2147483677" r:id="rId7"/>
    <p:sldLayoutId id="2147483678" r:id="rId8"/>
    <p:sldLayoutId id="2147483679" r:id="rId9"/>
    <p:sldLayoutId id="2147483681" r:id="rId10"/>
    <p:sldLayoutId id="2147483702" r:id="rId11"/>
    <p:sldLayoutId id="2147483703" r:id="rId12"/>
    <p:sldLayoutId id="2147483686" r:id="rId13"/>
    <p:sldLayoutId id="2147483687" r:id="rId14"/>
    <p:sldLayoutId id="2147483688" r:id="rId15"/>
    <p:sldLayoutId id="2147483691" r:id="rId16"/>
    <p:sldLayoutId id="2147483704" r:id="rId17"/>
    <p:sldLayoutId id="2147483684" r:id="rId18"/>
    <p:sldLayoutId id="2147483694" r:id="rId19"/>
    <p:sldLayoutId id="2147483661" r:id="rId20"/>
    <p:sldLayoutId id="2147483699" r:id="rId21"/>
    <p:sldLayoutId id="2147483700" r:id="rId22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lang="en-US" sz="3000" b="1" kern="1200" dirty="0">
          <a:solidFill>
            <a:schemeClr val="tx1"/>
          </a:solidFill>
          <a:latin typeface="+mj-lt"/>
          <a:ea typeface="+mn-ea"/>
          <a:cs typeface="Arial"/>
        </a:defRPr>
      </a:lvl1pPr>
    </p:titleStyle>
    <p:bodyStyle>
      <a:lvl1pPr marL="231775" indent="-231775" algn="l" defTabSz="457200" rtl="0" eaLnBrk="1" latinLnBrk="0" hangingPunct="1">
        <a:spcBef>
          <a:spcPct val="20000"/>
        </a:spcBef>
        <a:buFont typeface="Arial"/>
        <a:buChar char="•"/>
        <a:defRPr kumimoji="0" lang="en-US" sz="20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0" lang="en-US" sz="18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0" lang="en-US" sz="16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0" lang="en-US" sz="14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0" lang="en-US" sz="12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481207" y="1497082"/>
            <a:ext cx="4380159" cy="1547161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UNIX Essentials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797092" y="2786644"/>
            <a:ext cx="4142266" cy="338554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UNIX Utilities &amp; Shell Programming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716030" y="3218271"/>
            <a:ext cx="4148138" cy="347889"/>
          </a:xfrm>
        </p:spPr>
        <p:txBody>
          <a:bodyPr/>
          <a:lstStyle/>
          <a:p>
            <a:pPr algn="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Subtitle 5"/>
          <p:cNvSpPr txBox="1">
            <a:spLocks/>
          </p:cNvSpPr>
          <p:nvPr/>
        </p:nvSpPr>
        <p:spPr>
          <a:xfrm>
            <a:off x="4727122" y="3249723"/>
            <a:ext cx="4142266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Module  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Unix Utilities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I/O Redirection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mtClean="0">
                <a:solidFill>
                  <a:schemeClr val="tx1"/>
                </a:solidFill>
              </a:rPr>
              <a:t>Filters &amp; Pipes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Shell Programming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Title 18"/>
          <p:cNvSpPr>
            <a:spLocks noGrp="1"/>
          </p:cNvSpPr>
          <p:nvPr>
            <p:ph type="ctrTitle"/>
          </p:nvPr>
        </p:nvSpPr>
        <p:spPr>
          <a:xfrm>
            <a:off x="232756" y="145522"/>
            <a:ext cx="8417395" cy="554400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  <a:latin typeface="+mn-lt"/>
              </a:rPr>
              <a:t>Agenda</a:t>
            </a:r>
            <a:endParaRPr lang="en-IN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8833" y="2260389"/>
            <a:ext cx="317512" cy="8254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695" y="2504932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2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8833" y="3304071"/>
            <a:ext cx="317512" cy="83043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1695" y="3526230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8833" y="1231427"/>
            <a:ext cx="317512" cy="8255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1695" y="1450574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1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8833" y="4366624"/>
            <a:ext cx="317512" cy="83043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1695" y="4588783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4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99505" y="145140"/>
            <a:ext cx="8490471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Objectives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457200" y="897026"/>
            <a:ext cx="8240713" cy="536153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At the end of this module you will be </a:t>
            </a:r>
            <a:r>
              <a:rPr lang="en-US" sz="2400" smtClean="0">
                <a:solidFill>
                  <a:schemeClr val="tx1"/>
                </a:solidFill>
              </a:rPr>
              <a:t>able </a:t>
            </a:r>
            <a:r>
              <a:rPr lang="en-US" sz="2400" smtClean="0">
                <a:solidFill>
                  <a:schemeClr val="tx1"/>
                </a:solidFill>
              </a:rPr>
              <a:t>to:</a:t>
            </a:r>
            <a:endParaRPr lang="en-US" sz="24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16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Make use of commonly used utilities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Understand and take advantage of I/O redirection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Combine filters using pipes, to perform complex operations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Understand the purpose of  shell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Write shell scripts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Unix Utilities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Unix Utilities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415636" y="1044503"/>
            <a:ext cx="8279790" cy="4473575"/>
          </a:xfrm>
        </p:spPr>
        <p:txBody>
          <a:bodyPr/>
          <a:lstStyle/>
          <a:p>
            <a:pPr algn="just"/>
            <a:r>
              <a:rPr lang="en-IN" dirty="0" smtClean="0">
                <a:solidFill>
                  <a:schemeClr val="tx1"/>
                </a:solidFill>
              </a:rPr>
              <a:t>Unix has rich set of utilities for programmers, administrator and end users.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Utilities that are covered in this module are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cat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echo </a:t>
            </a:r>
          </a:p>
          <a:p>
            <a:pPr lvl="1"/>
            <a:r>
              <a:rPr lang="en-IN" dirty="0" err="1" smtClean="0">
                <a:solidFill>
                  <a:schemeClr val="tx1"/>
                </a:solidFill>
              </a:rPr>
              <a:t>gzip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tar</a:t>
            </a:r>
          </a:p>
          <a:p>
            <a:pPr lvl="1"/>
            <a:r>
              <a:rPr lang="en-IN" dirty="0" err="1" smtClean="0">
                <a:solidFill>
                  <a:schemeClr val="tx1"/>
                </a:solidFill>
              </a:rPr>
              <a:t>grep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r>
              <a:rPr lang="en-IN" dirty="0" err="1" smtClean="0">
                <a:solidFill>
                  <a:schemeClr val="tx1"/>
                </a:solidFill>
              </a:rPr>
              <a:t>egrep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</a:t>
            </a:r>
            <a:r>
              <a:rPr lang="en-IN" dirty="0" smtClean="0"/>
              <a:t>at 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582185" cy="5331118"/>
          </a:xfrm>
        </p:spPr>
        <p:txBody>
          <a:bodyPr>
            <a:normAutofit/>
          </a:bodyPr>
          <a:lstStyle/>
          <a:p>
            <a:r>
              <a:rPr lang="en-IN" dirty="0" smtClean="0"/>
              <a:t>The </a:t>
            </a:r>
            <a:r>
              <a:rPr lang="en-IN" dirty="0" smtClean="0">
                <a:solidFill>
                  <a:srgbClr val="0000CC"/>
                </a:solidFill>
              </a:rPr>
              <a:t>cat </a:t>
            </a:r>
            <a:r>
              <a:rPr lang="en-IN" dirty="0" smtClean="0"/>
              <a:t>command stands for con</a:t>
            </a:r>
            <a:r>
              <a:rPr lang="en-IN" dirty="0" smtClean="0">
                <a:solidFill>
                  <a:srgbClr val="0000CC"/>
                </a:solidFill>
              </a:rPr>
              <a:t>cat</a:t>
            </a:r>
            <a:r>
              <a:rPr lang="en-IN" dirty="0" smtClean="0"/>
              <a:t>enate, reads files either from standard input or those specified on command line and prints the contents on the screen.</a:t>
            </a:r>
          </a:p>
          <a:p>
            <a:r>
              <a:rPr lang="en-IN" dirty="0" smtClean="0"/>
              <a:t>It can be used to</a:t>
            </a:r>
          </a:p>
          <a:p>
            <a:pPr lvl="1">
              <a:buFontTx/>
              <a:buChar char="-"/>
            </a:pPr>
            <a:r>
              <a:rPr lang="en-IN" dirty="0" smtClean="0"/>
              <a:t>view contents of a file</a:t>
            </a:r>
          </a:p>
          <a:p>
            <a:pPr lvl="1">
              <a:buFontTx/>
              <a:buChar char="-"/>
            </a:pPr>
            <a:r>
              <a:rPr lang="en-IN" dirty="0" smtClean="0"/>
              <a:t>concatenate contents of multiple files</a:t>
            </a:r>
          </a:p>
          <a:p>
            <a:pPr lvl="1">
              <a:buFontTx/>
              <a:buChar char="-"/>
            </a:pPr>
            <a:r>
              <a:rPr lang="en-IN" dirty="0" smtClean="0"/>
              <a:t>create a file</a:t>
            </a:r>
          </a:p>
          <a:p>
            <a:pPr>
              <a:buFontTx/>
              <a:buChar char="-"/>
            </a:pPr>
            <a:r>
              <a:rPr lang="en-IN" b="1" dirty="0" smtClean="0"/>
              <a:t>cat</a:t>
            </a:r>
            <a:r>
              <a:rPr lang="en-IN" dirty="0" smtClean="0"/>
              <a:t> always sends its output to the standard output </a:t>
            </a:r>
            <a:r>
              <a:rPr lang="en-IN" sz="1900" dirty="0" smtClean="0"/>
              <a:t>(by default console)</a:t>
            </a:r>
            <a:endParaRPr lang="en-IN" dirty="0" smtClean="0"/>
          </a:p>
          <a:p>
            <a:pPr lvl="1">
              <a:buNone/>
            </a:pPr>
            <a:endParaRPr lang="en-IN" dirty="0"/>
          </a:p>
          <a:p>
            <a:r>
              <a:rPr lang="en-IN" dirty="0" smtClean="0"/>
              <a:t>Examples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$   cat    /etc/</a:t>
            </a:r>
            <a:r>
              <a:rPr lang="en-IN" dirty="0" err="1" smtClean="0">
                <a:solidFill>
                  <a:schemeClr val="tx1"/>
                </a:solidFill>
              </a:rPr>
              <a:t>passwd</a:t>
            </a:r>
            <a:r>
              <a:rPr lang="en-IN" dirty="0" smtClean="0">
                <a:solidFill>
                  <a:schemeClr val="tx1"/>
                </a:solidFill>
              </a:rPr>
              <a:t>			displays contents of /etc/</a:t>
            </a:r>
            <a:r>
              <a:rPr lang="en-IN" dirty="0" err="1" smtClean="0">
                <a:solidFill>
                  <a:schemeClr val="tx1"/>
                </a:solidFill>
              </a:rPr>
              <a:t>passwd</a:t>
            </a: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$   cat    </a:t>
            </a:r>
            <a:r>
              <a:rPr lang="en-IN" dirty="0" err="1" smtClean="0">
                <a:solidFill>
                  <a:schemeClr val="tx1"/>
                </a:solidFill>
              </a:rPr>
              <a:t>test.h</a:t>
            </a:r>
            <a:r>
              <a:rPr lang="en-IN" dirty="0" smtClean="0">
                <a:solidFill>
                  <a:schemeClr val="tx1"/>
                </a:solidFill>
              </a:rPr>
              <a:t>   </a:t>
            </a:r>
            <a:r>
              <a:rPr lang="en-IN" dirty="0" err="1" smtClean="0">
                <a:solidFill>
                  <a:schemeClr val="tx1"/>
                </a:solidFill>
              </a:rPr>
              <a:t>test.c</a:t>
            </a:r>
            <a:r>
              <a:rPr lang="en-IN" dirty="0" smtClean="0">
                <a:solidFill>
                  <a:schemeClr val="tx1"/>
                </a:solidFill>
              </a:rPr>
              <a:t> 			displays contents of </a:t>
            </a:r>
            <a:r>
              <a:rPr lang="en-IN" dirty="0" err="1" smtClean="0">
                <a:solidFill>
                  <a:schemeClr val="tx1"/>
                </a:solidFill>
              </a:rPr>
              <a:t>test.h</a:t>
            </a:r>
            <a:r>
              <a:rPr lang="en-IN" dirty="0" smtClean="0">
                <a:solidFill>
                  <a:schemeClr val="tx1"/>
                </a:solidFill>
              </a:rPr>
              <a:t> followed by </a:t>
            </a:r>
            <a:r>
              <a:rPr lang="en-IN" dirty="0" err="1" smtClean="0">
                <a:solidFill>
                  <a:schemeClr val="tx1"/>
                </a:solidFill>
              </a:rPr>
              <a:t>test.c</a:t>
            </a: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$   cat						reads </a:t>
            </a:r>
            <a:r>
              <a:rPr lang="en-IN" dirty="0" err="1" smtClean="0">
                <a:solidFill>
                  <a:schemeClr val="tx1"/>
                </a:solidFill>
              </a:rPr>
              <a:t>stdin</a:t>
            </a:r>
            <a:r>
              <a:rPr lang="en-IN" dirty="0" smtClean="0">
                <a:solidFill>
                  <a:schemeClr val="tx1"/>
                </a:solidFill>
              </a:rPr>
              <a:t> and writes to the </a:t>
            </a:r>
            <a:r>
              <a:rPr lang="en-IN" dirty="0" err="1" smtClean="0">
                <a:solidFill>
                  <a:schemeClr val="tx1"/>
                </a:solidFill>
              </a:rPr>
              <a:t>stdout</a:t>
            </a: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$   cat    </a:t>
            </a:r>
            <a:r>
              <a:rPr lang="en-IN" dirty="0" err="1" smtClean="0">
                <a:solidFill>
                  <a:schemeClr val="tx1"/>
                </a:solidFill>
              </a:rPr>
              <a:t>abc</a:t>
            </a:r>
            <a:r>
              <a:rPr lang="en-IN" dirty="0" smtClean="0">
                <a:solidFill>
                  <a:schemeClr val="tx1"/>
                </a:solidFill>
              </a:rPr>
              <a:t>   -    </a:t>
            </a:r>
            <a:r>
              <a:rPr lang="en-IN" dirty="0" err="1" smtClean="0">
                <a:solidFill>
                  <a:schemeClr val="tx1"/>
                </a:solidFill>
              </a:rPr>
              <a:t>pqr</a:t>
            </a:r>
            <a:r>
              <a:rPr lang="en-IN" dirty="0" smtClean="0">
                <a:solidFill>
                  <a:schemeClr val="tx1"/>
                </a:solidFill>
              </a:rPr>
              <a:t>			read file </a:t>
            </a:r>
            <a:r>
              <a:rPr lang="en-IN" dirty="0" err="1" smtClean="0">
                <a:solidFill>
                  <a:schemeClr val="tx1"/>
                </a:solidFill>
              </a:rPr>
              <a:t>abc</a:t>
            </a:r>
            <a:r>
              <a:rPr lang="en-IN" dirty="0" smtClean="0">
                <a:solidFill>
                  <a:schemeClr val="tx1"/>
                </a:solidFill>
              </a:rPr>
              <a:t>, then </a:t>
            </a:r>
            <a:r>
              <a:rPr lang="en-IN" dirty="0" err="1" smtClean="0">
                <a:solidFill>
                  <a:schemeClr val="tx1"/>
                </a:solidFill>
              </a:rPr>
              <a:t>stdin</a:t>
            </a:r>
            <a:r>
              <a:rPr lang="en-IN" dirty="0" smtClean="0">
                <a:solidFill>
                  <a:schemeClr val="tx1"/>
                </a:solidFill>
              </a:rPr>
              <a:t>, followed by file </a:t>
            </a:r>
            <a:r>
              <a:rPr lang="en-IN" dirty="0" err="1" smtClean="0">
                <a:solidFill>
                  <a:schemeClr val="tx1"/>
                </a:solidFill>
              </a:rPr>
              <a:t>pqr</a:t>
            </a: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</a:t>
            </a:r>
            <a:r>
              <a:rPr lang="en-IN" dirty="0" smtClean="0"/>
              <a:t>at  command options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74245" y="821870"/>
            <a:ext cx="6589601" cy="234721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Some of the commonly used options</a:t>
            </a:r>
          </a:p>
          <a:p>
            <a:pPr>
              <a:buNone/>
            </a:pPr>
            <a:endParaRPr lang="en-IN" sz="1000" dirty="0" smtClean="0"/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smtClean="0">
                <a:solidFill>
                  <a:srgbClr val="0000CC"/>
                </a:solidFill>
              </a:rPr>
              <a:t>-n</a:t>
            </a:r>
            <a:r>
              <a:rPr lang="en-IN" dirty="0" smtClean="0"/>
              <a:t>	display line number</a:t>
            </a:r>
          </a:p>
          <a:p>
            <a:pPr>
              <a:buNone/>
            </a:pPr>
            <a:endParaRPr lang="en-IN" sz="1050" dirty="0" smtClean="0"/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smtClean="0">
                <a:solidFill>
                  <a:srgbClr val="0000CC"/>
                </a:solidFill>
              </a:rPr>
              <a:t>-b </a:t>
            </a:r>
            <a:r>
              <a:rPr lang="en-IN" dirty="0" smtClean="0"/>
              <a:t>	display line number for non-blank lines only </a:t>
            </a:r>
          </a:p>
          <a:p>
            <a:pPr>
              <a:buNone/>
            </a:pPr>
            <a:endParaRPr lang="en-IN" sz="500" dirty="0" smtClean="0"/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    -s</a:t>
            </a:r>
            <a:r>
              <a:rPr lang="en-IN" dirty="0" smtClean="0"/>
              <a:t>     squeeze multiple adjacent blank lines</a:t>
            </a:r>
          </a:p>
          <a:p>
            <a:pPr>
              <a:buNone/>
            </a:pPr>
            <a:endParaRPr lang="en-IN" dirty="0" smtClean="0"/>
          </a:p>
        </p:txBody>
      </p:sp>
      <p:grpSp>
        <p:nvGrpSpPr>
          <p:cNvPr id="13" name="Group 12"/>
          <p:cNvGrpSpPr/>
          <p:nvPr/>
        </p:nvGrpSpPr>
        <p:grpSpPr>
          <a:xfrm>
            <a:off x="463089" y="3398850"/>
            <a:ext cx="2266462" cy="2616101"/>
            <a:chOff x="6563639" y="1365337"/>
            <a:chExt cx="2305123" cy="2616101"/>
          </a:xfrm>
        </p:grpSpPr>
        <p:sp>
          <p:nvSpPr>
            <p:cNvPr id="11" name="TextBox 10"/>
            <p:cNvSpPr txBox="1"/>
            <p:nvPr/>
          </p:nvSpPr>
          <p:spPr>
            <a:xfrm>
              <a:off x="6563639" y="1365337"/>
              <a:ext cx="2305123" cy="2616101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/>
                  </a:solidFill>
                  <a:latin typeface="Lucida Console" pitchFamily="49" charset="0"/>
                </a:rPr>
                <a:t>$</a:t>
              </a:r>
              <a:r>
                <a:rPr lang="en-US" sz="1600" b="1" dirty="0" smtClean="0">
                  <a:solidFill>
                    <a:srgbClr val="0000CC"/>
                  </a:solidFill>
                  <a:latin typeface="Lucida Console" pitchFamily="49" charset="0"/>
                </a:rPr>
                <a:t> cat -n data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1  line-1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2  line-2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3  line-3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4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5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6  line-4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7  line-5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8  line-6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$</a:t>
              </a:r>
            </a:p>
          </p:txBody>
        </p:sp>
        <p:sp>
          <p:nvSpPr>
            <p:cNvPr id="12" name="Bent Arrow 11"/>
            <p:cNvSpPr/>
            <p:nvPr/>
          </p:nvSpPr>
          <p:spPr>
            <a:xfrm rot="10800000">
              <a:off x="8433347" y="1422124"/>
              <a:ext cx="269426" cy="222275"/>
            </a:xfrm>
            <a:prstGeom prst="bentArrow">
              <a:avLst/>
            </a:prstGeom>
            <a:solidFill>
              <a:srgbClr val="FE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314569" y="3396297"/>
            <a:ext cx="2308310" cy="2616101"/>
            <a:chOff x="3784949" y="3143909"/>
            <a:chExt cx="2308310" cy="2616101"/>
          </a:xfrm>
        </p:grpSpPr>
        <p:sp>
          <p:nvSpPr>
            <p:cNvPr id="15" name="TextBox 14"/>
            <p:cNvSpPr txBox="1"/>
            <p:nvPr/>
          </p:nvSpPr>
          <p:spPr>
            <a:xfrm>
              <a:off x="3784949" y="3143909"/>
              <a:ext cx="2308310" cy="2616101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/>
                  </a:solidFill>
                  <a:latin typeface="Lucida Console" pitchFamily="49" charset="0"/>
                </a:rPr>
                <a:t>$</a:t>
              </a:r>
              <a:r>
                <a:rPr lang="en-US" sz="1600" b="1" dirty="0" smtClean="0">
                  <a:solidFill>
                    <a:srgbClr val="0000CC"/>
                  </a:solidFill>
                  <a:latin typeface="Lucida Console" pitchFamily="49" charset="0"/>
                </a:rPr>
                <a:t> cat -b data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1  line-1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2  line-2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3  line-3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4  line-4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5  line-5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6  line-6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$</a:t>
              </a:r>
            </a:p>
          </p:txBody>
        </p:sp>
        <p:sp>
          <p:nvSpPr>
            <p:cNvPr id="16" name="Bent Arrow 15"/>
            <p:cNvSpPr/>
            <p:nvPr/>
          </p:nvSpPr>
          <p:spPr>
            <a:xfrm rot="10800000">
              <a:off x="5652413" y="3175643"/>
              <a:ext cx="269426" cy="222275"/>
            </a:xfrm>
            <a:prstGeom prst="bentArrow">
              <a:avLst/>
            </a:prstGeom>
            <a:solidFill>
              <a:srgbClr val="FE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213530" y="3385198"/>
            <a:ext cx="2548333" cy="2339102"/>
            <a:chOff x="660019" y="3088038"/>
            <a:chExt cx="2548333" cy="2339102"/>
          </a:xfrm>
        </p:grpSpPr>
        <p:sp>
          <p:nvSpPr>
            <p:cNvPr id="17" name="TextBox 16"/>
            <p:cNvSpPr txBox="1"/>
            <p:nvPr/>
          </p:nvSpPr>
          <p:spPr>
            <a:xfrm>
              <a:off x="660019" y="3088038"/>
              <a:ext cx="2548333" cy="2339102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/>
                  </a:solidFill>
                  <a:latin typeface="Lucida Console" pitchFamily="49" charset="0"/>
                </a:rPr>
                <a:t>$</a:t>
              </a:r>
              <a:r>
                <a:rPr lang="en-US" sz="1600" b="1" dirty="0" smtClean="0">
                  <a:solidFill>
                    <a:srgbClr val="0000CC"/>
                  </a:solidFill>
                  <a:latin typeface="Lucida Console" pitchFamily="49" charset="0"/>
                </a:rPr>
                <a:t> cat –s –n data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1  line-1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2  line-2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3  line-3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4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5  line-4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6  line-5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     7  line-6</a:t>
              </a:r>
            </a:p>
            <a:p>
              <a:r>
                <a:rPr lang="en-US" sz="1600" b="1" dirty="0" smtClean="0">
                  <a:latin typeface="Lucida Console" pitchFamily="49" charset="0"/>
                </a:rPr>
                <a:t>$</a:t>
              </a:r>
            </a:p>
          </p:txBody>
        </p:sp>
        <p:sp>
          <p:nvSpPr>
            <p:cNvPr id="21" name="Bent Arrow 20"/>
            <p:cNvSpPr/>
            <p:nvPr/>
          </p:nvSpPr>
          <p:spPr>
            <a:xfrm rot="10800000">
              <a:off x="2841755" y="3227835"/>
              <a:ext cx="269426" cy="222275"/>
            </a:xfrm>
            <a:prstGeom prst="bentArrow">
              <a:avLst/>
            </a:prstGeom>
            <a:solidFill>
              <a:srgbClr val="FE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echo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331118"/>
          </a:xfrm>
        </p:spPr>
        <p:txBody>
          <a:bodyPr>
            <a:normAutofit/>
          </a:bodyPr>
          <a:lstStyle/>
          <a:p>
            <a:r>
              <a:rPr lang="en-IN" dirty="0" smtClean="0"/>
              <a:t>The command echo, is a built-in command of shell. </a:t>
            </a:r>
          </a:p>
          <a:p>
            <a:r>
              <a:rPr lang="en-IN" dirty="0" smtClean="0"/>
              <a:t>Its purpose is to output its arguments on to </a:t>
            </a:r>
            <a:r>
              <a:rPr lang="en-IN" dirty="0" err="1" smtClean="0"/>
              <a:t>stdout</a:t>
            </a:r>
            <a:r>
              <a:rPr lang="en-IN" dirty="0" smtClean="0"/>
              <a:t>.</a:t>
            </a:r>
          </a:p>
          <a:p>
            <a:r>
              <a:rPr lang="en-IN" dirty="0" smtClean="0"/>
              <a:t>Examples</a:t>
            </a:r>
          </a:p>
          <a:p>
            <a:pPr>
              <a:buNone/>
            </a:pPr>
            <a:r>
              <a:rPr lang="en-IN" dirty="0" smtClean="0"/>
              <a:t>	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8910" y="2166879"/>
            <a:ext cx="3166997" cy="3277820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echo hello</a:t>
            </a:r>
          </a:p>
          <a:p>
            <a:r>
              <a:rPr lang="en-US" b="1" dirty="0" smtClean="0">
                <a:latin typeface="Lucida Console" pitchFamily="49" charset="0"/>
              </a:rPr>
              <a:t>hello</a:t>
            </a:r>
          </a:p>
          <a:p>
            <a:endParaRPr lang="en-US" b="1" dirty="0" smtClean="0"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echo 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abc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xyz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abc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xyz</a:t>
            </a:r>
          </a:p>
          <a:p>
            <a:endParaRPr lang="en-US" b="1" dirty="0" smtClean="0"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echo 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abc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   xyz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abc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xyz</a:t>
            </a:r>
          </a:p>
          <a:p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echo "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abc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   xyz"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abc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   xyz</a:t>
            </a:r>
          </a:p>
          <a:p>
            <a:endParaRPr lang="en-US" sz="300" b="1" dirty="0" smtClean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13" name="Line Callout 2 (Accent Bar) 12"/>
          <p:cNvSpPr/>
          <p:nvPr/>
        </p:nvSpPr>
        <p:spPr>
          <a:xfrm>
            <a:off x="3561795" y="5614094"/>
            <a:ext cx="2054419" cy="546265"/>
          </a:xfrm>
          <a:prstGeom prst="accentCallout2">
            <a:avLst>
              <a:gd name="adj1" fmla="val 25272"/>
              <a:gd name="adj2" fmla="val -1975"/>
              <a:gd name="adj3" fmla="val 18750"/>
              <a:gd name="adj4" fmla="val -16667"/>
              <a:gd name="adj5" fmla="val -100544"/>
              <a:gd name="adj6" fmla="val -48534"/>
            </a:avLst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Note the difference in argument &amp; output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76045" y="145140"/>
            <a:ext cx="8413931" cy="553998"/>
          </a:xfrm>
        </p:spPr>
        <p:txBody>
          <a:bodyPr/>
          <a:lstStyle/>
          <a:p>
            <a:r>
              <a:rPr lang="en-IN" dirty="0" err="1" smtClean="0"/>
              <a:t>gzip</a:t>
            </a:r>
            <a:r>
              <a:rPr lang="en-IN" dirty="0" smtClean="0"/>
              <a:t> command</a:t>
            </a:r>
            <a:endParaRPr lang="en-IN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00025" y="871538"/>
            <a:ext cx="8943975" cy="5330825"/>
          </a:xfrm>
        </p:spPr>
        <p:txBody>
          <a:bodyPr>
            <a:normAutofit/>
          </a:bodyPr>
          <a:lstStyle/>
          <a:p>
            <a:r>
              <a:rPr lang="en-IN" b="1" dirty="0" err="1" smtClean="0">
                <a:solidFill>
                  <a:srgbClr val="0000CC"/>
                </a:solidFill>
              </a:rPr>
              <a:t>gzip</a:t>
            </a:r>
            <a:r>
              <a:rPr lang="en-IN" dirty="0" smtClean="0"/>
              <a:t> command is used to compress a  file</a:t>
            </a:r>
          </a:p>
          <a:p>
            <a:pPr lvl="1">
              <a:buFontTx/>
              <a:buChar char="-"/>
            </a:pPr>
            <a:r>
              <a:rPr lang="en-IN" dirty="0" smtClean="0"/>
              <a:t>The file is replaced with the compressed file</a:t>
            </a:r>
          </a:p>
          <a:p>
            <a:pPr lvl="1">
              <a:buFontTx/>
              <a:buChar char="-"/>
            </a:pPr>
            <a:r>
              <a:rPr lang="en-IN" dirty="0" smtClean="0"/>
              <a:t>Compressed file is given .</a:t>
            </a:r>
            <a:r>
              <a:rPr lang="en-IN" dirty="0" err="1" smtClean="0"/>
              <a:t>gz</a:t>
            </a:r>
            <a:r>
              <a:rPr lang="en-IN" dirty="0" smtClean="0"/>
              <a:t> suffix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options</a:t>
            </a:r>
          </a:p>
          <a:p>
            <a:pPr lvl="1">
              <a:buNone/>
            </a:pPr>
            <a:r>
              <a:rPr lang="en-IN" sz="1100" dirty="0" smtClean="0"/>
              <a:t>		</a:t>
            </a:r>
            <a:r>
              <a:rPr lang="en-IN" dirty="0" smtClean="0"/>
              <a:t>						</a:t>
            </a:r>
          </a:p>
          <a:p>
            <a:pPr lvl="1">
              <a:buNone/>
            </a:pPr>
            <a:r>
              <a:rPr lang="en-IN" dirty="0" smtClean="0"/>
              <a:t>    -c   --</a:t>
            </a:r>
            <a:r>
              <a:rPr lang="en-IN" dirty="0" err="1" smtClean="0"/>
              <a:t>stdout</a:t>
            </a:r>
            <a:r>
              <a:rPr lang="en-IN" dirty="0" smtClean="0"/>
              <a:t>		</a:t>
            </a:r>
            <a:r>
              <a:rPr lang="en-IN" dirty="0" smtClean="0">
                <a:sym typeface="Wingdings" pitchFamily="2" charset="2"/>
              </a:rPr>
              <a:t> write output to standard output</a:t>
            </a:r>
          </a:p>
          <a:p>
            <a:pPr lvl="1">
              <a:buNone/>
            </a:pPr>
            <a:r>
              <a:rPr lang="en-IN" dirty="0" smtClean="0">
                <a:sym typeface="Wingdings" pitchFamily="2" charset="2"/>
              </a:rPr>
              <a:t>							keeps original file unchanged</a:t>
            </a:r>
          </a:p>
          <a:p>
            <a:pPr lvl="1">
              <a:buNone/>
            </a:pPr>
            <a:endParaRPr lang="en-IN" dirty="0" smtClean="0">
              <a:sym typeface="Wingdings" pitchFamily="2" charset="2"/>
            </a:endParaRPr>
          </a:p>
          <a:p>
            <a:pPr lvl="1">
              <a:buNone/>
            </a:pPr>
            <a:r>
              <a:rPr lang="en-IN" dirty="0" smtClean="0"/>
              <a:t>	-d				</a:t>
            </a:r>
            <a:r>
              <a:rPr lang="en-IN" dirty="0" smtClean="0">
                <a:sym typeface="Wingdings" pitchFamily="2" charset="2"/>
              </a:rPr>
              <a:t> creates </a:t>
            </a:r>
            <a:r>
              <a:rPr lang="en-IN" dirty="0" smtClean="0"/>
              <a:t>uncompressed file. Compressed file is removed</a:t>
            </a:r>
          </a:p>
          <a:p>
            <a:pPr lvl="1">
              <a:buNone/>
            </a:pPr>
            <a:endParaRPr lang="en-IN" dirty="0" smtClean="0">
              <a:sym typeface="Wingdings" pitchFamily="2" charset="2"/>
            </a:endParaRPr>
          </a:p>
          <a:p>
            <a:pPr lvl="1">
              <a:buNone/>
            </a:pPr>
            <a:r>
              <a:rPr lang="en-IN" dirty="0" smtClean="0">
                <a:sym typeface="Wingdings" pitchFamily="2" charset="2"/>
              </a:rPr>
              <a:t>    -v					 verbose 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91067" y="145140"/>
            <a:ext cx="8498909" cy="553998"/>
          </a:xfrm>
        </p:spPr>
        <p:txBody>
          <a:bodyPr/>
          <a:lstStyle/>
          <a:p>
            <a:r>
              <a:rPr lang="en-IN" dirty="0" err="1" smtClean="0"/>
              <a:t>gzip</a:t>
            </a:r>
            <a:r>
              <a:rPr lang="en-IN" dirty="0" smtClean="0"/>
              <a:t> – examples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91067" y="924929"/>
            <a:ext cx="8884693" cy="2585323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ls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–l  backup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-r--  1 wipro18 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     1071 Apr 19 12:21 backup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gzip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  backup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ls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-l  backup*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-r--    1 wipro18 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   1101 Apr 19 12:21 backup.gz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gzip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-d  backup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ls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–l  backup*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-r--  1 wipro18 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     1071 Apr 19 12:21 backup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419" y="3697712"/>
            <a:ext cx="8884693" cy="2585323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ls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-l x*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-r--    1 wipro18 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      474 Apr 17 19:52 x1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rw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-r--    1 wipro18 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        36 Apr 22 16:00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x.c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gzip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-v x*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x1:      57.6% -- replaced with x1.gz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x.c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:     -5.6% -- replaced with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x.c.gz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gzip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 -v -d x*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x1.gz:   57.6% -- replaced with x1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x.c.gz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:  -5.6% -- replaced with 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x.c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</a:t>
            </a:r>
            <a:r>
              <a:rPr lang="en-IN" dirty="0" smtClean="0">
                <a:solidFill>
                  <a:schemeClr val="tx1"/>
                </a:solidFill>
              </a:rPr>
              <a:t>ar command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00026" y="871538"/>
            <a:ext cx="8788700" cy="533082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smtClean="0">
                <a:solidFill>
                  <a:schemeClr val="tx1"/>
                </a:solidFill>
              </a:rPr>
              <a:t>tar</a:t>
            </a:r>
            <a:r>
              <a:rPr lang="en-IN" dirty="0" smtClean="0">
                <a:solidFill>
                  <a:schemeClr val="tx1"/>
                </a:solidFill>
              </a:rPr>
              <a:t> (abbreviation for tape archive) command is used to 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archive files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extract files from archive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update archive</a:t>
            </a:r>
          </a:p>
          <a:p>
            <a:pPr lvl="1">
              <a:buFontTx/>
              <a:buChar char="-"/>
            </a:pPr>
            <a:endParaRPr lang="en-IN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tar command options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c			create archive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t			list files in the archive  (just like </a:t>
            </a:r>
            <a:r>
              <a:rPr lang="en-IN" dirty="0" err="1" smtClean="0">
                <a:solidFill>
                  <a:schemeClr val="tx1"/>
                </a:solidFill>
              </a:rPr>
              <a:t>ls</a:t>
            </a:r>
            <a:r>
              <a:rPr lang="en-IN" dirty="0" smtClean="0">
                <a:solidFill>
                  <a:schemeClr val="tx1"/>
                </a:solidFill>
              </a:rPr>
              <a:t> command output)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x			extract files from archive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     u			update archive [adds only those files which are newer]			</a:t>
            </a: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The above options are mutually exclusive and can be combined with other options of the tar command, such as</a:t>
            </a: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f	&lt;filename&gt;		specifies the name of the output file		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z					use zip or </a:t>
            </a:r>
            <a:r>
              <a:rPr lang="en-IN" dirty="0" err="1" smtClean="0">
                <a:solidFill>
                  <a:schemeClr val="tx1"/>
                </a:solidFill>
              </a:rPr>
              <a:t>gzip</a:t>
            </a:r>
            <a:r>
              <a:rPr lang="en-IN" dirty="0" smtClean="0">
                <a:solidFill>
                  <a:schemeClr val="tx1"/>
                </a:solidFill>
              </a:rPr>
              <a:t> to compress 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v					provide verbose output</a:t>
            </a: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tar examples – creating archive</a:t>
            </a:r>
            <a:endParaRPr lang="en-IN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00025" y="871539"/>
            <a:ext cx="8943975" cy="6128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Consider the files to be archived in the directory “data”</a:t>
            </a:r>
          </a:p>
        </p:txBody>
      </p:sp>
      <p:sp>
        <p:nvSpPr>
          <p:cNvPr id="11" name="Text Placeholder 7"/>
          <p:cNvSpPr txBox="1">
            <a:spLocks/>
          </p:cNvSpPr>
          <p:nvPr/>
        </p:nvSpPr>
        <p:spPr>
          <a:xfrm>
            <a:off x="105025" y="3873992"/>
            <a:ext cx="4799487" cy="219430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An archive of the directory “data” is created with the file named “data.tar” using tar command.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lang="en-IN" sz="2200" dirty="0" smtClean="0">
              <a:solidFill>
                <a:srgbClr val="595959"/>
              </a:solidFill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IN" sz="22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439" y="1362267"/>
            <a:ext cx="8810625" cy="21621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6278" y="3971668"/>
            <a:ext cx="3724275" cy="24193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2" name="Bent Arrow 21"/>
          <p:cNvSpPr/>
          <p:nvPr/>
        </p:nvSpPr>
        <p:spPr>
          <a:xfrm rot="10800000">
            <a:off x="8335232" y="3976177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Bent Arrow 7"/>
          <p:cNvSpPr/>
          <p:nvPr/>
        </p:nvSpPr>
        <p:spPr>
          <a:xfrm rot="10800000">
            <a:off x="2253087" y="1385377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25631" y="145140"/>
            <a:ext cx="8464345" cy="553998"/>
          </a:xfrm>
        </p:spPr>
        <p:txBody>
          <a:bodyPr/>
          <a:lstStyle/>
          <a:p>
            <a:r>
              <a:rPr lang="en-IN" dirty="0"/>
              <a:t>t</a:t>
            </a:r>
            <a:r>
              <a:rPr lang="en-IN" dirty="0" smtClean="0"/>
              <a:t>ar examples – viewing &amp; extracting</a:t>
            </a:r>
            <a:endParaRPr lang="en-IN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00025" y="871539"/>
            <a:ext cx="8943975" cy="4347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dirty="0" smtClean="0">
                <a:solidFill>
                  <a:srgbClr val="0000CC"/>
                </a:solidFill>
              </a:rPr>
              <a:t>Viewing an archive using </a:t>
            </a:r>
            <a:r>
              <a:rPr lang="en-IN" sz="2000" b="1" dirty="0" err="1" smtClean="0">
                <a:solidFill>
                  <a:schemeClr val="tx1"/>
                </a:solidFill>
              </a:rPr>
              <a:t>tvf</a:t>
            </a:r>
            <a:r>
              <a:rPr lang="en-IN" sz="2000" b="1" dirty="0" smtClean="0">
                <a:solidFill>
                  <a:srgbClr val="0000CC"/>
                </a:solidFill>
              </a:rPr>
              <a:t> </a:t>
            </a:r>
            <a:r>
              <a:rPr lang="en-IN" sz="2000" dirty="0" smtClean="0">
                <a:solidFill>
                  <a:srgbClr val="0000CC"/>
                </a:solidFill>
              </a:rPr>
              <a:t>options</a:t>
            </a:r>
          </a:p>
        </p:txBody>
      </p:sp>
      <p:sp>
        <p:nvSpPr>
          <p:cNvPr id="11" name="Text Placeholder 7"/>
          <p:cNvSpPr txBox="1">
            <a:spLocks/>
          </p:cNvSpPr>
          <p:nvPr/>
        </p:nvSpPr>
        <p:spPr>
          <a:xfrm>
            <a:off x="200025" y="3612743"/>
            <a:ext cx="8718344" cy="496119"/>
          </a:xfrm>
          <a:prstGeom prst="rect">
            <a:avLst/>
          </a:prstGeom>
        </p:spPr>
        <p:txBody>
          <a:bodyPr>
            <a:no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Rename </a:t>
            </a:r>
            <a:r>
              <a:rPr kumimoji="0" lang="en-I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x.c</a:t>
            </a: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file,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then extract  </a:t>
            </a:r>
            <a:r>
              <a:rPr kumimoji="0" lang="en-IN" sz="2000" b="0" i="0" u="none" strike="noStrike" kern="1200" cap="none" spc="0" normalizeH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x.c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from the archive using </a:t>
            </a:r>
            <a:r>
              <a:rPr kumimoji="0" lang="en-IN" sz="2000" b="1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xvf</a:t>
            </a:r>
            <a:r>
              <a:rPr kumimoji="0" lang="en-IN" sz="2000" b="1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options.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5631" y="4264148"/>
            <a:ext cx="8474900" cy="201783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005" y="1306889"/>
            <a:ext cx="8694841" cy="213002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2" name="Bent Arrow 31"/>
          <p:cNvSpPr/>
          <p:nvPr/>
        </p:nvSpPr>
        <p:spPr>
          <a:xfrm rot="10800000">
            <a:off x="4640053" y="4564900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Bent Arrow 32"/>
          <p:cNvSpPr/>
          <p:nvPr/>
        </p:nvSpPr>
        <p:spPr>
          <a:xfrm rot="10800000">
            <a:off x="2761149" y="1333185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32506" y="145140"/>
            <a:ext cx="8357470" cy="553998"/>
          </a:xfrm>
        </p:spPr>
        <p:txBody>
          <a:bodyPr/>
          <a:lstStyle/>
          <a:p>
            <a:r>
              <a:rPr lang="en-IN" dirty="0" smtClean="0"/>
              <a:t>tar examples – updating</a:t>
            </a:r>
            <a:endParaRPr lang="en-IN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88150" y="800289"/>
            <a:ext cx="8943975" cy="4347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dirty="0" smtClean="0">
                <a:solidFill>
                  <a:srgbClr val="0000CC"/>
                </a:solidFill>
              </a:rPr>
              <a:t>Update the archive using option  </a:t>
            </a:r>
            <a:r>
              <a:rPr lang="en-IN" sz="2000" dirty="0" smtClean="0">
                <a:solidFill>
                  <a:schemeClr val="tx1"/>
                </a:solidFill>
              </a:rPr>
              <a:t>u. 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2506" y="1249087"/>
            <a:ext cx="8538358" cy="394383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73133" y="145140"/>
            <a:ext cx="8416843" cy="553998"/>
          </a:xfrm>
        </p:spPr>
        <p:txBody>
          <a:bodyPr/>
          <a:lstStyle/>
          <a:p>
            <a:r>
              <a:rPr lang="en-IN" dirty="0"/>
              <a:t>t</a:t>
            </a:r>
            <a:r>
              <a:rPr lang="en-IN" dirty="0" smtClean="0"/>
              <a:t>ar examples </a:t>
            </a:r>
            <a:r>
              <a:rPr lang="en-IN" smtClean="0"/>
              <a:t>– </a:t>
            </a:r>
            <a:r>
              <a:rPr lang="en-IN" smtClean="0"/>
              <a:t>updating (Contd.).</a:t>
            </a:r>
            <a:endParaRPr lang="en-IN" dirty="0"/>
          </a:p>
        </p:txBody>
      </p:sp>
      <p:sp>
        <p:nvSpPr>
          <p:cNvPr id="9" name="Text Placeholder 7"/>
          <p:cNvSpPr txBox="1">
            <a:spLocks/>
          </p:cNvSpPr>
          <p:nvPr/>
        </p:nvSpPr>
        <p:spPr>
          <a:xfrm>
            <a:off x="496910" y="926275"/>
            <a:ext cx="8231454" cy="14012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Extract file </a:t>
            </a:r>
            <a:r>
              <a:rPr kumimoji="0" lang="en-I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x.c</a:t>
            </a: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from the archive.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lang="en-IN" sz="500" dirty="0" smtClean="0">
              <a:solidFill>
                <a:srgbClr val="0000CC"/>
              </a:solidFill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Note that two versions of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sz="2000" b="0" i="0" u="none" strike="noStrike" kern="1200" cap="none" spc="0" normalizeH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x.c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are extracted. The latest version is the one extracted last</a:t>
            </a:r>
            <a:r>
              <a:rPr lang="en-IN" sz="2000" noProof="0" dirty="0" smtClean="0">
                <a:solidFill>
                  <a:srgbClr val="0000CC"/>
                </a:solidFill>
                <a:cs typeface="Arial"/>
              </a:rPr>
              <a:t>.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133" y="2280026"/>
            <a:ext cx="8525308" cy="16534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1" name="Bent Arrow 20"/>
          <p:cNvSpPr/>
          <p:nvPr/>
        </p:nvSpPr>
        <p:spPr>
          <a:xfrm rot="10800000">
            <a:off x="4564897" y="2961569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60376" y="145140"/>
            <a:ext cx="8683624" cy="553998"/>
          </a:xfrm>
        </p:spPr>
        <p:txBody>
          <a:bodyPr/>
          <a:lstStyle/>
          <a:p>
            <a:r>
              <a:rPr lang="en-IN" dirty="0"/>
              <a:t>t</a:t>
            </a:r>
            <a:r>
              <a:rPr lang="en-IN" dirty="0" smtClean="0"/>
              <a:t>ar examples – creating a compressed archive</a:t>
            </a:r>
            <a:endParaRPr lang="en-IN" dirty="0"/>
          </a:p>
        </p:txBody>
      </p:sp>
      <p:sp>
        <p:nvSpPr>
          <p:cNvPr id="9" name="Text Placeholder 7"/>
          <p:cNvSpPr txBox="1">
            <a:spLocks/>
          </p:cNvSpPr>
          <p:nvPr/>
        </p:nvSpPr>
        <p:spPr>
          <a:xfrm>
            <a:off x="371650" y="763437"/>
            <a:ext cx="8231454" cy="46411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Add option </a:t>
            </a:r>
            <a:r>
              <a:rPr lang="en-IN" sz="2200" b="1" dirty="0" smtClean="0">
                <a:cs typeface="Arial"/>
              </a:rPr>
              <a:t>z </a:t>
            </a:r>
            <a:r>
              <a:rPr lang="en-IN" sz="2000" dirty="0" smtClean="0">
                <a:solidFill>
                  <a:srgbClr val="0000CC"/>
                </a:solidFill>
                <a:cs typeface="Arial"/>
              </a:rPr>
              <a:t>(lower case) 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to create a compressed tar file.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3463" y="1214775"/>
            <a:ext cx="8506348" cy="281886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Text Placeholder 7"/>
          <p:cNvSpPr txBox="1">
            <a:spLocks/>
          </p:cNvSpPr>
          <p:nvPr/>
        </p:nvSpPr>
        <p:spPr>
          <a:xfrm>
            <a:off x="261004" y="4260286"/>
            <a:ext cx="4160684" cy="2140513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Add option  </a:t>
            </a:r>
            <a:r>
              <a:rPr kumimoji="0" lang="en-IN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z </a:t>
            </a:r>
            <a:r>
              <a:rPr kumimoji="0" lang="en-IN" sz="19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(lower case)</a:t>
            </a:r>
            <a:r>
              <a:rPr kumimoji="0" lang="en-IN" sz="22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lang="en-IN" sz="2000" dirty="0" smtClean="0">
                <a:solidFill>
                  <a:srgbClr val="0000CC"/>
                </a:solidFill>
                <a:cs typeface="Arial"/>
              </a:rPr>
              <a:t>to extract from a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compressed tar file.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lang="en-IN" sz="1200" baseline="0" dirty="0" smtClean="0">
              <a:solidFill>
                <a:srgbClr val="0000CC"/>
              </a:solidFill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In this example, directory “data” is renamed and recreated by extracting the folder and files from the compressed archive.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319" y="4126841"/>
            <a:ext cx="4007742" cy="249251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6" name="Bent Arrow 15"/>
          <p:cNvSpPr/>
          <p:nvPr/>
        </p:nvSpPr>
        <p:spPr>
          <a:xfrm rot="10800000">
            <a:off x="8435440" y="4364484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Bent Arrow 16"/>
          <p:cNvSpPr/>
          <p:nvPr/>
        </p:nvSpPr>
        <p:spPr>
          <a:xfrm rot="10800000">
            <a:off x="4176591" y="1270555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10551" y="145140"/>
            <a:ext cx="8379425" cy="553998"/>
          </a:xfrm>
        </p:spPr>
        <p:txBody>
          <a:bodyPr/>
          <a:lstStyle/>
          <a:p>
            <a:r>
              <a:rPr lang="en-IN" dirty="0" smtClean="0"/>
              <a:t>Regular expressions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513173" cy="4473575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>
                <a:solidFill>
                  <a:srgbClr val="0000CC"/>
                </a:solidFill>
              </a:rPr>
              <a:t>Regular expression </a:t>
            </a:r>
            <a:r>
              <a:rPr lang="en-IN" dirty="0" smtClean="0">
                <a:solidFill>
                  <a:schemeClr val="tx1"/>
                </a:solidFill>
              </a:rPr>
              <a:t>is a sequence of characters (i.e., a string) Apart from alpha numeric characters, it can include special characters</a:t>
            </a:r>
          </a:p>
          <a:p>
            <a:pPr lvl="1" algn="just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A regular expression with special characters, represents a pattern of strings</a:t>
            </a:r>
          </a:p>
          <a:p>
            <a:pPr lvl="1" algn="just">
              <a:buFontTx/>
              <a:buChar char="-"/>
            </a:pPr>
            <a:endParaRPr lang="en-IN" dirty="0" smtClean="0">
              <a:solidFill>
                <a:schemeClr val="tx1"/>
              </a:solidFill>
            </a:endParaRPr>
          </a:p>
          <a:p>
            <a:pPr algn="just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Regular expressions are used in the context of pattern matching, with utilities such as vi, </a:t>
            </a:r>
            <a:r>
              <a:rPr lang="en-IN" dirty="0" err="1" smtClean="0">
                <a:solidFill>
                  <a:schemeClr val="tx1"/>
                </a:solidFill>
              </a:rPr>
              <a:t>grep</a:t>
            </a:r>
            <a:r>
              <a:rPr lang="en-IN" dirty="0" smtClean="0">
                <a:solidFill>
                  <a:schemeClr val="tx1"/>
                </a:solidFill>
              </a:rPr>
              <a:t>, tr.</a:t>
            </a:r>
          </a:p>
          <a:p>
            <a:pPr>
              <a:buFontTx/>
              <a:buChar char="-"/>
            </a:pPr>
            <a:endParaRPr lang="en-I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45057" y="145140"/>
            <a:ext cx="8344919" cy="553998"/>
          </a:xfrm>
        </p:spPr>
        <p:txBody>
          <a:bodyPr/>
          <a:lstStyle/>
          <a:p>
            <a:r>
              <a:rPr lang="en-IN" smtClean="0"/>
              <a:t>Regular </a:t>
            </a:r>
            <a:r>
              <a:rPr lang="en-IN"/>
              <a:t>expressions (Contd.).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5677" y="1205724"/>
          <a:ext cx="8542750" cy="472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019"/>
                <a:gridCol w="2680570"/>
                <a:gridCol w="440916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Special character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Matches with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Example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.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any one character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.at</a:t>
                      </a:r>
                      <a:r>
                        <a:rPr lang="en-US" sz="1600" b="1" baseline="0" dirty="0" smtClean="0"/>
                        <a:t>  </a:t>
                      </a:r>
                      <a:r>
                        <a:rPr lang="en-US" sz="1600" baseline="0" dirty="0" smtClean="0"/>
                        <a:t>   can match strings like cat, bat, rat, etc.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[</a:t>
                      </a:r>
                      <a:r>
                        <a:rPr lang="en-US" sz="1600" baseline="0" dirty="0" smtClean="0"/>
                        <a:t> ]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With any single character within the set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[</a:t>
                      </a:r>
                      <a:r>
                        <a:rPr lang="en-US" sz="1600" b="1" dirty="0" err="1" smtClean="0"/>
                        <a:t>cb</a:t>
                      </a:r>
                      <a:r>
                        <a:rPr lang="en-US" sz="1600" b="1" dirty="0" smtClean="0"/>
                        <a:t>]at </a:t>
                      </a:r>
                      <a:r>
                        <a:rPr lang="en-US" sz="1600" dirty="0" smtClean="0"/>
                        <a:t>    can match with strings cat and bat, but not with rat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*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Zero or</a:t>
                      </a:r>
                      <a:r>
                        <a:rPr lang="en-US" sz="1600" baseline="0" dirty="0" smtClean="0"/>
                        <a:t> more characters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/>
                        <a:t>*.c</a:t>
                      </a:r>
                      <a:r>
                        <a:rPr lang="en-US" sz="1600" dirty="0" smtClean="0"/>
                        <a:t>               any string that ends with .c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/>
                        <a:t>[</a:t>
                      </a:r>
                      <a:r>
                        <a:rPr lang="en-US" sz="1600" b="1" dirty="0" err="1" smtClean="0"/>
                        <a:t>aeiou</a:t>
                      </a:r>
                      <a:r>
                        <a:rPr lang="en-US" sz="1600" b="1" dirty="0" smtClean="0"/>
                        <a:t>]* </a:t>
                      </a:r>
                      <a:r>
                        <a:rPr lang="en-US" sz="1600" dirty="0" smtClean="0"/>
                        <a:t>     any string that begins</a:t>
                      </a:r>
                      <a:r>
                        <a:rPr lang="en-US" sz="1600" baseline="0" dirty="0" smtClean="0"/>
                        <a:t> with a vowel</a:t>
                      </a:r>
                      <a:r>
                        <a:rPr lang="en-US" sz="1600" dirty="0" smtClean="0"/>
                        <a:t> 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[^ ]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Any character other than the set of characters specified in </a:t>
                      </a:r>
                      <a:r>
                        <a:rPr lang="en-US" sz="1600" baseline="0" dirty="0" smtClean="0"/>
                        <a:t>[  ]   -- </a:t>
                      </a:r>
                      <a:r>
                        <a:rPr lang="en-US" sz="1600" baseline="0" dirty="0" err="1" smtClean="0"/>
                        <a:t>complemntary</a:t>
                      </a:r>
                      <a:r>
                        <a:rPr lang="en-US" sz="1600" baseline="0" dirty="0" smtClean="0"/>
                        <a:t> set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smtClean="0"/>
                        <a:t>[^</a:t>
                      </a:r>
                      <a:r>
                        <a:rPr lang="en-US" sz="1600" b="1" dirty="0" err="1" smtClean="0"/>
                        <a:t>aeiou</a:t>
                      </a:r>
                      <a:r>
                        <a:rPr lang="en-US" sz="1600" b="1" dirty="0" smtClean="0"/>
                        <a:t>]*    </a:t>
                      </a:r>
                      <a:r>
                        <a:rPr lang="en-US" sz="1600" dirty="0" smtClean="0"/>
                        <a:t>any string that does</a:t>
                      </a:r>
                      <a:r>
                        <a:rPr lang="en-US" sz="1600" baseline="0" dirty="0" smtClean="0"/>
                        <a:t> not </a:t>
                      </a:r>
                      <a:r>
                        <a:rPr lang="en-US" sz="1600" dirty="0" smtClean="0"/>
                        <a:t>begin</a:t>
                      </a:r>
                      <a:r>
                        <a:rPr lang="en-US" sz="1600" baseline="0" dirty="0" smtClean="0"/>
                        <a:t> with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smtClean="0"/>
                        <a:t>                   a vowel</a:t>
                      </a:r>
                      <a:r>
                        <a:rPr lang="en-US" sz="1600" dirty="0" smtClean="0"/>
                        <a:t> 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^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Line</a:t>
                      </a:r>
                      <a:r>
                        <a:rPr lang="en-US" sz="1600" baseline="0" dirty="0" smtClean="0"/>
                        <a:t> that begin with the p</a:t>
                      </a:r>
                      <a:r>
                        <a:rPr lang="en-US" sz="1600" dirty="0" smtClean="0"/>
                        <a:t>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 smtClean="0"/>
                        <a:t>grep</a:t>
                      </a:r>
                      <a:r>
                        <a:rPr lang="en-US" sz="1600" b="1" baseline="0" dirty="0" smtClean="0"/>
                        <a:t> </a:t>
                      </a:r>
                      <a:r>
                        <a:rPr lang="en-US" sz="1600" b="1" dirty="0" smtClean="0"/>
                        <a:t> “^#”   </a:t>
                      </a:r>
                      <a:r>
                        <a:rPr lang="en-US" sz="1600" b="1" dirty="0" err="1" smtClean="0"/>
                        <a:t>x.c</a:t>
                      </a:r>
                      <a:r>
                        <a:rPr lang="en-US" sz="1600" dirty="0" smtClean="0"/>
                        <a:t>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Lists lines that begin with #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$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Line</a:t>
                      </a:r>
                      <a:r>
                        <a:rPr lang="en-US" sz="1600" baseline="0" dirty="0" smtClean="0"/>
                        <a:t> that end with the p</a:t>
                      </a:r>
                      <a:r>
                        <a:rPr lang="en-US" sz="1600" dirty="0" smtClean="0"/>
                        <a:t>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 smtClean="0"/>
                        <a:t>ls</a:t>
                      </a:r>
                      <a:r>
                        <a:rPr lang="en-US" sz="1600" b="1" dirty="0" smtClean="0"/>
                        <a:t>  – l | </a:t>
                      </a:r>
                      <a:r>
                        <a:rPr lang="en-US" sz="1600" b="1" dirty="0" err="1" smtClean="0"/>
                        <a:t>grep</a:t>
                      </a:r>
                      <a:r>
                        <a:rPr lang="en-US" sz="1600" b="1" dirty="0" smtClean="0"/>
                        <a:t> “.c$”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07034" y="145140"/>
            <a:ext cx="8482942" cy="553998"/>
          </a:xfrm>
        </p:spPr>
        <p:txBody>
          <a:bodyPr/>
          <a:lstStyle/>
          <a:p>
            <a:r>
              <a:rPr lang="en-IN" dirty="0" err="1" smtClean="0"/>
              <a:t>grep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37460" cy="539290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000" b="1" dirty="0" err="1" smtClean="0">
                <a:solidFill>
                  <a:schemeClr val="tx1"/>
                </a:solidFill>
              </a:rPr>
              <a:t>grep</a:t>
            </a:r>
            <a:r>
              <a:rPr lang="en-IN" sz="2000" dirty="0" smtClean="0">
                <a:solidFill>
                  <a:schemeClr val="tx1"/>
                </a:solidFill>
              </a:rPr>
              <a:t> searches specified files and extracts lines matching the criteria specified as arguments</a:t>
            </a:r>
          </a:p>
          <a:p>
            <a:pPr>
              <a:lnSpc>
                <a:spcPct val="120000"/>
              </a:lnSpc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			</a:t>
            </a:r>
            <a:r>
              <a:rPr lang="en-IN" sz="2000" b="1" dirty="0" err="1" smtClean="0">
                <a:solidFill>
                  <a:schemeClr val="tx1"/>
                </a:solidFill>
              </a:rPr>
              <a:t>grep</a:t>
            </a:r>
            <a:r>
              <a:rPr lang="en-IN" sz="2000" b="1" dirty="0" smtClean="0">
                <a:solidFill>
                  <a:schemeClr val="tx1"/>
                </a:solidFill>
              </a:rPr>
              <a:t>  [options]  pattern  [file .... ]</a:t>
            </a:r>
          </a:p>
          <a:p>
            <a:pPr>
              <a:lnSpc>
                <a:spcPct val="120000"/>
              </a:lnSpc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Options can be</a:t>
            </a:r>
          </a:p>
          <a:p>
            <a:pPr>
              <a:lnSpc>
                <a:spcPct val="120000"/>
              </a:lnSpc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	-</a:t>
            </a:r>
            <a:r>
              <a:rPr lang="en-IN" sz="2000" dirty="0" err="1" smtClean="0">
                <a:solidFill>
                  <a:schemeClr val="tx1"/>
                </a:solidFill>
              </a:rPr>
              <a:t>i</a:t>
            </a:r>
            <a:r>
              <a:rPr lang="en-IN" sz="2000" dirty="0" smtClean="0">
                <a:solidFill>
                  <a:schemeClr val="tx1"/>
                </a:solidFill>
              </a:rPr>
              <a:t>		ignore case</a:t>
            </a:r>
          </a:p>
          <a:p>
            <a:pPr>
              <a:lnSpc>
                <a:spcPct val="12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   -v		other than the lines containing the pattern</a:t>
            </a:r>
          </a:p>
          <a:p>
            <a:pPr>
              <a:lnSpc>
                <a:spcPct val="12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	-c		print the count of matches or non-matches (in case of –v option)</a:t>
            </a:r>
          </a:p>
          <a:p>
            <a:pPr>
              <a:lnSpc>
                <a:spcPct val="12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	-n		print line number</a:t>
            </a:r>
          </a:p>
          <a:p>
            <a:pPr>
              <a:lnSpc>
                <a:spcPct val="12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   -E		interpret pattern as </a:t>
            </a:r>
            <a:r>
              <a:rPr lang="en-IN" sz="2000" smtClean="0">
                <a:solidFill>
                  <a:schemeClr val="tx1"/>
                </a:solidFill>
              </a:rPr>
              <a:t>extended </a:t>
            </a:r>
            <a:r>
              <a:rPr lang="en-IN" sz="2000" smtClean="0">
                <a:solidFill>
                  <a:schemeClr val="tx1"/>
                </a:solidFill>
              </a:rPr>
              <a:t>regular expression</a:t>
            </a:r>
            <a:endParaRPr lang="en-IN" sz="2000" dirty="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/>
              <a:t>grep</a:t>
            </a:r>
            <a:r>
              <a:rPr lang="en-IN" dirty="0" smtClean="0"/>
              <a:t> – examples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944494" cy="5392902"/>
          </a:xfrm>
        </p:spPr>
        <p:txBody>
          <a:bodyPr>
            <a:normAutofit/>
          </a:bodyPr>
          <a:lstStyle/>
          <a:p>
            <a:r>
              <a:rPr lang="en-IN" sz="2000" dirty="0" smtClean="0"/>
              <a:t>Examples</a:t>
            </a:r>
          </a:p>
          <a:p>
            <a:endParaRPr lang="en-IN" sz="2000" dirty="0" smtClean="0"/>
          </a:p>
          <a:p>
            <a:pPr lvl="1">
              <a:buNone/>
            </a:pPr>
            <a:r>
              <a:rPr lang="en-IN" sz="2000" b="1" dirty="0" smtClean="0">
                <a:solidFill>
                  <a:srgbClr val="0000CC"/>
                </a:solidFill>
              </a:rPr>
              <a:t>$  </a:t>
            </a:r>
            <a:r>
              <a:rPr lang="en-IN" sz="2000" b="1" dirty="0" err="1" smtClean="0">
                <a:solidFill>
                  <a:srgbClr val="0000CC"/>
                </a:solidFill>
              </a:rPr>
              <a:t>ls</a:t>
            </a:r>
            <a:r>
              <a:rPr lang="en-IN" sz="2000" b="1" dirty="0" smtClean="0">
                <a:solidFill>
                  <a:srgbClr val="0000CC"/>
                </a:solidFill>
              </a:rPr>
              <a:t>   -l  | </a:t>
            </a:r>
            <a:r>
              <a:rPr lang="en-IN" sz="2000" b="1" dirty="0" err="1" smtClean="0">
                <a:solidFill>
                  <a:srgbClr val="0000CC"/>
                </a:solidFill>
              </a:rPr>
              <a:t>grep</a:t>
            </a:r>
            <a:r>
              <a:rPr lang="en-IN" sz="2000" b="1" dirty="0" smtClean="0">
                <a:solidFill>
                  <a:srgbClr val="0000CC"/>
                </a:solidFill>
              </a:rPr>
              <a:t>  –c  </a:t>
            </a:r>
            <a:r>
              <a:rPr lang="sv-SE" sz="2000" b="1" dirty="0" smtClean="0">
                <a:solidFill>
                  <a:srgbClr val="0000CC"/>
                </a:solidFill>
              </a:rPr>
              <a:t>"</a:t>
            </a:r>
            <a:r>
              <a:rPr lang="en-IN" sz="2000" b="1" dirty="0" smtClean="0">
                <a:solidFill>
                  <a:srgbClr val="0000CC"/>
                </a:solidFill>
              </a:rPr>
              <a:t>^d</a:t>
            </a:r>
            <a:r>
              <a:rPr lang="sv-SE" sz="2000" b="1" dirty="0" smtClean="0">
                <a:solidFill>
                  <a:srgbClr val="0000CC"/>
                </a:solidFill>
              </a:rPr>
              <a:t>"</a:t>
            </a:r>
            <a:r>
              <a:rPr lang="en-IN" sz="1600" dirty="0" smtClean="0"/>
              <a:t>		</a:t>
            </a:r>
            <a:r>
              <a:rPr lang="en-IN" dirty="0" smtClean="0"/>
              <a:t>prints the number of sub-directories</a:t>
            </a:r>
          </a:p>
          <a:p>
            <a:pPr lvl="1">
              <a:buNone/>
            </a:pPr>
            <a:r>
              <a:rPr lang="en-IN" dirty="0" smtClean="0"/>
              <a:t>									in the current	</a:t>
            </a:r>
            <a:r>
              <a:rPr lang="en-IN" sz="1000" dirty="0" smtClean="0"/>
              <a:t> </a:t>
            </a:r>
            <a:r>
              <a:rPr lang="en-IN" dirty="0" smtClean="0"/>
              <a:t>directory</a:t>
            </a:r>
            <a:endParaRPr lang="en-IN" sz="800" dirty="0" smtClean="0"/>
          </a:p>
          <a:p>
            <a:pPr lvl="1"/>
            <a:endParaRPr lang="en-IN" sz="1600" dirty="0" smtClean="0"/>
          </a:p>
          <a:p>
            <a:pPr lvl="1"/>
            <a:endParaRPr lang="en-IN" sz="1600" dirty="0" smtClean="0"/>
          </a:p>
          <a:p>
            <a:pPr lvl="1">
              <a:buNone/>
            </a:pPr>
            <a:r>
              <a:rPr lang="en-IN" sz="2000" b="1" dirty="0" smtClean="0">
                <a:solidFill>
                  <a:srgbClr val="0000CC"/>
                </a:solidFill>
              </a:rPr>
              <a:t>$  </a:t>
            </a:r>
            <a:r>
              <a:rPr lang="en-IN" sz="2000" b="1" dirty="0" err="1" smtClean="0">
                <a:solidFill>
                  <a:srgbClr val="0000CC"/>
                </a:solidFill>
              </a:rPr>
              <a:t>ls</a:t>
            </a:r>
            <a:r>
              <a:rPr lang="en-IN" sz="2000" b="1" dirty="0" smtClean="0">
                <a:solidFill>
                  <a:srgbClr val="0000CC"/>
                </a:solidFill>
              </a:rPr>
              <a:t>   -l  | </a:t>
            </a:r>
            <a:r>
              <a:rPr lang="en-IN" sz="2000" b="1" dirty="0" err="1" smtClean="0">
                <a:solidFill>
                  <a:srgbClr val="0000CC"/>
                </a:solidFill>
              </a:rPr>
              <a:t>grep</a:t>
            </a:r>
            <a:r>
              <a:rPr lang="en-IN" sz="2000" b="1" dirty="0" smtClean="0">
                <a:solidFill>
                  <a:srgbClr val="0000CC"/>
                </a:solidFill>
              </a:rPr>
              <a:t> –v   </a:t>
            </a:r>
            <a:r>
              <a:rPr lang="sv-SE" sz="2000" b="1" dirty="0" smtClean="0">
                <a:solidFill>
                  <a:srgbClr val="0000CC"/>
                </a:solidFill>
              </a:rPr>
              <a:t>"</a:t>
            </a:r>
            <a:r>
              <a:rPr lang="en-IN" sz="2000" b="1" dirty="0" smtClean="0">
                <a:solidFill>
                  <a:srgbClr val="0000CC"/>
                </a:solidFill>
              </a:rPr>
              <a:t>^d</a:t>
            </a:r>
            <a:r>
              <a:rPr lang="sv-SE" sz="2000" b="1" dirty="0" smtClean="0">
                <a:solidFill>
                  <a:srgbClr val="0000CC"/>
                </a:solidFill>
              </a:rPr>
              <a:t>" </a:t>
            </a:r>
            <a:r>
              <a:rPr lang="en-IN" sz="2000" dirty="0" smtClean="0"/>
              <a:t>		</a:t>
            </a:r>
            <a:r>
              <a:rPr lang="en-IN" dirty="0" smtClean="0"/>
              <a:t>prints details of all files, other than directories</a:t>
            </a:r>
          </a:p>
          <a:p>
            <a:pPr lvl="1"/>
            <a:endParaRPr lang="en-IN" sz="1600" dirty="0" smtClean="0"/>
          </a:p>
          <a:p>
            <a:pPr lvl="1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$  </a:t>
            </a:r>
            <a:r>
              <a:rPr lang="en-US" sz="2000" b="1" dirty="0" err="1" smtClean="0">
                <a:solidFill>
                  <a:srgbClr val="0000CC"/>
                </a:solidFill>
              </a:rPr>
              <a:t>grep</a:t>
            </a:r>
            <a:r>
              <a:rPr lang="en-US" sz="2000" b="1" dirty="0" smtClean="0">
                <a:solidFill>
                  <a:srgbClr val="0000CC"/>
                </a:solidFill>
              </a:rPr>
              <a:t>   -</a:t>
            </a:r>
            <a:r>
              <a:rPr lang="en-US" sz="2000" b="1" dirty="0" err="1" smtClean="0">
                <a:solidFill>
                  <a:srgbClr val="0000CC"/>
                </a:solidFill>
              </a:rPr>
              <a:t>i</a:t>
            </a:r>
            <a:r>
              <a:rPr lang="en-US" sz="2000" b="1" dirty="0" smtClean="0">
                <a:solidFill>
                  <a:srgbClr val="0000CC"/>
                </a:solidFill>
              </a:rPr>
              <a:t>    '^a...a$'   /</a:t>
            </a:r>
            <a:r>
              <a:rPr lang="en-US" sz="2000" b="1" dirty="0" err="1" smtClean="0">
                <a:solidFill>
                  <a:srgbClr val="0000CC"/>
                </a:solidFill>
              </a:rPr>
              <a:t>usr</a:t>
            </a:r>
            <a:r>
              <a:rPr lang="en-US" sz="2000" b="1" dirty="0" smtClean="0">
                <a:solidFill>
                  <a:srgbClr val="0000CC"/>
                </a:solidFill>
              </a:rPr>
              <a:t>/share/</a:t>
            </a:r>
            <a:r>
              <a:rPr lang="en-US" sz="2000" b="1" dirty="0" err="1" smtClean="0">
                <a:solidFill>
                  <a:srgbClr val="0000CC"/>
                </a:solidFill>
              </a:rPr>
              <a:t>dict</a:t>
            </a:r>
            <a:r>
              <a:rPr lang="en-US" sz="2000" b="1" dirty="0" smtClean="0">
                <a:solidFill>
                  <a:srgbClr val="0000CC"/>
                </a:solidFill>
              </a:rPr>
              <a:t>/words</a:t>
            </a:r>
            <a:r>
              <a:rPr lang="en-US" sz="2000" dirty="0" smtClean="0"/>
              <a:t>		</a:t>
            </a:r>
            <a:endParaRPr lang="en-US" sz="1600" dirty="0" smtClean="0"/>
          </a:p>
          <a:p>
            <a:pPr lvl="1">
              <a:buNone/>
            </a:pPr>
            <a:r>
              <a:rPr lang="en-US" sz="1600" dirty="0" smtClean="0"/>
              <a:t>							</a:t>
            </a:r>
            <a:r>
              <a:rPr lang="en-US" dirty="0" smtClean="0"/>
              <a:t>prints 5 letter words that begin and end with </a:t>
            </a:r>
            <a:r>
              <a:rPr lang="en-US" sz="2000" b="1" dirty="0" smtClean="0"/>
              <a:t>a</a:t>
            </a:r>
            <a:endParaRPr lang="en-US" b="1" dirty="0" smtClean="0"/>
          </a:p>
          <a:p>
            <a:pPr lvl="1"/>
            <a:endParaRPr lang="en-US" sz="1600" dirty="0" smtClean="0"/>
          </a:p>
          <a:p>
            <a:pPr lvl="1"/>
            <a:endParaRPr lang="en-IN" sz="1600" dirty="0" smtClean="0"/>
          </a:p>
          <a:p>
            <a:pPr lvl="1"/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/>
              <a:t>egrep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944494" cy="5392902"/>
          </a:xfrm>
        </p:spPr>
        <p:txBody>
          <a:bodyPr>
            <a:normAutofit/>
          </a:bodyPr>
          <a:lstStyle/>
          <a:p>
            <a:r>
              <a:rPr lang="en-IN" sz="2000" b="1" dirty="0" err="1" smtClean="0">
                <a:solidFill>
                  <a:srgbClr val="0000CC"/>
                </a:solidFill>
              </a:rPr>
              <a:t>egrep</a:t>
            </a:r>
            <a:r>
              <a:rPr lang="en-IN" sz="2000" b="1" dirty="0" smtClean="0">
                <a:solidFill>
                  <a:srgbClr val="0000CC"/>
                </a:solidFill>
              </a:rPr>
              <a:t> </a:t>
            </a:r>
            <a:r>
              <a:rPr lang="en-IN" sz="2000" dirty="0" smtClean="0"/>
              <a:t>(extended </a:t>
            </a:r>
            <a:r>
              <a:rPr lang="en-IN" sz="2000" dirty="0" err="1" smtClean="0"/>
              <a:t>grep</a:t>
            </a:r>
            <a:r>
              <a:rPr lang="en-IN" sz="2000" dirty="0" smtClean="0"/>
              <a:t>) is more powerful than </a:t>
            </a:r>
            <a:r>
              <a:rPr lang="en-IN" sz="2000" dirty="0" err="1" smtClean="0"/>
              <a:t>grep</a:t>
            </a:r>
            <a:r>
              <a:rPr lang="en-IN" sz="2000" dirty="0" smtClean="0"/>
              <a:t>.</a:t>
            </a:r>
          </a:p>
          <a:p>
            <a:r>
              <a:rPr lang="en-IN" sz="2000" dirty="0" smtClean="0"/>
              <a:t>It allows to search for  pattern-A or pattern-B </a:t>
            </a:r>
          </a:p>
          <a:p>
            <a:endParaRPr lang="en-IN" sz="2000" dirty="0" smtClean="0"/>
          </a:p>
          <a:p>
            <a:r>
              <a:rPr lang="en-IN" sz="2000" dirty="0" smtClean="0"/>
              <a:t>Example</a:t>
            </a:r>
          </a:p>
          <a:p>
            <a:endParaRPr lang="en-IN" sz="2000" dirty="0" smtClean="0"/>
          </a:p>
          <a:p>
            <a:pPr lvl="1">
              <a:buNone/>
            </a:pPr>
            <a:r>
              <a:rPr lang="sv-SE" sz="2000" b="1" dirty="0" smtClean="0">
                <a:solidFill>
                  <a:srgbClr val="0000CC"/>
                </a:solidFill>
              </a:rPr>
              <a:t>$   ls -l /dev  |  egrep   "^c|^b"</a:t>
            </a:r>
          </a:p>
          <a:p>
            <a:pPr lvl="1">
              <a:buNone/>
            </a:pPr>
            <a:endParaRPr lang="sv-SE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r>
              <a:rPr lang="sv-SE" b="1" dirty="0" smtClean="0">
                <a:solidFill>
                  <a:srgbClr val="0000CC"/>
                </a:solidFill>
              </a:rPr>
              <a:t>	</a:t>
            </a:r>
            <a:r>
              <a:rPr lang="sv-SE" sz="2000" dirty="0" smtClean="0">
                <a:cs typeface="Arial"/>
              </a:rPr>
              <a:t>the pattern "^c|^b”  indicates, lines beginning with c or b.</a:t>
            </a:r>
          </a:p>
          <a:p>
            <a:pPr lvl="1">
              <a:buNone/>
            </a:pPr>
            <a:endParaRPr lang="sv-SE" sz="2000" dirty="0" smtClean="0">
              <a:cs typeface="Arial"/>
            </a:endParaRPr>
          </a:p>
          <a:p>
            <a:pPr lvl="1">
              <a:buNone/>
            </a:pPr>
            <a:r>
              <a:rPr lang="sv-SE" sz="2000" dirty="0" smtClean="0">
                <a:cs typeface="Arial"/>
              </a:rPr>
              <a:t>The command prints details of character and block device files.</a:t>
            </a:r>
          </a:p>
          <a:p>
            <a:pPr lvl="1">
              <a:buNone/>
            </a:pPr>
            <a:endParaRPr lang="sv-SE" sz="2000" dirty="0" smtClean="0">
              <a:cs typeface="Arial"/>
            </a:endParaRPr>
          </a:p>
          <a:p>
            <a:pPr lvl="1">
              <a:buNone/>
            </a:pPr>
            <a:r>
              <a:rPr lang="sv-SE" sz="2000" b="1" dirty="0" smtClean="0">
                <a:solidFill>
                  <a:srgbClr val="0000CC"/>
                </a:solidFill>
              </a:rPr>
              <a:t>$   ls -l /dev  |  grep  -E   "^c|^b"</a:t>
            </a:r>
          </a:p>
          <a:p>
            <a:pPr lvl="1">
              <a:buNone/>
            </a:pPr>
            <a:endParaRPr lang="sv-SE" sz="2000" dirty="0" smtClean="0">
              <a:cs typeface="Arial"/>
            </a:endParaRPr>
          </a:p>
          <a:p>
            <a:pPr lvl="1">
              <a:buNone/>
            </a:pPr>
            <a:endParaRPr lang="sv-SE" sz="2000" dirty="0" smtClean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I/O Redirection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07034" y="145140"/>
            <a:ext cx="8482942" cy="553998"/>
          </a:xfrm>
        </p:spPr>
        <p:txBody>
          <a:bodyPr/>
          <a:lstStyle/>
          <a:p>
            <a:r>
              <a:rPr lang="en-IN" dirty="0" smtClean="0"/>
              <a:t>I/O Redirection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633943" cy="59860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dirty="0" smtClean="0"/>
              <a:t>By default some utilities read from standard input, if no file is specified.</a:t>
            </a:r>
          </a:p>
          <a:p>
            <a:pPr>
              <a:lnSpc>
                <a:spcPct val="150000"/>
              </a:lnSpc>
            </a:pPr>
            <a:r>
              <a:rPr lang="en-IN" sz="1800" dirty="0" smtClean="0"/>
              <a:t>Most often programs write output only to standard output (screen)</a:t>
            </a:r>
          </a:p>
          <a:p>
            <a:pPr>
              <a:lnSpc>
                <a:spcPct val="150000"/>
              </a:lnSpc>
            </a:pPr>
            <a:endParaRPr lang="en-IN" sz="2000" dirty="0" smtClean="0"/>
          </a:p>
          <a:p>
            <a:pPr>
              <a:lnSpc>
                <a:spcPct val="150000"/>
              </a:lnSpc>
            </a:pPr>
            <a:endParaRPr lang="en-IN" sz="2000" dirty="0" smtClean="0"/>
          </a:p>
          <a:p>
            <a:pPr>
              <a:lnSpc>
                <a:spcPct val="150000"/>
              </a:lnSpc>
            </a:pPr>
            <a:endParaRPr lang="en-IN" sz="2000" dirty="0" smtClean="0"/>
          </a:p>
          <a:p>
            <a:pPr>
              <a:lnSpc>
                <a:spcPct val="150000"/>
              </a:lnSpc>
            </a:pPr>
            <a:endParaRPr lang="en-IN" sz="2000" dirty="0" smtClean="0"/>
          </a:p>
          <a:p>
            <a:pPr>
              <a:lnSpc>
                <a:spcPct val="150000"/>
              </a:lnSpc>
            </a:pPr>
            <a:r>
              <a:rPr lang="en-IN" sz="1800" dirty="0" smtClean="0"/>
              <a:t>Some times need arises where input and/or output need to be redirected from/to a file.</a:t>
            </a:r>
            <a:endParaRPr lang="en-IN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24217" y="2079836"/>
          <a:ext cx="449785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086"/>
                <a:gridCol w="269377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File descriptor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Default Target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Standard input (keyboard)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Standard output (screen)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Standard error (screen)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41540" y="145140"/>
            <a:ext cx="8448436" cy="553998"/>
          </a:xfrm>
        </p:spPr>
        <p:txBody>
          <a:bodyPr/>
          <a:lstStyle/>
          <a:p>
            <a:r>
              <a:rPr lang="en-IN" smtClean="0"/>
              <a:t>I/O </a:t>
            </a:r>
            <a:r>
              <a:rPr lang="en-IN"/>
              <a:t>Redirection 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944494" cy="5986026"/>
          </a:xfrm>
        </p:spPr>
        <p:txBody>
          <a:bodyPr>
            <a:normAutofit/>
          </a:bodyPr>
          <a:lstStyle/>
          <a:p>
            <a:r>
              <a:rPr lang="en-IN" sz="1800" dirty="0" smtClean="0"/>
              <a:t>Shell provides special symbols for this purpose.</a:t>
            </a:r>
          </a:p>
          <a:p>
            <a:endParaRPr lang="en-IN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88" y="1528956"/>
          <a:ext cx="8365524" cy="2817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893"/>
                <a:gridCol w="3406375"/>
                <a:gridCol w="3814256"/>
              </a:tblGrid>
              <a:tr h="348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Symbol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Meaning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Example</a:t>
                      </a:r>
                      <a:endParaRPr lang="en-US" sz="1600" dirty="0"/>
                    </a:p>
                  </a:txBody>
                  <a:tcPr/>
                </a:tc>
              </a:tr>
              <a:tr h="347370">
                <a:tc>
                  <a:txBody>
                    <a:bodyPr/>
                    <a:lstStyle/>
                    <a:p>
                      <a:pPr algn="ctr">
                        <a:buFont typeface="Wingdings"/>
                        <a:buNone/>
                      </a:pPr>
                      <a:r>
                        <a:rPr lang="en-US" sz="1600" b="1" dirty="0" smtClean="0"/>
                        <a:t>&gt;</a:t>
                      </a:r>
                      <a:r>
                        <a:rPr lang="en-US" sz="1600" b="1" baseline="0" dirty="0" smtClean="0"/>
                        <a:t>  </a:t>
                      </a:r>
                      <a:r>
                        <a:rPr lang="en-US" sz="1600" b="1" dirty="0" smtClean="0"/>
                        <a:t>out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“out”</a:t>
                      </a:r>
                      <a:r>
                        <a:rPr lang="en-US" sz="16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considered as output file instead of screen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  </a:t>
                      </a:r>
                      <a:r>
                        <a:rPr lang="en-US" sz="1600" dirty="0" err="1" smtClean="0"/>
                        <a:t>ls</a:t>
                      </a:r>
                      <a:r>
                        <a:rPr lang="en-US" sz="1600" baseline="0" dirty="0" smtClean="0"/>
                        <a:t>  –l  &gt; out</a:t>
                      </a:r>
                      <a:endParaRPr lang="en-US" sz="1600" dirty="0"/>
                    </a:p>
                  </a:txBody>
                  <a:tcPr/>
                </a:tc>
              </a:tr>
              <a:tr h="34831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&lt;</a:t>
                      </a:r>
                      <a:r>
                        <a:rPr lang="en-US" sz="1600" b="1" baseline="0" dirty="0" smtClean="0"/>
                        <a:t>  </a:t>
                      </a:r>
                      <a:r>
                        <a:rPr lang="en-US" sz="1600" b="1" baseline="0" dirty="0" err="1" smtClean="0"/>
                        <a:t>abc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considered as input file instead of keyboard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  cat  &lt;  </a:t>
                      </a:r>
                      <a:r>
                        <a:rPr lang="en-US" sz="1600" dirty="0" err="1" smtClean="0"/>
                        <a:t>abc</a:t>
                      </a:r>
                      <a:endParaRPr lang="en-US" sz="1600" dirty="0" smtClean="0"/>
                    </a:p>
                  </a:txBody>
                  <a:tcPr/>
                </a:tc>
              </a:tr>
              <a:tr h="43016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2&gt;</a:t>
                      </a:r>
                      <a:r>
                        <a:rPr lang="en-US" sz="1600" baseline="0" dirty="0" smtClean="0"/>
                        <a:t>  out.err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Redirect error to specified </a:t>
                      </a:r>
                      <a:r>
                        <a:rPr lang="en-US" sz="1600" b="0" dirty="0" smtClean="0"/>
                        <a:t>file  </a:t>
                      </a:r>
                      <a:r>
                        <a:rPr lang="en-US" sz="1800" b="1" dirty="0" smtClean="0"/>
                        <a:t>out.err</a:t>
                      </a:r>
                      <a:endParaRPr lang="en-US" sz="16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$  </a:t>
                      </a:r>
                      <a:r>
                        <a:rPr lang="en-US" sz="1600" dirty="0" err="1" smtClean="0"/>
                        <a:t>ls</a:t>
                      </a:r>
                      <a:r>
                        <a:rPr lang="en-US" sz="1600" baseline="0" dirty="0" smtClean="0"/>
                        <a:t>  –l   &gt; out     2 &gt; out.err</a:t>
                      </a:r>
                      <a:endParaRPr lang="en-US" sz="1600" dirty="0" smtClean="0"/>
                    </a:p>
                  </a:txBody>
                  <a:tcPr/>
                </a:tc>
              </a:tr>
              <a:tr h="38519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m&gt;&amp;n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Merge output of descriptor </a:t>
                      </a:r>
                      <a:r>
                        <a:rPr lang="en-US" sz="1800" b="1" dirty="0" smtClean="0"/>
                        <a:t>m </a:t>
                      </a:r>
                      <a:r>
                        <a:rPr lang="en-US" sz="1600" dirty="0" smtClean="0"/>
                        <a:t>with that of </a:t>
                      </a:r>
                      <a:r>
                        <a:rPr lang="en-US" sz="1800" b="1" dirty="0" smtClean="0"/>
                        <a:t>n</a:t>
                      </a:r>
                      <a:endParaRPr lang="en-US" sz="16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$  </a:t>
                      </a:r>
                      <a:r>
                        <a:rPr lang="en-US" sz="1600" dirty="0" err="1" smtClean="0"/>
                        <a:t>ls</a:t>
                      </a:r>
                      <a:r>
                        <a:rPr lang="en-US" sz="1600" baseline="0" dirty="0" smtClean="0"/>
                        <a:t>  –l    &gt; out    2&gt;&amp;1</a:t>
                      </a:r>
                      <a:endParaRPr lang="en-US" sz="16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I/O Redirection – more examples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3841153" cy="17723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dirty="0" smtClean="0"/>
              <a:t>$  cat   &lt; </a:t>
            </a:r>
            <a:r>
              <a:rPr lang="en-IN" sz="2400" dirty="0" err="1" smtClean="0"/>
              <a:t>abc</a:t>
            </a:r>
            <a:endParaRPr lang="en-IN" sz="2400" dirty="0" smtClean="0"/>
          </a:p>
          <a:p>
            <a:pPr>
              <a:buNone/>
            </a:pPr>
            <a:r>
              <a:rPr lang="en-IN" sz="2400" dirty="0" smtClean="0"/>
              <a:t>This is equivalent to </a:t>
            </a:r>
          </a:p>
          <a:p>
            <a:pPr>
              <a:buNone/>
            </a:pPr>
            <a:r>
              <a:rPr lang="en-IN" sz="2400" dirty="0" smtClean="0"/>
              <a:t>		</a:t>
            </a:r>
            <a:r>
              <a:rPr lang="en-IN" sz="2400" dirty="0" smtClean="0">
                <a:solidFill>
                  <a:srgbClr val="0000CC"/>
                </a:solidFill>
              </a:rPr>
              <a:t>$  cat  </a:t>
            </a:r>
            <a:r>
              <a:rPr lang="en-IN" sz="2400" dirty="0" err="1" smtClean="0">
                <a:solidFill>
                  <a:srgbClr val="0000CC"/>
                </a:solidFill>
              </a:rPr>
              <a:t>abc</a:t>
            </a:r>
            <a:endParaRPr lang="en-IN" sz="2400" dirty="0" smtClean="0">
              <a:solidFill>
                <a:srgbClr val="0000CC"/>
              </a:solidFill>
            </a:endParaRPr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endParaRPr lang="en-IN" sz="2000" dirty="0"/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5109351" y="863734"/>
            <a:ext cx="3841153" cy="29215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$  cat  </a:t>
            </a:r>
            <a:r>
              <a:rPr kumimoji="0" lang="en-I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abc</a:t>
            </a: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&gt; xyz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This is equivalent to 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		</a:t>
            </a: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$  cp  </a:t>
            </a:r>
            <a:r>
              <a:rPr kumimoji="0" lang="en-I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abc</a:t>
            </a:r>
            <a:r>
              <a:rPr kumimoji="0" lang="en-I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xyz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693" y="2427995"/>
            <a:ext cx="8688268" cy="311677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2" name="Bent Arrow 11"/>
          <p:cNvSpPr/>
          <p:nvPr/>
        </p:nvSpPr>
        <p:spPr>
          <a:xfrm rot="10800000">
            <a:off x="5830026" y="3938599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Bent Arrow 12"/>
          <p:cNvSpPr/>
          <p:nvPr/>
        </p:nvSpPr>
        <p:spPr>
          <a:xfrm rot="10800000">
            <a:off x="5153621" y="2473054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Filters &amp; Pipes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62309" y="145140"/>
            <a:ext cx="8327667" cy="553998"/>
          </a:xfrm>
        </p:spPr>
        <p:txBody>
          <a:bodyPr/>
          <a:lstStyle/>
          <a:p>
            <a:r>
              <a:rPr lang="en-IN" dirty="0" smtClean="0"/>
              <a:t>Filters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616690" cy="5365988"/>
          </a:xfrm>
        </p:spPr>
        <p:txBody>
          <a:bodyPr/>
          <a:lstStyle/>
          <a:p>
            <a:pPr algn="just"/>
            <a:r>
              <a:rPr lang="en-IN" b="1" dirty="0" smtClean="0">
                <a:solidFill>
                  <a:schemeClr val="tx1"/>
                </a:solidFill>
              </a:rPr>
              <a:t>Filter</a:t>
            </a:r>
            <a:r>
              <a:rPr lang="en-IN" dirty="0" smtClean="0">
                <a:solidFill>
                  <a:schemeClr val="tx1"/>
                </a:solidFill>
              </a:rPr>
              <a:t> is a program that accepts a stream of data, processes and produces output onto the standard output.</a:t>
            </a:r>
          </a:p>
          <a:p>
            <a:pPr lvl="1" algn="just"/>
            <a:r>
              <a:rPr lang="en-IN" dirty="0" smtClean="0">
                <a:solidFill>
                  <a:schemeClr val="tx1"/>
                </a:solidFill>
              </a:rPr>
              <a:t>If no input file is specified, it takes data from standard input</a:t>
            </a:r>
          </a:p>
          <a:p>
            <a:pPr algn="just"/>
            <a:r>
              <a:rPr lang="en-IN" dirty="0" smtClean="0">
                <a:solidFill>
                  <a:schemeClr val="tx1"/>
                </a:solidFill>
              </a:rPr>
              <a:t>Filters are used to process text data and produce output according to a criteria.</a:t>
            </a:r>
          </a:p>
          <a:p>
            <a:pPr algn="just"/>
            <a:r>
              <a:rPr lang="en-IN" dirty="0" smtClean="0">
                <a:solidFill>
                  <a:schemeClr val="tx1"/>
                </a:solidFill>
              </a:rPr>
              <a:t>Each filter is designed to serve a specific purpose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Examples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cat	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concatenation of files</a:t>
            </a:r>
          </a:p>
          <a:p>
            <a:pPr lvl="1">
              <a:buFontTx/>
              <a:buChar char="-"/>
            </a:pP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grep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 extract lines from a file containing or not containing a pattern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sort		 sort data according to specified criteria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head		 print first N lines of a file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tail		 print last N lines of a file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cut		 extract column(s) of text from a file</a:t>
            </a:r>
          </a:p>
          <a:p>
            <a:pPr lvl="1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sort – </a:t>
            </a:r>
            <a:r>
              <a:rPr lang="en-IN" dirty="0" smtClean="0"/>
              <a:t>examples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5889" y="1112508"/>
            <a:ext cx="5772150" cy="24479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grpSp>
        <p:nvGrpSpPr>
          <p:cNvPr id="11" name="Group 10"/>
          <p:cNvGrpSpPr/>
          <p:nvPr/>
        </p:nvGrpSpPr>
        <p:grpSpPr>
          <a:xfrm>
            <a:off x="325120" y="3576320"/>
            <a:ext cx="5838607" cy="2905443"/>
            <a:chOff x="325120" y="3576320"/>
            <a:chExt cx="5838607" cy="2905443"/>
          </a:xfrm>
        </p:grpSpPr>
        <p:sp>
          <p:nvSpPr>
            <p:cNvPr id="7" name="TextBox 6"/>
            <p:cNvSpPr txBox="1"/>
            <p:nvPr/>
          </p:nvSpPr>
          <p:spPr>
            <a:xfrm>
              <a:off x="325120" y="3576320"/>
              <a:ext cx="25090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smtClean="0">
                  <a:solidFill>
                    <a:srgbClr val="0000CC"/>
                  </a:solidFill>
                </a:rPr>
                <a:t>Sort on user name</a:t>
              </a: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43952" y="4033838"/>
              <a:ext cx="5819775" cy="24479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pic>
      </p:grpSp>
      <p:sp>
        <p:nvSpPr>
          <p:cNvPr id="8" name="TextBox 7"/>
          <p:cNvSpPr txBox="1"/>
          <p:nvPr/>
        </p:nvSpPr>
        <p:spPr>
          <a:xfrm>
            <a:off x="6536987" y="4299625"/>
            <a:ext cx="21595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sort, without any option sorts in ASCII order</a:t>
            </a:r>
          </a:p>
        </p:txBody>
      </p:sp>
      <p:sp>
        <p:nvSpPr>
          <p:cNvPr id="12" name="Bent Arrow 11"/>
          <p:cNvSpPr/>
          <p:nvPr/>
        </p:nvSpPr>
        <p:spPr>
          <a:xfrm rot="10800000">
            <a:off x="1734015" y="4076385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24287" y="145140"/>
            <a:ext cx="8465689" cy="553998"/>
          </a:xfrm>
        </p:spPr>
        <p:txBody>
          <a:bodyPr/>
          <a:lstStyle/>
          <a:p>
            <a:r>
              <a:rPr lang="en-IN" dirty="0"/>
              <a:t>sort </a:t>
            </a:r>
            <a:r>
              <a:rPr lang="en-IN"/>
              <a:t>– </a:t>
            </a:r>
            <a:r>
              <a:rPr lang="en-IN"/>
              <a:t>examples (Contd.). 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48220" y="860938"/>
            <a:ext cx="258596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</a:rPr>
              <a:t>Sort on single field </a:t>
            </a:r>
          </a:p>
          <a:p>
            <a:endParaRPr lang="en-US" sz="2200" dirty="0" smtClean="0">
              <a:solidFill>
                <a:srgbClr val="0000CC"/>
              </a:solidFill>
            </a:endParaRPr>
          </a:p>
          <a:p>
            <a:r>
              <a:rPr lang="en-US" sz="2000" dirty="0" smtClean="0"/>
              <a:t>Sort on user id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9624" y="1230252"/>
            <a:ext cx="5800725" cy="25241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8" name="Bent Arrow 7"/>
          <p:cNvSpPr/>
          <p:nvPr/>
        </p:nvSpPr>
        <p:spPr>
          <a:xfrm rot="10800000">
            <a:off x="6280963" y="1283081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7535" y="3946781"/>
            <a:ext cx="2741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Sort on shell name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6751" y="3968222"/>
            <a:ext cx="5810250" cy="2505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sort </a:t>
            </a:r>
            <a:r>
              <a:rPr lang="en-IN"/>
              <a:t>– </a:t>
            </a:r>
            <a:r>
              <a:rPr lang="en-IN"/>
              <a:t>examples (Contd.).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35625" y="989955"/>
            <a:ext cx="53392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</a:rPr>
              <a:t>Sorting on multiple fields</a:t>
            </a:r>
          </a:p>
          <a:p>
            <a:endParaRPr lang="en-US" sz="2200" dirty="0" smtClean="0">
              <a:solidFill>
                <a:srgbClr val="0000CC"/>
              </a:solidFill>
            </a:endParaRPr>
          </a:p>
          <a:p>
            <a:r>
              <a:rPr lang="en-US" sz="2000" dirty="0" smtClean="0"/>
              <a:t>Sort on shell name &amp; user id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647" y="2217750"/>
            <a:ext cx="5781675" cy="24955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4" name="Bent Arrow 13"/>
          <p:cNvSpPr/>
          <p:nvPr/>
        </p:nvSpPr>
        <p:spPr>
          <a:xfrm rot="10800000">
            <a:off x="4815415" y="2247586"/>
            <a:ext cx="332781" cy="257619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h</a:t>
            </a:r>
            <a:r>
              <a:rPr lang="en-IN" dirty="0" smtClean="0"/>
              <a:t>ead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491248"/>
          </a:xfrm>
        </p:spPr>
        <p:txBody>
          <a:bodyPr>
            <a:normAutofit/>
          </a:bodyPr>
          <a:lstStyle/>
          <a:p>
            <a:pPr marL="457200" indent="-457200" algn="just"/>
            <a:r>
              <a:rPr lang="en-IN" sz="2000" dirty="0" smtClean="0">
                <a:solidFill>
                  <a:schemeClr val="tx1"/>
                </a:solidFill>
              </a:rPr>
              <a:t>The command </a:t>
            </a:r>
            <a:r>
              <a:rPr lang="en-IN" sz="2000" b="1" dirty="0" smtClean="0">
                <a:solidFill>
                  <a:schemeClr val="tx1"/>
                </a:solidFill>
              </a:rPr>
              <a:t>head</a:t>
            </a:r>
            <a:r>
              <a:rPr lang="en-IN" sz="2000" dirty="0" smtClean="0">
                <a:solidFill>
                  <a:schemeClr val="tx1"/>
                </a:solidFill>
              </a:rPr>
              <a:t> is useful to print few lines from the beginning of a file or standard input.</a:t>
            </a:r>
          </a:p>
          <a:p>
            <a:pPr marL="457200" indent="-457200" algn="just"/>
            <a:r>
              <a:rPr lang="en-IN" sz="2000" dirty="0" smtClean="0">
                <a:solidFill>
                  <a:schemeClr val="tx1"/>
                </a:solidFill>
              </a:rPr>
              <a:t>If no option is specified by default, </a:t>
            </a:r>
            <a:r>
              <a:rPr lang="en-IN" sz="2000" b="1" dirty="0" smtClean="0">
                <a:solidFill>
                  <a:schemeClr val="tx1"/>
                </a:solidFill>
              </a:rPr>
              <a:t>head</a:t>
            </a:r>
            <a:r>
              <a:rPr lang="en-IN" sz="2000" dirty="0" smtClean="0">
                <a:solidFill>
                  <a:schemeClr val="tx1"/>
                </a:solidFill>
              </a:rPr>
              <a:t> outputs first 10 lines.</a:t>
            </a:r>
          </a:p>
          <a:p>
            <a:pPr marL="457200" indent="-457200" algn="just"/>
            <a:r>
              <a:rPr lang="en-IN" sz="2000" dirty="0" smtClean="0">
                <a:solidFill>
                  <a:schemeClr val="tx1"/>
                </a:solidFill>
              </a:rPr>
              <a:t>One or more filenames can be given on the command line</a:t>
            </a: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/>
            <a:r>
              <a:rPr lang="en-IN" sz="2000" dirty="0" smtClean="0">
                <a:solidFill>
                  <a:schemeClr val="tx1"/>
                </a:solidFill>
              </a:rPr>
              <a:t>Examples</a:t>
            </a:r>
          </a:p>
          <a:p>
            <a:pPr marL="968375" lvl="1" indent="-457200">
              <a:buNone/>
            </a:pPr>
            <a:endParaRPr lang="en-IN" sz="16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b="1" dirty="0" smtClean="0">
                <a:solidFill>
                  <a:schemeClr val="tx1"/>
                </a:solidFill>
              </a:rPr>
              <a:t>$  head   /etc/</a:t>
            </a:r>
            <a:r>
              <a:rPr lang="en-IN" b="1" dirty="0" err="1" smtClean="0">
                <a:solidFill>
                  <a:schemeClr val="tx1"/>
                </a:solidFill>
              </a:rPr>
              <a:t>passwd</a:t>
            </a:r>
            <a:r>
              <a:rPr lang="en-IN" dirty="0" smtClean="0">
                <a:solidFill>
                  <a:schemeClr val="tx1"/>
                </a:solidFill>
              </a:rPr>
              <a:t>				prints first 10 lines of /etc/</a:t>
            </a:r>
            <a:r>
              <a:rPr lang="en-IN" dirty="0" err="1" smtClean="0">
                <a:solidFill>
                  <a:schemeClr val="tx1"/>
                </a:solidFill>
              </a:rPr>
              <a:t>passwd</a:t>
            </a: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b="1" dirty="0" smtClean="0">
                <a:solidFill>
                  <a:schemeClr val="tx1"/>
                </a:solidFill>
              </a:rPr>
              <a:t>$  head  -20  /etc/</a:t>
            </a:r>
            <a:r>
              <a:rPr lang="en-IN" b="1" dirty="0" err="1" smtClean="0">
                <a:solidFill>
                  <a:schemeClr val="tx1"/>
                </a:solidFill>
              </a:rPr>
              <a:t>passwd</a:t>
            </a:r>
            <a:r>
              <a:rPr lang="en-IN" b="1" dirty="0" smtClean="0">
                <a:solidFill>
                  <a:schemeClr val="tx1"/>
                </a:solidFill>
              </a:rPr>
              <a:t>	</a:t>
            </a:r>
            <a:r>
              <a:rPr lang="en-IN" dirty="0" smtClean="0">
                <a:solidFill>
                  <a:schemeClr val="tx1"/>
                </a:solidFill>
              </a:rPr>
              <a:t>			prints first 20 lines of /etc/</a:t>
            </a:r>
            <a:r>
              <a:rPr lang="en-IN" dirty="0" err="1" smtClean="0">
                <a:solidFill>
                  <a:schemeClr val="tx1"/>
                </a:solidFill>
              </a:rPr>
              <a:t>passwd</a:t>
            </a: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dirty="0" smtClean="0">
                <a:solidFill>
                  <a:schemeClr val="tx1"/>
                </a:solidFill>
              </a:rPr>
              <a:t>Alternately</a:t>
            </a: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b="1" dirty="0" smtClean="0">
                <a:solidFill>
                  <a:schemeClr val="tx1"/>
                </a:solidFill>
              </a:rPr>
              <a:t>$  head  -n  20  /etc/</a:t>
            </a:r>
            <a:r>
              <a:rPr lang="en-IN" b="1" dirty="0" err="1" smtClean="0">
                <a:solidFill>
                  <a:schemeClr val="tx1"/>
                </a:solidFill>
              </a:rPr>
              <a:t>passwd</a:t>
            </a:r>
            <a:r>
              <a:rPr lang="en-IN" dirty="0" smtClean="0">
                <a:solidFill>
                  <a:schemeClr val="tx1"/>
                </a:solidFill>
              </a:rPr>
              <a:t>			prints first 20 lines of /etc/</a:t>
            </a:r>
            <a:r>
              <a:rPr lang="en-IN" dirty="0" err="1" smtClean="0">
                <a:solidFill>
                  <a:schemeClr val="tx1"/>
                </a:solidFill>
              </a:rPr>
              <a:t>passwd</a:t>
            </a:r>
            <a:endParaRPr lang="en-IN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/>
              <a:t>Head 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84500"/>
            <a:ext cx="8728364" cy="856618"/>
          </a:xfrm>
        </p:spPr>
        <p:txBody>
          <a:bodyPr>
            <a:normAutofit/>
          </a:bodyPr>
          <a:lstStyle/>
          <a:p>
            <a:pPr marL="457200" indent="-457200" algn="just"/>
            <a:r>
              <a:rPr lang="en-IN" sz="2400" dirty="0" smtClean="0"/>
              <a:t>The option </a:t>
            </a:r>
            <a:r>
              <a:rPr lang="en-IN" sz="2400" b="1" dirty="0" smtClean="0">
                <a:solidFill>
                  <a:srgbClr val="0000CC"/>
                </a:solidFill>
              </a:rPr>
              <a:t>–q </a:t>
            </a:r>
            <a:r>
              <a:rPr lang="en-IN" sz="2400" dirty="0" smtClean="0">
                <a:solidFill>
                  <a:srgbClr val="0000CC"/>
                </a:solidFill>
              </a:rPr>
              <a:t> </a:t>
            </a:r>
            <a:r>
              <a:rPr lang="en-IN" sz="2400" dirty="0" smtClean="0">
                <a:solidFill>
                  <a:schemeClr val="tx1"/>
                </a:solidFill>
              </a:rPr>
              <a:t>is useful when multiple files are specified, to suppress the filename as header for each output.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26509" y="1766170"/>
            <a:ext cx="3782862" cy="4247317"/>
            <a:chOff x="726509" y="1766170"/>
            <a:chExt cx="3782862" cy="4247317"/>
          </a:xfrm>
        </p:grpSpPr>
        <p:sp>
          <p:nvSpPr>
            <p:cNvPr id="12" name="TextBox 11"/>
            <p:cNvSpPr txBox="1"/>
            <p:nvPr/>
          </p:nvSpPr>
          <p:spPr>
            <a:xfrm>
              <a:off x="726509" y="1766170"/>
              <a:ext cx="3782862" cy="4247317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$ </a:t>
              </a:r>
              <a:r>
                <a:rPr lang="en-US" b="1" dirty="0" smtClean="0">
                  <a:solidFill>
                    <a:srgbClr val="0000CC"/>
                  </a:solidFill>
                  <a:latin typeface="Lucida Console" pitchFamily="49" charset="0"/>
                </a:rPr>
                <a:t>head -5  data1  data2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==&gt; data1 &lt;==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line-1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line-2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line-3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line-4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line-5</a:t>
              </a:r>
            </a:p>
            <a:p>
              <a:endParaRPr lang="en-US" b="1" dirty="0" smtClean="0">
                <a:solidFill>
                  <a:schemeClr val="tx1"/>
                </a:solidFill>
                <a:latin typeface="Lucida Console" pitchFamily="49" charset="0"/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==&gt; data2 &lt;==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text-1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text-2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text-3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text-4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text-5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$</a:t>
              </a:r>
            </a:p>
          </p:txBody>
        </p:sp>
        <p:sp>
          <p:nvSpPr>
            <p:cNvPr id="13" name="Bent Arrow 12"/>
            <p:cNvSpPr/>
            <p:nvPr/>
          </p:nvSpPr>
          <p:spPr>
            <a:xfrm rot="10800000">
              <a:off x="4065939" y="1822290"/>
              <a:ext cx="332782" cy="219456"/>
            </a:xfrm>
            <a:prstGeom prst="bentArrow">
              <a:avLst/>
            </a:prstGeom>
            <a:solidFill>
              <a:srgbClr val="FE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812081" y="1768258"/>
            <a:ext cx="4146115" cy="3416320"/>
            <a:chOff x="4812081" y="1768258"/>
            <a:chExt cx="4146115" cy="3416320"/>
          </a:xfrm>
        </p:grpSpPr>
        <p:sp>
          <p:nvSpPr>
            <p:cNvPr id="14" name="TextBox 13"/>
            <p:cNvSpPr txBox="1"/>
            <p:nvPr/>
          </p:nvSpPr>
          <p:spPr>
            <a:xfrm>
              <a:off x="4812081" y="1768258"/>
              <a:ext cx="4146115" cy="3416320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$ </a:t>
              </a:r>
              <a:r>
                <a:rPr lang="en-US" b="1" dirty="0" smtClean="0">
                  <a:solidFill>
                    <a:srgbClr val="0000CC"/>
                  </a:solidFill>
                  <a:latin typeface="Lucida Console" pitchFamily="49" charset="0"/>
                </a:rPr>
                <a:t>head -5 -q  data1 data2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line-1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line-2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line-3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line-4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line-5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text-1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text-2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text-3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text-4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text-5</a:t>
              </a:r>
            </a:p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$</a:t>
              </a:r>
            </a:p>
          </p:txBody>
        </p:sp>
        <p:sp>
          <p:nvSpPr>
            <p:cNvPr id="15" name="Bent Arrow 14"/>
            <p:cNvSpPr/>
            <p:nvPr/>
          </p:nvSpPr>
          <p:spPr>
            <a:xfrm rot="10800000">
              <a:off x="8414559" y="1824378"/>
              <a:ext cx="332782" cy="219456"/>
            </a:xfrm>
            <a:prstGeom prst="bentArrow">
              <a:avLst/>
            </a:prstGeom>
            <a:solidFill>
              <a:srgbClr val="FE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tail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491248"/>
          </a:xfrm>
        </p:spPr>
        <p:txBody>
          <a:bodyPr>
            <a:normAutofit fontScale="92500" lnSpcReduction="10000"/>
          </a:bodyPr>
          <a:lstStyle/>
          <a:p>
            <a:pPr marL="457200" indent="-457200" algn="just"/>
            <a:r>
              <a:rPr lang="en-IN" sz="2400" dirty="0" smtClean="0">
                <a:solidFill>
                  <a:schemeClr val="tx1"/>
                </a:solidFill>
              </a:rPr>
              <a:t>The command </a:t>
            </a:r>
            <a:r>
              <a:rPr lang="en-IN" sz="2400" b="1" dirty="0" smtClean="0">
                <a:solidFill>
                  <a:schemeClr val="tx1"/>
                </a:solidFill>
              </a:rPr>
              <a:t>tail</a:t>
            </a:r>
            <a:r>
              <a:rPr lang="en-IN" sz="2400" dirty="0" smtClean="0">
                <a:solidFill>
                  <a:schemeClr val="tx1"/>
                </a:solidFill>
              </a:rPr>
              <a:t> is useful to print the last few lines of a file or standard input.</a:t>
            </a:r>
          </a:p>
          <a:p>
            <a:pPr marL="457200" indent="-457200" algn="just"/>
            <a:r>
              <a:rPr lang="en-IN" sz="2400" dirty="0" smtClean="0">
                <a:solidFill>
                  <a:schemeClr val="tx1"/>
                </a:solidFill>
              </a:rPr>
              <a:t>If no option is specified by default, </a:t>
            </a:r>
            <a:r>
              <a:rPr lang="en-IN" sz="2400" b="1" dirty="0" smtClean="0">
                <a:solidFill>
                  <a:schemeClr val="tx1"/>
                </a:solidFill>
              </a:rPr>
              <a:t>tail</a:t>
            </a:r>
            <a:r>
              <a:rPr lang="en-IN" sz="2400" dirty="0" smtClean="0">
                <a:solidFill>
                  <a:schemeClr val="tx1"/>
                </a:solidFill>
              </a:rPr>
              <a:t> outputs last 10 lines.</a:t>
            </a:r>
          </a:p>
          <a:p>
            <a:pPr marL="457200" indent="-457200" algn="just"/>
            <a:r>
              <a:rPr lang="en-IN" sz="2400" dirty="0" smtClean="0">
                <a:solidFill>
                  <a:schemeClr val="tx1"/>
                </a:solidFill>
              </a:rPr>
              <a:t>One or more filenames can be given on the command line</a:t>
            </a:r>
          </a:p>
          <a:p>
            <a:pPr marL="457200" indent="-457200"/>
            <a:endParaRPr lang="en-IN" dirty="0" smtClean="0">
              <a:solidFill>
                <a:schemeClr val="tx1"/>
              </a:solidFill>
            </a:endParaRPr>
          </a:p>
          <a:p>
            <a:pPr marL="457200" indent="-457200"/>
            <a:r>
              <a:rPr lang="en-IN" dirty="0" smtClean="0">
                <a:solidFill>
                  <a:schemeClr val="tx1"/>
                </a:solidFill>
              </a:rPr>
              <a:t>Examples</a:t>
            </a: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sz="1900" b="1" dirty="0" smtClean="0">
                <a:solidFill>
                  <a:schemeClr val="tx1"/>
                </a:solidFill>
              </a:rPr>
              <a:t>$  tail  /etc/</a:t>
            </a:r>
            <a:r>
              <a:rPr lang="en-IN" sz="1900" b="1" dirty="0" err="1" smtClean="0">
                <a:solidFill>
                  <a:schemeClr val="tx1"/>
                </a:solidFill>
              </a:rPr>
              <a:t>passwd</a:t>
            </a:r>
            <a:r>
              <a:rPr lang="en-IN" sz="1900" dirty="0" smtClean="0">
                <a:solidFill>
                  <a:schemeClr val="tx1"/>
                </a:solidFill>
              </a:rPr>
              <a:t>					prints last 10 lines of /etc/</a:t>
            </a:r>
            <a:r>
              <a:rPr lang="en-IN" sz="1900" dirty="0" err="1" smtClean="0">
                <a:solidFill>
                  <a:schemeClr val="tx1"/>
                </a:solidFill>
              </a:rPr>
              <a:t>passwd</a:t>
            </a:r>
            <a:endParaRPr lang="en-IN" sz="19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sz="19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sz="1900" b="1" dirty="0" smtClean="0">
                <a:solidFill>
                  <a:schemeClr val="tx1"/>
                </a:solidFill>
              </a:rPr>
              <a:t>$  tail  -20  /etc/</a:t>
            </a:r>
            <a:r>
              <a:rPr lang="en-IN" sz="1900" b="1" dirty="0" err="1" smtClean="0">
                <a:solidFill>
                  <a:schemeClr val="tx1"/>
                </a:solidFill>
              </a:rPr>
              <a:t>passwd</a:t>
            </a:r>
            <a:r>
              <a:rPr lang="en-IN" sz="1900" b="1" dirty="0" smtClean="0">
                <a:solidFill>
                  <a:schemeClr val="tx1"/>
                </a:solidFill>
              </a:rPr>
              <a:t>	</a:t>
            </a:r>
            <a:r>
              <a:rPr lang="en-IN" sz="1900" dirty="0" smtClean="0">
                <a:solidFill>
                  <a:schemeClr val="tx1"/>
                </a:solidFill>
              </a:rPr>
              <a:t>			prints last 20 lines of /etc/</a:t>
            </a:r>
            <a:r>
              <a:rPr lang="en-IN" sz="1900" dirty="0" err="1" smtClean="0">
                <a:solidFill>
                  <a:schemeClr val="tx1"/>
                </a:solidFill>
              </a:rPr>
              <a:t>passwd</a:t>
            </a:r>
            <a:endParaRPr lang="en-IN" sz="19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sz="19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sz="1900" dirty="0" smtClean="0">
                <a:solidFill>
                  <a:schemeClr val="tx1"/>
                </a:solidFill>
              </a:rPr>
              <a:t>Alternately</a:t>
            </a:r>
          </a:p>
          <a:p>
            <a:pPr marL="968375" lvl="1" indent="-457200">
              <a:buNone/>
            </a:pPr>
            <a:endParaRPr lang="en-IN" sz="19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r>
              <a:rPr lang="en-IN" sz="1900" b="1" dirty="0" smtClean="0">
                <a:solidFill>
                  <a:schemeClr val="tx1"/>
                </a:solidFill>
              </a:rPr>
              <a:t>$  tail  -n  20  /etc/</a:t>
            </a:r>
            <a:r>
              <a:rPr lang="en-IN" sz="1900" b="1" dirty="0" err="1" smtClean="0">
                <a:solidFill>
                  <a:schemeClr val="tx1"/>
                </a:solidFill>
              </a:rPr>
              <a:t>passwd</a:t>
            </a:r>
            <a:r>
              <a:rPr lang="en-IN" sz="1900" dirty="0" smtClean="0">
                <a:solidFill>
                  <a:schemeClr val="tx1"/>
                </a:solidFill>
              </a:rPr>
              <a:t>			prints last 20 lines of /etc/</a:t>
            </a:r>
            <a:r>
              <a:rPr lang="en-IN" sz="1900" dirty="0" err="1" smtClean="0">
                <a:solidFill>
                  <a:schemeClr val="tx1"/>
                </a:solidFill>
              </a:rPr>
              <a:t>passwd</a:t>
            </a:r>
            <a:endParaRPr lang="en-IN" sz="19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dirty="0" smtClean="0">
                <a:solidFill>
                  <a:schemeClr val="tx1"/>
                </a:solidFill>
              </a:rPr>
              <a:t>	</a:t>
            </a:r>
          </a:p>
          <a:p>
            <a:pPr marL="457200" indent="-45720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Pipes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36598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At times, a single filter is insufficient to meet a requirement.</a:t>
            </a:r>
          </a:p>
          <a:p>
            <a:pPr algn="just"/>
            <a:r>
              <a:rPr lang="en-IN" dirty="0" smtClean="0">
                <a:solidFill>
                  <a:schemeClr val="tx1"/>
                </a:solidFill>
              </a:rPr>
              <a:t>It is possible to chain filters in a sequence such that output of one filter can be fed as input to another filter.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This is achieved using pipe operator ( | ).</a:t>
            </a:r>
          </a:p>
          <a:p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ex:</a:t>
            </a:r>
          </a:p>
          <a:p>
            <a:pPr lvl="1">
              <a:buNone/>
            </a:pPr>
            <a:r>
              <a:rPr lang="en-IN" b="1" dirty="0" smtClean="0">
                <a:solidFill>
                  <a:schemeClr val="tx1"/>
                </a:solidFill>
              </a:rPr>
              <a:t>$   </a:t>
            </a:r>
            <a:r>
              <a:rPr lang="en-IN" b="1" dirty="0" err="1" smtClean="0">
                <a:solidFill>
                  <a:schemeClr val="tx1"/>
                </a:solidFill>
              </a:rPr>
              <a:t>ls</a:t>
            </a:r>
            <a:r>
              <a:rPr lang="en-IN" b="1" dirty="0" smtClean="0">
                <a:solidFill>
                  <a:schemeClr val="tx1"/>
                </a:solidFill>
              </a:rPr>
              <a:t>  -l | </a:t>
            </a:r>
            <a:r>
              <a:rPr lang="en-IN" b="1" dirty="0" err="1" smtClean="0">
                <a:solidFill>
                  <a:schemeClr val="tx1"/>
                </a:solidFill>
              </a:rPr>
              <a:t>grep</a:t>
            </a:r>
            <a:r>
              <a:rPr lang="en-IN" b="1" dirty="0" smtClean="0">
                <a:solidFill>
                  <a:schemeClr val="tx1"/>
                </a:solidFill>
              </a:rPr>
              <a:t> “^-” | </a:t>
            </a:r>
            <a:r>
              <a:rPr lang="en-IN" b="1" dirty="0" err="1" smtClean="0">
                <a:solidFill>
                  <a:schemeClr val="tx1"/>
                </a:solidFill>
              </a:rPr>
              <a:t>wc</a:t>
            </a:r>
            <a:r>
              <a:rPr lang="en-IN" b="1" dirty="0" smtClean="0">
                <a:solidFill>
                  <a:schemeClr val="tx1"/>
                </a:solidFill>
              </a:rPr>
              <a:t>  -l	</a:t>
            </a:r>
            <a:r>
              <a:rPr lang="en-IN" dirty="0" smtClean="0">
                <a:solidFill>
                  <a:schemeClr val="tx1"/>
                </a:solidFill>
              </a:rPr>
              <a:t>	           		</a:t>
            </a: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	what is the purpose of above command sequence?</a:t>
            </a: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Advantages of pipe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No need to create temporary files and cleanup after use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Readability</a:t>
            </a:r>
          </a:p>
          <a:p>
            <a:pPr lvl="1"/>
            <a:endParaRPr lang="en-IN" dirty="0" smtClean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32560" y="2797787"/>
            <a:ext cx="2770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[Note: </a:t>
            </a:r>
            <a:r>
              <a:rPr lang="en-IN" sz="1600" b="1" dirty="0" err="1" smtClean="0"/>
              <a:t>wc</a:t>
            </a:r>
            <a:r>
              <a:rPr lang="en-IN" sz="1600" dirty="0" smtClean="0"/>
              <a:t> command prints count of lines, word and characters of the input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tail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3"/>
            <a:ext cx="8728364" cy="1094613"/>
          </a:xfrm>
        </p:spPr>
        <p:txBody>
          <a:bodyPr>
            <a:normAutofit/>
          </a:bodyPr>
          <a:lstStyle/>
          <a:p>
            <a:pPr marL="457200" indent="-457200"/>
            <a:r>
              <a:rPr lang="en-IN" sz="2400" dirty="0" smtClean="0"/>
              <a:t>Unlike, head, the command tail provides </a:t>
            </a:r>
            <a:r>
              <a:rPr lang="en-IN" sz="2800" b="1" dirty="0" smtClean="0">
                <a:solidFill>
                  <a:srgbClr val="0000CC"/>
                </a:solidFill>
              </a:rPr>
              <a:t>+</a:t>
            </a:r>
            <a:r>
              <a:rPr lang="en-IN" sz="2000" dirty="0" smtClean="0"/>
              <a:t> </a:t>
            </a:r>
            <a:r>
              <a:rPr lang="en-IN" sz="2400" dirty="0" smtClean="0"/>
              <a:t>option, that allows to output from n</a:t>
            </a:r>
            <a:r>
              <a:rPr lang="en-IN" sz="2400" baseline="30000" dirty="0" smtClean="0"/>
              <a:t>th</a:t>
            </a:r>
            <a:r>
              <a:rPr lang="en-IN" sz="2400" dirty="0" smtClean="0"/>
              <a:t> line to the end of file.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192054" y="2116899"/>
            <a:ext cx="4146115" cy="2585323"/>
            <a:chOff x="2192054" y="2116899"/>
            <a:chExt cx="4146115" cy="2585323"/>
          </a:xfrm>
        </p:grpSpPr>
        <p:sp>
          <p:nvSpPr>
            <p:cNvPr id="6" name="TextBox 5"/>
            <p:cNvSpPr txBox="1"/>
            <p:nvPr/>
          </p:nvSpPr>
          <p:spPr>
            <a:xfrm>
              <a:off x="2192054" y="2116899"/>
              <a:ext cx="4146115" cy="2585323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$</a:t>
              </a:r>
              <a:r>
                <a:rPr lang="en-US" b="1" dirty="0" smtClean="0">
                  <a:solidFill>
                    <a:srgbClr val="0000CC"/>
                  </a:solidFill>
                  <a:latin typeface="Lucida Console" pitchFamily="49" charset="0"/>
                </a:rPr>
                <a:t> cat -n data1 | tail +3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     3  line-3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     4  line-4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     5  line-5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     6  line-6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     7  line-7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     8  line-8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     9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$</a:t>
              </a:r>
            </a:p>
          </p:txBody>
        </p:sp>
        <p:sp>
          <p:nvSpPr>
            <p:cNvPr id="7" name="Bent Arrow 6"/>
            <p:cNvSpPr/>
            <p:nvPr/>
          </p:nvSpPr>
          <p:spPr>
            <a:xfrm rot="10800000">
              <a:off x="5731903" y="2173019"/>
              <a:ext cx="332782" cy="219456"/>
            </a:xfrm>
            <a:prstGeom prst="bentArrow">
              <a:avLst/>
            </a:prstGeom>
            <a:solidFill>
              <a:srgbClr val="FE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tee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2"/>
            <a:ext cx="8728364" cy="5616509"/>
          </a:xfrm>
        </p:spPr>
        <p:txBody>
          <a:bodyPr>
            <a:normAutofit/>
          </a:bodyPr>
          <a:lstStyle/>
          <a:p>
            <a:pPr marL="457200" indent="-457200"/>
            <a:r>
              <a:rPr lang="en-IN" sz="2000" dirty="0" smtClean="0"/>
              <a:t>A filter sends output to standard output only.</a:t>
            </a:r>
          </a:p>
          <a:p>
            <a:pPr marL="457200" indent="-457200"/>
            <a:r>
              <a:rPr lang="en-IN" sz="2000" dirty="0" smtClean="0"/>
              <a:t>If another command is piped to a filter, the output of command before the pipe gets redirected as input to the next command in the pipe chain. Therefore, it can not be saved into a file.</a:t>
            </a:r>
          </a:p>
          <a:p>
            <a:pPr marL="457200" indent="-457200"/>
            <a:endParaRPr lang="en-IN" sz="2000" dirty="0" smtClean="0"/>
          </a:p>
          <a:p>
            <a:pPr marL="457200" indent="-457200"/>
            <a:endParaRPr lang="en-IN" sz="2000" dirty="0" smtClean="0"/>
          </a:p>
          <a:p>
            <a:pPr marL="457200" indent="-457200"/>
            <a:endParaRPr lang="en-IN" sz="2000" dirty="0" smtClean="0"/>
          </a:p>
          <a:p>
            <a:pPr marL="457200" indent="-457200"/>
            <a:r>
              <a:rPr lang="en-IN" sz="2000" b="1" dirty="0" smtClean="0">
                <a:solidFill>
                  <a:srgbClr val="0000CC"/>
                </a:solidFill>
              </a:rPr>
              <a:t>tee</a:t>
            </a:r>
            <a:r>
              <a:rPr lang="en-IN" sz="2000" dirty="0" smtClean="0"/>
              <a:t> command provides the facility to forward the output to standard output, as well as save the output into a file</a:t>
            </a:r>
          </a:p>
          <a:p>
            <a:pPr marL="457200" indent="-457200"/>
            <a:endParaRPr lang="en-IN" sz="1050" dirty="0" smtClean="0"/>
          </a:p>
          <a:p>
            <a:pPr marL="1368425" lvl="2" indent="-457200">
              <a:buNone/>
            </a:pPr>
            <a:r>
              <a:rPr lang="en-IN" sz="1400" dirty="0" smtClean="0"/>
              <a:t>	</a:t>
            </a:r>
            <a:r>
              <a:rPr lang="en-IN" sz="2000" dirty="0" smtClean="0"/>
              <a:t>$   cat  -n  data | tee  data-</a:t>
            </a:r>
            <a:r>
              <a:rPr lang="en-IN" sz="2000" dirty="0" err="1" smtClean="0"/>
              <a:t>ln</a:t>
            </a:r>
            <a:r>
              <a:rPr lang="en-IN" sz="2000" dirty="0" smtClean="0"/>
              <a:t> |  tail + 3</a:t>
            </a:r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/>
            <a:endParaRPr lang="en-IN" sz="2000" dirty="0" smtClean="0"/>
          </a:p>
          <a:p>
            <a:pPr marL="457200" indent="-457200"/>
            <a:endParaRPr lang="en-IN" sz="20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732757" y="4910201"/>
            <a:ext cx="1465546" cy="5887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E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tee  data-</a:t>
            </a:r>
            <a:r>
              <a:rPr lang="en-US" dirty="0" err="1" smtClean="0">
                <a:solidFill>
                  <a:schemeClr val="tx1"/>
                </a:solidFill>
              </a:rPr>
              <a:t>ln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 flipH="1">
            <a:off x="5549029" y="4910202"/>
            <a:ext cx="150312" cy="58872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 flipH="1">
            <a:off x="6352781" y="4912290"/>
            <a:ext cx="150312" cy="58872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stCxn id="21" idx="0"/>
            <a:endCxn id="22" idx="0"/>
          </p:cNvCxnSpPr>
          <p:nvPr/>
        </p:nvCxnSpPr>
        <p:spPr>
          <a:xfrm>
            <a:off x="5624185" y="4910202"/>
            <a:ext cx="803752" cy="20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626273" y="5501012"/>
            <a:ext cx="803752" cy="20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891393" y="4912289"/>
            <a:ext cx="1465546" cy="58663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tail +3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6440463" y="5198300"/>
            <a:ext cx="473905" cy="208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830890" y="2457189"/>
            <a:ext cx="5087644" cy="592899"/>
            <a:chOff x="1352813" y="4622104"/>
            <a:chExt cx="5087644" cy="592899"/>
          </a:xfrm>
        </p:grpSpPr>
        <p:sp>
          <p:nvSpPr>
            <p:cNvPr id="46" name="Rectangle 45"/>
            <p:cNvSpPr/>
            <p:nvPr/>
          </p:nvSpPr>
          <p:spPr>
            <a:xfrm>
              <a:off x="1352813" y="4622104"/>
              <a:ext cx="1465546" cy="5887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cat  -n data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Oval 46"/>
            <p:cNvSpPr/>
            <p:nvPr/>
          </p:nvSpPr>
          <p:spPr>
            <a:xfrm flipH="1">
              <a:off x="3394553" y="4622105"/>
              <a:ext cx="150312" cy="58872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 flipH="1">
              <a:off x="4198305" y="4624193"/>
              <a:ext cx="150312" cy="58872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>
              <a:stCxn id="47" idx="0"/>
              <a:endCxn id="48" idx="0"/>
            </p:cNvCxnSpPr>
            <p:nvPr/>
          </p:nvCxnSpPr>
          <p:spPr>
            <a:xfrm>
              <a:off x="3469709" y="4622105"/>
              <a:ext cx="803752" cy="2088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471797" y="5212915"/>
              <a:ext cx="803752" cy="2088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4974911" y="4624192"/>
              <a:ext cx="1465546" cy="58663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tail  +3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2830883" y="4910204"/>
              <a:ext cx="68893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285987" y="4912292"/>
              <a:ext cx="68893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3296434" y="2745289"/>
            <a:ext cx="68893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03137" y="4912289"/>
            <a:ext cx="1465546" cy="588723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cat  -n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4461353" y="5513540"/>
            <a:ext cx="10437" cy="549056"/>
          </a:xfrm>
          <a:prstGeom prst="straightConnector1">
            <a:avLst/>
          </a:prstGeom>
          <a:ln w="38100">
            <a:solidFill>
              <a:srgbClr val="FE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 flipH="1">
            <a:off x="2331934" y="4899763"/>
            <a:ext cx="150312" cy="58872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flipH="1">
            <a:off x="3135686" y="4901851"/>
            <a:ext cx="150312" cy="58872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/>
          <p:cNvCxnSpPr>
            <a:stCxn id="59" idx="0"/>
            <a:endCxn id="60" idx="0"/>
          </p:cNvCxnSpPr>
          <p:nvPr/>
        </p:nvCxnSpPr>
        <p:spPr>
          <a:xfrm>
            <a:off x="2407090" y="4899763"/>
            <a:ext cx="803752" cy="20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409178" y="5490573"/>
            <a:ext cx="803752" cy="20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5202474" y="5187862"/>
            <a:ext cx="473905" cy="208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3246326" y="5160722"/>
            <a:ext cx="473905" cy="208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1958233" y="5200388"/>
            <a:ext cx="473905" cy="208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020855" y="601249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data-</a:t>
            </a:r>
            <a:r>
              <a:rPr lang="en-US" dirty="0" err="1" smtClean="0"/>
              <a:t>ln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/>
              <a:t>tr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2"/>
            <a:ext cx="8728364" cy="5616509"/>
          </a:xfrm>
        </p:spPr>
        <p:txBody>
          <a:bodyPr>
            <a:normAutofit/>
          </a:bodyPr>
          <a:lstStyle/>
          <a:p>
            <a:pPr marL="457200" indent="-457200"/>
            <a:r>
              <a:rPr lang="en-IN" sz="2000" dirty="0" smtClean="0">
                <a:solidFill>
                  <a:schemeClr val="tx1"/>
                </a:solidFill>
              </a:rPr>
              <a:t>The tool </a:t>
            </a:r>
            <a:r>
              <a:rPr lang="en-IN" sz="2000" b="1" dirty="0" err="1" smtClean="0">
                <a:solidFill>
                  <a:schemeClr val="tx1"/>
                </a:solidFill>
              </a:rPr>
              <a:t>tr</a:t>
            </a:r>
            <a:r>
              <a:rPr lang="en-IN" sz="2000" dirty="0" smtClean="0">
                <a:solidFill>
                  <a:schemeClr val="tx1"/>
                </a:solidFill>
              </a:rPr>
              <a:t> is a </a:t>
            </a:r>
            <a:r>
              <a:rPr lang="en-IN" sz="2000" dirty="0" err="1" smtClean="0">
                <a:solidFill>
                  <a:schemeClr val="tx1"/>
                </a:solidFill>
              </a:rPr>
              <a:t>fllter</a:t>
            </a:r>
            <a:r>
              <a:rPr lang="en-IN" sz="2000" dirty="0" smtClean="0">
                <a:solidFill>
                  <a:schemeClr val="tx1"/>
                </a:solidFill>
              </a:rPr>
              <a:t>, which either translates or deletes characters based on a criteria.</a:t>
            </a:r>
          </a:p>
          <a:p>
            <a:pPr marL="457200" indent="-457200"/>
            <a:r>
              <a:rPr lang="en-IN" sz="2000" b="1" dirty="0" err="1" smtClean="0">
                <a:solidFill>
                  <a:schemeClr val="tx1"/>
                </a:solidFill>
              </a:rPr>
              <a:t>tr</a:t>
            </a:r>
            <a:r>
              <a:rPr lang="en-IN" sz="2000" b="1" dirty="0" smtClean="0">
                <a:solidFill>
                  <a:schemeClr val="tx1"/>
                </a:solidFill>
              </a:rPr>
              <a:t> </a:t>
            </a:r>
            <a:r>
              <a:rPr lang="en-IN" sz="2000" dirty="0" smtClean="0">
                <a:solidFill>
                  <a:schemeClr val="tx1"/>
                </a:solidFill>
              </a:rPr>
              <a:t>translates characters identified in </a:t>
            </a:r>
            <a:r>
              <a:rPr lang="en-IN" sz="2000" i="1" dirty="0" smtClean="0">
                <a:solidFill>
                  <a:schemeClr val="tx1"/>
                </a:solidFill>
              </a:rPr>
              <a:t>set1  </a:t>
            </a:r>
            <a:r>
              <a:rPr lang="en-IN" sz="2000" dirty="0" smtClean="0">
                <a:solidFill>
                  <a:schemeClr val="tx1"/>
                </a:solidFill>
              </a:rPr>
              <a:t>into </a:t>
            </a:r>
            <a:r>
              <a:rPr lang="en-IN" sz="2000" i="1" dirty="0" smtClean="0">
                <a:solidFill>
                  <a:schemeClr val="tx1"/>
                </a:solidFill>
              </a:rPr>
              <a:t>set2, </a:t>
            </a:r>
            <a:r>
              <a:rPr lang="en-IN" sz="2000" dirty="0" smtClean="0">
                <a:solidFill>
                  <a:schemeClr val="tx1"/>
                </a:solidFill>
              </a:rPr>
              <a:t>which are strings of characters </a:t>
            </a:r>
          </a:p>
          <a:p>
            <a:pPr marL="457200" indent="-457200">
              <a:buNone/>
            </a:pPr>
            <a:endParaRPr lang="en-IN" sz="11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sz="2000" b="1" dirty="0" smtClean="0">
                <a:solidFill>
                  <a:schemeClr val="tx1"/>
                </a:solidFill>
              </a:rPr>
              <a:t>		</a:t>
            </a:r>
            <a:r>
              <a:rPr lang="en-IN" sz="2000" b="1" dirty="0" err="1" smtClean="0">
                <a:solidFill>
                  <a:schemeClr val="tx1"/>
                </a:solidFill>
              </a:rPr>
              <a:t>tr</a:t>
            </a:r>
            <a:r>
              <a:rPr lang="en-IN" sz="2000" b="1" dirty="0" smtClean="0">
                <a:solidFill>
                  <a:schemeClr val="tx1"/>
                </a:solidFill>
              </a:rPr>
              <a:t>    [options]   [set1]    [set2]</a:t>
            </a:r>
          </a:p>
          <a:p>
            <a:pPr marL="457200" indent="-457200">
              <a:buNone/>
            </a:pPr>
            <a:endParaRPr lang="en-IN" sz="12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Some commonly used options</a:t>
            </a: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	-d		delete the characters specified in </a:t>
            </a:r>
            <a:r>
              <a:rPr lang="en-IN" sz="2000" i="1" dirty="0" smtClean="0">
                <a:solidFill>
                  <a:schemeClr val="tx1"/>
                </a:solidFill>
              </a:rPr>
              <a:t>set1</a:t>
            </a:r>
            <a:r>
              <a:rPr lang="en-IN" sz="2000" dirty="0" smtClean="0">
                <a:solidFill>
                  <a:schemeClr val="tx1"/>
                </a:solidFill>
              </a:rPr>
              <a:t>		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	-s		squeeze, each successively repeated character is replaced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			with only single occurrence</a:t>
            </a: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Note: </a:t>
            </a:r>
            <a:r>
              <a:rPr lang="en-IN" sz="2000" dirty="0" err="1" smtClean="0">
                <a:solidFill>
                  <a:schemeClr val="tx1"/>
                </a:solidFill>
              </a:rPr>
              <a:t>tr</a:t>
            </a:r>
            <a:r>
              <a:rPr lang="en-IN" sz="2000" dirty="0" smtClean="0">
                <a:solidFill>
                  <a:schemeClr val="tx1"/>
                </a:solidFill>
              </a:rPr>
              <a:t> does not take filename. It only reads standard input. 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/>
              <a:t>tr</a:t>
            </a:r>
            <a:r>
              <a:rPr lang="en-IN" dirty="0" smtClean="0"/>
              <a:t> – examples 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2"/>
            <a:ext cx="8728364" cy="5616509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IN" sz="2000" dirty="0" smtClean="0"/>
              <a:t> 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rgbClr val="0000CC"/>
                </a:solidFill>
              </a:rPr>
              <a:t>$  cat  </a:t>
            </a:r>
            <a:r>
              <a:rPr lang="en-IN" sz="2000" dirty="0" err="1" smtClean="0">
                <a:solidFill>
                  <a:srgbClr val="0000CC"/>
                </a:solidFill>
              </a:rPr>
              <a:t>abc</a:t>
            </a:r>
            <a:r>
              <a:rPr lang="en-IN" sz="2000" dirty="0" smtClean="0">
                <a:solidFill>
                  <a:srgbClr val="0000CC"/>
                </a:solidFill>
              </a:rPr>
              <a:t>   |   </a:t>
            </a:r>
            <a:r>
              <a:rPr lang="en-IN" sz="2000" dirty="0" err="1" smtClean="0">
                <a:solidFill>
                  <a:srgbClr val="0000CC"/>
                </a:solidFill>
              </a:rPr>
              <a:t>tr</a:t>
            </a:r>
            <a:r>
              <a:rPr lang="en-IN" sz="2000" dirty="0" smtClean="0">
                <a:solidFill>
                  <a:srgbClr val="0000CC"/>
                </a:solidFill>
              </a:rPr>
              <a:t>    a-z    </a:t>
            </a:r>
            <a:r>
              <a:rPr lang="en-IN" sz="2000" dirty="0" err="1" smtClean="0">
                <a:solidFill>
                  <a:srgbClr val="0000CC"/>
                </a:solidFill>
              </a:rPr>
              <a:t>A-Z</a:t>
            </a:r>
            <a:r>
              <a:rPr lang="en-IN" sz="2000" dirty="0" smtClean="0">
                <a:solidFill>
                  <a:srgbClr val="0000CC"/>
                </a:solidFill>
              </a:rPr>
              <a:t>	  &gt;  </a:t>
            </a:r>
            <a:r>
              <a:rPr lang="en-IN" sz="2000" dirty="0" err="1" smtClean="0">
                <a:solidFill>
                  <a:srgbClr val="0000CC"/>
                </a:solidFill>
              </a:rPr>
              <a:t>abc.up</a:t>
            </a:r>
            <a:endParaRPr lang="en-IN" sz="2000" dirty="0" smtClean="0">
              <a:solidFill>
                <a:srgbClr val="0000CC"/>
              </a:solidFill>
            </a:endParaRPr>
          </a:p>
          <a:p>
            <a:pPr marL="457200" indent="-457200">
              <a:buNone/>
            </a:pPr>
            <a:r>
              <a:rPr lang="en-IN" sz="2000" dirty="0" smtClean="0"/>
              <a:t>		replaces lowercase alpha with uppercase.</a:t>
            </a:r>
          </a:p>
          <a:p>
            <a:pPr marL="457200" indent="-457200">
              <a:buNone/>
            </a:pPr>
            <a:r>
              <a:rPr lang="en-IN" sz="2000" dirty="0" smtClean="0"/>
              <a:t>			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rgbClr val="0000CC"/>
                </a:solidFill>
              </a:rPr>
              <a:t>$  </a:t>
            </a:r>
            <a:r>
              <a:rPr lang="en-IN" sz="2000" dirty="0" err="1" smtClean="0">
                <a:solidFill>
                  <a:srgbClr val="0000CC"/>
                </a:solidFill>
              </a:rPr>
              <a:t>ls</a:t>
            </a:r>
            <a:r>
              <a:rPr lang="en-IN" sz="2000" dirty="0" smtClean="0">
                <a:solidFill>
                  <a:srgbClr val="0000CC"/>
                </a:solidFill>
              </a:rPr>
              <a:t> –l | </a:t>
            </a:r>
            <a:r>
              <a:rPr lang="en-IN" sz="2000" dirty="0" err="1" smtClean="0">
                <a:solidFill>
                  <a:srgbClr val="0000CC"/>
                </a:solidFill>
              </a:rPr>
              <a:t>tr</a:t>
            </a:r>
            <a:r>
              <a:rPr lang="en-IN" sz="2000" dirty="0" smtClean="0">
                <a:solidFill>
                  <a:srgbClr val="0000CC"/>
                </a:solidFill>
              </a:rPr>
              <a:t>  -s   '  '</a:t>
            </a:r>
          </a:p>
          <a:p>
            <a:pPr marL="457200" indent="-457200">
              <a:buNone/>
            </a:pPr>
            <a:r>
              <a:rPr lang="en-IN" sz="2000" dirty="0" smtClean="0"/>
              <a:t>		squeezes spaces in between columns into single space</a:t>
            </a:r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r>
              <a:rPr lang="en-IN" sz="2000" dirty="0" smtClean="0">
                <a:solidFill>
                  <a:srgbClr val="0000CC"/>
                </a:solidFill>
              </a:rPr>
              <a:t>$  cat  /etc/</a:t>
            </a:r>
            <a:r>
              <a:rPr lang="en-IN" sz="2000" dirty="0" err="1" smtClean="0">
                <a:solidFill>
                  <a:srgbClr val="0000CC"/>
                </a:solidFill>
              </a:rPr>
              <a:t>passwd</a:t>
            </a:r>
            <a:r>
              <a:rPr lang="en-IN" sz="2000" dirty="0" smtClean="0">
                <a:solidFill>
                  <a:srgbClr val="0000CC"/>
                </a:solidFill>
              </a:rPr>
              <a:t> |   </a:t>
            </a:r>
            <a:r>
              <a:rPr lang="en-IN" sz="2000" dirty="0" err="1" smtClean="0">
                <a:solidFill>
                  <a:srgbClr val="0000CC"/>
                </a:solidFill>
              </a:rPr>
              <a:t>tr</a:t>
            </a:r>
            <a:r>
              <a:rPr lang="en-IN" sz="2000" dirty="0" smtClean="0">
                <a:solidFill>
                  <a:srgbClr val="0000CC"/>
                </a:solidFill>
              </a:rPr>
              <a:t>   ":"  "#"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rgbClr val="0000CC"/>
                </a:solidFill>
              </a:rPr>
              <a:t>		</a:t>
            </a:r>
            <a:r>
              <a:rPr lang="en-IN" sz="2000" dirty="0" smtClean="0"/>
              <a:t>outputs /etc/</a:t>
            </a:r>
            <a:r>
              <a:rPr lang="en-IN" sz="2000" dirty="0" err="1" smtClean="0"/>
              <a:t>passwd</a:t>
            </a:r>
            <a:r>
              <a:rPr lang="en-IN" sz="2000" dirty="0" smtClean="0"/>
              <a:t> contents with : replaced by #  </a:t>
            </a:r>
          </a:p>
          <a:p>
            <a:pPr marL="457200" indent="-457200">
              <a:buNone/>
            </a:pPr>
            <a:endParaRPr lang="en-IN" sz="2000" dirty="0" smtClean="0">
              <a:solidFill>
                <a:srgbClr val="0000CC"/>
              </a:solidFill>
            </a:endParaRPr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r>
              <a:rPr lang="en-IN" sz="2000" dirty="0" smtClean="0"/>
              <a:t>					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cut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21102" y="871972"/>
            <a:ext cx="8306768" cy="5616509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The command </a:t>
            </a:r>
            <a:r>
              <a:rPr lang="en-IN" sz="2000" b="1" dirty="0" smtClean="0">
                <a:solidFill>
                  <a:schemeClr val="tx1"/>
                </a:solidFill>
              </a:rPr>
              <a:t>cut</a:t>
            </a:r>
            <a:r>
              <a:rPr lang="en-IN" sz="2000" dirty="0" smtClean="0">
                <a:solidFill>
                  <a:schemeClr val="tx1"/>
                </a:solidFill>
              </a:rPr>
              <a:t>,  extracts a column of text from input file.</a:t>
            </a:r>
          </a:p>
          <a:p>
            <a:pPr marL="457200" indent="-457200" algn="just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If the input text is delimited by a character, w.r.to that delimiter, the text can be considered as having multiple fields.</a:t>
            </a:r>
          </a:p>
          <a:p>
            <a:pPr marL="457200" indent="-457200" algn="just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Space is the default delimiter.</a:t>
            </a: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Options </a:t>
            </a: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</a:t>
            </a:r>
            <a:r>
              <a:rPr lang="en-IN" sz="2000" b="1" dirty="0" smtClean="0">
                <a:solidFill>
                  <a:schemeClr val="tx1"/>
                </a:solidFill>
              </a:rPr>
              <a:t>-d  </a:t>
            </a:r>
            <a:r>
              <a:rPr lang="en-IN" sz="2000" dirty="0" smtClean="0">
                <a:solidFill>
                  <a:schemeClr val="tx1"/>
                </a:solidFill>
              </a:rPr>
              <a:t>delimiter			specifies delimiter,   by default space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</a:t>
            </a:r>
            <a:r>
              <a:rPr lang="en-IN" sz="2000" b="1" dirty="0" smtClean="0">
                <a:solidFill>
                  <a:schemeClr val="tx1"/>
                </a:solidFill>
              </a:rPr>
              <a:t>-f   </a:t>
            </a:r>
            <a:r>
              <a:rPr lang="en-IN" sz="2000" dirty="0" smtClean="0">
                <a:solidFill>
                  <a:schemeClr val="tx1"/>
                </a:solidFill>
              </a:rPr>
              <a:t>field list			restricts output to only these fields</a:t>
            </a: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/>
              <a:t>Cut 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2"/>
            <a:ext cx="8728364" cy="5616509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endParaRPr lang="en-IN" sz="2000" dirty="0" smtClean="0"/>
          </a:p>
          <a:p>
            <a:pPr marL="457200" indent="-457200">
              <a:buNone/>
            </a:pPr>
            <a:endParaRPr lang="en-IN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89557" y="1352810"/>
            <a:ext cx="6300591" cy="2031325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root:x:0:0:root:/root:/bin/bash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bin:x:1:1:bin:/bin:/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daemon:x:2:2:daemon:/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adm:x:3:4:adm:/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var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adm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lp:x:4:7:lp:/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var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/spool/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lpd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sync:x:5:0:sync:/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:/bin/sync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shutdown:x:6:0:shutdown:/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/shutdown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33" y="3684735"/>
            <a:ext cx="5022939" cy="2308324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$ cut -d : -f1,4  /etc/</a:t>
            </a:r>
            <a:r>
              <a:rPr lang="en-US" b="1" dirty="0" err="1" smtClean="0">
                <a:solidFill>
                  <a:srgbClr val="0000CC"/>
                </a:solidFill>
                <a:latin typeface="Lucida Console" pitchFamily="49" charset="0"/>
              </a:rPr>
              <a:t>passwd</a:t>
            </a:r>
            <a:endParaRPr lang="en-US" b="1" dirty="0" smtClean="0">
              <a:solidFill>
                <a:srgbClr val="0000CC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root:0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bin:1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daemon:2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adm:4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lp:7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sync:0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shutdown:0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Shell Programming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Bash Shell Programming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488186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US" dirty="0" smtClean="0"/>
              <a:t>Topics covered are </a:t>
            </a:r>
          </a:p>
          <a:p>
            <a:pPr lvl="1">
              <a:lnSpc>
                <a:spcPct val="150000"/>
              </a:lnSpc>
            </a:pPr>
            <a:r>
              <a:rPr lang="x-none" smtClean="0"/>
              <a:t>Purpose of Shell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x-none" smtClean="0"/>
              <a:t>Flavors of shell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x-none" smtClean="0"/>
              <a:t>Features of Bash shell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x-none" smtClean="0"/>
              <a:t>Variables – built-in and userdefined 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s</a:t>
            </a:r>
            <a:r>
              <a:rPr lang="x-none" smtClean="0"/>
              <a:t>et &amp; unset of variables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x-none" smtClean="0"/>
              <a:t>Exporting variables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x-none" smtClean="0"/>
              <a:t>Configuring shell – use of /etc/profile and .profile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x-none" smtClean="0"/>
              <a:t>Exit status of a command executed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Command execution in background</a:t>
            </a:r>
          </a:p>
          <a:p>
            <a:pPr lvl="1">
              <a:lnSpc>
                <a:spcPct val="150000"/>
              </a:lnSpc>
            </a:pPr>
            <a:r>
              <a:rPr lang="x-none" smtClean="0"/>
              <a:t>Positional parameters to shell script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x-none" smtClean="0"/>
              <a:t>Using constructs – for, while, if, case, test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About  Bash Shell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20276" y="871974"/>
            <a:ext cx="8478668" cy="447357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Purpose of Bash Shell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Provides interface to the operating system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Shell is command interpreter</a:t>
            </a: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lvl="1"/>
            <a:endParaRPr lang="en-US" dirty="0" smtClean="0">
              <a:solidFill>
                <a:schemeClr val="tx1"/>
              </a:solidFill>
            </a:endParaRPr>
          </a:p>
          <a:p>
            <a:pPr lvl="0"/>
            <a:r>
              <a:rPr lang="en-US" dirty="0" smtClean="0">
                <a:solidFill>
                  <a:schemeClr val="tx1"/>
                </a:solidFill>
              </a:rPr>
              <a:t>Apart from being command interpreter, bash has the following features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Command history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Command alias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Command editing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Programming language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Arrays</a:t>
            </a:r>
          </a:p>
          <a:p>
            <a:pPr lvl="1">
              <a:buFontTx/>
              <a:buChar char="-"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Flavours of Shell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7512" y="1111992"/>
          <a:ext cx="819397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286"/>
                <a:gridCol w="1522818"/>
                <a:gridCol w="43938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Executable 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Bourne shell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original shell</a:t>
                      </a:r>
                      <a:r>
                        <a:rPr lang="en-US" baseline="0" dirty="0" smtClean="0"/>
                        <a:t> of UNIX</a:t>
                      </a:r>
                    </a:p>
                    <a:p>
                      <a:r>
                        <a:rPr lang="en-US" baseline="0" dirty="0" smtClean="0"/>
                        <a:t>Designed by </a:t>
                      </a:r>
                      <a:r>
                        <a:rPr lang="en-US" dirty="0" smtClean="0"/>
                        <a:t>Steve Bourne of Bell Labs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 shell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Shell developed Univ.</a:t>
                      </a:r>
                      <a:r>
                        <a:rPr lang="en-US" baseline="0" dirty="0" smtClean="0"/>
                        <a:t> of California, Berkeley </a:t>
                      </a:r>
                    </a:p>
                    <a:p>
                      <a:r>
                        <a:rPr lang="en-US" baseline="0" dirty="0" smtClean="0"/>
                        <a:t>C-like language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TC shell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tcsh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 shell with </a:t>
                      </a:r>
                      <a:r>
                        <a:rPr lang="en-US" dirty="0" err="1" smtClean="0"/>
                        <a:t>emacs</a:t>
                      </a:r>
                      <a:r>
                        <a:rPr lang="en-US" dirty="0" smtClean="0"/>
                        <a:t> style editing</a:t>
                      </a:r>
                      <a:r>
                        <a:rPr lang="en-US" baseline="0" dirty="0" smtClean="0"/>
                        <a:t> of commands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Korn</a:t>
                      </a:r>
                      <a:r>
                        <a:rPr lang="en-US" dirty="0" smtClean="0"/>
                        <a:t> Shell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Designed by </a:t>
                      </a:r>
                      <a:r>
                        <a:rPr lang="en-US" dirty="0" smtClean="0"/>
                        <a:t>David </a:t>
                      </a:r>
                      <a:r>
                        <a:rPr lang="en-US" dirty="0" err="1" smtClean="0"/>
                        <a:t>Korn</a:t>
                      </a:r>
                      <a:r>
                        <a:rPr lang="en-US" dirty="0" smtClean="0"/>
                        <a:t> of Bell Labs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Bourne again shell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Enhanced version of Bourne</a:t>
                      </a:r>
                      <a:r>
                        <a:rPr lang="en-US" baseline="0" dirty="0" smtClean="0"/>
                        <a:t> shell.</a:t>
                      </a:r>
                    </a:p>
                    <a:p>
                      <a:r>
                        <a:rPr lang="en-US" dirty="0" smtClean="0"/>
                        <a:t>Default</a:t>
                      </a:r>
                      <a:r>
                        <a:rPr lang="en-US" baseline="0" dirty="0" smtClean="0"/>
                        <a:t> shell with Linux variants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quotes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5090" y="1525353"/>
          <a:ext cx="8193974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069"/>
                <a:gridCol w="2229633"/>
                <a:gridCol w="418727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'   '</a:t>
                      </a:r>
                    </a:p>
                    <a:p>
                      <a:r>
                        <a:rPr lang="en-US" dirty="0" smtClean="0"/>
                        <a:t>(single quote)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$ echo  '$HOME'</a:t>
                      </a:r>
                    </a:p>
                    <a:p>
                      <a:r>
                        <a:rPr lang="en-US" b="0" dirty="0" smtClean="0"/>
                        <a:t>$HOME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processing of special symbols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"   "</a:t>
                      </a:r>
                    </a:p>
                    <a:p>
                      <a:r>
                        <a:rPr lang="en-US" dirty="0" smtClean="0"/>
                        <a:t>(double quote)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$ echo  "$HOME"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/home/wipro1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Variable substitution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`</a:t>
                      </a:r>
                      <a:r>
                        <a:rPr lang="en-US" sz="2000" b="1" baseline="0" dirty="0" smtClean="0"/>
                        <a:t>     `</a:t>
                      </a:r>
                      <a:endParaRPr lang="en-US" sz="2000" b="1" dirty="0" smtClean="0"/>
                    </a:p>
                    <a:p>
                      <a:r>
                        <a:rPr lang="en-US" dirty="0" smtClean="0"/>
                        <a:t>(back quote)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$ </a:t>
                      </a:r>
                      <a:r>
                        <a:rPr lang="en-US" b="1" dirty="0" err="1" smtClean="0"/>
                        <a:t>cwd</a:t>
                      </a:r>
                      <a:r>
                        <a:rPr lang="en-US" b="1" dirty="0" smtClean="0"/>
                        <a:t>=`</a:t>
                      </a:r>
                      <a:r>
                        <a:rPr lang="en-US" b="1" dirty="0" err="1" smtClean="0"/>
                        <a:t>pwd</a:t>
                      </a:r>
                      <a:r>
                        <a:rPr lang="en-US" b="1" dirty="0" smtClean="0"/>
                        <a:t>`</a:t>
                      </a:r>
                    </a:p>
                    <a:p>
                      <a:r>
                        <a:rPr lang="en-US" b="1" dirty="0" smtClean="0"/>
                        <a:t>$ echo $</a:t>
                      </a:r>
                      <a:r>
                        <a:rPr lang="en-US" b="1" dirty="0" err="1" smtClean="0"/>
                        <a:t>cwd</a:t>
                      </a:r>
                      <a:endParaRPr lang="en-US" b="1" dirty="0" smtClean="0"/>
                    </a:p>
                    <a:p>
                      <a:r>
                        <a:rPr lang="en-US" b="0" dirty="0" smtClean="0"/>
                        <a:t>/home/wipro1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dirty="0" smtClean="0"/>
                        <a:t>Executes the string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within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back quotes considering it as</a:t>
                      </a:r>
                      <a:r>
                        <a:rPr lang="en-US" baseline="0" dirty="0" smtClean="0"/>
                        <a:t> a command.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Mostly</a:t>
                      </a:r>
                      <a:r>
                        <a:rPr lang="en-US" baseline="0" dirty="0" smtClean="0"/>
                        <a:t> u</a:t>
                      </a:r>
                      <a:r>
                        <a:rPr lang="en-US" dirty="0" smtClean="0"/>
                        <a:t>sed inside</a:t>
                      </a:r>
                      <a:r>
                        <a:rPr lang="en-US" baseline="0" dirty="0" smtClean="0"/>
                        <a:t> shell scripts to capture output into a variable for further processing.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\</a:t>
                      </a:r>
                    </a:p>
                    <a:p>
                      <a:r>
                        <a:rPr lang="en-US" dirty="0" smtClean="0"/>
                        <a:t>(backslash)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$ echo \'$HOME\'</a:t>
                      </a:r>
                      <a:endParaRPr lang="en-US" dirty="0" smtClean="0"/>
                    </a:p>
                    <a:p>
                      <a:r>
                        <a:rPr lang="en-US" b="0" dirty="0" smtClean="0"/>
                        <a:t>'$HOME'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Suppress the special meaning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631149"/>
          </a:xfrm>
        </p:spPr>
        <p:txBody>
          <a:bodyPr/>
          <a:lstStyle/>
          <a:p>
            <a:pPr lvl="0"/>
            <a:r>
              <a:rPr lang="en-US" dirty="0" smtClean="0">
                <a:solidFill>
                  <a:schemeClr val="tx1"/>
                </a:solidFill>
              </a:rPr>
              <a:t>Shell provides three different types of quotes, as </a:t>
            </a:r>
            <a:r>
              <a:rPr lang="en-US" smtClean="0">
                <a:solidFill>
                  <a:schemeClr val="tx1"/>
                </a:solidFill>
              </a:rPr>
              <a:t>shown </a:t>
            </a:r>
            <a:r>
              <a:rPr lang="en-US" smtClean="0">
                <a:solidFill>
                  <a:schemeClr val="tx1"/>
                </a:solidFill>
              </a:rPr>
              <a:t>below: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Shell variables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760838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Shell variables are classified as </a:t>
            </a:r>
          </a:p>
          <a:p>
            <a:pPr lvl="1"/>
            <a:r>
              <a:rPr lang="en-US" sz="2000" b="1" dirty="0" smtClean="0">
                <a:solidFill>
                  <a:schemeClr val="tx1"/>
                </a:solidFill>
              </a:rPr>
              <a:t>Environment variables</a:t>
            </a:r>
          </a:p>
          <a:p>
            <a:pPr lvl="2">
              <a:buFontTx/>
              <a:buChar char="-"/>
            </a:pPr>
            <a:r>
              <a:rPr lang="en-US" sz="1800" dirty="0" smtClean="0">
                <a:solidFill>
                  <a:schemeClr val="tx1"/>
                </a:solidFill>
              </a:rPr>
              <a:t>Variable on which </a:t>
            </a:r>
            <a:r>
              <a:rPr lang="en-IN" sz="1800" dirty="0" smtClean="0">
                <a:solidFill>
                  <a:schemeClr val="tx1"/>
                </a:solidFill>
              </a:rPr>
              <a:t>execution behaviour of an application depends</a:t>
            </a:r>
          </a:p>
          <a:p>
            <a:pPr lvl="2">
              <a:buFontTx/>
              <a:buChar char="-"/>
            </a:pPr>
            <a:r>
              <a:rPr lang="en-IN" sz="1800" dirty="0" smtClean="0">
                <a:solidFill>
                  <a:schemeClr val="tx1"/>
                </a:solidFill>
              </a:rPr>
              <a:t>To create an environment variable use </a:t>
            </a:r>
            <a:r>
              <a:rPr lang="en-IN" sz="1800" b="1" dirty="0" smtClean="0">
                <a:solidFill>
                  <a:schemeClr val="tx1"/>
                </a:solidFill>
              </a:rPr>
              <a:t>export </a:t>
            </a:r>
            <a:r>
              <a:rPr lang="en-IN" sz="1800" dirty="0" smtClean="0">
                <a:solidFill>
                  <a:schemeClr val="tx1"/>
                </a:solidFill>
              </a:rPr>
              <a:t>command</a:t>
            </a:r>
            <a:endParaRPr lang="en-IN" sz="1800" b="1" dirty="0" smtClean="0">
              <a:solidFill>
                <a:schemeClr val="tx1"/>
              </a:solidFill>
            </a:endParaRPr>
          </a:p>
          <a:p>
            <a:pPr lvl="1"/>
            <a:r>
              <a:rPr lang="en-US" sz="2000" b="1" dirty="0" smtClean="0">
                <a:solidFill>
                  <a:schemeClr val="tx1"/>
                </a:solidFill>
              </a:rPr>
              <a:t>User-defined variables</a:t>
            </a:r>
          </a:p>
          <a:p>
            <a:pPr lvl="2">
              <a:buFontTx/>
              <a:buChar char="-"/>
            </a:pPr>
            <a:r>
              <a:rPr lang="en-US" sz="1800" dirty="0" smtClean="0">
                <a:solidFill>
                  <a:schemeClr val="tx1"/>
                </a:solidFill>
              </a:rPr>
              <a:t>These are defined by programmer for a specific purpose</a:t>
            </a:r>
          </a:p>
          <a:p>
            <a:pPr lvl="2">
              <a:buFontTx/>
              <a:buChar char="-"/>
            </a:pPr>
            <a:r>
              <a:rPr lang="en-US" sz="1800" dirty="0" smtClean="0">
                <a:solidFill>
                  <a:schemeClr val="tx1"/>
                </a:solidFill>
              </a:rPr>
              <a:t>Usage is limited to shell script in which it is defined and used.</a:t>
            </a:r>
          </a:p>
          <a:p>
            <a:pPr lvl="1"/>
            <a:r>
              <a:rPr lang="en-US" sz="2000" b="1" dirty="0" smtClean="0">
                <a:solidFill>
                  <a:schemeClr val="tx1"/>
                </a:solidFill>
              </a:rPr>
              <a:t>Built-in or predefined variables</a:t>
            </a:r>
          </a:p>
          <a:p>
            <a:pPr lvl="2">
              <a:buFontTx/>
              <a:buChar char="-"/>
            </a:pPr>
            <a:r>
              <a:rPr lang="en-US" sz="1800" dirty="0" smtClean="0">
                <a:solidFill>
                  <a:schemeClr val="tx1"/>
                </a:solidFill>
              </a:rPr>
              <a:t>These are variables defined as part of the shell. Some examples :-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</a:rPr>
              <a:t>BASH			</a:t>
            </a: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 provides path to the bash binary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HOME			 represents home directory for logged in user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PS1				 primary prompt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PS2				 secondary prompt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$$					 process id of the shell in execution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$?					 exit value of last command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$#					 count of positional parameters</a:t>
            </a:r>
          </a:p>
          <a:p>
            <a:pPr lvl="3">
              <a:buNone/>
            </a:pPr>
            <a:r>
              <a:rPr lang="en-US" sz="1600" dirty="0" smtClean="0">
                <a:solidFill>
                  <a:schemeClr val="tx1"/>
                </a:solidFill>
                <a:sym typeface="Wingdings" pitchFamily="2" charset="2"/>
              </a:rPr>
              <a:t>$0, $1 …. $9		 positional arguments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Some environment variables &amp; values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63047" y="894729"/>
            <a:ext cx="8530224" cy="5078313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BASH=/bin/bash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HISTFILE=/home/wipro18/.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bash_history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HISTFILESIZE=1000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HISTSIZE=1000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HOME=/home/wipro18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IFS=$' \t\n‘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LOGNAME=wipro18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PATH=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usr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/local/bin:/bin:/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usr</a:t>
            </a:r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/bin:/home/wipro18/bin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PROMPT_COMMAND='echo -ne "\033]0;${USER}@${HOSTNAME%%.*}:${PWD/#$HOME/~}\007"'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PS1='[\u@\h \W]\$ '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PS2='&gt; '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PS4='+ ‘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SHELL=/bin/bash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SHLVL=1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TERM=</a:t>
            </a:r>
            <a:r>
              <a:rPr lang="en-US" b="1" dirty="0" err="1" smtClean="0">
                <a:solidFill>
                  <a:schemeClr val="tx1"/>
                </a:solidFill>
                <a:latin typeface="Lucida Console" pitchFamily="49" charset="0"/>
              </a:rPr>
              <a:t>xterm</a:t>
            </a:r>
            <a:endParaRPr lang="en-US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UID=517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Lucida Console" pitchFamily="49" charset="0"/>
              </a:rPr>
              <a:t>USER=wipro18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Defining and removing variables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46576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 smtClean="0"/>
              <a:t>A variable is introduced into the current shell, by assigning value to a variable</a:t>
            </a:r>
          </a:p>
          <a:p>
            <a:pPr lvl="1"/>
            <a:endParaRPr lang="en-US" dirty="0" smtClean="0"/>
          </a:p>
          <a:p>
            <a:pPr lvl="0">
              <a:buNone/>
            </a:pPr>
            <a:r>
              <a:rPr lang="en-US" sz="1900" b="1" dirty="0" smtClean="0">
                <a:solidFill>
                  <a:srgbClr val="0000CC"/>
                </a:solidFill>
                <a:latin typeface="Lucida Console" pitchFamily="49" charset="0"/>
              </a:rPr>
              <a:t>			$ NAME=John</a:t>
            </a:r>
          </a:p>
          <a:p>
            <a:pPr lvl="0">
              <a:buNone/>
            </a:pPr>
            <a:endParaRPr lang="en-US" dirty="0" smtClean="0"/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Contents of a variable can be printed using echo command</a:t>
            </a:r>
          </a:p>
          <a:p>
            <a:pPr lvl="0">
              <a:buNone/>
            </a:pPr>
            <a:r>
              <a:rPr lang="en-US" sz="1900" b="1" dirty="0" smtClean="0">
                <a:solidFill>
                  <a:srgbClr val="0000CC"/>
                </a:solidFill>
                <a:latin typeface="Lucida Console" pitchFamily="49" charset="0"/>
              </a:rPr>
              <a:t>			$ echo  $NAME</a:t>
            </a:r>
          </a:p>
          <a:p>
            <a:pPr lvl="0">
              <a:buNone/>
            </a:pPr>
            <a:r>
              <a:rPr lang="en-US" sz="1900" b="1" dirty="0" smtClean="0">
                <a:solidFill>
                  <a:srgbClr val="0000CC"/>
                </a:solidFill>
                <a:latin typeface="Lucida Console" pitchFamily="49" charset="0"/>
              </a:rPr>
              <a:t>			John</a:t>
            </a:r>
          </a:p>
          <a:p>
            <a:pPr lvl="0">
              <a:buNone/>
            </a:pPr>
            <a:r>
              <a:rPr lang="en-US" sz="2400" b="1" dirty="0" smtClean="0">
                <a:solidFill>
                  <a:srgbClr val="0000CC"/>
                </a:solidFill>
                <a:latin typeface="Lucida Console" pitchFamily="49" charset="0"/>
              </a:rPr>
              <a:t>	</a:t>
            </a:r>
            <a:endParaRPr lang="en-US" dirty="0" smtClean="0"/>
          </a:p>
          <a:p>
            <a:pPr lvl="0"/>
            <a:r>
              <a:rPr lang="en-US" dirty="0" smtClean="0"/>
              <a:t>A shell variable exists till it is removed using </a:t>
            </a:r>
            <a:r>
              <a:rPr lang="en-US" b="1" dirty="0" smtClean="0">
                <a:solidFill>
                  <a:srgbClr val="0000CC"/>
                </a:solidFill>
              </a:rPr>
              <a:t>unset </a:t>
            </a:r>
            <a:r>
              <a:rPr lang="en-US" dirty="0" smtClean="0"/>
              <a:t>command</a:t>
            </a:r>
          </a:p>
          <a:p>
            <a:pPr lvl="0"/>
            <a:endParaRPr lang="en-US" dirty="0" smtClean="0"/>
          </a:p>
          <a:p>
            <a:pPr lvl="0">
              <a:buNone/>
            </a:pPr>
            <a:r>
              <a:rPr lang="en-US" sz="1900" b="1" dirty="0" smtClean="0">
                <a:solidFill>
                  <a:srgbClr val="0000CC"/>
                </a:solidFill>
                <a:latin typeface="Lucida Console" pitchFamily="49" charset="0"/>
                <a:cs typeface="+mn-cs"/>
              </a:rPr>
              <a:t>			$ unset NAME</a:t>
            </a:r>
          </a:p>
          <a:p>
            <a:pPr lvl="0">
              <a:buNone/>
            </a:pPr>
            <a:r>
              <a:rPr lang="en-US" sz="1900" b="1" dirty="0" smtClean="0">
                <a:solidFill>
                  <a:srgbClr val="0000CC"/>
                </a:solidFill>
                <a:latin typeface="Lucida Console" pitchFamily="49" charset="0"/>
                <a:cs typeface="+mn-cs"/>
              </a:rPr>
              <a:t>			$ echo  $NAME</a:t>
            </a:r>
          </a:p>
          <a:p>
            <a:pPr lvl="0">
              <a:buNone/>
            </a:pPr>
            <a:endParaRPr lang="en-US" sz="1900" b="1" dirty="0" smtClean="0">
              <a:solidFill>
                <a:srgbClr val="0000CC"/>
              </a:solidFill>
              <a:latin typeface="Lucida Console" pitchFamily="49" charset="0"/>
              <a:cs typeface="+mn-cs"/>
            </a:endParaRPr>
          </a:p>
          <a:p>
            <a:pPr lvl="0">
              <a:buNone/>
            </a:pPr>
            <a:r>
              <a:rPr lang="en-US" sz="1900" b="1" dirty="0" smtClean="0">
                <a:solidFill>
                  <a:srgbClr val="0000CC"/>
                </a:solidFill>
                <a:latin typeface="Lucida Console" pitchFamily="49" charset="0"/>
                <a:cs typeface="+mn-cs"/>
              </a:rPr>
              <a:t>			$</a:t>
            </a:r>
          </a:p>
        </p:txBody>
      </p:sp>
      <p:sp>
        <p:nvSpPr>
          <p:cNvPr id="6" name="Line Callout 2 (Accent Bar) 5"/>
          <p:cNvSpPr/>
          <p:nvPr/>
        </p:nvSpPr>
        <p:spPr>
          <a:xfrm>
            <a:off x="4082902" y="1998921"/>
            <a:ext cx="2838893" cy="570857"/>
          </a:xfrm>
          <a:prstGeom prst="accentCallout2">
            <a:avLst>
              <a:gd name="adj1" fmla="val 61861"/>
              <a:gd name="adj2" fmla="val -2801"/>
              <a:gd name="adj3" fmla="val 49514"/>
              <a:gd name="adj4" fmla="val -45391"/>
              <a:gd name="adj5" fmla="val 15881"/>
              <a:gd name="adj6" fmla="val -69967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There should not be spaces </a:t>
            </a:r>
          </a:p>
          <a:p>
            <a:r>
              <a:rPr lang="en-US" sz="1600" dirty="0" smtClean="0"/>
              <a:t>on either side of = sign</a:t>
            </a:r>
            <a:endParaRPr lang="en-US" sz="1600" dirty="0"/>
          </a:p>
        </p:txBody>
      </p:sp>
      <p:sp>
        <p:nvSpPr>
          <p:cNvPr id="5" name="Line Callout 2 (Accent Bar) 4"/>
          <p:cNvSpPr/>
          <p:nvPr/>
        </p:nvSpPr>
        <p:spPr>
          <a:xfrm>
            <a:off x="4597615" y="5291367"/>
            <a:ext cx="2838893" cy="570857"/>
          </a:xfrm>
          <a:prstGeom prst="accentCallout2">
            <a:avLst>
              <a:gd name="adj1" fmla="val 61861"/>
              <a:gd name="adj2" fmla="val -2801"/>
              <a:gd name="adj3" fmla="val 49514"/>
              <a:gd name="adj4" fmla="val -45391"/>
              <a:gd name="adj5" fmla="val 15881"/>
              <a:gd name="adj6" fmla="val -69967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After unset, echo displays no output for the shell variable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60376" y="145140"/>
            <a:ext cx="8229600" cy="553998"/>
          </a:xfrm>
        </p:spPr>
        <p:txBody>
          <a:bodyPr/>
          <a:lstStyle/>
          <a:p>
            <a:r>
              <a:rPr lang="en-IN" dirty="0" smtClean="0"/>
              <a:t>Exporting a variable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3631515" cy="1603212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A variable defined in a shell will not be accessible to a </a:t>
            </a:r>
            <a:r>
              <a:rPr lang="en-US" dirty="0" err="1" smtClean="0"/>
              <a:t>subshell</a:t>
            </a:r>
            <a:r>
              <a:rPr lang="en-US" dirty="0" smtClean="0"/>
              <a:t>.</a:t>
            </a:r>
          </a:p>
          <a:p>
            <a:pPr lvl="0"/>
            <a:endParaRPr lang="en-US" sz="900" b="1" dirty="0" smtClean="0">
              <a:solidFill>
                <a:srgbClr val="0000CC"/>
              </a:solidFill>
              <a:latin typeface="Lucida Console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04462" y="898612"/>
            <a:ext cx="2376704" cy="1938992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NAME=John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echo  $NAME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bash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echo $NAME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096" y="4141157"/>
            <a:ext cx="3436849" cy="2246769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export NAME=John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echo  $NAME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bash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echo $NAME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</a:t>
            </a:r>
          </a:p>
        </p:txBody>
      </p:sp>
      <p:sp>
        <p:nvSpPr>
          <p:cNvPr id="10" name="Line Callout 2 (Accent Bar) 9"/>
          <p:cNvSpPr/>
          <p:nvPr/>
        </p:nvSpPr>
        <p:spPr>
          <a:xfrm>
            <a:off x="6574242" y="1434639"/>
            <a:ext cx="2475181" cy="867103"/>
          </a:xfrm>
          <a:prstGeom prst="accentCallout2">
            <a:avLst>
              <a:gd name="adj1" fmla="val 53295"/>
              <a:gd name="adj2" fmla="val -933"/>
              <a:gd name="adj3" fmla="val 47175"/>
              <a:gd name="adj4" fmla="val -25242"/>
              <a:gd name="adj5" fmla="val 63183"/>
              <a:gd name="adj6" fmla="val -57747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Create a </a:t>
            </a:r>
            <a:r>
              <a:rPr lang="en-US" dirty="0" err="1" smtClean="0"/>
              <a:t>subshell</a:t>
            </a:r>
            <a:r>
              <a:rPr lang="en-US" dirty="0" smtClean="0"/>
              <a:t> within the current shell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712328" y="4025519"/>
            <a:ext cx="2501478" cy="2616101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NAME=John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echo  $NAME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export NAME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bash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 echo $NAME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John</a:t>
            </a:r>
          </a:p>
          <a:p>
            <a:pPr lvl="0"/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$</a:t>
            </a:r>
          </a:p>
        </p:txBody>
      </p:sp>
      <p:sp>
        <p:nvSpPr>
          <p:cNvPr id="12" name="Text Placeholder 7"/>
          <p:cNvSpPr txBox="1">
            <a:spLocks/>
          </p:cNvSpPr>
          <p:nvPr/>
        </p:nvSpPr>
        <p:spPr>
          <a:xfrm>
            <a:off x="146948" y="3089721"/>
            <a:ext cx="8650211" cy="1009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A variable can be exported to make it accessible to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subshells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.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lang="en-US" sz="2200" dirty="0" smtClean="0">
                <a:solidFill>
                  <a:srgbClr val="595959"/>
                </a:solidFill>
                <a:cs typeface="Arial"/>
              </a:rPr>
              <a:t>Two different ways of exporting a variable is shown  below.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Lucida Console" pitchFamily="49" charset="0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07572" y="4855777"/>
            <a:ext cx="3231931" cy="53602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2659" y="4014946"/>
            <a:ext cx="3231931" cy="53602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93298" y="145140"/>
            <a:ext cx="8396678" cy="553998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Configuring Bash shell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87740"/>
            <a:ext cx="8728364" cy="5576123"/>
          </a:xfrm>
        </p:spPr>
        <p:txBody>
          <a:bodyPr/>
          <a:lstStyle/>
          <a:p>
            <a:pPr lvl="0"/>
            <a:r>
              <a:rPr lang="en-US" dirty="0" smtClean="0">
                <a:solidFill>
                  <a:schemeClr val="tx1"/>
                </a:solidFill>
              </a:rPr>
              <a:t>Shell environment can be configured or personalized.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</a:rPr>
              <a:t>The following files influence the </a:t>
            </a:r>
            <a:r>
              <a:rPr lang="en-US" dirty="0" err="1" smtClean="0">
                <a:solidFill>
                  <a:schemeClr val="tx1"/>
                </a:solidFill>
              </a:rPr>
              <a:t>behaviour</a:t>
            </a:r>
            <a:r>
              <a:rPr lang="en-US" dirty="0" smtClean="0">
                <a:solidFill>
                  <a:schemeClr val="tx1"/>
                </a:solidFill>
              </a:rPr>
              <a:t> of the shell.</a:t>
            </a:r>
          </a:p>
          <a:p>
            <a:pPr lvl="0"/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2000" b="1" dirty="0" smtClean="0">
                <a:solidFill>
                  <a:schemeClr val="tx1"/>
                </a:solidFill>
              </a:rPr>
              <a:t>/etc/profile		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Configuration for the entire system, not user specific</a:t>
            </a:r>
          </a:p>
          <a:p>
            <a:r>
              <a:rPr lang="en-US" sz="2000" b="1" dirty="0" smtClean="0">
                <a:solidFill>
                  <a:schemeClr val="tx1"/>
                </a:solidFill>
              </a:rPr>
              <a:t>$HOME/.</a:t>
            </a:r>
            <a:r>
              <a:rPr lang="en-US" sz="2000" b="1" dirty="0" err="1" smtClean="0">
                <a:solidFill>
                  <a:schemeClr val="tx1"/>
                </a:solidFill>
              </a:rPr>
              <a:t>bash_profile</a:t>
            </a:r>
            <a:r>
              <a:rPr lang="en-US" sz="2000" b="1" dirty="0" smtClean="0">
                <a:solidFill>
                  <a:schemeClr val="tx1"/>
                </a:solidFill>
              </a:rPr>
              <a:t>		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Contains user specific configuration of the shell environment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This file is processed each time user logs-in</a:t>
            </a:r>
          </a:p>
          <a:p>
            <a:r>
              <a:rPr lang="en-US" sz="2000" b="1" dirty="0" smtClean="0">
                <a:solidFill>
                  <a:schemeClr val="tx1"/>
                </a:solidFill>
              </a:rPr>
              <a:t>/etc/</a:t>
            </a:r>
            <a:r>
              <a:rPr lang="en-US" sz="2000" b="1" dirty="0" err="1" smtClean="0">
                <a:solidFill>
                  <a:schemeClr val="tx1"/>
                </a:solidFill>
              </a:rPr>
              <a:t>bash.bashrc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Sets environment variables</a:t>
            </a:r>
          </a:p>
          <a:p>
            <a:r>
              <a:rPr lang="en-US" sz="2000" b="1" dirty="0" smtClean="0">
                <a:solidFill>
                  <a:schemeClr val="tx1"/>
                </a:solidFill>
              </a:rPr>
              <a:t>$HOME/.</a:t>
            </a:r>
            <a:r>
              <a:rPr lang="en-US" sz="2000" b="1" dirty="0" err="1" smtClean="0">
                <a:solidFill>
                  <a:schemeClr val="tx1"/>
                </a:solidFill>
              </a:rPr>
              <a:t>bashrc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User preferences for environment variables 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This file is called by $HOME/</a:t>
            </a:r>
            <a:r>
              <a:rPr lang="en-US" dirty="0" err="1" smtClean="0">
                <a:solidFill>
                  <a:schemeClr val="tx1"/>
                </a:solidFill>
              </a:rPr>
              <a:t>bash_profile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buFontTx/>
              <a:buChar char="-"/>
            </a:pPr>
            <a:r>
              <a:rPr lang="en-US" dirty="0" smtClean="0">
                <a:solidFill>
                  <a:schemeClr val="tx1"/>
                </a:solidFill>
              </a:rPr>
              <a:t>This internally calls /etc/</a:t>
            </a:r>
            <a:r>
              <a:rPr lang="en-US" dirty="0" err="1" smtClean="0">
                <a:solidFill>
                  <a:schemeClr val="tx1"/>
                </a:solidFill>
              </a:rPr>
              <a:t>bash.bashrc</a:t>
            </a:r>
            <a:endParaRPr lang="en-US" dirty="0" smtClean="0">
              <a:solidFill>
                <a:schemeClr val="tx1"/>
              </a:solidFill>
            </a:endParaRPr>
          </a:p>
          <a:p>
            <a:pPr lvl="2">
              <a:buFontTx/>
              <a:buChar char="-"/>
            </a:pPr>
            <a:endParaRPr lang="en-US" dirty="0" smtClean="0">
              <a:solidFill>
                <a:schemeClr val="tx1"/>
              </a:solidFill>
            </a:endParaRPr>
          </a:p>
          <a:p>
            <a:pPr lvl="2">
              <a:buFontTx/>
              <a:buChar char="-"/>
            </a:pPr>
            <a:endParaRPr lang="en-US" dirty="0" smtClean="0">
              <a:solidFill>
                <a:schemeClr val="tx1"/>
              </a:solidFill>
            </a:endParaRPr>
          </a:p>
          <a:p>
            <a:pPr lvl="2">
              <a:buFontTx/>
              <a:buChar char="-"/>
            </a:pPr>
            <a:endParaRPr lang="en-US" dirty="0" smtClean="0">
              <a:solidFill>
                <a:schemeClr val="tx1"/>
              </a:solidFill>
            </a:endParaRPr>
          </a:p>
          <a:p>
            <a:pPr lvl="1">
              <a:buFontTx/>
              <a:buChar char="-"/>
            </a:pPr>
            <a:endParaRPr lang="en-US" sz="2000" dirty="0" smtClean="0">
              <a:solidFill>
                <a:schemeClr val="tx1"/>
              </a:solidFill>
            </a:endParaRPr>
          </a:p>
          <a:p>
            <a:pPr lvl="1">
              <a:buFontTx/>
              <a:buChar char="-"/>
            </a:pP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Bash </a:t>
            </a:r>
            <a:r>
              <a:rPr lang="en-IN" dirty="0"/>
              <a:t>b</a:t>
            </a:r>
            <a:r>
              <a:rPr lang="en-IN" dirty="0" smtClean="0"/>
              <a:t>uilt-in variables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5090" y="1005075"/>
          <a:ext cx="8193974" cy="321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050"/>
                <a:gridCol w="2224585"/>
                <a:gridCol w="485133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PS1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Primary prompt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prompt is provided for the user to issue the Unix commands. On complete execution of the given command, the prompt is displayed again.</a:t>
                      </a:r>
                      <a:endParaRPr lang="en-US" sz="18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PS2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Secondary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Directories</a:t>
                      </a:r>
                      <a:r>
                        <a:rPr lang="en-US" b="0" baseline="0" dirty="0" smtClean="0"/>
                        <a:t> to search for executable files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Terminal type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53844" y="4463050"/>
            <a:ext cx="2995449" cy="138499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$ 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echo "hello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Lucida Console" pitchFamily="49" charset="0"/>
              </a:rPr>
              <a:t>&gt; 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world"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hello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world</a:t>
            </a:r>
          </a:p>
        </p:txBody>
      </p:sp>
      <p:sp>
        <p:nvSpPr>
          <p:cNvPr id="10" name="Bent Arrow 9"/>
          <p:cNvSpPr/>
          <p:nvPr/>
        </p:nvSpPr>
        <p:spPr>
          <a:xfrm rot="10800000">
            <a:off x="7814794" y="4535055"/>
            <a:ext cx="399136" cy="218178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Bent Arrow 10"/>
          <p:cNvSpPr/>
          <p:nvPr/>
        </p:nvSpPr>
        <p:spPr>
          <a:xfrm rot="10800000">
            <a:off x="7089583" y="4897665"/>
            <a:ext cx="399136" cy="218178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Line Callout 2 (Accent Bar) 13"/>
          <p:cNvSpPr/>
          <p:nvPr/>
        </p:nvSpPr>
        <p:spPr>
          <a:xfrm flipH="1">
            <a:off x="2625461" y="4973490"/>
            <a:ext cx="1308555" cy="867103"/>
          </a:xfrm>
          <a:prstGeom prst="accentCallout2">
            <a:avLst>
              <a:gd name="adj1" fmla="val 26022"/>
              <a:gd name="adj2" fmla="val -5238"/>
              <a:gd name="adj3" fmla="val -7370"/>
              <a:gd name="adj4" fmla="val -59826"/>
              <a:gd name="adj5" fmla="val 3183"/>
              <a:gd name="adj6" fmla="val -127744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 smtClean="0"/>
              <a:t>Secondary prompt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Checking exit status of a command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58326"/>
            <a:ext cx="8728364" cy="3481662"/>
          </a:xfrm>
        </p:spPr>
        <p:txBody>
          <a:bodyPr>
            <a:normAutofit/>
          </a:bodyPr>
          <a:lstStyle/>
          <a:p>
            <a:pPr lvl="0"/>
            <a:r>
              <a:rPr lang="en-US" dirty="0" smtClean="0">
                <a:solidFill>
                  <a:schemeClr val="tx1"/>
                </a:solidFill>
              </a:rPr>
              <a:t>At times it is necessary if a command executed by the shell was successful or not.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</a:rPr>
              <a:t>Bash shell provides a special predefined variable </a:t>
            </a:r>
            <a:r>
              <a:rPr lang="en-US" b="1" dirty="0" smtClean="0">
                <a:solidFill>
                  <a:srgbClr val="0000CC"/>
                </a:solidFill>
              </a:rPr>
              <a:t>$?</a:t>
            </a:r>
            <a:r>
              <a:rPr lang="en-US" dirty="0" smtClean="0">
                <a:solidFill>
                  <a:schemeClr val="tx1"/>
                </a:solidFill>
              </a:rPr>
              <a:t> which contains the exit status of the last command</a:t>
            </a:r>
          </a:p>
          <a:p>
            <a:pPr lvl="0"/>
            <a:endParaRPr lang="en-US" sz="1200" dirty="0" smtClean="0">
              <a:solidFill>
                <a:schemeClr val="tx1"/>
              </a:solidFill>
            </a:endParaRPr>
          </a:p>
          <a:p>
            <a:pPr lvl="0"/>
            <a:r>
              <a:rPr lang="en-US" dirty="0" smtClean="0">
                <a:solidFill>
                  <a:schemeClr val="tx1"/>
                </a:solidFill>
              </a:rPr>
              <a:t>Following is the convention followed for exit status</a:t>
            </a:r>
          </a:p>
          <a:p>
            <a:pPr lvl="0"/>
            <a:endParaRPr lang="en-US" sz="1000" dirty="0" smtClean="0">
              <a:solidFill>
                <a:schemeClr val="tx1"/>
              </a:solidFill>
            </a:endParaRPr>
          </a:p>
          <a:p>
            <a:pPr lvl="2">
              <a:buNone/>
            </a:pPr>
            <a:r>
              <a:rPr lang="en-US" dirty="0" smtClean="0">
                <a:solidFill>
                  <a:schemeClr val="tx1"/>
                </a:solidFill>
              </a:rPr>
              <a:t>0		</a:t>
            </a:r>
            <a:r>
              <a:rPr lang="en-US" dirty="0" smtClean="0">
                <a:solidFill>
                  <a:schemeClr val="tx1"/>
                </a:solidFill>
                <a:sym typeface="Wingdings" pitchFamily="2" charset="2"/>
              </a:rPr>
              <a:t> command executed successfully</a:t>
            </a:r>
          </a:p>
          <a:p>
            <a:pPr lvl="2">
              <a:buNone/>
            </a:pPr>
            <a:r>
              <a:rPr lang="en-US" dirty="0" smtClean="0">
                <a:solidFill>
                  <a:schemeClr val="tx1"/>
                </a:solidFill>
              </a:rPr>
              <a:t>1		</a:t>
            </a:r>
            <a:r>
              <a:rPr lang="en-US" dirty="0" smtClean="0">
                <a:solidFill>
                  <a:schemeClr val="tx1"/>
                </a:solidFill>
                <a:sym typeface="Wingdings" pitchFamily="2" charset="2"/>
              </a:rPr>
              <a:t> command not executed successfully</a:t>
            </a:r>
          </a:p>
          <a:p>
            <a:pPr lvl="2">
              <a:buNone/>
            </a:pPr>
            <a:endParaRPr lang="en-US" sz="900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Most commands follow the above convention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6600" y="4353860"/>
            <a:ext cx="8408351" cy="23083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smtClean="0">
                <a:latin typeface="Lucida Console" pitchFamily="49" charset="0"/>
              </a:rPr>
              <a:t>$ </a:t>
            </a:r>
            <a:r>
              <a:rPr lang="en-US" b="1" dirty="0" err="1" smtClean="0">
                <a:latin typeface="Lucida Console" pitchFamily="49" charset="0"/>
              </a:rPr>
              <a:t>ls</a:t>
            </a:r>
            <a:r>
              <a:rPr lang="en-US" b="1" dirty="0" smtClean="0">
                <a:latin typeface="Lucida Console" pitchFamily="49" charset="0"/>
              </a:rPr>
              <a:t> -l t1</a:t>
            </a:r>
          </a:p>
          <a:p>
            <a:pPr>
              <a:buNone/>
            </a:pPr>
            <a:r>
              <a:rPr lang="en-US" b="1" dirty="0" smtClean="0">
                <a:latin typeface="Lucida Console" pitchFamily="49" charset="0"/>
              </a:rPr>
              <a:t>-</a:t>
            </a:r>
            <a:r>
              <a:rPr lang="en-US" b="1" dirty="0" err="1" smtClean="0">
                <a:latin typeface="Lucida Console" pitchFamily="49" charset="0"/>
              </a:rPr>
              <a:t>rw-rw-rw</a:t>
            </a:r>
            <a:r>
              <a:rPr lang="en-US" b="1" dirty="0" smtClean="0">
                <a:latin typeface="Lucida Console" pitchFamily="49" charset="0"/>
              </a:rPr>
              <a:t>-    1 wipro18  </a:t>
            </a:r>
            <a:r>
              <a:rPr lang="en-US" b="1" dirty="0" err="1" smtClean="0">
                <a:latin typeface="Lucida Console" pitchFamily="49" charset="0"/>
              </a:rPr>
              <a:t>wipro18</a:t>
            </a:r>
            <a:r>
              <a:rPr lang="en-US" b="1" dirty="0" smtClean="0">
                <a:latin typeface="Lucida Console" pitchFamily="49" charset="0"/>
              </a:rPr>
              <a:t>    0 Apr 24 12:20 t1</a:t>
            </a:r>
          </a:p>
          <a:p>
            <a:pPr>
              <a:buNone/>
            </a:pPr>
            <a:r>
              <a:rPr lang="en-US" b="1" dirty="0" smtClean="0">
                <a:latin typeface="Lucida Console" pitchFamily="49" charset="0"/>
              </a:rPr>
              <a:t>$ 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echo $?</a:t>
            </a:r>
          </a:p>
          <a:p>
            <a:pPr>
              <a:buNone/>
            </a:pPr>
            <a:r>
              <a:rPr lang="en-US" b="1" dirty="0" smtClean="0">
                <a:latin typeface="Lucida Console" pitchFamily="49" charset="0"/>
              </a:rPr>
              <a:t>0</a:t>
            </a:r>
          </a:p>
          <a:p>
            <a:pPr>
              <a:buNone/>
            </a:pPr>
            <a:r>
              <a:rPr lang="en-US" b="1" dirty="0" smtClean="0">
                <a:latin typeface="Lucida Console" pitchFamily="49" charset="0"/>
              </a:rPr>
              <a:t>$ </a:t>
            </a:r>
            <a:r>
              <a:rPr lang="en-US" b="1" dirty="0" err="1" smtClean="0">
                <a:latin typeface="Lucida Console" pitchFamily="49" charset="0"/>
              </a:rPr>
              <a:t>ls</a:t>
            </a:r>
            <a:r>
              <a:rPr lang="en-US" b="1" dirty="0" smtClean="0">
                <a:latin typeface="Lucida Console" pitchFamily="49" charset="0"/>
              </a:rPr>
              <a:t> -l t2</a:t>
            </a:r>
          </a:p>
          <a:p>
            <a:pPr>
              <a:buNone/>
            </a:pPr>
            <a:r>
              <a:rPr lang="en-US" b="1" dirty="0" err="1" smtClean="0">
                <a:latin typeface="Lucida Console" pitchFamily="49" charset="0"/>
              </a:rPr>
              <a:t>ls</a:t>
            </a:r>
            <a:r>
              <a:rPr lang="en-US" b="1" dirty="0" smtClean="0">
                <a:latin typeface="Lucida Console" pitchFamily="49" charset="0"/>
              </a:rPr>
              <a:t>: t2: No such file or directory</a:t>
            </a:r>
          </a:p>
          <a:p>
            <a:pPr>
              <a:buNone/>
            </a:pPr>
            <a:r>
              <a:rPr lang="en-US" b="1" dirty="0" smtClean="0">
                <a:latin typeface="Lucida Console" pitchFamily="49" charset="0"/>
              </a:rPr>
              <a:t>$ </a:t>
            </a:r>
            <a:r>
              <a:rPr lang="en-US" b="1" dirty="0" smtClean="0">
                <a:solidFill>
                  <a:srgbClr val="0000CC"/>
                </a:solidFill>
                <a:latin typeface="Lucida Console" pitchFamily="49" charset="0"/>
              </a:rPr>
              <a:t>echo $?</a:t>
            </a:r>
          </a:p>
          <a:p>
            <a:pPr>
              <a:buNone/>
            </a:pPr>
            <a:r>
              <a:rPr lang="en-US" b="1" dirty="0" smtClean="0">
                <a:latin typeface="Lucida Console" pitchFamily="49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Command execution in background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754294"/>
          </a:xfrm>
        </p:spPr>
        <p:txBody>
          <a:bodyPr>
            <a:normAutofit/>
          </a:bodyPr>
          <a:lstStyle/>
          <a:p>
            <a:pPr marL="457200" indent="-457200"/>
            <a:r>
              <a:rPr lang="en-IN" dirty="0" smtClean="0">
                <a:solidFill>
                  <a:schemeClr val="tx1"/>
                </a:solidFill>
              </a:rPr>
              <a:t>Shell facilitates applications to be run in background.</a:t>
            </a:r>
          </a:p>
          <a:p>
            <a:pPr marL="457200" indent="-457200"/>
            <a:r>
              <a:rPr lang="en-IN" dirty="0" smtClean="0">
                <a:solidFill>
                  <a:schemeClr val="tx1"/>
                </a:solidFill>
              </a:rPr>
              <a:t>Criteria for running an application in background is </a:t>
            </a:r>
          </a:p>
          <a:p>
            <a:pPr marL="968375" lvl="1" indent="-457200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Application does not require input from user (i.e., non-interactive)</a:t>
            </a:r>
          </a:p>
          <a:p>
            <a:pPr marL="968375" lvl="1" indent="-457200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Takes reasonable time to complete</a:t>
            </a:r>
          </a:p>
          <a:p>
            <a:pPr marL="457200" indent="-457200"/>
            <a:r>
              <a:rPr lang="en-IN" dirty="0" smtClean="0">
                <a:solidFill>
                  <a:schemeClr val="tx1"/>
                </a:solidFill>
              </a:rPr>
              <a:t>To execute a program in background mode, use &amp; (ampersand) symbol at the end of the command.</a:t>
            </a:r>
          </a:p>
          <a:p>
            <a:pPr marL="457200" indent="-457200"/>
            <a:endParaRPr lang="en-IN" sz="1800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968375" lvl="1" indent="-457200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457200" indent="-457200"/>
            <a:endParaRPr lang="en-IN" sz="1800" dirty="0" smtClean="0">
              <a:solidFill>
                <a:schemeClr val="tx1"/>
              </a:solidFill>
            </a:endParaRPr>
          </a:p>
          <a:p>
            <a:pPr marL="457200" indent="-457200"/>
            <a:r>
              <a:rPr lang="en-IN" dirty="0" smtClean="0">
                <a:solidFill>
                  <a:schemeClr val="tx1"/>
                </a:solidFill>
              </a:rPr>
              <a:t>When a command is initiated to run in background, the shell returns immediately, with the process id of the background process. </a:t>
            </a:r>
          </a:p>
          <a:p>
            <a:pPr marL="968375" lvl="1" indent="-457200">
              <a:buNone/>
            </a:pPr>
            <a:endParaRPr lang="en-IN" sz="105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Note: it is user’s responsibility to ensure that the program run in background would not read from standard input and writes to standard output.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2127184" y="3297664"/>
            <a:ext cx="4972831" cy="917953"/>
            <a:chOff x="1607204" y="2380017"/>
            <a:chExt cx="4146123" cy="923330"/>
          </a:xfrm>
        </p:grpSpPr>
        <p:sp>
          <p:nvSpPr>
            <p:cNvPr id="7" name="TextBox 6"/>
            <p:cNvSpPr txBox="1"/>
            <p:nvPr/>
          </p:nvSpPr>
          <p:spPr>
            <a:xfrm>
              <a:off x="1607204" y="2380017"/>
              <a:ext cx="4146123" cy="923330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00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tx1"/>
                  </a:solidFill>
                  <a:latin typeface="Lucida Console" pitchFamily="49" charset="0"/>
                </a:rPr>
                <a:t>$</a:t>
              </a:r>
              <a:r>
                <a:rPr lang="en-US" b="1" dirty="0" smtClean="0">
                  <a:solidFill>
                    <a:srgbClr val="0000CC"/>
                  </a:solidFill>
                  <a:latin typeface="Lucida Console" pitchFamily="49" charset="0"/>
                </a:rPr>
                <a:t> </a:t>
              </a:r>
              <a:r>
                <a:rPr lang="en-US" b="1" dirty="0" err="1" smtClean="0">
                  <a:solidFill>
                    <a:srgbClr val="0000CC"/>
                  </a:solidFill>
                  <a:latin typeface="Lucida Console" pitchFamily="49" charset="0"/>
                </a:rPr>
                <a:t>ls</a:t>
              </a:r>
              <a:r>
                <a:rPr lang="en-US" b="1" dirty="0" smtClean="0">
                  <a:solidFill>
                    <a:srgbClr val="0000CC"/>
                  </a:solidFill>
                  <a:latin typeface="Lucida Console" pitchFamily="49" charset="0"/>
                </a:rPr>
                <a:t> –</a:t>
              </a:r>
              <a:r>
                <a:rPr lang="en-US" b="1" dirty="0" err="1" smtClean="0">
                  <a:solidFill>
                    <a:srgbClr val="0000CC"/>
                  </a:solidFill>
                  <a:latin typeface="Lucida Console" pitchFamily="49" charset="0"/>
                </a:rPr>
                <a:t>lR</a:t>
              </a:r>
              <a:r>
                <a:rPr lang="en-US" b="1" dirty="0" smtClean="0">
                  <a:solidFill>
                    <a:srgbClr val="0000CC"/>
                  </a:solidFill>
                  <a:latin typeface="Lucida Console" pitchFamily="49" charset="0"/>
                </a:rPr>
                <a:t> / &gt; </a:t>
              </a:r>
              <a:r>
                <a:rPr lang="en-US" b="1" dirty="0" err="1" smtClean="0">
                  <a:solidFill>
                    <a:srgbClr val="0000CC"/>
                  </a:solidFill>
                  <a:latin typeface="Lucida Console" pitchFamily="49" charset="0"/>
                </a:rPr>
                <a:t>filelist</a:t>
              </a:r>
              <a:r>
                <a:rPr lang="en-US" b="1" dirty="0" smtClean="0">
                  <a:solidFill>
                    <a:srgbClr val="0000CC"/>
                  </a:solidFill>
                  <a:latin typeface="Lucida Console" pitchFamily="49" charset="0"/>
                </a:rPr>
                <a:t> 2&gt;&amp;1  &amp;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12074</a:t>
              </a:r>
            </a:p>
            <a:p>
              <a:r>
                <a:rPr lang="en-US" b="1" dirty="0" smtClean="0">
                  <a:latin typeface="Lucida Console" pitchFamily="49" charset="0"/>
                </a:rPr>
                <a:t>$</a:t>
              </a:r>
            </a:p>
          </p:txBody>
        </p:sp>
        <p:sp>
          <p:nvSpPr>
            <p:cNvPr id="9" name="Bent Arrow 8"/>
            <p:cNvSpPr/>
            <p:nvPr/>
          </p:nvSpPr>
          <p:spPr>
            <a:xfrm rot="10800000">
              <a:off x="5157503" y="2437606"/>
              <a:ext cx="332782" cy="219456"/>
            </a:xfrm>
            <a:prstGeom prst="bentArrow">
              <a:avLst/>
            </a:prstGeom>
            <a:solidFill>
              <a:srgbClr val="FE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Aliases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544592"/>
          </a:xfrm>
        </p:spPr>
        <p:txBody>
          <a:bodyPr/>
          <a:lstStyle/>
          <a:p>
            <a:pPr lvl="0"/>
            <a:r>
              <a:rPr lang="en-US" dirty="0" smtClean="0">
                <a:solidFill>
                  <a:schemeClr val="tx1"/>
                </a:solidFill>
              </a:rPr>
              <a:t>Aliases provide an alternate name to a command (with options if any) that is executed at command line.</a:t>
            </a:r>
          </a:p>
          <a:p>
            <a:pPr lvl="0"/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Aliases can be defined on a command line or inside a shell script</a:t>
            </a:r>
          </a:p>
          <a:p>
            <a:pPr lvl="0"/>
            <a:endParaRPr lang="en-US" sz="1600" dirty="0" smtClean="0">
              <a:solidFill>
                <a:schemeClr val="tx1"/>
              </a:solidFill>
            </a:endParaRPr>
          </a:p>
          <a:p>
            <a:pPr lvl="0"/>
            <a:r>
              <a:rPr lang="en-US" dirty="0" smtClean="0">
                <a:solidFill>
                  <a:schemeClr val="tx1"/>
                </a:solidFill>
              </a:rPr>
              <a:t>Alias is defined in the following way</a:t>
            </a:r>
          </a:p>
          <a:p>
            <a:pPr lvl="0"/>
            <a:endParaRPr lang="en-US" sz="1400" dirty="0" smtClean="0"/>
          </a:p>
          <a:p>
            <a:pPr lvl="1">
              <a:buNone/>
            </a:pPr>
            <a:r>
              <a:rPr lang="en-US" b="1" dirty="0" smtClean="0">
                <a:solidFill>
                  <a:srgbClr val="0000CC"/>
                </a:solidFill>
              </a:rPr>
              <a:t>    </a:t>
            </a:r>
            <a:r>
              <a:rPr lang="en-US" sz="2000" b="1" dirty="0" smtClean="0">
                <a:solidFill>
                  <a:srgbClr val="0000CC"/>
                </a:solidFill>
              </a:rPr>
              <a:t>alias   </a:t>
            </a:r>
            <a:r>
              <a:rPr lang="en-US" sz="2000" b="1" dirty="0" err="1" smtClean="0">
                <a:solidFill>
                  <a:srgbClr val="0000CC"/>
                </a:solidFill>
              </a:rPr>
              <a:t>aliasname</a:t>
            </a:r>
            <a:r>
              <a:rPr lang="en-US" sz="2000" b="1" dirty="0" smtClean="0">
                <a:solidFill>
                  <a:srgbClr val="0000CC"/>
                </a:solidFill>
              </a:rPr>
              <a:t>= 'command'</a:t>
            </a:r>
          </a:p>
          <a:p>
            <a:pPr lvl="1">
              <a:buNone/>
            </a:pPr>
            <a:endParaRPr lang="en-US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US" sz="1050" b="1" dirty="0" smtClean="0">
              <a:solidFill>
                <a:srgbClr val="0000CC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Following aliases are defined by </a:t>
            </a:r>
            <a:r>
              <a:rPr lang="en-US" sz="2000" b="1" dirty="0" smtClean="0">
                <a:solidFill>
                  <a:schemeClr val="tx1"/>
                </a:solidFill>
              </a:rPr>
              <a:t>/etc/</a:t>
            </a:r>
            <a:r>
              <a:rPr lang="en-US" sz="2000" b="1" dirty="0" err="1" smtClean="0">
                <a:solidFill>
                  <a:schemeClr val="tx1"/>
                </a:solidFill>
              </a:rPr>
              <a:t>bashrc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lvl="1">
              <a:buNone/>
            </a:pPr>
            <a:endParaRPr lang="en-US" sz="1050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r>
              <a:rPr lang="en-US" b="1" dirty="0" smtClean="0">
                <a:solidFill>
                  <a:srgbClr val="0000CC"/>
                </a:solidFill>
              </a:rPr>
              <a:t>alias l.='</a:t>
            </a:r>
            <a:r>
              <a:rPr lang="en-US" b="1" dirty="0" err="1" smtClean="0">
                <a:solidFill>
                  <a:srgbClr val="0000CC"/>
                </a:solidFill>
              </a:rPr>
              <a:t>ls</a:t>
            </a:r>
            <a:r>
              <a:rPr lang="en-US" b="1" dirty="0" smtClean="0">
                <a:solidFill>
                  <a:srgbClr val="0000CC"/>
                </a:solidFill>
              </a:rPr>
              <a:t> -d .* --color=</a:t>
            </a:r>
            <a:r>
              <a:rPr lang="en-US" b="1" dirty="0" err="1" smtClean="0">
                <a:solidFill>
                  <a:srgbClr val="0000CC"/>
                </a:solidFill>
              </a:rPr>
              <a:t>tty</a:t>
            </a:r>
            <a:r>
              <a:rPr lang="en-US" b="1" dirty="0" smtClean="0">
                <a:solidFill>
                  <a:srgbClr val="0000CC"/>
                </a:solidFill>
              </a:rPr>
              <a:t>'</a:t>
            </a:r>
          </a:p>
          <a:p>
            <a:pPr lvl="1">
              <a:buNone/>
            </a:pPr>
            <a:r>
              <a:rPr lang="en-US" b="1" dirty="0" smtClean="0">
                <a:solidFill>
                  <a:srgbClr val="0000CC"/>
                </a:solidFill>
              </a:rPr>
              <a:t>alias </a:t>
            </a:r>
            <a:r>
              <a:rPr lang="en-US" b="1" dirty="0" err="1" smtClean="0">
                <a:solidFill>
                  <a:srgbClr val="0000CC"/>
                </a:solidFill>
              </a:rPr>
              <a:t>ll</a:t>
            </a:r>
            <a:r>
              <a:rPr lang="en-US" b="1" dirty="0" smtClean="0">
                <a:solidFill>
                  <a:srgbClr val="0000CC"/>
                </a:solidFill>
              </a:rPr>
              <a:t>='</a:t>
            </a:r>
            <a:r>
              <a:rPr lang="en-US" b="1" dirty="0" err="1" smtClean="0">
                <a:solidFill>
                  <a:srgbClr val="0000CC"/>
                </a:solidFill>
              </a:rPr>
              <a:t>ls</a:t>
            </a:r>
            <a:r>
              <a:rPr lang="en-US" b="1" dirty="0" smtClean="0">
                <a:solidFill>
                  <a:srgbClr val="0000CC"/>
                </a:solidFill>
              </a:rPr>
              <a:t> -l --color=</a:t>
            </a:r>
            <a:r>
              <a:rPr lang="en-US" b="1" dirty="0" err="1" smtClean="0">
                <a:solidFill>
                  <a:srgbClr val="0000CC"/>
                </a:solidFill>
              </a:rPr>
              <a:t>tty</a:t>
            </a:r>
            <a:r>
              <a:rPr lang="en-US" b="1" dirty="0" smtClean="0">
                <a:solidFill>
                  <a:srgbClr val="0000CC"/>
                </a:solidFill>
              </a:rPr>
              <a:t>'</a:t>
            </a:r>
          </a:p>
          <a:p>
            <a:pPr lvl="1">
              <a:buNone/>
            </a:pPr>
            <a:r>
              <a:rPr lang="en-US" b="1" dirty="0" smtClean="0">
                <a:solidFill>
                  <a:srgbClr val="0000CC"/>
                </a:solidFill>
              </a:rPr>
              <a:t>alias </a:t>
            </a:r>
            <a:r>
              <a:rPr lang="en-US" b="1" dirty="0" err="1" smtClean="0">
                <a:solidFill>
                  <a:srgbClr val="0000CC"/>
                </a:solidFill>
              </a:rPr>
              <a:t>ls</a:t>
            </a:r>
            <a:r>
              <a:rPr lang="en-US" b="1" dirty="0" smtClean="0">
                <a:solidFill>
                  <a:srgbClr val="0000CC"/>
                </a:solidFill>
              </a:rPr>
              <a:t>='</a:t>
            </a:r>
            <a:r>
              <a:rPr lang="en-US" b="1" dirty="0" err="1" smtClean="0">
                <a:solidFill>
                  <a:srgbClr val="0000CC"/>
                </a:solidFill>
              </a:rPr>
              <a:t>ls</a:t>
            </a:r>
            <a:r>
              <a:rPr lang="en-US" b="1" dirty="0" smtClean="0">
                <a:solidFill>
                  <a:srgbClr val="0000CC"/>
                </a:solidFill>
              </a:rPr>
              <a:t> --color=</a:t>
            </a:r>
            <a:r>
              <a:rPr lang="en-US" b="1" dirty="0" err="1" smtClean="0">
                <a:solidFill>
                  <a:srgbClr val="0000CC"/>
                </a:solidFill>
              </a:rPr>
              <a:t>tty</a:t>
            </a:r>
            <a:r>
              <a:rPr lang="en-US" b="1" dirty="0" smtClean="0">
                <a:solidFill>
                  <a:srgbClr val="0000CC"/>
                </a:solidFill>
              </a:rPr>
              <a:t>'</a:t>
            </a:r>
          </a:p>
          <a:p>
            <a:pPr lvl="1">
              <a:buNone/>
            </a:pPr>
            <a:endParaRPr lang="en-US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US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US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US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US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US" dirty="0"/>
          </a:p>
        </p:txBody>
      </p:sp>
      <p:sp>
        <p:nvSpPr>
          <p:cNvPr id="5" name="Line Callout 2 (Accent Bar) 4"/>
          <p:cNvSpPr/>
          <p:nvPr/>
        </p:nvSpPr>
        <p:spPr>
          <a:xfrm>
            <a:off x="6182437" y="3466524"/>
            <a:ext cx="2770494" cy="887102"/>
          </a:xfrm>
          <a:prstGeom prst="accentCallout2">
            <a:avLst>
              <a:gd name="adj1" fmla="val 37212"/>
              <a:gd name="adj2" fmla="val -454"/>
              <a:gd name="adj3" fmla="val 37642"/>
              <a:gd name="adj4" fmla="val -25286"/>
              <a:gd name="adj5" fmla="val 4810"/>
              <a:gd name="adj6" fmla="val -57497"/>
            </a:avLst>
          </a:prstGeom>
          <a:noFill/>
          <a:ln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Take note that command should be enclosed in single quotes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Aliases – examples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544592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dirty="0" smtClean="0"/>
              <a:t>The following alias introduces the command </a:t>
            </a:r>
            <a:r>
              <a:rPr lang="en-US" b="1" dirty="0" smtClean="0"/>
              <a:t>upper</a:t>
            </a:r>
            <a:r>
              <a:rPr lang="en-US" dirty="0" smtClean="0"/>
              <a:t>, which outputs uppercase equivalent of the input.</a:t>
            </a:r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r>
              <a:rPr lang="en-US" dirty="0" smtClean="0"/>
              <a:t>$ </a:t>
            </a:r>
            <a:r>
              <a:rPr lang="en-US" dirty="0" smtClean="0">
                <a:solidFill>
                  <a:srgbClr val="0000CC"/>
                </a:solidFill>
              </a:rPr>
              <a:t>alias   upper='</a:t>
            </a:r>
            <a:r>
              <a:rPr lang="en-US" dirty="0" err="1" smtClean="0">
                <a:solidFill>
                  <a:srgbClr val="0000CC"/>
                </a:solidFill>
              </a:rPr>
              <a:t>tr</a:t>
            </a:r>
            <a:r>
              <a:rPr lang="en-US" dirty="0" smtClean="0">
                <a:solidFill>
                  <a:srgbClr val="0000CC"/>
                </a:solidFill>
              </a:rPr>
              <a:t>   a-z   </a:t>
            </a:r>
            <a:r>
              <a:rPr lang="en-US" dirty="0" err="1" smtClean="0">
                <a:solidFill>
                  <a:srgbClr val="0000CC"/>
                </a:solidFill>
              </a:rPr>
              <a:t>A-Z</a:t>
            </a:r>
            <a:r>
              <a:rPr lang="en-US" dirty="0" smtClean="0">
                <a:solidFill>
                  <a:srgbClr val="0000CC"/>
                </a:solidFill>
              </a:rPr>
              <a:t>‘</a:t>
            </a:r>
          </a:p>
          <a:p>
            <a:pPr lvl="0">
              <a:buNone/>
            </a:pPr>
            <a:r>
              <a:rPr lang="en-US" dirty="0" smtClean="0">
                <a:solidFill>
                  <a:srgbClr val="0000CC"/>
                </a:solidFill>
              </a:rPr>
              <a:t>$ echo "Change lower to UPPER"</a:t>
            </a:r>
          </a:p>
          <a:p>
            <a:pPr lvl="0">
              <a:buNone/>
            </a:pPr>
            <a:r>
              <a:rPr lang="en-US" dirty="0" smtClean="0">
                <a:solidFill>
                  <a:srgbClr val="0000CC"/>
                </a:solidFill>
              </a:rPr>
              <a:t>Change lower to UPPER</a:t>
            </a:r>
          </a:p>
          <a:p>
            <a:pPr lvl="0">
              <a:buNone/>
            </a:pPr>
            <a:r>
              <a:rPr lang="en-US" dirty="0" smtClean="0">
                <a:solidFill>
                  <a:srgbClr val="0000CC"/>
                </a:solidFill>
              </a:rPr>
              <a:t>$ echo "Change lower to UPPER" | upper</a:t>
            </a:r>
          </a:p>
          <a:p>
            <a:pPr lvl="0">
              <a:buNone/>
            </a:pPr>
            <a:r>
              <a:rPr lang="en-US" dirty="0" smtClean="0">
                <a:solidFill>
                  <a:srgbClr val="0000CC"/>
                </a:solidFill>
              </a:rPr>
              <a:t>CHANGE LOWER TO UPPER</a:t>
            </a:r>
          </a:p>
          <a:p>
            <a:pPr lvl="0"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dirty="0" smtClean="0"/>
              <a:t>The following alias introduces the command </a:t>
            </a:r>
            <a:r>
              <a:rPr lang="en-US" b="1" dirty="0" smtClean="0"/>
              <a:t>dir</a:t>
            </a:r>
            <a:r>
              <a:rPr lang="en-US" dirty="0" smtClean="0"/>
              <a:t>, which prints directories in the current directory.</a:t>
            </a:r>
          </a:p>
          <a:p>
            <a:pPr lvl="0">
              <a:buNone/>
            </a:pPr>
            <a:endParaRPr lang="pt-BR" dirty="0" smtClean="0"/>
          </a:p>
          <a:p>
            <a:pPr lvl="0">
              <a:buNone/>
            </a:pPr>
            <a:r>
              <a:rPr lang="pt-BR" dirty="0" smtClean="0">
                <a:solidFill>
                  <a:srgbClr val="0000CC"/>
                </a:solidFill>
              </a:rPr>
              <a:t>alias   dirs='ls -l | grep "^d"'</a:t>
            </a:r>
            <a:endParaRPr lang="en-US" dirty="0" smtClean="0">
              <a:solidFill>
                <a:srgbClr val="0000CC"/>
              </a:solidFill>
            </a:endParaRPr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endParaRPr lang="en-US" dirty="0" smtClean="0"/>
          </a:p>
          <a:p>
            <a:pPr lvl="0">
              <a:buNone/>
            </a:pPr>
            <a:endParaRPr lang="en-US" dirty="0" smtClean="0"/>
          </a:p>
          <a:p>
            <a:pPr lvl="0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Positional parameters to a shell script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591888"/>
          </a:xfrm>
        </p:spPr>
        <p:txBody>
          <a:bodyPr/>
          <a:lstStyle/>
          <a:p>
            <a:pPr lvl="0"/>
            <a:r>
              <a:rPr lang="en-US" dirty="0" smtClean="0"/>
              <a:t>It is possible to pass arguments to shell scripts, and mechanism exists to refer to the arguments within a shell script using built-in variable to process positional parameters</a:t>
            </a:r>
          </a:p>
          <a:p>
            <a:pPr lvl="0"/>
            <a:endParaRPr lang="en-US" dirty="0" smtClean="0"/>
          </a:p>
          <a:p>
            <a:pPr lvl="2">
              <a:buNone/>
            </a:pPr>
            <a:r>
              <a:rPr lang="en-US" sz="2000" dirty="0" smtClean="0">
                <a:solidFill>
                  <a:srgbClr val="0000CC"/>
                </a:solidFill>
              </a:rPr>
              <a:t>$0</a:t>
            </a:r>
            <a:r>
              <a:rPr lang="en-US" sz="2000" dirty="0" smtClean="0"/>
              <a:t>		</a:t>
            </a:r>
            <a:r>
              <a:rPr lang="en-US" sz="2000" dirty="0" smtClean="0">
                <a:sym typeface="Wingdings" pitchFamily="2" charset="2"/>
              </a:rPr>
              <a:t> command name</a:t>
            </a:r>
          </a:p>
          <a:p>
            <a:pPr lvl="2"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$1</a:t>
            </a:r>
            <a:r>
              <a:rPr lang="en-US" sz="2000" dirty="0" smtClean="0">
                <a:sym typeface="Wingdings" pitchFamily="2" charset="2"/>
              </a:rPr>
              <a:t>		 1</a:t>
            </a:r>
            <a:r>
              <a:rPr lang="en-US" sz="2000" baseline="30000" dirty="0" smtClean="0">
                <a:sym typeface="Wingdings" pitchFamily="2" charset="2"/>
              </a:rPr>
              <a:t>st</a:t>
            </a:r>
            <a:r>
              <a:rPr lang="en-US" sz="2000" dirty="0" smtClean="0">
                <a:sym typeface="Wingdings" pitchFamily="2" charset="2"/>
              </a:rPr>
              <a:t> argument</a:t>
            </a:r>
          </a:p>
          <a:p>
            <a:pPr lvl="2"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$2</a:t>
            </a:r>
            <a:r>
              <a:rPr lang="en-US" sz="2000" dirty="0" smtClean="0">
                <a:sym typeface="Wingdings" pitchFamily="2" charset="2"/>
              </a:rPr>
              <a:t>		 2</a:t>
            </a:r>
            <a:r>
              <a:rPr lang="en-US" sz="2000" baseline="30000" dirty="0" smtClean="0">
                <a:sym typeface="Wingdings" pitchFamily="2" charset="2"/>
              </a:rPr>
              <a:t>nd</a:t>
            </a:r>
            <a:r>
              <a:rPr lang="en-US" sz="2000" dirty="0" smtClean="0">
                <a:sym typeface="Wingdings" pitchFamily="2" charset="2"/>
              </a:rPr>
              <a:t> argument</a:t>
            </a:r>
          </a:p>
          <a:p>
            <a:pPr lvl="2">
              <a:buNone/>
            </a:pPr>
            <a:r>
              <a:rPr lang="en-US" sz="2000" b="1" dirty="0" smtClean="0">
                <a:sym typeface="Wingdings" pitchFamily="2" charset="2"/>
              </a:rPr>
              <a:t>…</a:t>
            </a:r>
          </a:p>
          <a:p>
            <a:pPr lvl="2"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$9</a:t>
            </a:r>
            <a:r>
              <a:rPr lang="en-US" sz="2000" dirty="0" smtClean="0">
                <a:sym typeface="Wingdings" pitchFamily="2" charset="2"/>
              </a:rPr>
              <a:t>		 9</a:t>
            </a:r>
            <a:r>
              <a:rPr lang="en-US" sz="2000" baseline="30000" dirty="0" smtClean="0">
                <a:sym typeface="Wingdings" pitchFamily="2" charset="2"/>
              </a:rPr>
              <a:t>th</a:t>
            </a:r>
            <a:r>
              <a:rPr lang="en-US" sz="2000" dirty="0" smtClean="0">
                <a:sym typeface="Wingdings" pitchFamily="2" charset="2"/>
              </a:rPr>
              <a:t> argument</a:t>
            </a:r>
          </a:p>
          <a:p>
            <a:pPr lvl="2"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$#</a:t>
            </a:r>
            <a:r>
              <a:rPr lang="en-US" sz="2000" dirty="0" smtClean="0">
                <a:sym typeface="Wingdings" pitchFamily="2" charset="2"/>
              </a:rPr>
              <a:t>		 number of arguments</a:t>
            </a:r>
          </a:p>
          <a:p>
            <a:pPr lvl="2">
              <a:buNone/>
            </a:pPr>
            <a:endParaRPr lang="en-US" sz="2000" dirty="0" smtClean="0"/>
          </a:p>
          <a:p>
            <a:pPr lv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09648" y="145140"/>
            <a:ext cx="8480328" cy="523220"/>
          </a:xfrm>
        </p:spPr>
        <p:txBody>
          <a:bodyPr/>
          <a:lstStyle/>
          <a:p>
            <a:r>
              <a:rPr lang="en-IN" sz="2800" dirty="0" smtClean="0"/>
              <a:t>Positional parameters to a </a:t>
            </a:r>
            <a:r>
              <a:rPr lang="en-IN" sz="2800" smtClean="0"/>
              <a:t>shell </a:t>
            </a:r>
            <a:r>
              <a:rPr lang="en-IN" sz="2800"/>
              <a:t>script (Contd.).</a:t>
            </a:r>
            <a:endParaRPr lang="en-IN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68441" y="1076435"/>
            <a:ext cx="3502543" cy="224676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cat 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printargs</a:t>
            </a:r>
            <a:endParaRPr lang="en-US" sz="2000" b="1" dirty="0" smtClean="0">
              <a:solidFill>
                <a:srgbClr val="0000CC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echo 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count = $#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echo  \$0 = $0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echo 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[1] = $1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echo 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[2] = $2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echo 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[3] = $3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7270" y="1076435"/>
            <a:ext cx="4351292" cy="501675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./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printargs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  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abc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 xyz 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pqr</a:t>
            </a:r>
            <a:endParaRPr lang="en-US" sz="2000" b="1" dirty="0" smtClean="0">
              <a:solidFill>
                <a:srgbClr val="0000CC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count = 3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$0 = ./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printargs</a:t>
            </a:r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[1] = 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abc</a:t>
            </a:r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[2] = xyz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[3] = 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pqr</a:t>
            </a:r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</a:p>
          <a:p>
            <a:pPr lvl="0"/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./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printargs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  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abc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 xyz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count = 2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$0 = ./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printargs</a:t>
            </a:r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[1] = 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abc</a:t>
            </a:r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[2] = xyz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[3] = 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Positional parameters to a shell script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14855" y="1450427"/>
            <a:ext cx="8119242" cy="44012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./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printargs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  New Delhi  Tokyo   New York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count = 5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$0 = ./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printargs</a:t>
            </a:r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[1] = New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[2] = Delhi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[3] = Tokyo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./</a:t>
            </a:r>
            <a:r>
              <a:rPr lang="en-US" sz="2000" b="1" dirty="0" err="1" smtClean="0">
                <a:solidFill>
                  <a:srgbClr val="0000CC"/>
                </a:solidFill>
                <a:latin typeface="Lucida Console" pitchFamily="49" charset="0"/>
              </a:rPr>
              <a:t>printargs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  </a:t>
            </a:r>
            <a:r>
              <a:rPr lang="pt-BR" sz="2000" dirty="0" smtClean="0">
                <a:solidFill>
                  <a:srgbClr val="0000CC"/>
                </a:solidFill>
              </a:rPr>
              <a:t>"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New Delhi</a:t>
            </a:r>
            <a:r>
              <a:rPr lang="pt-BR" sz="2000" dirty="0" smtClean="0">
                <a:solidFill>
                  <a:srgbClr val="0000CC"/>
                </a:solidFill>
              </a:rPr>
              <a:t>"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  Tokyo   </a:t>
            </a:r>
            <a:r>
              <a:rPr lang="pt-BR" sz="2000" dirty="0" smtClean="0">
                <a:solidFill>
                  <a:srgbClr val="0000CC"/>
                </a:solidFill>
              </a:rPr>
              <a:t>"</a:t>
            </a:r>
            <a:r>
              <a:rPr lang="en-US" sz="2000" b="1" dirty="0" smtClean="0">
                <a:solidFill>
                  <a:srgbClr val="0000CC"/>
                </a:solidFill>
                <a:latin typeface="Lucida Console" pitchFamily="49" charset="0"/>
              </a:rPr>
              <a:t>New York</a:t>
            </a:r>
            <a:r>
              <a:rPr lang="pt-BR" sz="2000" dirty="0" smtClean="0">
                <a:solidFill>
                  <a:srgbClr val="0000CC"/>
                </a:solidFill>
              </a:rPr>
              <a:t>"</a:t>
            </a:r>
            <a:endParaRPr lang="en-US" sz="2000" b="1" dirty="0" smtClean="0">
              <a:solidFill>
                <a:srgbClr val="0000CC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 count = 3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$0 = ./</a:t>
            </a:r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printargs</a:t>
            </a:r>
            <a:endParaRPr lang="en-US" sz="20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[1] = New Delhi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[2] = Tokyo</a:t>
            </a:r>
          </a:p>
          <a:p>
            <a:pPr lvl="0"/>
            <a:r>
              <a:rPr lang="en-US" sz="2000" b="1" dirty="0" err="1" smtClean="0">
                <a:solidFill>
                  <a:schemeClr val="tx1"/>
                </a:solidFill>
                <a:latin typeface="Lucida Console" pitchFamily="49" charset="0"/>
              </a:rPr>
              <a:t>arg</a:t>
            </a:r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[3] = New York</a:t>
            </a:r>
          </a:p>
          <a:p>
            <a:pPr lvl="0"/>
            <a:r>
              <a:rPr lang="en-US" sz="2000" b="1" dirty="0" smtClean="0">
                <a:solidFill>
                  <a:schemeClr val="tx1"/>
                </a:solidFill>
                <a:latin typeface="Lucida Console" pitchFamily="49" charset="0"/>
              </a:rPr>
              <a:t>$</a:t>
            </a:r>
          </a:p>
        </p:txBody>
      </p:sp>
      <p:sp>
        <p:nvSpPr>
          <p:cNvPr id="7" name="Line Callout 2 (Accent Bar) 6"/>
          <p:cNvSpPr/>
          <p:nvPr/>
        </p:nvSpPr>
        <p:spPr>
          <a:xfrm flipH="1">
            <a:off x="3740823" y="4695101"/>
            <a:ext cx="3680702" cy="644166"/>
          </a:xfrm>
          <a:prstGeom prst="accentCallout2">
            <a:avLst>
              <a:gd name="adj1" fmla="val 29994"/>
              <a:gd name="adj2" fmla="val -20"/>
              <a:gd name="adj3" fmla="val -43339"/>
              <a:gd name="adj4" fmla="val -2643"/>
              <a:gd name="adj5" fmla="val -108399"/>
              <a:gd name="adj6" fmla="val 14486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600" dirty="0" smtClean="0"/>
              <a:t>Arguments with embedded spaces need to be enclosed in double quotes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Command substitution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292343"/>
          </a:xfrm>
        </p:spPr>
        <p:txBody>
          <a:bodyPr/>
          <a:lstStyle/>
          <a:p>
            <a:pPr lvl="0"/>
            <a:r>
              <a:rPr lang="en-US" dirty="0" smtClean="0"/>
              <a:t>At times output of a command is required to be saved in a variable for further processing.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Two ways in which output of a command can be saved in a variable</a:t>
            </a:r>
          </a:p>
          <a:p>
            <a:pPr lvl="0"/>
            <a:endParaRPr lang="en-US" dirty="0" smtClean="0"/>
          </a:p>
          <a:p>
            <a:pPr lvl="0"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chemeClr val="tx1"/>
                </a:solidFill>
              </a:rPr>
              <a:t>$ date1=</a:t>
            </a:r>
            <a:r>
              <a:rPr lang="en-US" b="1" dirty="0" smtClean="0">
                <a:solidFill>
                  <a:srgbClr val="0000CC"/>
                </a:solidFill>
              </a:rPr>
              <a:t>`date`</a:t>
            </a:r>
          </a:p>
          <a:p>
            <a:pPr lvl="0">
              <a:buNone/>
            </a:pPr>
            <a:r>
              <a:rPr lang="en-US" dirty="0" smtClean="0">
                <a:solidFill>
                  <a:schemeClr val="tx1"/>
                </a:solidFill>
              </a:rPr>
              <a:t>			$ echo $date1</a:t>
            </a:r>
          </a:p>
          <a:p>
            <a:pPr lvl="0">
              <a:buNone/>
            </a:pPr>
            <a:r>
              <a:rPr lang="en-US" dirty="0" smtClean="0">
                <a:solidFill>
                  <a:schemeClr val="tx1"/>
                </a:solidFill>
              </a:rPr>
              <a:t>			</a:t>
            </a:r>
            <a:r>
              <a:rPr lang="de-DE" dirty="0" smtClean="0">
                <a:solidFill>
                  <a:schemeClr val="tx1"/>
                </a:solidFill>
              </a:rPr>
              <a:t>Mon Apr 12 11:53:43 IST 2010</a:t>
            </a:r>
            <a:endParaRPr lang="en-US" dirty="0" smtClean="0">
              <a:solidFill>
                <a:schemeClr val="tx1"/>
              </a:solidFill>
            </a:endParaRPr>
          </a:p>
          <a:p>
            <a:pPr lvl="0">
              <a:buNone/>
            </a:pPr>
            <a:r>
              <a:rPr lang="en-US" dirty="0" smtClean="0">
                <a:solidFill>
                  <a:schemeClr val="tx1"/>
                </a:solidFill>
              </a:rPr>
              <a:t>			$ date2=</a:t>
            </a:r>
            <a:r>
              <a:rPr lang="en-US" b="1" dirty="0" smtClean="0">
                <a:solidFill>
                  <a:srgbClr val="0000CC"/>
                </a:solidFill>
              </a:rPr>
              <a:t>$(date)</a:t>
            </a:r>
          </a:p>
          <a:p>
            <a:pPr lvl="0">
              <a:buNone/>
            </a:pPr>
            <a:r>
              <a:rPr lang="en-US" dirty="0" smtClean="0">
                <a:solidFill>
                  <a:schemeClr val="tx1"/>
                </a:solidFill>
              </a:rPr>
              <a:t>			$ echo $date2</a:t>
            </a:r>
          </a:p>
          <a:p>
            <a:pPr lvl="0">
              <a:buNone/>
            </a:pPr>
            <a:r>
              <a:rPr lang="en-US" dirty="0" smtClean="0">
                <a:solidFill>
                  <a:schemeClr val="tx1"/>
                </a:solidFill>
              </a:rPr>
              <a:t>			</a:t>
            </a:r>
            <a:r>
              <a:rPr lang="de-DE" dirty="0" smtClean="0">
                <a:solidFill>
                  <a:schemeClr val="tx1"/>
                </a:solidFill>
              </a:rPr>
              <a:t>Mon Apr 12 11:55:16 IST 2010</a:t>
            </a:r>
            <a:endParaRPr lang="en-US" dirty="0" smtClean="0">
              <a:solidFill>
                <a:schemeClr val="tx1"/>
              </a:solidFill>
            </a:endParaRPr>
          </a:p>
          <a:p>
            <a:pPr lvl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smtClean="0"/>
              <a:t>read command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593643" y="974004"/>
            <a:ext cx="8550357" cy="447357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Lets read from standard input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Quite useful in shell scripts to accept data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Example </a:t>
            </a: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$   read   name</a:t>
            </a: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Peter</a:t>
            </a: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$</a:t>
            </a: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$ echo  $name</a:t>
            </a: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Peter</a:t>
            </a: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$</a:t>
            </a:r>
            <a:endParaRPr lang="en-US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w</a:t>
            </a:r>
            <a:r>
              <a:rPr lang="en-IN" dirty="0" smtClean="0"/>
              <a:t>hile construct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717090" y="866714"/>
            <a:ext cx="4482853" cy="4473575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Syntax for while loop</a:t>
            </a: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while</a:t>
            </a:r>
            <a:r>
              <a:rPr lang="en-US" dirty="0" smtClean="0">
                <a:solidFill>
                  <a:srgbClr val="0000CC"/>
                </a:solidFill>
              </a:rPr>
              <a:t>  [ condition ]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do</a:t>
            </a: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	commands 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done</a:t>
            </a: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 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4666593" y="866714"/>
            <a:ext cx="4235664" cy="44735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Example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#! /bin/bash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#filename :  cat1.sh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while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read  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	echo  $line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 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w</a:t>
            </a:r>
            <a:r>
              <a:rPr lang="en-IN" dirty="0" smtClean="0"/>
              <a:t>hile construct – examples</a:t>
            </a:r>
            <a:endParaRPr lang="en-IN" dirty="0"/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4524718" y="1008602"/>
            <a:ext cx="4493164" cy="52503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Reading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contents from a file like 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cat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#! /bin/bash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#filename :  cat2.sh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while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read  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	echo  $line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done   &lt;  $1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lang="en-US" sz="2000" b="1" dirty="0" smtClean="0"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Usage: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lang="en-US" sz="1100" b="1" dirty="0" smtClean="0"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$  ./cat2.sh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</a:t>
            </a:r>
            <a:r>
              <a:rPr kumimoji="0" lang="en-US" sz="2000" b="1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new.c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565250" y="3578764"/>
            <a:ext cx="766392" cy="5202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6448119" y="1702663"/>
            <a:ext cx="1382512" cy="2081048"/>
          </a:xfrm>
          <a:custGeom>
            <a:avLst/>
            <a:gdLst>
              <a:gd name="connsiteX0" fmla="*/ 1229711 w 1355835"/>
              <a:gd name="connsiteY0" fmla="*/ 0 h 1923393"/>
              <a:gd name="connsiteX1" fmla="*/ 1150883 w 1355835"/>
              <a:gd name="connsiteY1" fmla="*/ 804041 h 1923393"/>
              <a:gd name="connsiteX2" fmla="*/ 0 w 1355835"/>
              <a:gd name="connsiteY2" fmla="*/ 1923393 h 192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5835" h="1923393">
                <a:moveTo>
                  <a:pt x="1229711" y="0"/>
                </a:moveTo>
                <a:cubicBezTo>
                  <a:pt x="1292773" y="241737"/>
                  <a:pt x="1355835" y="483475"/>
                  <a:pt x="1150883" y="804041"/>
                </a:cubicBezTo>
                <a:cubicBezTo>
                  <a:pt x="945931" y="1124607"/>
                  <a:pt x="0" y="1923393"/>
                  <a:pt x="0" y="1923393"/>
                </a:cubicBezTo>
              </a:path>
            </a:pathLst>
          </a:custGeom>
          <a:ln w="38100">
            <a:solidFill>
              <a:schemeClr val="tx1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7"/>
          <p:cNvSpPr txBox="1">
            <a:spLocks/>
          </p:cNvSpPr>
          <p:nvPr/>
        </p:nvSpPr>
        <p:spPr>
          <a:xfrm>
            <a:off x="268024" y="1545008"/>
            <a:ext cx="4235664" cy="38583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#! /bin/bash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#filename :  cat1.sh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while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read  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	echo  $line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 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7" name="Text Placeholder 7"/>
          <p:cNvSpPr txBox="1">
            <a:spLocks/>
          </p:cNvSpPr>
          <p:nvPr/>
        </p:nvSpPr>
        <p:spPr>
          <a:xfrm>
            <a:off x="173414" y="929776"/>
            <a:ext cx="3909855" cy="85173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Reading contents from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standard input, like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cat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for construct</a:t>
            </a:r>
            <a:endParaRPr lang="en-IN" dirty="0"/>
          </a:p>
        </p:txBody>
      </p:sp>
      <p:sp>
        <p:nvSpPr>
          <p:cNvPr id="14" name="Text Placeholder 7"/>
          <p:cNvSpPr txBox="1">
            <a:spLocks/>
          </p:cNvSpPr>
          <p:nvPr/>
        </p:nvSpPr>
        <p:spPr>
          <a:xfrm>
            <a:off x="520272" y="2380616"/>
            <a:ext cx="4235664" cy="3858347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for   </a:t>
            </a:r>
            <a:r>
              <a:rPr lang="en-US" sz="2200" dirty="0" err="1" smtClean="0">
                <a:solidFill>
                  <a:srgbClr val="0000CC"/>
                </a:solidFill>
                <a:cs typeface="Arial"/>
              </a:rPr>
              <a:t>arg</a:t>
            </a:r>
            <a:r>
              <a:rPr lang="en-US" sz="2200" dirty="0" smtClean="0">
                <a:solidFill>
                  <a:srgbClr val="0000CC"/>
                </a:solidFill>
                <a:cs typeface="Arial"/>
              </a:rPr>
              <a:t>  in  [ list ]</a:t>
            </a:r>
          </a:p>
          <a:p>
            <a:r>
              <a:rPr lang="en-US" sz="2200" dirty="0" smtClean="0">
                <a:solidFill>
                  <a:srgbClr val="0000CC"/>
                </a:solidFill>
                <a:cs typeface="Arial"/>
              </a:rPr>
              <a:t>do</a:t>
            </a:r>
          </a:p>
          <a:p>
            <a:r>
              <a:rPr lang="en-US" sz="2200" dirty="0" smtClean="0">
                <a:cs typeface="Arial"/>
              </a:rPr>
              <a:t>   command(s)</a:t>
            </a:r>
          </a:p>
          <a:p>
            <a:r>
              <a:rPr lang="en-US" sz="2200" dirty="0" smtClean="0">
                <a:solidFill>
                  <a:srgbClr val="0000CC"/>
                </a:solidFill>
                <a:cs typeface="Arial"/>
              </a:rPr>
              <a:t>done</a:t>
            </a:r>
          </a:p>
          <a:p>
            <a:endParaRPr lang="en-US" sz="2200" dirty="0" smtClean="0">
              <a:cs typeface="Arial"/>
            </a:endParaRPr>
          </a:p>
          <a:p>
            <a:endParaRPr lang="en-US" sz="2000" dirty="0"/>
          </a:p>
        </p:txBody>
      </p:sp>
      <p:sp>
        <p:nvSpPr>
          <p:cNvPr id="8" name="Text Placeholder 7"/>
          <p:cNvSpPr txBox="1">
            <a:spLocks/>
          </p:cNvSpPr>
          <p:nvPr/>
        </p:nvSpPr>
        <p:spPr>
          <a:xfrm>
            <a:off x="173414" y="929776"/>
            <a:ext cx="3846793" cy="10251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Syntax for 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for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loop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9" name="Text Placeholder 7"/>
          <p:cNvSpPr txBox="1">
            <a:spLocks/>
          </p:cNvSpPr>
          <p:nvPr/>
        </p:nvSpPr>
        <p:spPr>
          <a:xfrm>
            <a:off x="4804013" y="1019757"/>
            <a:ext cx="3789459" cy="299268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200" b="1" dirty="0" smtClean="0">
                <a:cs typeface="Arial"/>
              </a:rPr>
              <a:t>$ 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for k in 1 2 3</a:t>
            </a:r>
          </a:p>
          <a:p>
            <a:r>
              <a:rPr lang="en-US" sz="2200" b="1" dirty="0" smtClean="0">
                <a:cs typeface="Arial"/>
              </a:rPr>
              <a:t>&gt;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 do</a:t>
            </a:r>
          </a:p>
          <a:p>
            <a:r>
              <a:rPr lang="en-US" sz="2200" b="1" dirty="0" smtClean="0">
                <a:cs typeface="Arial"/>
              </a:rPr>
              <a:t>&gt;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 echo $k</a:t>
            </a:r>
          </a:p>
          <a:p>
            <a:r>
              <a:rPr lang="en-US" sz="2200" b="1" dirty="0" smtClean="0">
                <a:cs typeface="Arial"/>
              </a:rPr>
              <a:t>&gt;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 done</a:t>
            </a:r>
          </a:p>
          <a:p>
            <a:r>
              <a:rPr lang="en-US" sz="2200" b="1" dirty="0" smtClean="0">
                <a:cs typeface="Arial"/>
              </a:rPr>
              <a:t>1</a:t>
            </a:r>
          </a:p>
          <a:p>
            <a:r>
              <a:rPr lang="en-US" sz="2200" b="1" dirty="0" smtClean="0">
                <a:cs typeface="Arial"/>
              </a:rPr>
              <a:t>2</a:t>
            </a:r>
          </a:p>
          <a:p>
            <a:r>
              <a:rPr lang="en-US" sz="2200" b="1" dirty="0" smtClean="0">
                <a:cs typeface="Arial"/>
              </a:rPr>
              <a:t>3</a:t>
            </a:r>
          </a:p>
          <a:p>
            <a:r>
              <a:rPr lang="en-US" sz="2200" b="1" dirty="0" smtClean="0">
                <a:cs typeface="Arial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926" y="4230797"/>
            <a:ext cx="3302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It is possible to execute simple logic as shown above from command line.</a:t>
            </a:r>
          </a:p>
          <a:p>
            <a:r>
              <a:rPr lang="en-US" dirty="0" smtClean="0"/>
              <a:t>It is not necessary to have the script in a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60376" y="145140"/>
            <a:ext cx="8229600" cy="553998"/>
          </a:xfrm>
        </p:spPr>
        <p:txBody>
          <a:bodyPr/>
          <a:lstStyle/>
          <a:p>
            <a:r>
              <a:rPr lang="en-IN" dirty="0" smtClean="0"/>
              <a:t>for construct – examples</a:t>
            </a:r>
          </a:p>
        </p:txBody>
      </p:sp>
      <p:sp>
        <p:nvSpPr>
          <p:cNvPr id="9" name="Text Placeholder 7"/>
          <p:cNvSpPr txBox="1">
            <a:spLocks/>
          </p:cNvSpPr>
          <p:nvPr/>
        </p:nvSpPr>
        <p:spPr>
          <a:xfrm>
            <a:off x="551792" y="924919"/>
            <a:ext cx="8187568" cy="3858347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200" b="1" dirty="0" smtClean="0">
                <a:cs typeface="Arial"/>
              </a:rPr>
              <a:t>$ </a:t>
            </a:r>
            <a:r>
              <a:rPr lang="en-US" sz="2200" b="1" dirty="0" err="1" smtClean="0">
                <a:solidFill>
                  <a:srgbClr val="0000CC"/>
                </a:solidFill>
                <a:cs typeface="Arial"/>
              </a:rPr>
              <a:t>ls</a:t>
            </a:r>
            <a:endParaRPr lang="en-US" sz="2200" b="1" dirty="0" smtClean="0">
              <a:solidFill>
                <a:srgbClr val="0000CC"/>
              </a:solidFill>
              <a:cs typeface="Arial"/>
            </a:endParaRPr>
          </a:p>
          <a:p>
            <a:r>
              <a:rPr lang="en-US" sz="2200" b="1" dirty="0" smtClean="0">
                <a:cs typeface="Arial"/>
              </a:rPr>
              <a:t>data  data1  out  pd  </a:t>
            </a:r>
            <a:r>
              <a:rPr lang="en-US" sz="2200" b="1" dirty="0" err="1" smtClean="0">
                <a:cs typeface="Arial"/>
              </a:rPr>
              <a:t>proj</a:t>
            </a:r>
            <a:r>
              <a:rPr lang="en-US" sz="2200" b="1" dirty="0" smtClean="0">
                <a:cs typeface="Arial"/>
              </a:rPr>
              <a:t>  sample</a:t>
            </a:r>
          </a:p>
          <a:p>
            <a:r>
              <a:rPr lang="en-US" sz="2200" b="1" dirty="0" smtClean="0">
                <a:cs typeface="Arial"/>
              </a:rPr>
              <a:t>$</a:t>
            </a:r>
          </a:p>
          <a:p>
            <a:r>
              <a:rPr lang="en-US" sz="2200" b="1" dirty="0" smtClean="0">
                <a:cs typeface="Arial"/>
              </a:rPr>
              <a:t>$ 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for k in  </a:t>
            </a:r>
            <a:r>
              <a:rPr lang="en-US" sz="2800" b="1" dirty="0" smtClean="0">
                <a:solidFill>
                  <a:srgbClr val="0000CC"/>
                </a:solidFill>
                <a:cs typeface="Arial"/>
              </a:rPr>
              <a:t>`</a:t>
            </a:r>
            <a:r>
              <a:rPr lang="en-US" sz="2800" b="1" dirty="0" err="1" smtClean="0">
                <a:solidFill>
                  <a:srgbClr val="0000CC"/>
                </a:solidFill>
                <a:cs typeface="Arial"/>
              </a:rPr>
              <a:t>ls`</a:t>
            </a:r>
            <a:r>
              <a:rPr lang="en-US" sz="2800" b="1" dirty="0" smtClean="0">
                <a:solidFill>
                  <a:srgbClr val="0000CC"/>
                </a:solidFill>
                <a:cs typeface="Arial"/>
              </a:rPr>
              <a:t> </a:t>
            </a:r>
            <a:endParaRPr lang="en-US" sz="2200" b="1" dirty="0" smtClean="0">
              <a:solidFill>
                <a:srgbClr val="0000CC"/>
              </a:solidFill>
              <a:cs typeface="Arial"/>
            </a:endParaRPr>
          </a:p>
          <a:p>
            <a:r>
              <a:rPr lang="en-US" sz="2200" b="1" dirty="0" smtClean="0">
                <a:cs typeface="Arial"/>
              </a:rPr>
              <a:t>&gt; 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do</a:t>
            </a:r>
          </a:p>
          <a:p>
            <a:r>
              <a:rPr lang="en-US" sz="2200" b="1" dirty="0" smtClean="0">
                <a:cs typeface="Arial"/>
              </a:rPr>
              <a:t>&gt; 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echo $k</a:t>
            </a:r>
          </a:p>
          <a:p>
            <a:r>
              <a:rPr lang="en-US" sz="2200" b="1" dirty="0" smtClean="0">
                <a:cs typeface="Arial"/>
              </a:rPr>
              <a:t>&gt; </a:t>
            </a:r>
            <a:r>
              <a:rPr lang="en-US" sz="2200" b="1" dirty="0" smtClean="0">
                <a:solidFill>
                  <a:srgbClr val="0000CC"/>
                </a:solidFill>
                <a:cs typeface="Arial"/>
              </a:rPr>
              <a:t>done</a:t>
            </a:r>
          </a:p>
          <a:p>
            <a:r>
              <a:rPr lang="en-US" sz="2200" b="1" dirty="0" smtClean="0">
                <a:cs typeface="Arial"/>
              </a:rPr>
              <a:t>data</a:t>
            </a:r>
          </a:p>
          <a:p>
            <a:r>
              <a:rPr lang="en-US" sz="2200" b="1" dirty="0" smtClean="0">
                <a:cs typeface="Arial"/>
              </a:rPr>
              <a:t>data1</a:t>
            </a:r>
          </a:p>
          <a:p>
            <a:r>
              <a:rPr lang="en-US" sz="2200" b="1" dirty="0" smtClean="0">
                <a:cs typeface="Arial"/>
              </a:rPr>
              <a:t>out</a:t>
            </a:r>
          </a:p>
          <a:p>
            <a:r>
              <a:rPr lang="en-US" sz="2200" b="1" dirty="0" smtClean="0">
                <a:cs typeface="Arial"/>
              </a:rPr>
              <a:t>pd</a:t>
            </a:r>
          </a:p>
          <a:p>
            <a:r>
              <a:rPr lang="en-US" sz="2200" b="1" dirty="0" err="1" smtClean="0">
                <a:cs typeface="Arial"/>
              </a:rPr>
              <a:t>proj</a:t>
            </a:r>
            <a:endParaRPr lang="en-US" sz="2200" b="1" dirty="0" smtClean="0">
              <a:cs typeface="Arial"/>
            </a:endParaRPr>
          </a:p>
          <a:p>
            <a:r>
              <a:rPr lang="en-US" sz="2200" b="1" dirty="0" smtClean="0">
                <a:cs typeface="Arial"/>
              </a:rPr>
              <a:t>sample</a:t>
            </a:r>
          </a:p>
          <a:p>
            <a:r>
              <a:rPr lang="en-US" sz="2200" b="1" dirty="0" smtClean="0">
                <a:cs typeface="Arial"/>
              </a:rPr>
              <a:t>$</a:t>
            </a:r>
          </a:p>
          <a:p>
            <a:endParaRPr lang="en-US" sz="2200" b="1" dirty="0" smtClean="0">
              <a:cs typeface="Arial"/>
            </a:endParaRPr>
          </a:p>
        </p:txBody>
      </p:sp>
      <p:sp>
        <p:nvSpPr>
          <p:cNvPr id="6" name="Line Callout 2 (Accent Bar) 5"/>
          <p:cNvSpPr/>
          <p:nvPr/>
        </p:nvSpPr>
        <p:spPr>
          <a:xfrm>
            <a:off x="3752197" y="3421108"/>
            <a:ext cx="3310757" cy="1040524"/>
          </a:xfrm>
          <a:prstGeom prst="accentCallout2">
            <a:avLst>
              <a:gd name="adj1" fmla="val 33295"/>
              <a:gd name="adj2" fmla="val -1464"/>
              <a:gd name="adj3" fmla="val 4395"/>
              <a:gd name="adj4" fmla="val -23954"/>
              <a:gd name="adj5" fmla="val -90509"/>
              <a:gd name="adj6" fmla="val -43059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Note:  </a:t>
            </a:r>
            <a:r>
              <a:rPr lang="en-US" b="1" dirty="0" err="1" smtClean="0"/>
              <a:t>ls</a:t>
            </a:r>
            <a:r>
              <a:rPr lang="en-US" dirty="0" smtClean="0"/>
              <a:t> in back quotes. </a:t>
            </a:r>
          </a:p>
          <a:p>
            <a:r>
              <a:rPr lang="en-US" dirty="0" smtClean="0"/>
              <a:t>Output of </a:t>
            </a:r>
            <a:r>
              <a:rPr lang="en-US" dirty="0" err="1" smtClean="0"/>
              <a:t>ls</a:t>
            </a:r>
            <a:r>
              <a:rPr lang="en-US" dirty="0" smtClean="0"/>
              <a:t> becomes the list through which for loop iterates.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Two special positional variables</a:t>
            </a:r>
            <a:endParaRPr lang="en-IN" dirty="0"/>
          </a:p>
        </p:txBody>
      </p:sp>
      <p:sp>
        <p:nvSpPr>
          <p:cNvPr id="8" name="Text Placeholder 7"/>
          <p:cNvSpPr txBox="1">
            <a:spLocks/>
          </p:cNvSpPr>
          <p:nvPr/>
        </p:nvSpPr>
        <p:spPr>
          <a:xfrm>
            <a:off x="173414" y="929776"/>
            <a:ext cx="8403027" cy="52818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While $1, $2 etc represent specific positional argument,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$* and $@ represent all arguments.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2400" dirty="0" smtClean="0"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These can be used in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the following manner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1100" baseline="0" dirty="0" smtClean="0">
              <a:cs typeface="Arial"/>
            </a:endParaRPr>
          </a:p>
          <a:p>
            <a:pPr marL="688975" lvl="1" indent="-231775">
              <a:spcBef>
                <a:spcPct val="20000"/>
              </a:spcBef>
              <a:buClr>
                <a:srgbClr val="0070C0"/>
              </a:buClr>
            </a:pP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$@</a:t>
            </a:r>
          </a:p>
          <a:p>
            <a:pPr marL="688975" lvl="1" indent="-231775">
              <a:spcBef>
                <a:spcPct val="20000"/>
              </a:spcBef>
              <a:buClr>
                <a:srgbClr val="0070C0"/>
              </a:buClr>
            </a:pPr>
            <a:r>
              <a:rPr lang="en-US" sz="2400" baseline="0" dirty="0" smtClean="0">
                <a:cs typeface="Arial"/>
              </a:rPr>
              <a:t>“$@”</a:t>
            </a:r>
          </a:p>
          <a:p>
            <a:pPr marL="688975" lvl="1" indent="-231775">
              <a:spcBef>
                <a:spcPct val="20000"/>
              </a:spcBef>
              <a:buClr>
                <a:srgbClr val="0070C0"/>
              </a:buClr>
            </a:pPr>
            <a:r>
              <a:rPr lang="en-US" sz="2400" baseline="0" dirty="0" smtClean="0">
                <a:cs typeface="Arial"/>
              </a:rPr>
              <a:t>@*</a:t>
            </a:r>
          </a:p>
          <a:p>
            <a:pPr marL="688975" lvl="1" indent="-231775">
              <a:spcBef>
                <a:spcPct val="20000"/>
              </a:spcBef>
              <a:buClr>
                <a:srgbClr val="0070C0"/>
              </a:buClr>
            </a:pPr>
            <a:r>
              <a:rPr lang="en-US" sz="2400" dirty="0" smtClean="0">
                <a:cs typeface="Arial"/>
              </a:rPr>
              <a:t>“$*”</a:t>
            </a:r>
            <a:endParaRPr lang="en-US" sz="2400" baseline="0" dirty="0" smtClean="0"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lang="en-US" sz="2400" b="1" dirty="0" smtClean="0"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Of the</a:t>
            </a:r>
            <a:r>
              <a:rPr lang="en-US" sz="2400" dirty="0" smtClean="0">
                <a:cs typeface="Arial"/>
              </a:rPr>
              <a:t> above four possible usages, only </a:t>
            </a:r>
            <a:r>
              <a:rPr lang="en-US" sz="2400" baseline="0" dirty="0" smtClean="0">
                <a:cs typeface="Arial"/>
              </a:rPr>
              <a:t>“$@” </a:t>
            </a:r>
            <a:r>
              <a:rPr lang="en-US" sz="2400" dirty="0" smtClean="0">
                <a:cs typeface="Arial"/>
                <a:sym typeface="Wingdings" pitchFamily="2" charset="2"/>
              </a:rPr>
              <a:t>considers the arguments the way it is expected to be</a:t>
            </a:r>
            <a:endParaRPr kumimoji="0" lang="en-US" sz="240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for construct – examples</a:t>
            </a:r>
            <a:endParaRPr lang="en-IN" dirty="0"/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4966138" y="914368"/>
            <a:ext cx="4051744" cy="431974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000" dirty="0" smtClean="0">
                <a:latin typeface="Lucida Console" pitchFamily="49" charset="0"/>
              </a:rPr>
              <a:t>for   item  in  $@</a:t>
            </a:r>
          </a:p>
          <a:p>
            <a:r>
              <a:rPr lang="en-US" sz="2000" dirty="0" smtClean="0">
                <a:latin typeface="Lucida Console" pitchFamily="49" charset="0"/>
              </a:rPr>
              <a:t>do</a:t>
            </a:r>
          </a:p>
          <a:p>
            <a:r>
              <a:rPr lang="en-US" sz="2000" dirty="0" smtClean="0">
                <a:latin typeface="Lucida Console" pitchFamily="49" charset="0"/>
              </a:rPr>
              <a:t>   echo  $item </a:t>
            </a:r>
          </a:p>
          <a:p>
            <a:r>
              <a:rPr lang="en-US" sz="2000" dirty="0" smtClean="0">
                <a:latin typeface="Lucida Console" pitchFamily="49" charset="0"/>
              </a:rPr>
              <a:t>done</a:t>
            </a:r>
          </a:p>
          <a:p>
            <a:endParaRPr lang="en-US" sz="2000" dirty="0" smtClean="0">
              <a:latin typeface="Lucida Console" pitchFamily="49" charset="0"/>
            </a:endParaRPr>
          </a:p>
          <a:p>
            <a:r>
              <a:rPr lang="en-US" sz="2000" dirty="0" smtClean="0">
                <a:latin typeface="Lucida Console" pitchFamily="49" charset="0"/>
              </a:rPr>
              <a:t>echo "=============="</a:t>
            </a:r>
          </a:p>
          <a:p>
            <a:endParaRPr lang="en-US" sz="2000" dirty="0" smtClean="0">
              <a:latin typeface="Lucida Console" pitchFamily="49" charset="0"/>
            </a:endParaRPr>
          </a:p>
          <a:p>
            <a:r>
              <a:rPr lang="en-US" sz="2000" dirty="0" smtClean="0">
                <a:latin typeface="Lucida Console" pitchFamily="49" charset="0"/>
              </a:rPr>
              <a:t>for   item   in  "$*"</a:t>
            </a:r>
          </a:p>
          <a:p>
            <a:r>
              <a:rPr lang="en-US" sz="2000" dirty="0" smtClean="0">
                <a:latin typeface="Lucida Console" pitchFamily="49" charset="0"/>
              </a:rPr>
              <a:t>do</a:t>
            </a:r>
          </a:p>
          <a:p>
            <a:r>
              <a:rPr lang="en-US" sz="2000" dirty="0" smtClean="0">
                <a:latin typeface="Lucida Console" pitchFamily="49" charset="0"/>
              </a:rPr>
              <a:t>   echo  $item</a:t>
            </a:r>
          </a:p>
          <a:p>
            <a:r>
              <a:rPr lang="en-US" sz="2000" dirty="0" smtClean="0">
                <a:latin typeface="Lucida Console" pitchFamily="49" charset="0"/>
              </a:rPr>
              <a:t>done</a:t>
            </a:r>
          </a:p>
          <a:p>
            <a:r>
              <a:rPr lang="en-US" sz="2000" dirty="0" smtClean="0">
                <a:latin typeface="Lucida Console" pitchFamily="49" charset="0"/>
              </a:rPr>
              <a:t> </a:t>
            </a:r>
          </a:p>
          <a:p>
            <a:r>
              <a:rPr lang="en-US" sz="2000" dirty="0" smtClean="0">
                <a:latin typeface="Lucida Console" pitchFamily="49" charset="0"/>
              </a:rPr>
              <a:t>echo "=============="</a:t>
            </a:r>
          </a:p>
          <a:p>
            <a:r>
              <a:rPr lang="en-US" sz="2000" dirty="0" smtClean="0">
                <a:latin typeface="Lucida Console" pitchFamily="49" charset="0"/>
              </a:rPr>
              <a:t> </a:t>
            </a:r>
          </a:p>
          <a:p>
            <a:r>
              <a:rPr lang="en-US" sz="2000" dirty="0" smtClean="0">
                <a:latin typeface="Lucida Console" pitchFamily="49" charset="0"/>
              </a:rPr>
              <a:t>for   item   in   "$@"</a:t>
            </a:r>
          </a:p>
          <a:p>
            <a:r>
              <a:rPr lang="en-US" sz="2000" dirty="0" smtClean="0">
                <a:latin typeface="Lucida Console" pitchFamily="49" charset="0"/>
              </a:rPr>
              <a:t>do</a:t>
            </a:r>
          </a:p>
          <a:p>
            <a:r>
              <a:rPr lang="en-US" sz="2000" dirty="0" smtClean="0">
                <a:latin typeface="Lucida Console" pitchFamily="49" charset="0"/>
              </a:rPr>
              <a:t>   echo  $item</a:t>
            </a:r>
          </a:p>
          <a:p>
            <a:r>
              <a:rPr lang="en-US" sz="2000" dirty="0" smtClean="0">
                <a:latin typeface="Lucida Console" pitchFamily="49" charset="0"/>
              </a:rPr>
              <a:t>done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Console" pitchFamily="49" charset="0"/>
              <a:cs typeface="Arial"/>
            </a:endParaRPr>
          </a:p>
        </p:txBody>
      </p:sp>
      <p:sp>
        <p:nvSpPr>
          <p:cNvPr id="14" name="Text Placeholder 7"/>
          <p:cNvSpPr txBox="1">
            <a:spLocks/>
          </p:cNvSpPr>
          <p:nvPr/>
        </p:nvSpPr>
        <p:spPr>
          <a:xfrm>
            <a:off x="334292" y="1822677"/>
            <a:ext cx="3562997" cy="3858347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000" dirty="0" smtClean="0">
                <a:latin typeface="Lucida Console" pitchFamily="49" charset="0"/>
              </a:rPr>
              <a:t>#! /bin/bash</a:t>
            </a:r>
          </a:p>
          <a:p>
            <a:r>
              <a:rPr lang="en-US" sz="2000" dirty="0" smtClean="0">
                <a:latin typeface="Lucida Console" pitchFamily="49" charset="0"/>
              </a:rPr>
              <a:t># file: args.sh</a:t>
            </a:r>
          </a:p>
          <a:p>
            <a:r>
              <a:rPr lang="en-US" sz="2000" dirty="0" smtClean="0">
                <a:latin typeface="Lucida Console" pitchFamily="49" charset="0"/>
              </a:rPr>
              <a:t> </a:t>
            </a:r>
          </a:p>
          <a:p>
            <a:r>
              <a:rPr lang="en-US" sz="2000" dirty="0" smtClean="0">
                <a:latin typeface="Lucida Console" pitchFamily="49" charset="0"/>
              </a:rPr>
              <a:t>for   item   in   $*</a:t>
            </a:r>
          </a:p>
          <a:p>
            <a:r>
              <a:rPr lang="en-US" sz="2000" dirty="0" smtClean="0">
                <a:latin typeface="Lucida Console" pitchFamily="49" charset="0"/>
              </a:rPr>
              <a:t>do</a:t>
            </a:r>
          </a:p>
          <a:p>
            <a:r>
              <a:rPr lang="en-US" sz="2000" dirty="0" smtClean="0">
                <a:latin typeface="Lucida Console" pitchFamily="49" charset="0"/>
              </a:rPr>
              <a:t>   echo  $item</a:t>
            </a:r>
          </a:p>
          <a:p>
            <a:r>
              <a:rPr lang="en-US" sz="2000" dirty="0" smtClean="0">
                <a:latin typeface="Lucida Console" pitchFamily="49" charset="0"/>
              </a:rPr>
              <a:t>done</a:t>
            </a:r>
          </a:p>
          <a:p>
            <a:r>
              <a:rPr lang="en-US" sz="2000" dirty="0" smtClean="0">
                <a:latin typeface="Lucida Console" pitchFamily="49" charset="0"/>
              </a:rPr>
              <a:t> </a:t>
            </a:r>
          </a:p>
          <a:p>
            <a:r>
              <a:rPr lang="en-US" sz="2000" dirty="0" smtClean="0">
                <a:latin typeface="Lucida Console" pitchFamily="49" charset="0"/>
              </a:rPr>
              <a:t>echo "=============="</a:t>
            </a:r>
          </a:p>
          <a:p>
            <a:r>
              <a:rPr lang="en-US" sz="2000" dirty="0" smtClean="0">
                <a:latin typeface="Lucida Console" pitchFamily="49" charset="0"/>
              </a:rPr>
              <a:t> </a:t>
            </a:r>
          </a:p>
          <a:p>
            <a:r>
              <a:rPr lang="en-US" sz="2000" dirty="0" smtClean="0">
                <a:latin typeface="Lucida Console" pitchFamily="49" charset="0"/>
              </a:rPr>
              <a:t> </a:t>
            </a:r>
            <a:endParaRPr lang="en-US" sz="2000" dirty="0">
              <a:latin typeface="Lucida Console" pitchFamily="49" charset="0"/>
            </a:endParaRPr>
          </a:p>
        </p:txBody>
      </p:sp>
      <p:sp>
        <p:nvSpPr>
          <p:cNvPr id="8" name="Text Placeholder 7"/>
          <p:cNvSpPr txBox="1">
            <a:spLocks/>
          </p:cNvSpPr>
          <p:nvPr/>
        </p:nvSpPr>
        <p:spPr>
          <a:xfrm>
            <a:off x="173414" y="929776"/>
            <a:ext cx="4290098" cy="10251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Processing arguments using 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for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loop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461641" y="930166"/>
            <a:ext cx="0" cy="5423338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04961" y="145140"/>
            <a:ext cx="8485015" cy="553998"/>
          </a:xfrm>
        </p:spPr>
        <p:txBody>
          <a:bodyPr/>
          <a:lstStyle/>
          <a:p>
            <a:r>
              <a:rPr lang="en-IN" dirty="0" smtClean="0"/>
              <a:t>for construct </a:t>
            </a:r>
            <a:r>
              <a:rPr lang="en-IN" smtClean="0"/>
              <a:t>– </a:t>
            </a:r>
            <a:r>
              <a:rPr lang="en-IN"/>
              <a:t>examples (Contd.).</a:t>
            </a:r>
            <a:endParaRPr lang="en-IN" dirty="0"/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4414347" y="1245454"/>
            <a:ext cx="4666599" cy="431974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$ ./args.sh "New Delhi" London "New York"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Delhi</a:t>
            </a:r>
          </a:p>
          <a:p>
            <a:r>
              <a:rPr lang="en-US" dirty="0" smtClean="0"/>
              <a:t>London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York</a:t>
            </a:r>
          </a:p>
          <a:p>
            <a:r>
              <a:rPr lang="en-US" dirty="0" smtClean="0"/>
              <a:t>==============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Delhi</a:t>
            </a:r>
          </a:p>
          <a:p>
            <a:r>
              <a:rPr lang="en-US" dirty="0" smtClean="0"/>
              <a:t>London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York</a:t>
            </a:r>
          </a:p>
          <a:p>
            <a:r>
              <a:rPr lang="en-US" dirty="0" smtClean="0"/>
              <a:t>==============</a:t>
            </a:r>
          </a:p>
          <a:p>
            <a:r>
              <a:rPr lang="en-US" dirty="0" smtClean="0"/>
              <a:t>New Delhi London New York</a:t>
            </a:r>
          </a:p>
          <a:p>
            <a:r>
              <a:rPr lang="en-US" dirty="0" smtClean="0"/>
              <a:t>==============</a:t>
            </a:r>
          </a:p>
          <a:p>
            <a:r>
              <a:rPr lang="en-US" dirty="0" smtClean="0"/>
              <a:t>New Delhi</a:t>
            </a:r>
          </a:p>
          <a:p>
            <a:r>
              <a:rPr lang="en-US" dirty="0" smtClean="0"/>
              <a:t>London</a:t>
            </a:r>
          </a:p>
          <a:p>
            <a:r>
              <a:rPr lang="en-US" dirty="0" smtClean="0"/>
              <a:t>New York</a:t>
            </a:r>
          </a:p>
        </p:txBody>
      </p:sp>
      <p:sp>
        <p:nvSpPr>
          <p:cNvPr id="14" name="Text Placeholder 7"/>
          <p:cNvSpPr txBox="1">
            <a:spLocks/>
          </p:cNvSpPr>
          <p:nvPr/>
        </p:nvSpPr>
        <p:spPr>
          <a:xfrm>
            <a:off x="204961" y="851354"/>
            <a:ext cx="4235664" cy="3858347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 smtClean="0"/>
              <a:t>$ ./args.sh New Delhi London New York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Delhi</a:t>
            </a:r>
          </a:p>
          <a:p>
            <a:r>
              <a:rPr lang="en-US" dirty="0" smtClean="0"/>
              <a:t>London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York</a:t>
            </a:r>
          </a:p>
          <a:p>
            <a:r>
              <a:rPr lang="en-US" dirty="0" smtClean="0"/>
              <a:t>==============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Delhi</a:t>
            </a:r>
          </a:p>
          <a:p>
            <a:r>
              <a:rPr lang="en-US" dirty="0" smtClean="0"/>
              <a:t>London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York</a:t>
            </a:r>
          </a:p>
          <a:p>
            <a:r>
              <a:rPr lang="en-US" dirty="0" smtClean="0"/>
              <a:t>==============</a:t>
            </a:r>
          </a:p>
          <a:p>
            <a:r>
              <a:rPr lang="en-US" dirty="0" smtClean="0"/>
              <a:t>New Delhi London New York</a:t>
            </a:r>
          </a:p>
          <a:p>
            <a:r>
              <a:rPr lang="en-US" dirty="0" smtClean="0"/>
              <a:t>==============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Delhi</a:t>
            </a:r>
          </a:p>
          <a:p>
            <a:r>
              <a:rPr lang="en-US" dirty="0" smtClean="0"/>
              <a:t>London</a:t>
            </a:r>
          </a:p>
          <a:p>
            <a:r>
              <a:rPr lang="en-US" dirty="0" smtClean="0"/>
              <a:t>New</a:t>
            </a:r>
          </a:p>
          <a:p>
            <a:r>
              <a:rPr lang="en-US" dirty="0" smtClean="0"/>
              <a:t>York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Logical expressions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5" y="887740"/>
            <a:ext cx="7989152" cy="52946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Logical expression can be put in one of the following ways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1)     </a:t>
            </a:r>
            <a:r>
              <a:rPr lang="en-US" dirty="0" smtClean="0">
                <a:solidFill>
                  <a:srgbClr val="0000CC"/>
                </a:solidFill>
              </a:rPr>
              <a:t>test   </a:t>
            </a:r>
            <a:r>
              <a:rPr lang="en-US" dirty="0" smtClean="0">
                <a:solidFill>
                  <a:schemeClr val="tx1"/>
                </a:solidFill>
              </a:rPr>
              <a:t>expression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   2) 	[    expression  ]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  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   3)     ((   expression ))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		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		In  case of 3), expression  has C-like syntax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		Ex:       ((  a  == b ))          ((  a != b ))</a:t>
            </a:r>
          </a:p>
          <a:p>
            <a:pP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test </a:t>
            </a:r>
            <a:r>
              <a:rPr lang="en-US" dirty="0" smtClean="0">
                <a:solidFill>
                  <a:schemeClr val="tx1"/>
                </a:solidFill>
              </a:rPr>
              <a:t>is a built-in command of bash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50129" y="145140"/>
            <a:ext cx="8539847" cy="553998"/>
          </a:xfrm>
        </p:spPr>
        <p:txBody>
          <a:bodyPr/>
          <a:lstStyle/>
          <a:p>
            <a:r>
              <a:rPr lang="en-IN" smtClean="0"/>
              <a:t>Logical </a:t>
            </a:r>
            <a:r>
              <a:rPr lang="en-IN"/>
              <a:t>expressions 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58562" y="874092"/>
            <a:ext cx="3908470" cy="52946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For the following two forms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	    </a:t>
            </a:r>
            <a:r>
              <a:rPr lang="en-US" sz="2000" dirty="0" smtClean="0">
                <a:solidFill>
                  <a:srgbClr val="0000CC"/>
                </a:solidFill>
              </a:rPr>
              <a:t>test   </a:t>
            </a:r>
            <a:r>
              <a:rPr lang="en-US" sz="2000" dirty="0" smtClean="0">
                <a:solidFill>
                  <a:schemeClr val="tx1"/>
                </a:solidFill>
              </a:rPr>
              <a:t>expression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   	    [    expression  ]</a:t>
            </a:r>
          </a:p>
          <a:p>
            <a:pPr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1000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00CC"/>
                </a:solidFill>
              </a:rPr>
              <a:t>	</a:t>
            </a:r>
          </a:p>
          <a:p>
            <a:pPr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2000" dirty="0" smtClean="0">
              <a:solidFill>
                <a:srgbClr val="0000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99296" y="968990"/>
            <a:ext cx="4487750" cy="44704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Arithmetic</a:t>
            </a:r>
            <a:r>
              <a:rPr lang="en-US" sz="1600" i="1" dirty="0" smtClean="0"/>
              <a:t> </a:t>
            </a:r>
            <a:r>
              <a:rPr lang="en-US" sz="1600" b="1" dirty="0" smtClean="0"/>
              <a:t>conditional expression is of the form</a:t>
            </a:r>
          </a:p>
          <a:p>
            <a:endParaRPr lang="en-US" sz="105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dirty="0" smtClean="0">
                <a:solidFill>
                  <a:srgbClr val="0000CC"/>
                </a:solidFill>
              </a:rPr>
              <a:t>	a   </a:t>
            </a:r>
            <a:r>
              <a:rPr lang="en-US" sz="1600" dirty="0" err="1" smtClean="0">
                <a:solidFill>
                  <a:srgbClr val="0000CC"/>
                </a:solidFill>
              </a:rPr>
              <a:t>cond</a:t>
            </a:r>
            <a:r>
              <a:rPr lang="en-US" sz="1600" dirty="0" smtClean="0">
                <a:solidFill>
                  <a:srgbClr val="0000CC"/>
                </a:solidFill>
              </a:rPr>
              <a:t>-</a:t>
            </a:r>
            <a:r>
              <a:rPr lang="en-US" sz="1600" i="1" dirty="0" smtClean="0">
                <a:solidFill>
                  <a:srgbClr val="0000CC"/>
                </a:solidFill>
              </a:rPr>
              <a:t>operator   </a:t>
            </a:r>
            <a:r>
              <a:rPr lang="en-US" sz="1600" dirty="0" smtClean="0">
                <a:solidFill>
                  <a:srgbClr val="0000CC"/>
                </a:solidFill>
              </a:rPr>
              <a:t>b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where arithmetic conditional operator can be :-</a:t>
            </a:r>
          </a:p>
          <a:p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b="1" dirty="0" smtClean="0">
                <a:solidFill>
                  <a:srgbClr val="0000CC"/>
                </a:solidFill>
              </a:rPr>
              <a:t>	-</a:t>
            </a:r>
            <a:r>
              <a:rPr lang="en-US" b="1" dirty="0" err="1" smtClean="0">
                <a:solidFill>
                  <a:srgbClr val="0000CC"/>
                </a:solidFill>
              </a:rPr>
              <a:t>lt</a:t>
            </a:r>
            <a:r>
              <a:rPr lang="en-US" b="1" dirty="0" smtClean="0">
                <a:solidFill>
                  <a:srgbClr val="0000CC"/>
                </a:solidFill>
              </a:rPr>
              <a:t>      -le     -</a:t>
            </a:r>
            <a:r>
              <a:rPr lang="en-US" b="1" dirty="0" err="1" smtClean="0">
                <a:solidFill>
                  <a:srgbClr val="0000CC"/>
                </a:solidFill>
              </a:rPr>
              <a:t>gt</a:t>
            </a:r>
            <a:r>
              <a:rPr lang="en-US" b="1" dirty="0" smtClean="0">
                <a:solidFill>
                  <a:srgbClr val="0000CC"/>
                </a:solidFill>
              </a:rPr>
              <a:t>    -</a:t>
            </a:r>
            <a:r>
              <a:rPr lang="en-US" b="1" dirty="0" err="1" smtClean="0">
                <a:solidFill>
                  <a:srgbClr val="0000CC"/>
                </a:solidFill>
              </a:rPr>
              <a:t>ge</a:t>
            </a:r>
            <a:r>
              <a:rPr lang="en-US" b="1" dirty="0" smtClean="0">
                <a:solidFill>
                  <a:srgbClr val="0000CC"/>
                </a:solidFill>
              </a:rPr>
              <a:t>    -</a:t>
            </a:r>
            <a:r>
              <a:rPr lang="en-US" b="1" dirty="0" err="1" smtClean="0">
                <a:solidFill>
                  <a:srgbClr val="0000CC"/>
                </a:solidFill>
              </a:rPr>
              <a:t>eq</a:t>
            </a:r>
            <a:r>
              <a:rPr lang="en-US" b="1" dirty="0" smtClean="0">
                <a:solidFill>
                  <a:srgbClr val="0000CC"/>
                </a:solidFill>
              </a:rPr>
              <a:t>      -ne   </a:t>
            </a:r>
          </a:p>
          <a:p>
            <a:endParaRPr lang="en-US" sz="1600" b="1" dirty="0" smtClean="0">
              <a:solidFill>
                <a:srgbClr val="0000CC"/>
              </a:solidFill>
            </a:endParaRPr>
          </a:p>
          <a:p>
            <a:endParaRPr lang="en-US" sz="1600" b="1" dirty="0" smtClean="0">
              <a:solidFill>
                <a:srgbClr val="0000CC"/>
              </a:solidFill>
            </a:endParaRPr>
          </a:p>
          <a:p>
            <a:r>
              <a:rPr lang="en-US" sz="1600" b="1" dirty="0" smtClean="0"/>
              <a:t>Test expression for strings</a:t>
            </a:r>
          </a:p>
          <a:p>
            <a:endParaRPr lang="en-US" sz="1600" b="1" dirty="0" smtClean="0">
              <a:solidFill>
                <a:srgbClr val="0000CC"/>
              </a:solidFill>
            </a:endParaRPr>
          </a:p>
          <a:p>
            <a:r>
              <a:rPr lang="en-US" sz="1600" b="1" dirty="0" smtClean="0">
                <a:solidFill>
                  <a:srgbClr val="0000CC"/>
                </a:solidFill>
              </a:rPr>
              <a:t>S1 = S2     </a:t>
            </a:r>
            <a:r>
              <a:rPr lang="en-US" sz="1600" dirty="0" smtClean="0">
                <a:solidFill>
                  <a:schemeClr val="tx1"/>
                </a:solidFill>
              </a:rPr>
              <a:t>tests if equal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S1 != S2    </a:t>
            </a:r>
            <a:r>
              <a:rPr lang="en-US" sz="1600" dirty="0" smtClean="0">
                <a:solidFill>
                  <a:schemeClr val="tx1"/>
                </a:solidFill>
              </a:rPr>
              <a:t>tests if not equal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S		  </a:t>
            </a:r>
            <a:r>
              <a:rPr lang="en-US" sz="1600" dirty="0" smtClean="0">
                <a:solidFill>
                  <a:schemeClr val="tx1"/>
                </a:solidFill>
              </a:rPr>
              <a:t>test if S is not zero length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-n  S		  </a:t>
            </a:r>
            <a:r>
              <a:rPr lang="en-US" sz="1600" dirty="0" smtClean="0">
                <a:solidFill>
                  <a:schemeClr val="tx1"/>
                </a:solidFill>
              </a:rPr>
              <a:t>test if S is not zero length and exists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-z  S		  </a:t>
            </a:r>
            <a:r>
              <a:rPr lang="en-US" sz="1600" dirty="0" smtClean="0">
                <a:solidFill>
                  <a:schemeClr val="tx1"/>
                </a:solidFill>
              </a:rPr>
              <a:t>test if string is zero length and exits</a:t>
            </a:r>
          </a:p>
          <a:p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 flipV="1">
            <a:off x="2019868" y="1927098"/>
            <a:ext cx="2961563" cy="409900"/>
          </a:xfrm>
          <a:custGeom>
            <a:avLst/>
            <a:gdLst>
              <a:gd name="connsiteX0" fmla="*/ 0 w 3152633"/>
              <a:gd name="connsiteY0" fmla="*/ 0 h 1321559"/>
              <a:gd name="connsiteX1" fmla="*/ 859809 w 3152633"/>
              <a:gd name="connsiteY1" fmla="*/ 504967 h 1321559"/>
              <a:gd name="connsiteX2" fmla="*/ 1460310 w 3152633"/>
              <a:gd name="connsiteY2" fmla="*/ 600502 h 1321559"/>
              <a:gd name="connsiteX3" fmla="*/ 3152633 w 3152633"/>
              <a:gd name="connsiteY3" fmla="*/ 1173708 h 1321559"/>
              <a:gd name="connsiteX0" fmla="*/ 0 w 3152633"/>
              <a:gd name="connsiteY0" fmla="*/ 0 h 1321559"/>
              <a:gd name="connsiteX1" fmla="*/ 859809 w 3152633"/>
              <a:gd name="connsiteY1" fmla="*/ 504967 h 1321559"/>
              <a:gd name="connsiteX2" fmla="*/ 1869743 w 3152633"/>
              <a:gd name="connsiteY2" fmla="*/ 627797 h 1321559"/>
              <a:gd name="connsiteX3" fmla="*/ 3152633 w 3152633"/>
              <a:gd name="connsiteY3" fmla="*/ 1173708 h 1321559"/>
              <a:gd name="connsiteX0" fmla="*/ 0 w 3152633"/>
              <a:gd name="connsiteY0" fmla="*/ 0 h 1321559"/>
              <a:gd name="connsiteX1" fmla="*/ 723331 w 3152633"/>
              <a:gd name="connsiteY1" fmla="*/ 504967 h 1321559"/>
              <a:gd name="connsiteX2" fmla="*/ 1869743 w 3152633"/>
              <a:gd name="connsiteY2" fmla="*/ 627797 h 1321559"/>
              <a:gd name="connsiteX3" fmla="*/ 3152633 w 3152633"/>
              <a:gd name="connsiteY3" fmla="*/ 1173708 h 1321559"/>
              <a:gd name="connsiteX0" fmla="*/ 0 w 2988860"/>
              <a:gd name="connsiteY0" fmla="*/ 0 h 1321559"/>
              <a:gd name="connsiteX1" fmla="*/ 723331 w 2988860"/>
              <a:gd name="connsiteY1" fmla="*/ 504967 h 1321559"/>
              <a:gd name="connsiteX2" fmla="*/ 1869743 w 2988860"/>
              <a:gd name="connsiteY2" fmla="*/ 627797 h 1321559"/>
              <a:gd name="connsiteX3" fmla="*/ 2988860 w 2988860"/>
              <a:gd name="connsiteY3" fmla="*/ 1173708 h 1321559"/>
              <a:gd name="connsiteX0" fmla="*/ 0 w 2988860"/>
              <a:gd name="connsiteY0" fmla="*/ 0 h 1173708"/>
              <a:gd name="connsiteX1" fmla="*/ 723331 w 2988860"/>
              <a:gd name="connsiteY1" fmla="*/ 504967 h 1173708"/>
              <a:gd name="connsiteX2" fmla="*/ 1869743 w 2988860"/>
              <a:gd name="connsiteY2" fmla="*/ 627797 h 1173708"/>
              <a:gd name="connsiteX3" fmla="*/ 2593074 w 2988860"/>
              <a:gd name="connsiteY3" fmla="*/ 1037230 h 1173708"/>
              <a:gd name="connsiteX4" fmla="*/ 2988860 w 2988860"/>
              <a:gd name="connsiteY4" fmla="*/ 1173708 h 1173708"/>
              <a:gd name="connsiteX0" fmla="*/ 0 w 2988860"/>
              <a:gd name="connsiteY0" fmla="*/ 544331 h 1853117"/>
              <a:gd name="connsiteX1" fmla="*/ 723331 w 2988860"/>
              <a:gd name="connsiteY1" fmla="*/ 1049298 h 1853117"/>
              <a:gd name="connsiteX2" fmla="*/ 1657265 w 2988860"/>
              <a:gd name="connsiteY2" fmla="*/ 88712 h 1853117"/>
              <a:gd name="connsiteX3" fmla="*/ 2593074 w 2988860"/>
              <a:gd name="connsiteY3" fmla="*/ 1581561 h 1853117"/>
              <a:gd name="connsiteX4" fmla="*/ 2988860 w 2988860"/>
              <a:gd name="connsiteY4" fmla="*/ 1718039 h 1853117"/>
              <a:gd name="connsiteX0" fmla="*/ 0 w 2988860"/>
              <a:gd name="connsiteY0" fmla="*/ 1015522 h 2324308"/>
              <a:gd name="connsiteX1" fmla="*/ 907479 w 2988860"/>
              <a:gd name="connsiteY1" fmla="*/ 75937 h 2324308"/>
              <a:gd name="connsiteX2" fmla="*/ 1657265 w 2988860"/>
              <a:gd name="connsiteY2" fmla="*/ 559903 h 2324308"/>
              <a:gd name="connsiteX3" fmla="*/ 2593074 w 2988860"/>
              <a:gd name="connsiteY3" fmla="*/ 2052752 h 2324308"/>
              <a:gd name="connsiteX4" fmla="*/ 2988860 w 2988860"/>
              <a:gd name="connsiteY4" fmla="*/ 2189230 h 2324308"/>
              <a:gd name="connsiteX0" fmla="*/ 0 w 2988860"/>
              <a:gd name="connsiteY0" fmla="*/ 1040012 h 2213719"/>
              <a:gd name="connsiteX1" fmla="*/ 907479 w 2988860"/>
              <a:gd name="connsiteY1" fmla="*/ 100427 h 2213719"/>
              <a:gd name="connsiteX2" fmla="*/ 1657265 w 2988860"/>
              <a:gd name="connsiteY2" fmla="*/ 584393 h 2213719"/>
              <a:gd name="connsiteX3" fmla="*/ 1955640 w 2988860"/>
              <a:gd name="connsiteY3" fmla="*/ 271553 h 2213719"/>
              <a:gd name="connsiteX4" fmla="*/ 2988860 w 2988860"/>
              <a:gd name="connsiteY4" fmla="*/ 2213720 h 2213719"/>
              <a:gd name="connsiteX0" fmla="*/ 0 w 2988860"/>
              <a:gd name="connsiteY0" fmla="*/ 1009919 h 2183626"/>
              <a:gd name="connsiteX1" fmla="*/ 907479 w 2988860"/>
              <a:gd name="connsiteY1" fmla="*/ 70334 h 2183626"/>
              <a:gd name="connsiteX2" fmla="*/ 1416457 w 2988860"/>
              <a:gd name="connsiteY2" fmla="*/ 734872 h 2183626"/>
              <a:gd name="connsiteX3" fmla="*/ 1955640 w 2988860"/>
              <a:gd name="connsiteY3" fmla="*/ 241460 h 2183626"/>
              <a:gd name="connsiteX4" fmla="*/ 2988860 w 2988860"/>
              <a:gd name="connsiteY4" fmla="*/ 2183627 h 2183626"/>
              <a:gd name="connsiteX0" fmla="*/ 0 w 3002698"/>
              <a:gd name="connsiteY0" fmla="*/ 2401530 h 2603971"/>
              <a:gd name="connsiteX1" fmla="*/ 921317 w 3002698"/>
              <a:gd name="connsiteY1" fmla="*/ 248140 h 2603971"/>
              <a:gd name="connsiteX2" fmla="*/ 1430295 w 3002698"/>
              <a:gd name="connsiteY2" fmla="*/ 912678 h 2603971"/>
              <a:gd name="connsiteX3" fmla="*/ 1969478 w 3002698"/>
              <a:gd name="connsiteY3" fmla="*/ 419266 h 2603971"/>
              <a:gd name="connsiteX4" fmla="*/ 3002698 w 3002698"/>
              <a:gd name="connsiteY4" fmla="*/ 2361433 h 2603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2698" h="2603971">
                <a:moveTo>
                  <a:pt x="0" y="2401530"/>
                </a:moveTo>
                <a:cubicBezTo>
                  <a:pt x="308212" y="2603971"/>
                  <a:pt x="682935" y="496282"/>
                  <a:pt x="921317" y="248140"/>
                </a:cubicBezTo>
                <a:cubicBezTo>
                  <a:pt x="1159700" y="-2"/>
                  <a:pt x="1255602" y="884157"/>
                  <a:pt x="1430295" y="912678"/>
                </a:cubicBezTo>
                <a:cubicBezTo>
                  <a:pt x="1604988" y="941199"/>
                  <a:pt x="1707411" y="177807"/>
                  <a:pt x="1969478" y="419266"/>
                </a:cubicBezTo>
                <a:cubicBezTo>
                  <a:pt x="2231545" y="660725"/>
                  <a:pt x="2952656" y="2359158"/>
                  <a:pt x="3002698" y="2361433"/>
                </a:cubicBezTo>
              </a:path>
            </a:pathLst>
          </a:custGeom>
          <a:ln w="15875">
            <a:solidFill>
              <a:srgbClr val="FF0000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885664" y="1940256"/>
            <a:ext cx="3273189" cy="1935708"/>
          </a:xfrm>
          <a:custGeom>
            <a:avLst/>
            <a:gdLst>
              <a:gd name="connsiteX0" fmla="*/ 0 w 3152633"/>
              <a:gd name="connsiteY0" fmla="*/ 0 h 1321559"/>
              <a:gd name="connsiteX1" fmla="*/ 859809 w 3152633"/>
              <a:gd name="connsiteY1" fmla="*/ 504967 h 1321559"/>
              <a:gd name="connsiteX2" fmla="*/ 1460310 w 3152633"/>
              <a:gd name="connsiteY2" fmla="*/ 600502 h 1321559"/>
              <a:gd name="connsiteX3" fmla="*/ 3152633 w 3152633"/>
              <a:gd name="connsiteY3" fmla="*/ 1173708 h 1321559"/>
              <a:gd name="connsiteX0" fmla="*/ 0 w 3152633"/>
              <a:gd name="connsiteY0" fmla="*/ 0 h 1321559"/>
              <a:gd name="connsiteX1" fmla="*/ 859809 w 3152633"/>
              <a:gd name="connsiteY1" fmla="*/ 504967 h 1321559"/>
              <a:gd name="connsiteX2" fmla="*/ 1869743 w 3152633"/>
              <a:gd name="connsiteY2" fmla="*/ 627797 h 1321559"/>
              <a:gd name="connsiteX3" fmla="*/ 3152633 w 3152633"/>
              <a:gd name="connsiteY3" fmla="*/ 1173708 h 1321559"/>
              <a:gd name="connsiteX0" fmla="*/ 0 w 3152633"/>
              <a:gd name="connsiteY0" fmla="*/ 0 h 1321559"/>
              <a:gd name="connsiteX1" fmla="*/ 723331 w 3152633"/>
              <a:gd name="connsiteY1" fmla="*/ 504967 h 1321559"/>
              <a:gd name="connsiteX2" fmla="*/ 1869743 w 3152633"/>
              <a:gd name="connsiteY2" fmla="*/ 627797 h 1321559"/>
              <a:gd name="connsiteX3" fmla="*/ 3152633 w 3152633"/>
              <a:gd name="connsiteY3" fmla="*/ 1173708 h 1321559"/>
              <a:gd name="connsiteX0" fmla="*/ 0 w 2988860"/>
              <a:gd name="connsiteY0" fmla="*/ 0 h 1321559"/>
              <a:gd name="connsiteX1" fmla="*/ 723331 w 2988860"/>
              <a:gd name="connsiteY1" fmla="*/ 504967 h 1321559"/>
              <a:gd name="connsiteX2" fmla="*/ 1869743 w 2988860"/>
              <a:gd name="connsiteY2" fmla="*/ 627797 h 1321559"/>
              <a:gd name="connsiteX3" fmla="*/ 2988860 w 2988860"/>
              <a:gd name="connsiteY3" fmla="*/ 1173708 h 1321559"/>
              <a:gd name="connsiteX0" fmla="*/ 0 w 2988860"/>
              <a:gd name="connsiteY0" fmla="*/ 0 h 1173708"/>
              <a:gd name="connsiteX1" fmla="*/ 723331 w 2988860"/>
              <a:gd name="connsiteY1" fmla="*/ 504967 h 1173708"/>
              <a:gd name="connsiteX2" fmla="*/ 1869743 w 2988860"/>
              <a:gd name="connsiteY2" fmla="*/ 627797 h 1173708"/>
              <a:gd name="connsiteX3" fmla="*/ 2593074 w 2988860"/>
              <a:gd name="connsiteY3" fmla="*/ 1037230 h 1173708"/>
              <a:gd name="connsiteX4" fmla="*/ 2988860 w 2988860"/>
              <a:gd name="connsiteY4" fmla="*/ 1173708 h 1173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8860" h="1173708">
                <a:moveTo>
                  <a:pt x="0" y="0"/>
                </a:moveTo>
                <a:cubicBezTo>
                  <a:pt x="308212" y="202441"/>
                  <a:pt x="411707" y="400334"/>
                  <a:pt x="723331" y="504967"/>
                </a:cubicBezTo>
                <a:cubicBezTo>
                  <a:pt x="1034955" y="609600"/>
                  <a:pt x="1558119" y="539087"/>
                  <a:pt x="1869743" y="627797"/>
                </a:cubicBezTo>
                <a:cubicBezTo>
                  <a:pt x="2181367" y="716508"/>
                  <a:pt x="2406555" y="946245"/>
                  <a:pt x="2593074" y="1037230"/>
                </a:cubicBezTo>
                <a:cubicBezTo>
                  <a:pt x="2779594" y="1128215"/>
                  <a:pt x="2938818" y="1171433"/>
                  <a:pt x="2988860" y="1173708"/>
                </a:cubicBezTo>
              </a:path>
            </a:pathLst>
          </a:custGeom>
          <a:ln w="15875">
            <a:solidFill>
              <a:srgbClr val="FF0000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0129" y="3154913"/>
            <a:ext cx="413526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00CC"/>
                </a:solidFill>
              </a:rPr>
              <a:t>To test file attributes, expression will be of the form</a:t>
            </a:r>
          </a:p>
          <a:p>
            <a:endParaRPr lang="en-US" sz="1600" b="1" dirty="0" smtClean="0">
              <a:solidFill>
                <a:srgbClr val="0000CC"/>
              </a:solidFill>
            </a:endParaRPr>
          </a:p>
          <a:p>
            <a:r>
              <a:rPr lang="en-US" sz="1600" b="1" dirty="0" smtClean="0">
                <a:solidFill>
                  <a:srgbClr val="0000CC"/>
                </a:solidFill>
              </a:rPr>
              <a:t>-s  file	</a:t>
            </a:r>
            <a:r>
              <a:rPr lang="en-US" sz="1600" dirty="0" smtClean="0">
                <a:solidFill>
                  <a:schemeClr val="tx1"/>
                </a:solidFill>
              </a:rPr>
              <a:t>tests if file exists and not empty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-f   file 	</a:t>
            </a:r>
            <a:r>
              <a:rPr lang="en-US" sz="1600" dirty="0" smtClean="0">
                <a:solidFill>
                  <a:schemeClr val="tx1"/>
                </a:solidFill>
              </a:rPr>
              <a:t>tests is ordinary file and exists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-d   file 	</a:t>
            </a:r>
            <a:r>
              <a:rPr lang="en-US" sz="1600" dirty="0" smtClean="0">
                <a:solidFill>
                  <a:schemeClr val="tx1"/>
                </a:solidFill>
              </a:rPr>
              <a:t>test if  file is a directory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-r   file      </a:t>
            </a:r>
            <a:r>
              <a:rPr lang="en-US" sz="1600" dirty="0" smtClean="0">
                <a:solidFill>
                  <a:schemeClr val="tx1"/>
                </a:solidFill>
              </a:rPr>
              <a:t>test if file is readable and exists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-w   file    </a:t>
            </a:r>
            <a:r>
              <a:rPr lang="en-US" sz="1600" dirty="0" smtClean="0">
                <a:solidFill>
                  <a:schemeClr val="tx1"/>
                </a:solidFill>
              </a:rPr>
              <a:t>test if file is writable and exists</a:t>
            </a:r>
          </a:p>
          <a:p>
            <a:r>
              <a:rPr lang="en-US" sz="1600" b="1" dirty="0" smtClean="0">
                <a:solidFill>
                  <a:srgbClr val="0000CC"/>
                </a:solidFill>
              </a:rPr>
              <a:t>-x   file     </a:t>
            </a:r>
            <a:r>
              <a:rPr lang="en-US" sz="1600" dirty="0" smtClean="0">
                <a:solidFill>
                  <a:schemeClr val="tx1"/>
                </a:solidFill>
              </a:rPr>
              <a:t>test if file is executable and exists</a:t>
            </a:r>
          </a:p>
        </p:txBody>
      </p:sp>
      <p:sp>
        <p:nvSpPr>
          <p:cNvPr id="11" name="Freeform 10"/>
          <p:cNvSpPr/>
          <p:nvPr/>
        </p:nvSpPr>
        <p:spPr>
          <a:xfrm flipH="1">
            <a:off x="450376" y="1969825"/>
            <a:ext cx="809767" cy="1988026"/>
          </a:xfrm>
          <a:custGeom>
            <a:avLst/>
            <a:gdLst>
              <a:gd name="connsiteX0" fmla="*/ 0 w 3152633"/>
              <a:gd name="connsiteY0" fmla="*/ 0 h 1321559"/>
              <a:gd name="connsiteX1" fmla="*/ 859809 w 3152633"/>
              <a:gd name="connsiteY1" fmla="*/ 504967 h 1321559"/>
              <a:gd name="connsiteX2" fmla="*/ 1460310 w 3152633"/>
              <a:gd name="connsiteY2" fmla="*/ 600502 h 1321559"/>
              <a:gd name="connsiteX3" fmla="*/ 3152633 w 3152633"/>
              <a:gd name="connsiteY3" fmla="*/ 1173708 h 1321559"/>
              <a:gd name="connsiteX0" fmla="*/ 0 w 3152633"/>
              <a:gd name="connsiteY0" fmla="*/ 0 h 1321559"/>
              <a:gd name="connsiteX1" fmla="*/ 859809 w 3152633"/>
              <a:gd name="connsiteY1" fmla="*/ 504967 h 1321559"/>
              <a:gd name="connsiteX2" fmla="*/ 1869743 w 3152633"/>
              <a:gd name="connsiteY2" fmla="*/ 627797 h 1321559"/>
              <a:gd name="connsiteX3" fmla="*/ 3152633 w 3152633"/>
              <a:gd name="connsiteY3" fmla="*/ 1173708 h 1321559"/>
              <a:gd name="connsiteX0" fmla="*/ 0 w 3152633"/>
              <a:gd name="connsiteY0" fmla="*/ 0 h 1321559"/>
              <a:gd name="connsiteX1" fmla="*/ 723331 w 3152633"/>
              <a:gd name="connsiteY1" fmla="*/ 504967 h 1321559"/>
              <a:gd name="connsiteX2" fmla="*/ 1869743 w 3152633"/>
              <a:gd name="connsiteY2" fmla="*/ 627797 h 1321559"/>
              <a:gd name="connsiteX3" fmla="*/ 3152633 w 3152633"/>
              <a:gd name="connsiteY3" fmla="*/ 1173708 h 1321559"/>
              <a:gd name="connsiteX0" fmla="*/ 0 w 2988860"/>
              <a:gd name="connsiteY0" fmla="*/ 0 h 1321559"/>
              <a:gd name="connsiteX1" fmla="*/ 723331 w 2988860"/>
              <a:gd name="connsiteY1" fmla="*/ 504967 h 1321559"/>
              <a:gd name="connsiteX2" fmla="*/ 1869743 w 2988860"/>
              <a:gd name="connsiteY2" fmla="*/ 627797 h 1321559"/>
              <a:gd name="connsiteX3" fmla="*/ 2988860 w 2988860"/>
              <a:gd name="connsiteY3" fmla="*/ 1173708 h 1321559"/>
              <a:gd name="connsiteX0" fmla="*/ 0 w 2988860"/>
              <a:gd name="connsiteY0" fmla="*/ 0 h 1173708"/>
              <a:gd name="connsiteX1" fmla="*/ 723331 w 2988860"/>
              <a:gd name="connsiteY1" fmla="*/ 504967 h 1173708"/>
              <a:gd name="connsiteX2" fmla="*/ 1869743 w 2988860"/>
              <a:gd name="connsiteY2" fmla="*/ 627797 h 1173708"/>
              <a:gd name="connsiteX3" fmla="*/ 2593074 w 2988860"/>
              <a:gd name="connsiteY3" fmla="*/ 1037230 h 1173708"/>
              <a:gd name="connsiteX4" fmla="*/ 2988860 w 2988860"/>
              <a:gd name="connsiteY4" fmla="*/ 1173708 h 1173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8860" h="1173708">
                <a:moveTo>
                  <a:pt x="0" y="0"/>
                </a:moveTo>
                <a:cubicBezTo>
                  <a:pt x="308212" y="202441"/>
                  <a:pt x="411707" y="400334"/>
                  <a:pt x="723331" y="504967"/>
                </a:cubicBezTo>
                <a:cubicBezTo>
                  <a:pt x="1034955" y="609600"/>
                  <a:pt x="1558119" y="539087"/>
                  <a:pt x="1869743" y="627797"/>
                </a:cubicBezTo>
                <a:cubicBezTo>
                  <a:pt x="2181367" y="716508"/>
                  <a:pt x="2406555" y="946245"/>
                  <a:pt x="2593074" y="1037230"/>
                </a:cubicBezTo>
                <a:cubicBezTo>
                  <a:pt x="2779594" y="1128215"/>
                  <a:pt x="2938818" y="1171433"/>
                  <a:pt x="2988860" y="1173708"/>
                </a:cubicBezTo>
              </a:path>
            </a:pathLst>
          </a:custGeom>
          <a:ln w="15875">
            <a:solidFill>
              <a:srgbClr val="FF0000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while loop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5" y="887740"/>
            <a:ext cx="4482853" cy="4473575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Syntax for while loop</a:t>
            </a: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while</a:t>
            </a:r>
            <a:r>
              <a:rPr lang="en-US" dirty="0" smtClean="0">
                <a:solidFill>
                  <a:srgbClr val="0000CC"/>
                </a:solidFill>
              </a:rPr>
              <a:t>   condition 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do</a:t>
            </a: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	commands 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done</a:t>
            </a:r>
          </a:p>
          <a:p>
            <a:pPr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CC"/>
                </a:solidFill>
              </a:rPr>
              <a:t> 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4666593" y="866714"/>
            <a:ext cx="4235664" cy="44735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Example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#! /bin/bash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#filename :  cat1.sh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while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 read  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	echo  $line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done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 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if construct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5" y="887741"/>
            <a:ext cx="3949414" cy="5745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00CC"/>
                </a:solidFill>
              </a:rPr>
              <a:t>Syntax for if  construct</a:t>
            </a:r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condition </a:t>
            </a:r>
          </a:p>
          <a:p>
            <a:pPr>
              <a:buNone/>
            </a:pP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commands </a:t>
            </a:r>
          </a:p>
          <a:p>
            <a:pPr>
              <a:buNone/>
            </a:pP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</a:t>
            </a:r>
          </a:p>
          <a:p>
            <a:pPr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6" name="Text Placeholder 7"/>
          <p:cNvSpPr txBox="1">
            <a:spLocks/>
          </p:cNvSpPr>
          <p:nvPr/>
        </p:nvSpPr>
        <p:spPr>
          <a:xfrm>
            <a:off x="4599296" y="862720"/>
            <a:ext cx="3971498" cy="57450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Syntax for if  - </a:t>
            </a: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elif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construct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1" i="0" u="none" strike="noStrike" kern="120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condition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then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commands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lang="en-US" sz="22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elif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condition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lang="en-US" sz="22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commands</a:t>
            </a:r>
            <a:endParaRPr kumimoji="0" lang="en-US" sz="2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lang="en-US" sz="22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commands</a:t>
            </a:r>
            <a:endParaRPr kumimoji="0" lang="en-US" sz="2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lang="en-US" sz="22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</a:t>
            </a:r>
            <a:endParaRPr lang="en-US" sz="22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if construct  - example</a:t>
            </a:r>
            <a:endParaRPr lang="en-IN" dirty="0"/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409433" y="1236567"/>
            <a:ext cx="7219666" cy="44735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#! /bin/bash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#filename :  filetype.sh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if 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[ -f $1 ]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   echo "$1 non-empty file"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elif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[ -d $1 ]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   echo "$1 directory"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    echo "$1 unknown file"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type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  <a:defRPr/>
            </a:pPr>
            <a:r>
              <a:rPr lang="en-US" sz="22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</a:t>
            </a:r>
            <a:endParaRPr lang="en-US" sz="22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US" sz="22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</a:t>
            </a:r>
            <a:r>
              <a:rPr lang="en-IN" dirty="0" smtClean="0"/>
              <a:t>ase construct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13153" y="831031"/>
            <a:ext cx="5300543" cy="568320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#! /bin/bash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# filename: mex.sh 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if (( $# != 3 ))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then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echo insufficient arguments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exit 1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else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</a:t>
            </a:r>
            <a:r>
              <a:rPr lang="en-IN" sz="2000" b="1" dirty="0" smtClean="0">
                <a:solidFill>
                  <a:srgbClr val="0000CC"/>
                </a:solidFill>
                <a:latin typeface="Lucida Console" pitchFamily="49" charset="0"/>
              </a:rPr>
              <a:t>case</a:t>
            </a:r>
            <a:r>
              <a:rPr lang="en-IN" sz="2000" b="1" dirty="0" smtClean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"$2" in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  "+")  (( result = $1 + $3 )) ;;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  "-")  (( result = $1 - $3 )) ;;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    *)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        echo invalid operator $2</a:t>
            </a: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</a:t>
            </a:r>
            <a:r>
              <a:rPr lang="en-IN" sz="2000" b="1" dirty="0" err="1" smtClean="0">
                <a:solidFill>
                  <a:srgbClr val="0000CC"/>
                </a:solidFill>
                <a:latin typeface="Lucida Console" pitchFamily="49" charset="0"/>
              </a:rPr>
              <a:t>esac</a:t>
            </a:r>
            <a:endParaRPr lang="en-IN" sz="2000" b="1" dirty="0" smtClean="0">
              <a:solidFill>
                <a:srgbClr val="0000CC"/>
              </a:solidFill>
              <a:latin typeface="Lucida Console" pitchFamily="49" charset="0"/>
            </a:endParaRP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   echo $result</a:t>
            </a:r>
          </a:p>
          <a:p>
            <a:pPr>
              <a:buNone/>
            </a:pPr>
            <a:r>
              <a:rPr lang="en-IN" sz="1600" b="1" dirty="0" err="1" smtClean="0">
                <a:solidFill>
                  <a:schemeClr val="tx1"/>
                </a:solidFill>
                <a:latin typeface="Lucida Console" pitchFamily="49" charset="0"/>
              </a:rPr>
              <a:t>fi</a:t>
            </a:r>
            <a:endParaRPr lang="en-IN" sz="1600" b="1" dirty="0" smtClean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buNone/>
            </a:pPr>
            <a:r>
              <a:rPr lang="en-IN" sz="1600" b="1" dirty="0" smtClean="0">
                <a:solidFill>
                  <a:schemeClr val="tx1"/>
                </a:solidFill>
                <a:latin typeface="Lucida Console" pitchFamily="49" charset="0"/>
              </a:rPr>
              <a:t>exit 0</a:t>
            </a:r>
          </a:p>
        </p:txBody>
      </p:sp>
      <p:sp>
        <p:nvSpPr>
          <p:cNvPr id="5" name="Text Placeholder 7"/>
          <p:cNvSpPr txBox="1">
            <a:spLocks/>
          </p:cNvSpPr>
          <p:nvPr/>
        </p:nvSpPr>
        <p:spPr>
          <a:xfrm>
            <a:off x="5718412" y="844678"/>
            <a:ext cx="3057098" cy="568320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r>
              <a:rPr lang="en-IN" sz="2200" dirty="0" smtClean="0">
                <a:solidFill>
                  <a:srgbClr val="595959"/>
                </a:solidFill>
                <a:cs typeface="Arial"/>
              </a:rPr>
              <a:t>$ ./mex.sh 3 + 2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r>
              <a:rPr lang="en-IN" sz="2200" dirty="0" smtClean="0">
                <a:solidFill>
                  <a:srgbClr val="595959"/>
                </a:solidFill>
                <a:cs typeface="Arial"/>
              </a:rPr>
              <a:t>5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r>
              <a:rPr lang="en-IN" sz="2200" dirty="0" smtClean="0">
                <a:solidFill>
                  <a:srgbClr val="595959"/>
                </a:solidFill>
                <a:cs typeface="Arial"/>
              </a:rPr>
              <a:t>$ ./mex.sh 3 - 2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r>
              <a:rPr lang="en-IN" sz="2200" dirty="0" smtClean="0">
                <a:solidFill>
                  <a:srgbClr val="595959"/>
                </a:solidFill>
                <a:cs typeface="Arial"/>
              </a:rPr>
              <a:t>5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r>
              <a:rPr lang="en-IN" sz="2200" dirty="0" smtClean="0">
                <a:solidFill>
                  <a:srgbClr val="595959"/>
                </a:solidFill>
                <a:cs typeface="Arial"/>
              </a:rPr>
              <a:t>$ ./mex.sh 3 / 2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r>
              <a:rPr lang="en-IN" sz="2200" dirty="0" smtClean="0">
                <a:solidFill>
                  <a:srgbClr val="595959"/>
                </a:solidFill>
                <a:cs typeface="Arial"/>
              </a:rPr>
              <a:t>Invalid operator /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r>
              <a:rPr lang="en-IN" sz="2200" dirty="0" smtClean="0">
                <a:solidFill>
                  <a:srgbClr val="595959"/>
                </a:solidFill>
                <a:cs typeface="Arial"/>
              </a:rPr>
              <a:t>$</a:t>
            </a:r>
          </a:p>
          <a:p>
            <a:pPr marL="231775" lvl="0" indent="-231775">
              <a:spcBef>
                <a:spcPct val="20000"/>
              </a:spcBef>
              <a:buClr>
                <a:srgbClr val="0070C0"/>
              </a:buClr>
            </a:pPr>
            <a:endParaRPr lang="en-IN" sz="2200" dirty="0" smtClean="0">
              <a:solidFill>
                <a:srgbClr val="595959"/>
              </a:solidFill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85011" y="1535633"/>
            <a:ext cx="3575266" cy="4085111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#! /bin/bash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# file: sum</a:t>
            </a:r>
          </a:p>
          <a:p>
            <a:pPr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sum=0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</a:t>
            </a:r>
            <a:endParaRPr lang="en-US" sz="9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while  [  $# -</a:t>
            </a:r>
            <a:r>
              <a:rPr lang="en-US" dirty="0" err="1" smtClean="0">
                <a:solidFill>
                  <a:schemeClr val="tx1"/>
                </a:solidFill>
              </a:rPr>
              <a:t>gt</a:t>
            </a:r>
            <a:r>
              <a:rPr lang="en-US" dirty="0" smtClean="0">
                <a:solidFill>
                  <a:schemeClr val="tx1"/>
                </a:solidFill>
              </a:rPr>
              <a:t> 0  ]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do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   sum=`</a:t>
            </a:r>
            <a:r>
              <a:rPr lang="en-US" sz="2400" b="1" dirty="0" err="1" smtClean="0">
                <a:solidFill>
                  <a:srgbClr val="0000CC"/>
                </a:solidFill>
              </a:rPr>
              <a:t>expr</a:t>
            </a:r>
            <a:r>
              <a:rPr lang="en-US" dirty="0" smtClean="0">
                <a:solidFill>
                  <a:schemeClr val="tx1"/>
                </a:solidFill>
              </a:rPr>
              <a:t>   $sum  +  $1`</a:t>
            </a:r>
          </a:p>
          <a:p>
            <a:pPr>
              <a:buNone/>
            </a:pPr>
            <a:endParaRPr lang="en-US" sz="15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   </a:t>
            </a:r>
            <a:r>
              <a:rPr lang="en-US" sz="2400" b="1" dirty="0" smtClean="0">
                <a:solidFill>
                  <a:srgbClr val="0000CC"/>
                </a:solidFill>
              </a:rPr>
              <a:t>shift</a:t>
            </a:r>
            <a:endParaRPr lang="en-US" b="1" dirty="0" smtClean="0">
              <a:solidFill>
                <a:srgbClr val="0000CC"/>
              </a:solidFill>
            </a:endParaRPr>
          </a:p>
          <a:p>
            <a:pPr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done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</a:t>
            </a:r>
            <a:endParaRPr lang="en-US" sz="15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echo sum = $sum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 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3774" y="997527"/>
            <a:ext cx="825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Compute the sum of numbers given as argument to the shell script.</a:t>
            </a:r>
          </a:p>
        </p:txBody>
      </p:sp>
      <p:sp>
        <p:nvSpPr>
          <p:cNvPr id="5" name="Line Callout 2 (Accent Bar) 4"/>
          <p:cNvSpPr/>
          <p:nvPr/>
        </p:nvSpPr>
        <p:spPr>
          <a:xfrm>
            <a:off x="3942081" y="1712635"/>
            <a:ext cx="5201920" cy="746085"/>
          </a:xfrm>
          <a:prstGeom prst="accentCallout2">
            <a:avLst>
              <a:gd name="adj1" fmla="val 43788"/>
              <a:gd name="adj2" fmla="val -874"/>
              <a:gd name="adj3" fmla="val 132536"/>
              <a:gd name="adj4" fmla="val -17917"/>
              <a:gd name="adj5" fmla="val 201817"/>
              <a:gd name="adj6" fmla="val -40783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 err="1" smtClean="0">
                <a:solidFill>
                  <a:schemeClr val="tx1"/>
                </a:solidFill>
              </a:rPr>
              <a:t>expr</a:t>
            </a:r>
            <a:r>
              <a:rPr lang="en-US" sz="1600" dirty="0" smtClean="0">
                <a:solidFill>
                  <a:schemeClr val="tx1"/>
                </a:solidFill>
              </a:rPr>
              <a:t>  is an external command that can be used to perform arithmetic operation.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Space on either side of the operator is a must</a:t>
            </a:r>
          </a:p>
        </p:txBody>
      </p:sp>
      <p:sp>
        <p:nvSpPr>
          <p:cNvPr id="7" name="Line Callout 2 (Accent Bar) 6"/>
          <p:cNvSpPr/>
          <p:nvPr/>
        </p:nvSpPr>
        <p:spPr>
          <a:xfrm>
            <a:off x="3820160" y="2987041"/>
            <a:ext cx="5262880" cy="3291839"/>
          </a:xfrm>
          <a:prstGeom prst="accentCallout2">
            <a:avLst>
              <a:gd name="adj1" fmla="val 43311"/>
              <a:gd name="adj2" fmla="val -624"/>
              <a:gd name="adj3" fmla="val 47591"/>
              <a:gd name="adj4" fmla="val -22251"/>
              <a:gd name="adj5" fmla="val 31463"/>
              <a:gd name="adj6" fmla="val -49450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 smtClean="0">
                <a:solidFill>
                  <a:schemeClr val="tx1"/>
                </a:solidFill>
              </a:rPr>
              <a:t>shift </a:t>
            </a:r>
            <a:r>
              <a:rPr lang="en-US" sz="1600" dirty="0" smtClean="0">
                <a:solidFill>
                  <a:schemeClr val="tx1"/>
                </a:solidFill>
              </a:rPr>
              <a:t>command shifts positional parameters to the left by one position, except the command itself (</a:t>
            </a:r>
            <a:r>
              <a:rPr lang="en-US" sz="1600" dirty="0" err="1" smtClean="0">
                <a:solidFill>
                  <a:schemeClr val="tx1"/>
                </a:solidFill>
              </a:rPr>
              <a:t>i</a:t>
            </a:r>
            <a:r>
              <a:rPr lang="en-US" sz="1600" dirty="0" smtClean="0">
                <a:solidFill>
                  <a:schemeClr val="tx1"/>
                </a:solidFill>
              </a:rPr>
              <a:t>..e., $0)</a:t>
            </a:r>
          </a:p>
          <a:p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 $ sum     5     7      9       12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$0        $1    $2    $3     $4</a:t>
            </a:r>
          </a:p>
          <a:p>
            <a:endParaRPr lang="en-US" sz="11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After   executing </a:t>
            </a:r>
            <a:r>
              <a:rPr lang="en-US" sz="1600" b="1" dirty="0" smtClean="0">
                <a:solidFill>
                  <a:schemeClr val="tx1"/>
                </a:solidFill>
              </a:rPr>
              <a:t>shift</a:t>
            </a:r>
            <a:r>
              <a:rPr lang="en-US" sz="1600" dirty="0" smtClean="0">
                <a:solidFill>
                  <a:schemeClr val="tx1"/>
                </a:solidFill>
              </a:rPr>
              <a:t>,</a:t>
            </a:r>
          </a:p>
          <a:p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sum      7      9       12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$0        $1    $2    $3     </a:t>
            </a:r>
          </a:p>
          <a:p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After   executing </a:t>
            </a:r>
            <a:r>
              <a:rPr lang="en-US" sz="1600" b="1" dirty="0" smtClean="0">
                <a:solidFill>
                  <a:schemeClr val="tx1"/>
                </a:solidFill>
              </a:rPr>
              <a:t>shift</a:t>
            </a:r>
            <a:r>
              <a:rPr lang="en-US" sz="1600" dirty="0" smtClean="0">
                <a:solidFill>
                  <a:schemeClr val="tx1"/>
                </a:solidFill>
              </a:rPr>
              <a:t> again</a:t>
            </a:r>
          </a:p>
          <a:p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sum      9      12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$0        $1    $2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00743" y="2612799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Hands-on and Assignments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76045" y="145140"/>
            <a:ext cx="8413931" cy="553998"/>
          </a:xfrm>
        </p:spPr>
        <p:txBody>
          <a:bodyPr/>
          <a:lstStyle/>
          <a:p>
            <a:r>
              <a:rPr lang="en-IN" dirty="0" smtClean="0"/>
              <a:t>Exercises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354781" y="871974"/>
            <a:ext cx="8375151" cy="562768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AutoNum type="arabicParenR"/>
            </a:pPr>
            <a:r>
              <a:rPr lang="en-IN" dirty="0" smtClean="0">
                <a:solidFill>
                  <a:schemeClr val="tx1"/>
                </a:solidFill>
              </a:rPr>
              <a:t>Assuming the file </a:t>
            </a:r>
            <a:r>
              <a:rPr lang="en-IN" b="1" dirty="0" err="1" smtClean="0">
                <a:solidFill>
                  <a:schemeClr val="tx1"/>
                </a:solidFill>
              </a:rPr>
              <a:t>abc</a:t>
            </a:r>
            <a:r>
              <a:rPr lang="en-IN" dirty="0" smtClean="0">
                <a:solidFill>
                  <a:schemeClr val="tx1"/>
                </a:solidFill>
              </a:rPr>
              <a:t> exists and  has some content, what would happen when the following command is executed?</a:t>
            </a:r>
          </a:p>
          <a:p>
            <a:pPr marL="457200" indent="-457200" algn="just">
              <a:buNone/>
            </a:pPr>
            <a:r>
              <a:rPr lang="en-IN" dirty="0" smtClean="0">
                <a:solidFill>
                  <a:schemeClr val="tx1"/>
                </a:solidFill>
              </a:rPr>
              <a:t>			$   cat   </a:t>
            </a:r>
            <a:r>
              <a:rPr lang="en-IN" dirty="0" err="1" smtClean="0">
                <a:solidFill>
                  <a:schemeClr val="tx1"/>
                </a:solidFill>
              </a:rPr>
              <a:t>abc</a:t>
            </a:r>
            <a:r>
              <a:rPr lang="en-IN" dirty="0" smtClean="0">
                <a:solidFill>
                  <a:schemeClr val="tx1"/>
                </a:solidFill>
              </a:rPr>
              <a:t>  &gt;  </a:t>
            </a:r>
            <a:r>
              <a:rPr lang="en-IN" dirty="0" err="1" smtClean="0">
                <a:solidFill>
                  <a:schemeClr val="tx1"/>
                </a:solidFill>
              </a:rPr>
              <a:t>abc</a:t>
            </a:r>
            <a:endParaRPr lang="en-IN" dirty="0" smtClean="0">
              <a:solidFill>
                <a:schemeClr val="tx1"/>
              </a:solidFill>
            </a:endParaRPr>
          </a:p>
          <a:p>
            <a:pPr marL="457200" indent="-457200" algn="just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2"/>
            </a:pPr>
            <a:r>
              <a:rPr lang="en-US" dirty="0" smtClean="0">
                <a:solidFill>
                  <a:schemeClr val="tx1"/>
                </a:solidFill>
              </a:rPr>
              <a:t>Run the following commands in the given sequence, and check the contents of the files out1 and out2.</a:t>
            </a:r>
          </a:p>
          <a:p>
            <a:pPr marL="457200" indent="-45720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	$ touch   data</a:t>
            </a:r>
          </a:p>
          <a:p>
            <a:pPr marL="457200" indent="-45720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$ touch   new</a:t>
            </a:r>
          </a:p>
          <a:p>
            <a:pPr marL="457200" indent="-45720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      $  </a:t>
            </a:r>
            <a:r>
              <a:rPr lang="en-US" dirty="0" err="1" smtClean="0">
                <a:solidFill>
                  <a:schemeClr val="tx1"/>
                </a:solidFill>
              </a:rPr>
              <a:t>ls</a:t>
            </a:r>
            <a:r>
              <a:rPr lang="en-US" dirty="0" smtClean="0">
                <a:solidFill>
                  <a:schemeClr val="tx1"/>
                </a:solidFill>
              </a:rPr>
              <a:t>  -l  new  new1  data  data1    2&gt;&amp;1   &gt;  out1</a:t>
            </a:r>
          </a:p>
          <a:p>
            <a:pPr marL="457200" indent="-45720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      $  </a:t>
            </a:r>
            <a:r>
              <a:rPr lang="en-US" dirty="0" err="1" smtClean="0">
                <a:solidFill>
                  <a:schemeClr val="tx1"/>
                </a:solidFill>
              </a:rPr>
              <a:t>ls</a:t>
            </a:r>
            <a:r>
              <a:rPr lang="en-US" dirty="0" smtClean="0">
                <a:solidFill>
                  <a:schemeClr val="tx1"/>
                </a:solidFill>
              </a:rPr>
              <a:t>  -l  new  new1  data  data1    &gt; out2    2&gt;&amp;1</a:t>
            </a:r>
          </a:p>
          <a:p>
            <a:pPr marL="457200" indent="-45720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What is the observation made? </a:t>
            </a:r>
          </a:p>
          <a:p>
            <a:pPr marL="457200" indent="-45720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3"/>
            </a:pPr>
            <a:r>
              <a:rPr lang="en-US" dirty="0" smtClean="0">
                <a:solidFill>
                  <a:schemeClr val="tx1"/>
                </a:solidFill>
              </a:rPr>
              <a:t>Get the names of files, directories and subdirectories in the root directory into the file named </a:t>
            </a:r>
            <a:r>
              <a:rPr lang="en-US" b="1" dirty="0" smtClean="0">
                <a:solidFill>
                  <a:schemeClr val="tx1"/>
                </a:solidFill>
              </a:rPr>
              <a:t>files-under-root</a:t>
            </a:r>
            <a:r>
              <a:rPr lang="en-US" dirty="0" smtClean="0">
                <a:solidFill>
                  <a:schemeClr val="tx1"/>
                </a:solidFill>
              </a:rPr>
              <a:t>. The file </a:t>
            </a:r>
            <a:r>
              <a:rPr lang="en-US" u="sng" dirty="0" smtClean="0">
                <a:solidFill>
                  <a:schemeClr val="tx1"/>
                </a:solidFill>
              </a:rPr>
              <a:t>should not </a:t>
            </a:r>
            <a:r>
              <a:rPr lang="en-US" dirty="0" smtClean="0">
                <a:solidFill>
                  <a:schemeClr val="tx1"/>
                </a:solidFill>
              </a:rPr>
              <a:t>contain any error messages associated with directories that could not be opened.</a:t>
            </a:r>
            <a:endParaRPr lang="en-IN" dirty="0" smtClean="0">
              <a:solidFill>
                <a:schemeClr val="tx1"/>
              </a:solidFill>
            </a:endParaRPr>
          </a:p>
          <a:p>
            <a:pPr marL="457200" indent="-457200">
              <a:buAutoNum type="arabicParenR" startAt="2"/>
            </a:pPr>
            <a:endParaRPr lang="en-IN" dirty="0" smtClean="0">
              <a:solidFill>
                <a:schemeClr val="tx1"/>
              </a:solidFill>
            </a:endParaRPr>
          </a:p>
          <a:p>
            <a:pPr marL="457200" indent="-457200">
              <a:buAutoNum type="arabicParenR" startAt="2"/>
            </a:pPr>
            <a:endParaRPr lang="en-IN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24287" y="145140"/>
            <a:ext cx="8465689" cy="553998"/>
          </a:xfrm>
        </p:spPr>
        <p:txBody>
          <a:bodyPr/>
          <a:lstStyle/>
          <a:p>
            <a:r>
              <a:rPr lang="en-IN"/>
              <a:t>Exercises 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16759" y="1009996"/>
            <a:ext cx="8728364" cy="5132011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 startAt="4"/>
            </a:pPr>
            <a:r>
              <a:rPr lang="en-US" sz="2000" dirty="0" smtClean="0">
                <a:solidFill>
                  <a:schemeClr val="tx1"/>
                </a:solidFill>
              </a:rPr>
              <a:t>Compress files in the current directory, and then uncompress the files.</a:t>
            </a:r>
          </a:p>
          <a:p>
            <a:pPr marL="457200" indent="-457200" algn="just">
              <a:buFont typeface="+mj-lt"/>
              <a:buAutoNum type="arabicParenR" startAt="4"/>
            </a:pPr>
            <a:endParaRPr lang="en-US" sz="14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4"/>
            </a:pPr>
            <a:endParaRPr lang="en-US" sz="11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4"/>
            </a:pPr>
            <a:r>
              <a:rPr lang="en-US" sz="2000" dirty="0" smtClean="0">
                <a:solidFill>
                  <a:schemeClr val="tx1"/>
                </a:solidFill>
              </a:rPr>
              <a:t>Create a tar file for all the files whose name begin with any of the characters  </a:t>
            </a:r>
            <a:r>
              <a:rPr lang="en-US" sz="2000" b="1" dirty="0" smtClean="0">
                <a:solidFill>
                  <a:schemeClr val="tx1"/>
                </a:solidFill>
              </a:rPr>
              <a:t>a</a:t>
            </a:r>
            <a:r>
              <a:rPr lang="en-US" sz="2000" dirty="0" smtClean="0">
                <a:solidFill>
                  <a:schemeClr val="tx1"/>
                </a:solidFill>
              </a:rPr>
              <a:t> to  </a:t>
            </a:r>
            <a:r>
              <a:rPr lang="en-US" sz="2000" b="1" dirty="0" smtClean="0">
                <a:solidFill>
                  <a:schemeClr val="tx1"/>
                </a:solidFill>
              </a:rPr>
              <a:t>k </a:t>
            </a:r>
            <a:r>
              <a:rPr lang="en-US" sz="2000" dirty="0" smtClean="0">
                <a:solidFill>
                  <a:schemeClr val="tx1"/>
                </a:solidFill>
              </a:rPr>
              <a:t>(both inclusive)</a:t>
            </a:r>
          </a:p>
          <a:p>
            <a:pPr marL="457200" indent="-457200" algn="just">
              <a:buAutoNum type="arabicParenR" startAt="4"/>
            </a:pPr>
            <a:endParaRPr lang="en-US" sz="1200" dirty="0" smtClean="0">
              <a:solidFill>
                <a:schemeClr val="tx1"/>
              </a:solidFill>
            </a:endParaRPr>
          </a:p>
          <a:p>
            <a:pPr marL="457200" indent="-457200" algn="just">
              <a:buAutoNum type="arabicParenR" startAt="4"/>
            </a:pPr>
            <a:endParaRPr lang="en-US" sz="1000" dirty="0" smtClean="0">
              <a:solidFill>
                <a:schemeClr val="tx1"/>
              </a:solidFill>
            </a:endParaRPr>
          </a:p>
          <a:p>
            <a:pPr marL="457200" indent="-457200" algn="just">
              <a:buAutoNum type="arabicParenR" startAt="4"/>
            </a:pPr>
            <a:r>
              <a:rPr lang="en-US" sz="2000" dirty="0" smtClean="0">
                <a:solidFill>
                  <a:schemeClr val="tx1"/>
                </a:solidFill>
              </a:rPr>
              <a:t>Print file attributes (in </a:t>
            </a:r>
            <a:r>
              <a:rPr lang="en-US" sz="2000" b="1" dirty="0" err="1" smtClean="0">
                <a:solidFill>
                  <a:schemeClr val="tx1"/>
                </a:solidFill>
              </a:rPr>
              <a:t>ls</a:t>
            </a:r>
            <a:r>
              <a:rPr lang="en-US" sz="2000" b="1" dirty="0" smtClean="0">
                <a:solidFill>
                  <a:schemeClr val="tx1"/>
                </a:solidFill>
              </a:rPr>
              <a:t> –l </a:t>
            </a:r>
            <a:r>
              <a:rPr lang="en-US" sz="2000" dirty="0" smtClean="0">
                <a:solidFill>
                  <a:schemeClr val="tx1"/>
                </a:solidFill>
              </a:rPr>
              <a:t>format),  of all the character and block device files in /dev directory.</a:t>
            </a:r>
          </a:p>
          <a:p>
            <a:pPr marL="457200" indent="-457200" algn="just">
              <a:buAutoNum type="arabicParenR" startAt="4"/>
            </a:pPr>
            <a:endParaRPr lang="en-US" sz="1050" dirty="0" smtClean="0">
              <a:solidFill>
                <a:schemeClr val="tx1"/>
              </a:solidFill>
            </a:endParaRPr>
          </a:p>
          <a:p>
            <a:pPr marL="457200" indent="-457200" algn="just">
              <a:buAutoNum type="arabicParenR" startAt="4"/>
            </a:pPr>
            <a:endParaRPr lang="en-US" sz="1200" dirty="0" smtClean="0">
              <a:solidFill>
                <a:schemeClr val="tx1"/>
              </a:solidFill>
            </a:endParaRPr>
          </a:p>
          <a:p>
            <a:pPr marL="457200" indent="-457200" algn="just">
              <a:buAutoNum type="arabicParenR" startAt="4"/>
            </a:pPr>
            <a:r>
              <a:rPr lang="en-US" sz="2000" dirty="0" smtClean="0">
                <a:solidFill>
                  <a:schemeClr val="tx1"/>
                </a:solidFill>
              </a:rPr>
              <a:t>List files whose  file name is exactly 5 characters, from the current directory.</a:t>
            </a:r>
          </a:p>
          <a:p>
            <a:pPr marL="457200" indent="-457200" algn="just">
              <a:buAutoNum type="arabicParenR" startAt="4"/>
            </a:pPr>
            <a:endParaRPr lang="en-US" sz="900" dirty="0" smtClean="0">
              <a:solidFill>
                <a:schemeClr val="tx1"/>
              </a:solidFill>
            </a:endParaRPr>
          </a:p>
          <a:p>
            <a:pPr marL="457200" indent="-457200" algn="just">
              <a:buAutoNum type="arabicParenR" startAt="4"/>
            </a:pPr>
            <a:endParaRPr lang="en-US" sz="1200" dirty="0" smtClean="0">
              <a:solidFill>
                <a:schemeClr val="tx1"/>
              </a:solidFill>
            </a:endParaRPr>
          </a:p>
          <a:p>
            <a:pPr marL="457200" indent="-457200" algn="just">
              <a:buAutoNum type="arabicParenR" startAt="4"/>
            </a:pPr>
            <a:r>
              <a:rPr lang="en-US" sz="2000" dirty="0" smtClean="0">
                <a:solidFill>
                  <a:schemeClr val="tx1"/>
                </a:solidFill>
              </a:rPr>
              <a:t>List all the files from the root directory and its subdirectories captured into a file. Any errors with respect to file access should be simply ignored, not to be part of output.</a:t>
            </a:r>
          </a:p>
          <a:p>
            <a:pPr marL="457200" indent="-457200">
              <a:buAutoNum type="arabicParenR" startAt="4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89781" y="145140"/>
            <a:ext cx="8500195" cy="553998"/>
          </a:xfrm>
        </p:spPr>
        <p:txBody>
          <a:bodyPr/>
          <a:lstStyle/>
          <a:p>
            <a:r>
              <a:rPr lang="en-IN"/>
              <a:t>Exercises 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4846901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 startAt="9"/>
            </a:pPr>
            <a:r>
              <a:rPr lang="en-US" sz="2000" dirty="0" smtClean="0">
                <a:solidFill>
                  <a:schemeClr val="tx1"/>
                </a:solidFill>
              </a:rPr>
              <a:t>Sort /etc/</a:t>
            </a:r>
            <a:r>
              <a:rPr lang="en-US" sz="2000" dirty="0" err="1" smtClean="0">
                <a:solidFill>
                  <a:schemeClr val="tx1"/>
                </a:solidFill>
              </a:rPr>
              <a:t>passwd</a:t>
            </a:r>
            <a:r>
              <a:rPr lang="en-US" sz="2000" dirty="0" smtClean="0">
                <a:solidFill>
                  <a:schemeClr val="tx1"/>
                </a:solidFill>
              </a:rPr>
              <a:t> file on the basis of login shell.</a:t>
            </a:r>
          </a:p>
          <a:p>
            <a:pPr marL="457200" indent="-457200" algn="just">
              <a:buFont typeface="+mj-lt"/>
              <a:buAutoNum type="arabicParenR" startAt="9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9"/>
            </a:pPr>
            <a:r>
              <a:rPr lang="en-US" sz="2000" dirty="0" smtClean="0">
                <a:solidFill>
                  <a:schemeClr val="tx1"/>
                </a:solidFill>
              </a:rPr>
              <a:t>Print the name of the largest file in the current working directory.</a:t>
            </a:r>
          </a:p>
          <a:p>
            <a:pPr marL="457200" indent="-457200" algn="just">
              <a:buAutoNum type="arabicParenR" startAt="9"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457200" indent="-457200" algn="just">
              <a:buAutoNum type="arabicParenR" startAt="9"/>
            </a:pPr>
            <a:r>
              <a:rPr lang="en-US" sz="2000" dirty="0" smtClean="0">
                <a:solidFill>
                  <a:schemeClr val="tx1"/>
                </a:solidFill>
              </a:rPr>
              <a:t>Write a shell script named mid which takes three arguments </a:t>
            </a:r>
          </a:p>
          <a:p>
            <a:pPr marL="457200" indent="-457200" algn="just"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      		</a:t>
            </a:r>
            <a:r>
              <a:rPr lang="en-US" sz="2000" b="1" dirty="0" err="1" smtClean="0">
                <a:solidFill>
                  <a:schemeClr val="tx1"/>
                </a:solidFill>
              </a:rPr>
              <a:t>lineN</a:t>
            </a:r>
            <a:r>
              <a:rPr lang="en-US" sz="2000" b="1" dirty="0" smtClean="0">
                <a:solidFill>
                  <a:schemeClr val="tx1"/>
                </a:solidFill>
              </a:rPr>
              <a:t>    </a:t>
            </a:r>
            <a:r>
              <a:rPr lang="en-US" sz="2000" b="1" dirty="0" err="1" smtClean="0">
                <a:solidFill>
                  <a:schemeClr val="tx1"/>
                </a:solidFill>
              </a:rPr>
              <a:t>lineM</a:t>
            </a:r>
            <a:r>
              <a:rPr lang="en-US" sz="2000" b="1" dirty="0" smtClean="0">
                <a:solidFill>
                  <a:schemeClr val="tx1"/>
                </a:solidFill>
              </a:rPr>
              <a:t>      filename</a:t>
            </a:r>
          </a:p>
          <a:p>
            <a:pPr marL="457200" indent="-457200" algn="just">
              <a:buAutoNum type="arabicParenR" startAt="10"/>
            </a:pPr>
            <a:endParaRPr lang="en-US" sz="1050" dirty="0" smtClean="0">
              <a:solidFill>
                <a:schemeClr val="tx1"/>
              </a:solidFill>
            </a:endParaRPr>
          </a:p>
          <a:p>
            <a:pPr marL="457200" indent="-457200" algn="just"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	and prints the lines </a:t>
            </a:r>
            <a:r>
              <a:rPr lang="en-US" sz="2000" b="1" i="1" dirty="0" err="1" smtClean="0">
                <a:solidFill>
                  <a:schemeClr val="tx1"/>
                </a:solidFill>
              </a:rPr>
              <a:t>lineN</a:t>
            </a:r>
            <a:r>
              <a:rPr lang="en-US" sz="2000" dirty="0" smtClean="0">
                <a:solidFill>
                  <a:schemeClr val="tx1"/>
                </a:solidFill>
              </a:rPr>
              <a:t> to </a:t>
            </a:r>
            <a:r>
              <a:rPr lang="en-US" sz="2000" b="1" i="1" dirty="0" err="1" smtClean="0">
                <a:solidFill>
                  <a:schemeClr val="tx1"/>
                </a:solidFill>
              </a:rPr>
              <a:t>lineM</a:t>
            </a:r>
            <a:r>
              <a:rPr lang="en-US" sz="2000" b="1" i="1" dirty="0" smtClean="0">
                <a:solidFill>
                  <a:schemeClr val="tx1"/>
                </a:solidFill>
              </a:rPr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from the specified file.</a:t>
            </a:r>
          </a:p>
          <a:p>
            <a:pPr marL="457200" indent="-457200" algn="just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12"/>
            </a:pPr>
            <a:r>
              <a:rPr lang="en-US" sz="2000" dirty="0" smtClean="0">
                <a:solidFill>
                  <a:schemeClr val="tx1"/>
                </a:solidFill>
              </a:rPr>
              <a:t>Print the names of users for whom there is no login shell. </a:t>
            </a:r>
          </a:p>
          <a:p>
            <a:pPr marL="457200" indent="-457200" algn="just"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	[ Hint: such users will have the login shell specified as /bin/</a:t>
            </a:r>
            <a:r>
              <a:rPr lang="en-US" sz="2000" dirty="0" err="1" smtClean="0">
                <a:solidFill>
                  <a:schemeClr val="tx1"/>
                </a:solidFill>
              </a:rPr>
              <a:t>nologin</a:t>
            </a:r>
            <a:r>
              <a:rPr lang="en-US" sz="2000" dirty="0" smtClean="0">
                <a:solidFill>
                  <a:schemeClr val="tx1"/>
                </a:solidFill>
              </a:rPr>
              <a:t> ]</a:t>
            </a:r>
          </a:p>
          <a:p>
            <a:pPr marL="457200" indent="-457200" algn="just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6131" y="145140"/>
            <a:ext cx="8473845" cy="553998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Summary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4452" y="1101696"/>
            <a:ext cx="8240713" cy="447357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In this module, we discussed</a:t>
            </a:r>
          </a:p>
          <a:p>
            <a:pPr>
              <a:buNone/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use of commonly used utilities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Understand and take advantage of I/O redirection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Combine filters using pipes, to perform complex operations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Understand the purpose of  shell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Write shell scripts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3146" y="0"/>
            <a:ext cx="8540347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Review Questions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433621" y="976857"/>
            <a:ext cx="8900160" cy="5389437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How to display lines of a file along with line numbers?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Which command option is used to extract a file from a </a:t>
            </a:r>
            <a:r>
              <a:rPr lang="en-US" sz="2000" b="1" dirty="0" smtClean="0"/>
              <a:t>tar </a:t>
            </a:r>
            <a:r>
              <a:rPr lang="en-US" sz="2000" dirty="0" smtClean="0"/>
              <a:t>file.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What does the expression  </a:t>
            </a:r>
            <a:r>
              <a:rPr lang="en-US" sz="2000" b="1" dirty="0" smtClean="0"/>
              <a:t>2 &gt;&amp;1  </a:t>
            </a:r>
            <a:r>
              <a:rPr lang="en-US" sz="2000" dirty="0" smtClean="0"/>
              <a:t>represent?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Give example for a filter utility?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Which command is useful to extract a column of text from a text file?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How to </a:t>
            </a:r>
            <a:r>
              <a:rPr lang="en-US" sz="2000" b="1" dirty="0" smtClean="0"/>
              <a:t>export</a:t>
            </a:r>
            <a:r>
              <a:rPr lang="en-US" sz="2000" dirty="0" smtClean="0"/>
              <a:t> a variable in Bash shell?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What is the difference between </a:t>
            </a:r>
            <a:r>
              <a:rPr lang="en-US" sz="2000" b="1" dirty="0" err="1" smtClean="0"/>
              <a:t>grep</a:t>
            </a:r>
            <a:r>
              <a:rPr lang="en-US" sz="2000" dirty="0" smtClean="0"/>
              <a:t> and </a:t>
            </a:r>
            <a:r>
              <a:rPr lang="en-US" sz="2000" b="1" dirty="0" err="1" smtClean="0"/>
              <a:t>egrep</a:t>
            </a:r>
            <a:r>
              <a:rPr lang="en-US" sz="2000" dirty="0" smtClean="0"/>
              <a:t>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What is the advantage of alias?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000" dirty="0" smtClean="0"/>
              <a:t>What does </a:t>
            </a:r>
            <a:r>
              <a:rPr lang="en-US" sz="2000" b="1" dirty="0" smtClean="0"/>
              <a:t>$# </a:t>
            </a:r>
            <a:r>
              <a:rPr lang="en-US" sz="2000" dirty="0" smtClean="0"/>
              <a:t>represent in Bash shell?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362309" y="145140"/>
            <a:ext cx="8327667" cy="553998"/>
          </a:xfrm>
        </p:spPr>
        <p:txBody>
          <a:bodyPr/>
          <a:lstStyle/>
          <a:p>
            <a:r>
              <a:rPr lang="en-US" smtClean="0"/>
              <a:t>References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70936" y="963672"/>
            <a:ext cx="8240713" cy="4473575"/>
          </a:xfrm>
        </p:spPr>
        <p:txBody>
          <a:bodyPr/>
          <a:lstStyle/>
          <a:p>
            <a:pPr marL="457200" lvl="0" indent="-457200" algn="just">
              <a:buFont typeface="+mj-lt"/>
              <a:buAutoNum type="arabicPeriod"/>
            </a:pPr>
            <a:r>
              <a:rPr lang="en-US"/>
              <a:t>Richard Petersen, Linux The </a:t>
            </a:r>
            <a:r>
              <a:rPr lang="en-US"/>
              <a:t>Complete </a:t>
            </a:r>
            <a:r>
              <a:rPr lang="en-US" smtClean="0"/>
              <a:t>Reference. Ed 6. New </a:t>
            </a:r>
            <a:r>
              <a:rPr lang="en-US"/>
              <a:t>Delhi: McGraw-Hill Education India</a:t>
            </a:r>
            <a:r>
              <a:rPr lang="en-US"/>
              <a:t>, </a:t>
            </a:r>
            <a:r>
              <a:rPr lang="en-US" smtClean="0"/>
              <a:t>2007.</a:t>
            </a:r>
            <a:endParaRPr lang="en-US"/>
          </a:p>
          <a:p>
            <a:pPr marL="457200" indent="-457200" algn="just">
              <a:buFont typeface="+mj-lt"/>
              <a:buAutoNum type="arabicPeriod"/>
            </a:pPr>
            <a:endParaRPr lang="en-US"/>
          </a:p>
          <a:p>
            <a:pPr marL="457200" lvl="0" indent="-457200" algn="just">
              <a:buFont typeface="+mj-lt"/>
              <a:buAutoNum type="arabicPeriod"/>
            </a:pPr>
            <a:r>
              <a:rPr lang="en-US"/>
              <a:t>Eric Foster-Johnson, John C. Welch, and Micah Anderson, Beginning Shell Scripting</a:t>
            </a:r>
            <a:r>
              <a:rPr lang="en-US"/>
              <a:t>, </a:t>
            </a:r>
            <a:r>
              <a:rPr lang="en-US" smtClean="0"/>
              <a:t>Indianapoli:</a:t>
            </a:r>
            <a:r>
              <a:rPr lang="en-US"/>
              <a:t> </a:t>
            </a:r>
            <a:r>
              <a:rPr lang="en-US" smtClean="0"/>
              <a:t>Wiley </a:t>
            </a:r>
            <a:r>
              <a:rPr lang="en-US"/>
              <a:t>Publishers Inc</a:t>
            </a:r>
            <a:r>
              <a:rPr lang="en-US"/>
              <a:t>, </a:t>
            </a:r>
            <a:r>
              <a:rPr lang="en-US" smtClean="0"/>
              <a:t>2005.</a:t>
            </a:r>
            <a:endParaRPr lang="en-US"/>
          </a:p>
          <a:p>
            <a:pPr marL="457200" indent="-457200" algn="just">
              <a:buFont typeface="+mj-lt"/>
              <a:buAutoNum type="arabicPeriod"/>
            </a:pPr>
            <a:endParaRPr lang="en-US"/>
          </a:p>
          <a:p>
            <a:pPr marL="457200" lvl="0" indent="-457200" algn="just">
              <a:buFont typeface="+mj-lt"/>
              <a:buAutoNum type="arabicPeriod"/>
            </a:pPr>
            <a:r>
              <a:rPr lang="en-US"/>
              <a:t>Sander Van Vugt,  Beginning the Linux Command Line, Wrox Press</a:t>
            </a:r>
            <a:r>
              <a:rPr lang="en-US"/>
              <a:t>, </a:t>
            </a:r>
            <a:r>
              <a:rPr lang="en-US" smtClean="0"/>
              <a:t>2005.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305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813718" y="2698675"/>
            <a:ext cx="3981148" cy="553998"/>
          </a:xfrm>
        </p:spPr>
        <p:txBody>
          <a:bodyPr/>
          <a:lstStyle/>
          <a:p>
            <a:pPr algn="r"/>
            <a:r>
              <a:rPr lang="en-IN" dirty="0" smtClean="0"/>
              <a:t>Thank You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Wipro Master Colors">
      <a:dk1>
        <a:sysClr val="windowText" lastClr="000000"/>
      </a:dk1>
      <a:lt1>
        <a:srgbClr val="FFFFFF"/>
      </a:lt1>
      <a:dk2>
        <a:srgbClr val="3C3D48"/>
      </a:dk2>
      <a:lt2>
        <a:srgbClr val="CFD0D7"/>
      </a:lt2>
      <a:accent1>
        <a:srgbClr val="03A2DF"/>
      </a:accent1>
      <a:accent2>
        <a:srgbClr val="81C240"/>
      </a:accent2>
      <a:accent3>
        <a:srgbClr val="A757A0"/>
      </a:accent3>
      <a:accent4>
        <a:srgbClr val="FECD07"/>
      </a:accent4>
      <a:accent5>
        <a:srgbClr val="EE2D30"/>
      </a:accent5>
      <a:accent6>
        <a:srgbClr val="A1A2B1"/>
      </a:accent6>
      <a:hlink>
        <a:srgbClr val="81C240"/>
      </a:hlink>
      <a:folHlink>
        <a:srgbClr val="68CFF4"/>
      </a:folHlink>
    </a:clrScheme>
    <a:fontScheme name="WIPRO PPT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AFC9CB99B7EC47A93DE0664EC40C26" ma:contentTypeVersion="0" ma:contentTypeDescription="Create a new document." ma:contentTypeScope="" ma:versionID="9a8d983cafb9cac16b33f31761ce2874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E948EB6B-9D81-4558-81F1-C66C3F61BCFA}"/>
</file>

<file path=customXml/itemProps2.xml><?xml version="1.0" encoding="utf-8"?>
<ds:datastoreItem xmlns:ds="http://schemas.openxmlformats.org/officeDocument/2006/customXml" ds:itemID="{C0F82A75-96AA-4F77-AE47-1D8F6345B4A6}"/>
</file>

<file path=customXml/itemProps3.xml><?xml version="1.0" encoding="utf-8"?>
<ds:datastoreItem xmlns:ds="http://schemas.openxmlformats.org/officeDocument/2006/customXml" ds:itemID="{81FED0B6-49ED-4C4D-900B-0522ED0D44BF}"/>
</file>

<file path=docProps/app.xml><?xml version="1.0" encoding="utf-8"?>
<Properties xmlns="http://schemas.openxmlformats.org/officeDocument/2006/extended-properties" xmlns:vt="http://schemas.openxmlformats.org/officeDocument/2006/docPropsVTypes">
  <TotalTime>17364</TotalTime>
  <Words>4197</Words>
  <Application>Microsoft Office PowerPoint</Application>
  <PresentationFormat>On-screen Show (4:3)</PresentationFormat>
  <Paragraphs>1271</Paragraphs>
  <Slides>82</Slides>
  <Notes>81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3" baseType="lpstr">
      <vt:lpstr>Office Theme</vt:lpstr>
      <vt:lpstr>UNIX Essentials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kayleigh ryley graphic 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lalitc</cp:lastModifiedBy>
  <cp:revision>453</cp:revision>
  <cp:lastPrinted>2011-09-27T16:59:14Z</cp:lastPrinted>
  <dcterms:created xsi:type="dcterms:W3CDTF">2011-08-27T03:15:17Z</dcterms:created>
  <dcterms:modified xsi:type="dcterms:W3CDTF">2012-06-05T08:10:15Z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891055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ContentTypeId">
    <vt:lpwstr>0x010100BDAFC9CB99B7EC47A93DE0664EC40C26</vt:lpwstr>
  </property>
</Properties>
</file>