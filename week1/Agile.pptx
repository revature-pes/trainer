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gif" ContentType="image/gif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79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0" y="0"/>
            <a:ext cx="9144000" cy="46913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cxnSp>
        <p:nvCxnSpPr>
          <p:cNvPr id="9" name="Shape 9"/>
          <p:cNvCxnSpPr/>
          <p:nvPr/>
        </p:nvCxnSpPr>
        <p:spPr>
          <a:xfrm>
            <a:off x="0" y="4662139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685800" y="2490375"/>
            <a:ext cx="7772400" cy="219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4572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72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685800" y="4836035"/>
            <a:ext cx="7772400" cy="103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190500" algn="l" rt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0" y="0"/>
            <a:ext cx="9144000" cy="1532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cxnSp>
        <p:nvCxnSpPr>
          <p:cNvPr id="14" name="Shape 14"/>
          <p:cNvCxnSpPr/>
          <p:nvPr/>
        </p:nvCxnSpPr>
        <p:spPr>
          <a:xfrm>
            <a:off x="0" y="1503833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defRPr sz="3600"/>
            </a:lvl1pPr>
            <a:lvl2pPr rtl="0">
              <a:defRPr sz="3600"/>
            </a:lvl2pPr>
            <a:lvl3pPr rtl="0">
              <a:defRPr sz="3600"/>
            </a:lvl3pPr>
            <a:lvl4pPr rtl="0">
              <a:defRPr sz="3600"/>
            </a:lvl4pPr>
            <a:lvl5pPr rtl="0">
              <a:defRPr sz="3600"/>
            </a:lvl5pPr>
            <a:lvl6pPr rtl="0">
              <a:defRPr sz="3600"/>
            </a:lvl6pPr>
            <a:lvl7pPr rtl="0">
              <a:defRPr sz="3600"/>
            </a:lvl7pPr>
            <a:lvl8pPr rtl="0">
              <a:defRPr sz="3600"/>
            </a:lvl8pPr>
            <a:lvl9pPr rtl="0">
              <a:defRPr sz="36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1532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cxnSp>
        <p:nvCxnSpPr>
          <p:cNvPr id="19" name="Shape 19"/>
          <p:cNvCxnSpPr/>
          <p:nvPr/>
        </p:nvCxnSpPr>
        <p:spPr>
          <a:xfrm>
            <a:off x="0" y="1503833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1532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cxnSp>
        <p:nvCxnSpPr>
          <p:cNvPr id="25" name="Shape 25"/>
          <p:cNvCxnSpPr/>
          <p:nvPr/>
        </p:nvCxnSpPr>
        <p:spPr>
          <a:xfrm>
            <a:off x="0" y="1503833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6666"/>
              <a:buFont typeface="Arial"/>
              <a:buChar char="•"/>
              <a:defRPr sz="1800" b="0">
                <a:solidFill>
                  <a:schemeClr val="dk2"/>
                </a:solidFill>
              </a:defRPr>
            </a:lvl1pPr>
            <a:lvl2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urier New"/>
              <a:buChar char="o"/>
              <a:defRPr sz="1800" b="0">
                <a:solidFill>
                  <a:schemeClr val="dk2"/>
                </a:solidFill>
              </a:defRPr>
            </a:lvl2pPr>
            <a:lvl3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Wingdings"/>
              <a:buChar char="§"/>
              <a:defRPr sz="1800" b="0">
                <a:solidFill>
                  <a:schemeClr val="dk2"/>
                </a:solidFill>
              </a:defRPr>
            </a:lvl3pPr>
            <a:lvl4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6666"/>
              <a:buFont typeface="Arial"/>
              <a:buChar char="•"/>
              <a:defRPr sz="1800" b="0">
                <a:solidFill>
                  <a:schemeClr val="dk2"/>
                </a:solidFill>
              </a:defRPr>
            </a:lvl4pPr>
            <a:lvl5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urier New"/>
              <a:buChar char="o"/>
              <a:defRPr sz="1800" b="0">
                <a:solidFill>
                  <a:schemeClr val="dk2"/>
                </a:solidFill>
              </a:defRPr>
            </a:lvl5pPr>
            <a:lvl6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Wingdings"/>
              <a:buChar char="§"/>
              <a:defRPr sz="1800" b="0">
                <a:solidFill>
                  <a:schemeClr val="dk2"/>
                </a:solidFill>
              </a:defRPr>
            </a:lvl6pPr>
            <a:lvl7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6666"/>
              <a:buFont typeface="Arial"/>
              <a:buChar char="•"/>
              <a:defRPr sz="1800" b="0">
                <a:solidFill>
                  <a:schemeClr val="dk2"/>
                </a:solidFill>
              </a:defRPr>
            </a:lvl7pPr>
            <a:lvl8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urier New"/>
              <a:buChar char="o"/>
              <a:defRPr sz="1800" b="0">
                <a:solidFill>
                  <a:schemeClr val="dk2"/>
                </a:solidFill>
              </a:defRPr>
            </a:lvl8pPr>
            <a:lvl9pPr marL="28575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Wingdings"/>
              <a:buChar char="§"/>
              <a:defRPr sz="18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4274" y="0"/>
            <a:ext cx="9144000" cy="58752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endParaRPr/>
          </a:p>
        </p:txBody>
      </p:sp>
      <p:cxnSp>
        <p:nvCxnSpPr>
          <p:cNvPr id="30" name="Shape 30"/>
          <p:cNvCxnSpPr/>
          <p:nvPr/>
        </p:nvCxnSpPr>
        <p:spPr>
          <a:xfrm>
            <a:off x="0" y="5845828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228600" algn="l" rt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spcBef>
                <a:spcPts val="600"/>
              </a:spcBef>
              <a:buClr>
                <a:schemeClr val="dk1"/>
              </a:buClr>
              <a:buSzPct val="166666"/>
              <a:buFont typeface="Arial"/>
              <a:buChar char="•"/>
              <a:defRPr sz="3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indent="-285750" algn="l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indent="-228600" algn="l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indent="-228600" algn="l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228600" algn="l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versionone.com/state_of_agile_development_survey/11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gileatlas.org/commentaries/scrum-in-a-nutshel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gileatlas.org/commentaries/scrum-in-a-nutshel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ped.dpi.wi.gov/sped_spp-transiti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s4.dpi.wi.gov/SchoolDirectory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rum.org/Portals/0/Documents/Scrum%20Guides/Scrum_Guide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ountaingoatsoftware.com/blog/" TargetMode="External"/><Relationship Id="rId5" Type="http://schemas.openxmlformats.org/officeDocument/2006/relationships/hyperlink" Target="http://scrum.jeffsutherland.com" TargetMode="External"/><Relationship Id="rId4" Type="http://schemas.openxmlformats.org/officeDocument/2006/relationships/hyperlink" Target="http://www.scrumalliance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ctrTitle"/>
          </p:nvPr>
        </p:nvSpPr>
        <p:spPr>
          <a:xfrm>
            <a:off x="512899" y="1232050"/>
            <a:ext cx="7772400" cy="30819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buNone/>
            </a:pPr>
            <a:r>
              <a:rPr lang="en"/>
              <a:t>Agile Development</a:t>
            </a:r>
          </a:p>
          <a:p>
            <a:pPr algn="ctr">
              <a:buNone/>
            </a:pPr>
            <a:r>
              <a:rPr lang="en"/>
              <a:t>Using Scrum</a:t>
            </a:r>
          </a:p>
        </p:txBody>
      </p:sp>
      <p:sp>
        <p:nvSpPr>
          <p:cNvPr id="34" name="Shape 34"/>
          <p:cNvSpPr txBox="1">
            <a:spLocks noGrp="1"/>
          </p:cNvSpPr>
          <p:nvPr>
            <p:ph type="subTitle" idx="1"/>
          </p:nvPr>
        </p:nvSpPr>
        <p:spPr>
          <a:xfrm>
            <a:off x="117900" y="4724400"/>
            <a:ext cx="8908199" cy="198675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l" rtl="0">
              <a:buNone/>
            </a:pPr>
            <a:r>
              <a:rPr lang="en" sz="3000" b="1" dirty="0"/>
              <a:t>Dan Retzlaff</a:t>
            </a:r>
          </a:p>
          <a:p>
            <a:pPr marL="0" lvl="0" indent="0" algn="l" rtl="0">
              <a:lnSpc>
                <a:spcPct val="100000"/>
              </a:lnSpc>
              <a:buNone/>
            </a:pPr>
            <a:r>
              <a:rPr lang="en" sz="2400" dirty="0"/>
              <a:t>Management Information Chief - Applications Development</a:t>
            </a:r>
          </a:p>
          <a:p>
            <a:pPr marL="0" lvl="0" indent="0" algn="l" rtl="0">
              <a:lnSpc>
                <a:spcPct val="100000"/>
              </a:lnSpc>
              <a:buNone/>
            </a:pPr>
            <a:r>
              <a:rPr lang="en" sz="2400" dirty="0"/>
              <a:t>Wisconsin Department of Public </a:t>
            </a:r>
            <a:r>
              <a:rPr lang="en" sz="2400" dirty="0" smtClean="0"/>
              <a:t>Instruction</a:t>
            </a:r>
          </a:p>
          <a:p>
            <a:pPr marL="0" lvl="0" indent="0" algn="l" rtl="0">
              <a:lnSpc>
                <a:spcPct val="100000"/>
              </a:lnSpc>
              <a:buNone/>
            </a:pPr>
            <a:endParaRPr lang="en" sz="2400" dirty="0" smtClean="0"/>
          </a:p>
          <a:p>
            <a:pPr marL="0" lvl="0" indent="0" algn="l" rtl="0">
              <a:lnSpc>
                <a:spcPct val="100000"/>
              </a:lnSpc>
              <a:buNone/>
            </a:pPr>
            <a:r>
              <a:rPr lang="en" sz="1400" dirty="0" smtClean="0"/>
              <a:t>26</a:t>
            </a:r>
            <a:r>
              <a:rPr lang="en" sz="1400" baseline="30000" dirty="0" smtClean="0"/>
              <a:t>th</a:t>
            </a:r>
            <a:r>
              <a:rPr lang="en" sz="1400" dirty="0" smtClean="0"/>
              <a:t> Annual Management Information Systems [MIS] Conference</a:t>
            </a:r>
          </a:p>
          <a:p>
            <a:pPr marL="0" lvl="0" indent="0" algn="l" rtl="0">
              <a:lnSpc>
                <a:spcPct val="100000"/>
              </a:lnSpc>
              <a:buNone/>
            </a:pPr>
            <a:r>
              <a:rPr lang="en" sz="1400" dirty="0" smtClean="0"/>
              <a:t>Thursday, February 14, 2013</a:t>
            </a:r>
          </a:p>
          <a:p>
            <a:pPr marL="0" lvl="0" indent="0" algn="l" rtl="0">
              <a:lnSpc>
                <a:spcPct val="100000"/>
              </a:lnSpc>
              <a:buNone/>
            </a:pPr>
            <a:endParaRPr lang="en" sz="2400" dirty="0"/>
          </a:p>
          <a:p>
            <a:endParaRPr dirty="0"/>
          </a:p>
        </p:txBody>
      </p:sp>
      <p:sp>
        <p:nvSpPr>
          <p:cNvPr id="35" name="Shape 35"/>
          <p:cNvSpPr/>
          <p:nvPr/>
        </p:nvSpPr>
        <p:spPr>
          <a:xfrm>
            <a:off x="0" y="0"/>
            <a:ext cx="9144000" cy="9715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Objectives</a:t>
            </a:r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Review the Software Development Lifecycle and the problems it creates</a:t>
            </a:r>
          </a:p>
          <a:p>
            <a:endParaRPr/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Understand where Agile Methodology came from</a:t>
            </a:r>
          </a:p>
          <a:p>
            <a:endParaRPr/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Review the Agile Scrum Process and Roles</a:t>
            </a:r>
          </a:p>
          <a:p>
            <a:endParaRPr/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How Scrum has made an impact at the Wisconsin Department of Public Instruction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2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buNone/>
            </a:pPr>
            <a:r>
              <a:rPr lang="en"/>
              <a:t>Traditional project management used for software development = Waterfall Method</a:t>
            </a:r>
          </a:p>
          <a:p>
            <a:endParaRPr/>
          </a:p>
          <a:p>
            <a:pPr lvl="0" rtl="0">
              <a:buNone/>
            </a:pPr>
            <a:r>
              <a:rPr lang="en"/>
              <a:t>Requirements</a:t>
            </a:r>
          </a:p>
          <a:p>
            <a:pPr lvl="0" rtl="0">
              <a:buNone/>
            </a:pPr>
            <a:r>
              <a:rPr lang="en"/>
              <a:t>Design</a:t>
            </a:r>
          </a:p>
          <a:p>
            <a:pPr lvl="0" rtl="0">
              <a:buNone/>
            </a:pPr>
            <a:r>
              <a:rPr lang="en"/>
              <a:t>Implementation</a:t>
            </a:r>
          </a:p>
          <a:p>
            <a:pPr lvl="0" rtl="0">
              <a:buNone/>
            </a:pPr>
            <a:r>
              <a:rPr lang="en"/>
              <a:t>Verification</a:t>
            </a:r>
          </a:p>
          <a:p>
            <a:pPr lvl="0" rtl="0">
              <a:buNone/>
            </a:pPr>
            <a:r>
              <a:rPr lang="en"/>
              <a:t>Maintenance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Traditional Thinking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3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Problems with Waterfall Method</a:t>
            </a:r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Difficult to accommodate change once a process is underway</a:t>
            </a:r>
          </a:p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Phases must be completed in a sequential order</a:t>
            </a:r>
          </a:p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Difficult to respond to changing customer requirements</a:t>
            </a:r>
          </a:p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Few business systems have stable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4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1034150" y="-9525"/>
            <a:ext cx="6585850" cy="663892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5</a:t>
            </a:fld>
            <a:endParaRPr lang="en-US" dirty="0"/>
          </a:p>
        </p:txBody>
      </p:sp>
      <p:sp>
        <p:nvSpPr>
          <p:cNvPr id="4" name="Shape 111"/>
          <p:cNvSpPr txBox="1"/>
          <p:nvPr/>
        </p:nvSpPr>
        <p:spPr>
          <a:xfrm>
            <a:off x="115232" y="6618056"/>
            <a:ext cx="8571568" cy="2399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lvl="0" algn="r"/>
            <a:r>
              <a:rPr lang="en-US" sz="900" dirty="0" smtClean="0"/>
              <a:t>Photos are stock photos. Release for web use of all photos on </a:t>
            </a:r>
            <a:r>
              <a:rPr lang="en-US" sz="900" dirty="0" smtClean="0"/>
              <a:t>file.</a:t>
            </a:r>
            <a:endParaRPr lang="en" sz="900" dirty="0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Agile Thinking</a:t>
            </a:r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A group of software development methodologies based on iterative incremental development</a:t>
            </a:r>
          </a:p>
          <a:p>
            <a:endParaRPr/>
          </a:p>
          <a:p>
            <a:pPr marL="457200" lvl="0" indent="-4191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Simply, a different way to manage IT projects, teams, or any work involving a complex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6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Agile Manifesto</a:t>
            </a:r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300" b="1">
                <a:solidFill>
                  <a:srgbClr val="000000"/>
                </a:solidFill>
              </a:rPr>
              <a:t>
</a:t>
            </a:r>
            <a:r>
              <a:rPr lang="en" sz="2300" b="1" u="sng">
                <a:solidFill>
                  <a:srgbClr val="000000"/>
                </a:solidFill>
              </a:rPr>
              <a:t>Individuals and interactions</a:t>
            </a:r>
            <a:r>
              <a:rPr lang="en" sz="2300" b="1">
                <a:solidFill>
                  <a:srgbClr val="000000"/>
                </a:solidFill>
              </a:rPr>
              <a:t> </a:t>
            </a:r>
            <a:r>
              <a:rPr lang="en" sz="2300">
                <a:solidFill>
                  <a:srgbClr val="000000"/>
                </a:solidFill>
              </a:rPr>
              <a:t>over process and tools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300" b="1" u="sng">
                <a:solidFill>
                  <a:srgbClr val="000000"/>
                </a:solidFill>
              </a:rPr>
              <a:t>Working Software</a:t>
            </a:r>
            <a:r>
              <a:rPr lang="en" sz="2300" b="1">
                <a:solidFill>
                  <a:srgbClr val="000000"/>
                </a:solidFill>
              </a:rPr>
              <a:t> </a:t>
            </a:r>
            <a:r>
              <a:rPr lang="en" sz="2300">
                <a:solidFill>
                  <a:srgbClr val="000000"/>
                </a:solidFill>
              </a:rPr>
              <a:t>over comprehensive documentation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300" b="1" u="sng">
                <a:solidFill>
                  <a:srgbClr val="000000"/>
                </a:solidFill>
              </a:rPr>
              <a:t>Customer collaboration</a:t>
            </a:r>
            <a:r>
              <a:rPr lang="en" sz="2300" b="1">
                <a:solidFill>
                  <a:srgbClr val="000000"/>
                </a:solidFill>
              </a:rPr>
              <a:t> </a:t>
            </a:r>
            <a:r>
              <a:rPr lang="en" sz="2300">
                <a:solidFill>
                  <a:srgbClr val="000000"/>
                </a:solidFill>
              </a:rPr>
              <a:t>over contract negotiation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300" b="1" u="sng">
                <a:solidFill>
                  <a:srgbClr val="000000"/>
                </a:solidFill>
              </a:rPr>
              <a:t>Responding to change</a:t>
            </a:r>
            <a:r>
              <a:rPr lang="en" sz="2300" b="1">
                <a:solidFill>
                  <a:srgbClr val="000000"/>
                </a:solidFill>
              </a:rPr>
              <a:t> </a:t>
            </a:r>
            <a:r>
              <a:rPr lang="en" sz="2300">
                <a:solidFill>
                  <a:srgbClr val="000000"/>
                </a:solidFill>
              </a:rPr>
              <a:t>over following a plan</a:t>
            </a:r>
          </a:p>
          <a:p>
            <a:endParaRPr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300">
                <a:solidFill>
                  <a:srgbClr val="000000"/>
                </a:solidFill>
              </a:rPr>
              <a:t>That is, while there is value in the items on the right, we value the items on the left more.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7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Scrum</a:t>
            </a:r>
          </a:p>
        </p:txBody>
      </p:sp>
      <p:sp>
        <p:nvSpPr>
          <p:cNvPr id="76" name="Shape 76"/>
          <p:cNvSpPr/>
          <p:nvPr/>
        </p:nvSpPr>
        <p:spPr>
          <a:xfrm>
            <a:off x="1044094" y="1599017"/>
            <a:ext cx="6902111" cy="453281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77" name="Shape 77"/>
          <p:cNvSpPr txBox="1"/>
          <p:nvPr/>
        </p:nvSpPr>
        <p:spPr>
          <a:xfrm>
            <a:off x="124882" y="6416175"/>
            <a:ext cx="8644200" cy="364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buNone/>
            </a:pPr>
            <a:r>
              <a:rPr lang="en" sz="900"/>
              <a:t>Graph provided by VersionOne.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http://www.versionone.com/state_of_agile_development_survey/11/</a:t>
            </a:r>
          </a:p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8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Key Scrum Beliefs</a:t>
            </a:r>
          </a:p>
        </p:txBody>
      </p:sp>
      <p:sp>
        <p:nvSpPr>
          <p:cNvPr id="83" name="Shape 83"/>
          <p:cNvSpPr txBox="1"/>
          <p:nvPr/>
        </p:nvSpPr>
        <p:spPr>
          <a:xfrm>
            <a:off x="201673" y="2919944"/>
            <a:ext cx="8644500" cy="38231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1800" dirty="0"/>
              <a:t>Scrum requires a mental shift in the way people think</a:t>
            </a:r>
          </a:p>
          <a:p>
            <a:endParaRPr dirty="0"/>
          </a:p>
          <a:p>
            <a:pPr marL="914400" lvl="1" indent="-342900" rtl="0"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" dirty="0"/>
              <a:t>A preference of People over Practices: understanding that solving complex problems requires brainpower, not recipes;</a:t>
            </a:r>
          </a:p>
          <a:p>
            <a:endParaRPr dirty="0"/>
          </a:p>
          <a:p>
            <a:pPr marL="914400" lvl="1" indent="-342900" rtl="0"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" dirty="0"/>
              <a:t>An understanding that the best Products are developed by having a Focus on User's Needs rather than relying on a requirements document;</a:t>
            </a:r>
          </a:p>
          <a:p>
            <a:endParaRPr dirty="0"/>
          </a:p>
          <a:p>
            <a:pPr marL="914400" lvl="1" indent="-342900" rtl="0"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" dirty="0"/>
              <a:t>The acceptance that Reality Trumps Expectations, so when reality and expectations don't match, it is the expectations that must change;</a:t>
            </a:r>
          </a:p>
          <a:p>
            <a:endParaRPr dirty="0"/>
          </a:p>
          <a:p>
            <a:pPr marL="914400" lvl="1" indent="-342900" rtl="0"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" dirty="0"/>
              <a:t>The preference for Self-Organizing Teams over either lone-wolf-ism or tightly controlled management; and</a:t>
            </a:r>
          </a:p>
          <a:p>
            <a:endParaRPr dirty="0"/>
          </a:p>
          <a:p>
            <a:pPr marL="914400" lvl="1" indent="-342900" rtl="0"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" dirty="0"/>
              <a:t>The realization that each of us is part of a Team developing Product and that we are not simply People doing </a:t>
            </a:r>
            <a:r>
              <a:rPr lang="en" dirty="0" smtClean="0"/>
              <a:t>Work.</a:t>
            </a:r>
            <a:endParaRPr lang="en" dirty="0"/>
          </a:p>
        </p:txBody>
      </p:sp>
      <p:sp>
        <p:nvSpPr>
          <p:cNvPr id="84" name="Shape 84"/>
          <p:cNvSpPr txBox="1"/>
          <p:nvPr/>
        </p:nvSpPr>
        <p:spPr>
          <a:xfrm>
            <a:off x="2823950" y="2062825"/>
            <a:ext cx="278700" cy="1154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lvl="0" rtl="0">
              <a:buNone/>
            </a:pPr>
            <a:r>
              <a:rPr lang="en"/>
              <a:t>+</a:t>
            </a:r>
          </a:p>
        </p:txBody>
      </p:sp>
      <p:sp>
        <p:nvSpPr>
          <p:cNvPr id="85" name="Shape 85"/>
          <p:cNvSpPr/>
          <p:nvPr/>
        </p:nvSpPr>
        <p:spPr>
          <a:xfrm>
            <a:off x="2372450" y="1563600"/>
            <a:ext cx="1181700" cy="557099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"/>
              <a:t>People</a:t>
            </a:r>
          </a:p>
        </p:txBody>
      </p:sp>
      <p:sp>
        <p:nvSpPr>
          <p:cNvPr id="86" name="Shape 86"/>
          <p:cNvSpPr/>
          <p:nvPr/>
        </p:nvSpPr>
        <p:spPr>
          <a:xfrm>
            <a:off x="2420600" y="2382050"/>
            <a:ext cx="1085399" cy="557099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"/>
              <a:t>Practices</a:t>
            </a:r>
          </a:p>
        </p:txBody>
      </p:sp>
      <p:sp>
        <p:nvSpPr>
          <p:cNvPr id="87" name="Shape 87"/>
          <p:cNvSpPr/>
          <p:nvPr/>
        </p:nvSpPr>
        <p:spPr>
          <a:xfrm>
            <a:off x="4221350" y="1976500"/>
            <a:ext cx="1623300" cy="557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"/>
              <a:t>Product</a:t>
            </a:r>
          </a:p>
        </p:txBody>
      </p:sp>
      <p:sp>
        <p:nvSpPr>
          <p:cNvPr id="88" name="Shape 88"/>
          <p:cNvSpPr txBox="1"/>
          <p:nvPr/>
        </p:nvSpPr>
        <p:spPr>
          <a:xfrm>
            <a:off x="3717150" y="2062825"/>
            <a:ext cx="509099" cy="2496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lvl="0" rtl="0">
              <a:buNone/>
            </a:pPr>
            <a:r>
              <a:rPr lang="en"/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9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The Scrum Team</a:t>
            </a:r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120900" y="1552163"/>
            <a:ext cx="8902200" cy="68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Scrum Team is a small (ideally 5-9) group of people that provides useful Products and Results for Stakeholders.</a:t>
            </a:r>
          </a:p>
        </p:txBody>
      </p:sp>
      <p:sp>
        <p:nvSpPr>
          <p:cNvPr id="95" name="Shape 95"/>
          <p:cNvSpPr/>
          <p:nvPr/>
        </p:nvSpPr>
        <p:spPr>
          <a:xfrm>
            <a:off x="5645407" y="2015100"/>
            <a:ext cx="3339267" cy="380471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96" name="Shape 96"/>
          <p:cNvSpPr txBox="1"/>
          <p:nvPr/>
        </p:nvSpPr>
        <p:spPr>
          <a:xfrm>
            <a:off x="-48015" y="2466688"/>
            <a:ext cx="5954699" cy="39765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marL="457200" lvl="0" indent="-3048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1200" b="1" dirty="0"/>
              <a:t>Stakeholders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The most important role involved in Scrum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The reason a Team is developing a Product</a:t>
            </a:r>
          </a:p>
          <a:p>
            <a:endParaRPr dirty="0"/>
          </a:p>
          <a:p>
            <a:pPr marL="457200" lvl="0" indent="-3048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1200" b="1" dirty="0"/>
              <a:t>Business Owner (BO)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A special stakeholder, often the Team's sponsor or champion and controls the budget for the Team</a:t>
            </a:r>
          </a:p>
          <a:p>
            <a:endParaRPr dirty="0"/>
          </a:p>
          <a:p>
            <a:pPr marL="457200" lvl="0" indent="-3048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1200" b="1" dirty="0"/>
              <a:t>Product Owner (PO)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Most important person on the Scrum Team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Works with Stakeholders to represent their interests to the Team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Held accountable for the value of the Team's results</a:t>
            </a:r>
          </a:p>
          <a:p>
            <a:endParaRPr dirty="0"/>
          </a:p>
          <a:p>
            <a:pPr marL="457200" lvl="0" indent="-3048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1200" b="1" dirty="0"/>
              <a:t>Scrum Team Members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Do the work (analysis, design, code, test, document, data quality checks, or whatever work is required for </a:t>
            </a:r>
            <a:r>
              <a:rPr lang="en" sz="1200" dirty="0" smtClean="0"/>
              <a:t>a </a:t>
            </a:r>
            <a:r>
              <a:rPr lang="en" sz="1200" dirty="0"/>
              <a:t>desired outcome)</a:t>
            </a:r>
          </a:p>
          <a:p>
            <a:endParaRPr dirty="0"/>
          </a:p>
          <a:p>
            <a:pPr marL="457200" lvl="0" indent="-3048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1200" b="1" dirty="0"/>
              <a:t>Scrum Master (SM)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Facilitator, moderator, and coach</a:t>
            </a:r>
          </a:p>
          <a:p>
            <a:pPr marL="914400" lvl="1" indent="-3048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Manages relationship between the PO and the Scrum Team</a:t>
            </a:r>
          </a:p>
          <a:p>
            <a:pPr marL="914400" lvl="1" indent="-30480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1200" dirty="0"/>
              <a:t>Focuses on team improvement</a:t>
            </a:r>
          </a:p>
        </p:txBody>
      </p:sp>
      <p:sp>
        <p:nvSpPr>
          <p:cNvPr id="97" name="Shape 97"/>
          <p:cNvSpPr txBox="1"/>
          <p:nvPr/>
        </p:nvSpPr>
        <p:spPr>
          <a:xfrm>
            <a:off x="547475" y="6443188"/>
            <a:ext cx="8375699" cy="3455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algn="r">
              <a:buNone/>
            </a:pPr>
            <a:r>
              <a:rPr lang="en" sz="900"/>
              <a:t>Graphic referenced from Agile Atlas: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http://agileatlas.org/commentaries/scrum-in-a-nutshell</a:t>
            </a:r>
            <a:r>
              <a:rPr lang="en" sz="90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10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The Product Backlog</a:t>
            </a:r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/>
              <a:t>A Scrum Team's work is managed with a Product Backlog</a:t>
            </a:r>
          </a:p>
          <a:p>
            <a:pPr marL="914400" lvl="1" indent="-381000" rtl="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dirty="0"/>
              <a:t>A collection of Product Backlog </a:t>
            </a:r>
            <a:r>
              <a:rPr lang="en" dirty="0" smtClean="0"/>
              <a:t>Items</a:t>
            </a:r>
            <a:endParaRPr lang="en" dirty="0"/>
          </a:p>
          <a:p>
            <a:pPr marL="914400" lvl="1" indent="-381000" rtl="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dirty="0"/>
              <a:t>Items (User Stories) represent the stakeholders' needs and wants that add value to a product</a:t>
            </a:r>
          </a:p>
          <a:p>
            <a:endParaRPr dirty="0"/>
          </a:p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/>
              <a:t>Team does not do anything for any Stakeholder unless it's in the backlog</a:t>
            </a:r>
          </a:p>
          <a:p>
            <a:endParaRPr dirty="0"/>
          </a:p>
          <a:p>
            <a:pPr marL="457200" lvl="0" indent="-3810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/>
              <a:t>The Product Owner is responsible for prioritizing the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11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Release Planning</a:t>
            </a:r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111407" y="1523358"/>
            <a:ext cx="8959799" cy="24509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175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400" dirty="0"/>
              <a:t>Visioning phase</a:t>
            </a:r>
          </a:p>
          <a:p>
            <a:pPr marL="914400" lvl="1" indent="-3175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400" dirty="0"/>
              <a:t>PO and Stakeholders produce a Product Vision and Product </a:t>
            </a:r>
            <a:r>
              <a:rPr lang="en" sz="1400" dirty="0" smtClean="0"/>
              <a:t>Roadmap</a:t>
            </a:r>
            <a:endParaRPr lang="en" sz="1400" dirty="0"/>
          </a:p>
          <a:p>
            <a:pPr marL="914400" lvl="1" indent="-3175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400" dirty="0"/>
              <a:t>Overall focus is on the Product</a:t>
            </a:r>
          </a:p>
          <a:p>
            <a:pPr marL="914400" lvl="1" indent="-3175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400" dirty="0"/>
              <a:t>Not a part of Scrum Itself</a:t>
            </a:r>
          </a:p>
          <a:p>
            <a:pPr marL="457200" lvl="0" indent="-3175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400" dirty="0" smtClean="0"/>
              <a:t>Stakeholders </a:t>
            </a:r>
            <a:r>
              <a:rPr lang="en" sz="1400" dirty="0"/>
              <a:t>and Scrum Team negotiate what should be accomplished in a Release</a:t>
            </a:r>
          </a:p>
          <a:p>
            <a:pPr marL="457200" lvl="0" indent="-3175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400" dirty="0" smtClean="0"/>
              <a:t>Once </a:t>
            </a:r>
            <a:r>
              <a:rPr lang="en" sz="1400" dirty="0"/>
              <a:t>the Team has a Backlog that supports Release Goals, the Team starts </a:t>
            </a:r>
            <a:r>
              <a:rPr lang="en" sz="1400" dirty="0" smtClean="0"/>
              <a:t>Sprinting</a:t>
            </a:r>
            <a:endParaRPr lang="en" sz="1400" dirty="0"/>
          </a:p>
        </p:txBody>
      </p:sp>
      <p:sp>
        <p:nvSpPr>
          <p:cNvPr id="110" name="Shape 110"/>
          <p:cNvSpPr/>
          <p:nvPr/>
        </p:nvSpPr>
        <p:spPr>
          <a:xfrm>
            <a:off x="1295400" y="3581400"/>
            <a:ext cx="6522559" cy="284423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11" name="Shape 111"/>
          <p:cNvSpPr txBox="1"/>
          <p:nvPr/>
        </p:nvSpPr>
        <p:spPr>
          <a:xfrm>
            <a:off x="115232" y="6618056"/>
            <a:ext cx="9009600" cy="2399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lvl="0" algn="r" rtl="0">
              <a:buNone/>
            </a:pPr>
            <a:r>
              <a:rPr lang="en" sz="900" dirty="0"/>
              <a:t>Graphic referenced from Agile Atlas: </a:t>
            </a:r>
            <a:r>
              <a:rPr lang="en" sz="900" u="sng" dirty="0">
                <a:solidFill>
                  <a:schemeClr val="hlink"/>
                </a:solidFill>
                <a:hlinkClick r:id="rId4"/>
              </a:rPr>
              <a:t>http://agileatlas.org/commentaries/scrum-in-a-nutshell</a:t>
            </a:r>
            <a:r>
              <a:rPr lang="en" sz="9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0" y="640080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12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The Sprint</a:t>
            </a:r>
          </a:p>
        </p:txBody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217082" y="1600200"/>
            <a:ext cx="8757599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Fundamental process flow of Scrum</a:t>
            </a:r>
          </a:p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A short, fixed-length period of time</a:t>
            </a:r>
          </a:p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Goal is to produce Backlog Items into renewable products that Stakeholders can provide feedback on</a:t>
            </a:r>
          </a:p>
          <a:p>
            <a:pPr marL="457200" lvl="0" indent="-381000" rtl="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Sprint Planning allows the PO to work with the Team to negotiate what Backlog Items the Team will work on in order to meet Release Goals</a:t>
            </a:r>
          </a:p>
          <a:p>
            <a:pPr marL="457200" lvl="0" indent="-381000">
              <a:lnSpc>
                <a:spcPct val="150000"/>
              </a:lnSpc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/>
              <a:t>Scrum Master ensures Team agrees to realistic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13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The Sprint</a:t>
            </a:r>
          </a:p>
        </p:txBody>
      </p:sp>
      <p:sp>
        <p:nvSpPr>
          <p:cNvPr id="123" name="Shape 123"/>
          <p:cNvSpPr/>
          <p:nvPr/>
        </p:nvSpPr>
        <p:spPr>
          <a:xfrm>
            <a:off x="264105" y="1977780"/>
            <a:ext cx="4778543" cy="367088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24" name="Shape 124"/>
          <p:cNvSpPr txBox="1"/>
          <p:nvPr/>
        </p:nvSpPr>
        <p:spPr>
          <a:xfrm>
            <a:off x="5042650" y="2132325"/>
            <a:ext cx="3803699" cy="38709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2400"/>
              <a:t>Sprint Planning</a:t>
            </a:r>
          </a:p>
          <a:p>
            <a:endParaRPr/>
          </a:p>
          <a:p>
            <a:pPr marL="457200" lvl="0" indent="-3810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2400"/>
              <a:t>Daily Scrum</a:t>
            </a:r>
          </a:p>
          <a:p>
            <a:pPr marL="914400" lvl="1" indent="-381000" rtl="0"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" sz="2400"/>
              <a:t>Daily Standups</a:t>
            </a:r>
          </a:p>
          <a:p>
            <a:endParaRPr/>
          </a:p>
          <a:p>
            <a:pPr marL="457200" lvl="0" indent="-3810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2400"/>
              <a:t>Sprint Review </a:t>
            </a:r>
          </a:p>
          <a:p>
            <a:endParaRPr/>
          </a:p>
          <a:p>
            <a:pPr marL="457200" lvl="0" indent="-381000" rtl="0"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" sz="2400"/>
              <a:t>Sprint Retrospective</a:t>
            </a:r>
          </a:p>
          <a:p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57625" y="6512225"/>
            <a:ext cx="6906299" cy="2787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sz="900" dirty="0"/>
              <a:t>Diagram of Scrum sprint, taken from Scrum in five minutes from Southhouse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14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None/>
            </a:pPr>
            <a:r>
              <a:rPr lang="en" dirty="0"/>
              <a:t>Using Scrum at</a:t>
            </a:r>
          </a:p>
          <a:p>
            <a:pPr marL="236538" indent="-7938">
              <a:buNone/>
            </a:pPr>
            <a:r>
              <a:rPr lang="en" sz="3000" dirty="0"/>
              <a:t>Wisconsin Department of Public Instruction</a:t>
            </a:r>
          </a:p>
        </p:txBody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3622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Started small by building a Product Backlog for one business area (Special Education).  Provided some overall training and started sprinting from there. Team is currently on Sprint </a:t>
            </a:r>
            <a:r>
              <a:rPr lang="en" sz="1800" dirty="0" smtClean="0"/>
              <a:t>39.</a:t>
            </a:r>
            <a:endParaRPr lang="en" sz="1800" dirty="0"/>
          </a:p>
          <a:p>
            <a:endParaRPr dirty="0"/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The following Scrum teams have now been established: </a:t>
            </a:r>
          </a:p>
          <a:p>
            <a:endParaRPr dirty="0"/>
          </a:p>
          <a:p>
            <a:pPr marL="914400" lvl="1" indent="-3429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/>
              <a:t>Special Education</a:t>
            </a:r>
          </a:p>
          <a:p>
            <a:pPr marL="914400" lvl="1" indent="-3429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/>
              <a:t>Title I</a:t>
            </a:r>
          </a:p>
          <a:p>
            <a:pPr marL="914400" lvl="1" indent="-3429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/>
              <a:t>General Data Collections </a:t>
            </a:r>
          </a:p>
          <a:p>
            <a:pPr marL="914400" lvl="1" indent="-3429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/>
              <a:t>Teacher Licensing</a:t>
            </a:r>
          </a:p>
          <a:p>
            <a:pPr marL="914400" lvl="1" indent="-342900" rtl="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/>
              <a:t>Business Office</a:t>
            </a:r>
          </a:p>
          <a:p>
            <a:pPr marL="914400" lvl="1" indent="-342900"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/>
              <a:t>Business Intelligence</a:t>
            </a:r>
          </a:p>
        </p:txBody>
      </p:sp>
      <p:sp>
        <p:nvSpPr>
          <p:cNvPr id="132" name="Shape 132"/>
          <p:cNvSpPr/>
          <p:nvPr/>
        </p:nvSpPr>
        <p:spPr>
          <a:xfrm>
            <a:off x="6756750" y="5343701"/>
            <a:ext cx="2166472" cy="13392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5" name="TextBox 4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15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None/>
            </a:pPr>
            <a:r>
              <a:rPr lang="en" dirty="0"/>
              <a:t>Using Scrum at</a:t>
            </a:r>
          </a:p>
          <a:p>
            <a:pPr marL="236538" indent="-7938">
              <a:buNone/>
            </a:pPr>
            <a:r>
              <a:rPr lang="en" sz="3000" dirty="0"/>
              <a:t>Wisconsin Department of Public Instruction</a:t>
            </a:r>
          </a:p>
        </p:txBody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82607" y="1600200"/>
            <a:ext cx="88443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Increased Productivity</a:t>
            </a:r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Keeps Teams Focused on Delivering Value</a:t>
            </a:r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Helps manage multiple projects with limited resources</a:t>
            </a:r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Improved Communications through Transparency</a:t>
            </a:r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Not as many individuals working in silos</a:t>
            </a:r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 dirty="0"/>
              <a:t>Team members no longer have to worry about over commitments made by management and unrealistic deadlines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lang="en" sz="2500" dirty="0">
              <a:solidFill>
                <a:srgbClr val="0BD0D9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800" dirty="0">
                <a:solidFill>
                  <a:srgbClr val="000000"/>
                </a:solidFill>
              </a:rPr>
              <a:t>"As a manager, Agile has been very helpful in keeping me informed on a daily basis of a project’s status.  It is a great communication tool that stores all information and communication regarding a project in a common location.  It cuts down on </a:t>
            </a:r>
            <a:r>
              <a:rPr lang="en" sz="1800" dirty="0" smtClean="0">
                <a:solidFill>
                  <a:srgbClr val="000000"/>
                </a:solidFill>
              </a:rPr>
              <a:t>‘face-time,’ </a:t>
            </a:r>
            <a:r>
              <a:rPr lang="en" sz="1800" dirty="0">
                <a:solidFill>
                  <a:srgbClr val="000000"/>
                </a:solidFill>
              </a:rPr>
              <a:t>maximizes production, and helps to ensure we meet our deadlines</a:t>
            </a:r>
            <a:r>
              <a:rPr lang="en" sz="1800" dirty="0" smtClean="0">
                <a:solidFill>
                  <a:srgbClr val="000000"/>
                </a:solidFill>
              </a:rPr>
              <a:t>.“</a:t>
            </a:r>
            <a:endParaRPr lang="en" sz="1800" dirty="0">
              <a:solidFill>
                <a:srgbClr val="000000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 smtClean="0">
                <a:solidFill>
                  <a:srgbClr val="000000"/>
                </a:solidFill>
              </a:rPr>
              <a:t>Anita </a:t>
            </a:r>
            <a:r>
              <a:rPr lang="en" sz="2400" dirty="0">
                <a:solidFill>
                  <a:srgbClr val="000000"/>
                </a:solidFill>
              </a:rPr>
              <a:t>Castro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2400" dirty="0">
                <a:solidFill>
                  <a:srgbClr val="000000"/>
                </a:solidFill>
              </a:rPr>
              <a:t>Assistant Director, Special Education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16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Clr>
                <a:srgbClr val="000000"/>
              </a:buClr>
              <a:buSzPct val="30555"/>
              <a:buFont typeface="Arial"/>
              <a:buNone/>
            </a:pPr>
            <a:r>
              <a:rPr lang="en" dirty="0"/>
              <a:t>Scrum Storyboards at</a:t>
            </a:r>
          </a:p>
          <a:p>
            <a:pPr marL="236538" lvl="0" indent="-7938">
              <a:buClr>
                <a:srgbClr val="000000"/>
              </a:buClr>
              <a:buSzPct val="36666"/>
              <a:buFont typeface="Arial"/>
              <a:buNone/>
            </a:pPr>
            <a:r>
              <a:rPr lang="en" sz="3000" dirty="0"/>
              <a:t>Wisconsin Department of Public Instruction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121050" y="1782700"/>
            <a:ext cx="8901899" cy="549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buNone/>
            </a:pPr>
            <a:r>
              <a:rPr lang="en" sz="1800"/>
              <a:t>Scrum Team Dashboards with Microsoft Team Foundation Server (TFS) 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145" name="Shape 145"/>
          <p:cNvSpPr/>
          <p:nvPr/>
        </p:nvSpPr>
        <p:spPr>
          <a:xfrm>
            <a:off x="14748" y="2375612"/>
            <a:ext cx="9086850" cy="41814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5" name="TextBox 4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17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Clr>
                <a:srgbClr val="000000"/>
              </a:buClr>
              <a:buSzPct val="30555"/>
              <a:buFont typeface="Arial"/>
              <a:buNone/>
            </a:pPr>
            <a:r>
              <a:rPr lang="en" dirty="0"/>
              <a:t>Scrum Buildup Charts at</a:t>
            </a:r>
          </a:p>
          <a:p>
            <a:pPr marL="236538" lvl="0" indent="-7938">
              <a:buClr>
                <a:srgbClr val="000000"/>
              </a:buClr>
              <a:buSzPct val="36666"/>
              <a:buFont typeface="Arial"/>
              <a:buNone/>
            </a:pPr>
            <a:r>
              <a:rPr lang="en" sz="3000" dirty="0"/>
              <a:t>Wisconsin Department of Public Instruction</a:t>
            </a:r>
          </a:p>
        </p:txBody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92100" y="1552195"/>
            <a:ext cx="8959799" cy="895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sz="2400" dirty="0"/>
              <a:t>Buildup charts are updated daily so that all Scrum Team members and Stakeholders are aware of the sprint's </a:t>
            </a:r>
            <a:r>
              <a:rPr lang="en" sz="2400" dirty="0" smtClean="0"/>
              <a:t>progress.</a:t>
            </a:r>
            <a:endParaRPr lang="en" sz="2400" dirty="0"/>
          </a:p>
        </p:txBody>
      </p:sp>
      <p:sp>
        <p:nvSpPr>
          <p:cNvPr id="152" name="Shape 152"/>
          <p:cNvSpPr/>
          <p:nvPr/>
        </p:nvSpPr>
        <p:spPr>
          <a:xfrm>
            <a:off x="1214265" y="2497427"/>
            <a:ext cx="6696249" cy="433981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5" name="TextBox 4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18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Clr>
                <a:srgbClr val="000000"/>
              </a:buClr>
              <a:buSzPct val="36666"/>
              <a:buFont typeface="Arial"/>
              <a:buNone/>
            </a:pPr>
            <a:r>
              <a:rPr lang="en" sz="3000" dirty="0"/>
              <a:t>Products Released using Scrum (PTP)</a:t>
            </a:r>
          </a:p>
          <a:p>
            <a:pPr marL="236538" lvl="0" indent="-7938">
              <a:buClr>
                <a:srgbClr val="000000"/>
              </a:buClr>
              <a:buSzPct val="36666"/>
              <a:buFont typeface="Arial"/>
              <a:buNone/>
            </a:pPr>
            <a:r>
              <a:rPr lang="en" sz="3000" dirty="0"/>
              <a:t>Wisconsin Department of Public Instruction</a:t>
            </a:r>
          </a:p>
        </p:txBody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370750" y="1619383"/>
            <a:ext cx="8229600" cy="895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buNone/>
            </a:pPr>
            <a:r>
              <a:rPr lang="en" sz="1800"/>
              <a:t>WI State Performance Plan (SPP), Indicators #13</a:t>
            </a:r>
          </a:p>
          <a:p>
            <a:pPr>
              <a:buNone/>
            </a:pPr>
            <a:r>
              <a:rPr lang="en" sz="1800"/>
              <a:t>IEP: Postsecondary Transition Plan (PTP)</a:t>
            </a:r>
          </a:p>
        </p:txBody>
      </p:sp>
      <p:sp>
        <p:nvSpPr>
          <p:cNvPr id="159" name="Shape 159"/>
          <p:cNvSpPr/>
          <p:nvPr/>
        </p:nvSpPr>
        <p:spPr>
          <a:xfrm>
            <a:off x="0" y="2727697"/>
            <a:ext cx="9143998" cy="284330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60" name="Shape 160"/>
          <p:cNvSpPr txBox="1"/>
          <p:nvPr/>
        </p:nvSpPr>
        <p:spPr>
          <a:xfrm>
            <a:off x="52750" y="6339325"/>
            <a:ext cx="8865599" cy="403499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 lvl="0" rtl="0">
              <a:buNone/>
            </a:pPr>
            <a:r>
              <a:rPr lang="en" sz="900"/>
              <a:t>To learn more about the Wisconsin's Special Education IEP: PTP click the link below:  </a:t>
            </a:r>
          </a:p>
          <a:p>
            <a:pPr lvl="0" rtl="0"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http://sped.dpi.wi.gov/sped_spp-transition</a:t>
            </a:r>
          </a:p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19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 dirty="0"/>
              <a:t>Products Released using Scrum (School Directory)</a:t>
            </a:r>
          </a:p>
          <a:p>
            <a:pPr lvl="0">
              <a:buClr>
                <a:srgbClr val="000000"/>
              </a:buClr>
              <a:buSzPct val="45833"/>
              <a:buFont typeface="Arial"/>
              <a:buNone/>
            </a:pPr>
            <a:r>
              <a:rPr lang="en" sz="2400" dirty="0"/>
              <a:t>Wisconsin Department of Public Instruction</a:t>
            </a:r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3363" y="1513758"/>
            <a:ext cx="8998199" cy="4721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en" sz="1800"/>
              <a:t>Wisconsin Public and Private School Directory</a:t>
            </a:r>
          </a:p>
        </p:txBody>
      </p:sp>
      <p:sp>
        <p:nvSpPr>
          <p:cNvPr id="167" name="Shape 167"/>
          <p:cNvSpPr/>
          <p:nvPr/>
        </p:nvSpPr>
        <p:spPr>
          <a:xfrm>
            <a:off x="48338" y="1985958"/>
            <a:ext cx="9028250" cy="449426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68" name="Shape 168"/>
          <p:cNvSpPr txBox="1"/>
          <p:nvPr/>
        </p:nvSpPr>
        <p:spPr>
          <a:xfrm>
            <a:off x="91200" y="6541150"/>
            <a:ext cx="8961600" cy="2208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sz="900"/>
              <a:t>You can view this site by clicking on the following link: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https://apps4.dpi.wi.gov/SchoolDirectory/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20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"/>
              <a:t>Advice for Implementing Scrum</a:t>
            </a:r>
          </a:p>
        </p:txBody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/>
              <a:t>Create a vision.</a:t>
            </a:r>
          </a:p>
          <a:p>
            <a:endParaRPr/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/>
              <a:t>Start small - Scrum requires organizational culture change.</a:t>
            </a:r>
          </a:p>
          <a:p>
            <a:endParaRPr/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/>
              <a:t>Scrum can be used with any Complex System.  It is not strictly used for Software Development.</a:t>
            </a:r>
          </a:p>
          <a:p>
            <a:endParaRPr/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/>
              <a:t>Create a maturity model.</a:t>
            </a:r>
          </a:p>
          <a:p>
            <a:endParaRPr/>
          </a:p>
          <a:p>
            <a:pPr marL="457200" lvl="0" indent="-3429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/>
              <a:t>Never give in to status quo!  Scrum is Continuous Improvement.</a:t>
            </a:r>
          </a:p>
          <a:p>
            <a:endParaRPr/>
          </a:p>
          <a:p>
            <a:pPr marL="457200" lvl="0" indent="-3429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1800"/>
              <a:t>Get an Agile Coach.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21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None/>
            </a:pPr>
            <a:r>
              <a:rPr lang="en"/>
              <a:t>Scrum Resources </a:t>
            </a:r>
          </a:p>
          <a:p>
            <a:pPr>
              <a:buNone/>
            </a:pPr>
            <a:r>
              <a:rPr lang="en"/>
              <a:t>Book Recommendations</a:t>
            </a:r>
          </a:p>
        </p:txBody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Exploring Scrum: The Fundamentals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Essential Scrum</a:t>
            </a:r>
          </a:p>
          <a:p>
            <a:pPr marL="457200" lvl="0" indent="-4191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Agile Software Development with Scrum</a:t>
            </a:r>
          </a:p>
          <a:p>
            <a:endParaRPr/>
          </a:p>
        </p:txBody>
      </p:sp>
      <p:sp>
        <p:nvSpPr>
          <p:cNvPr id="181" name="Shape 181"/>
          <p:cNvSpPr/>
          <p:nvPr/>
        </p:nvSpPr>
        <p:spPr>
          <a:xfrm>
            <a:off x="510479" y="3244358"/>
            <a:ext cx="2251407" cy="29962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82" name="Shape 182"/>
          <p:cNvSpPr/>
          <p:nvPr/>
        </p:nvSpPr>
        <p:spPr>
          <a:xfrm>
            <a:off x="3132629" y="3237429"/>
            <a:ext cx="2317184" cy="301012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83" name="Shape 183"/>
          <p:cNvSpPr/>
          <p:nvPr/>
        </p:nvSpPr>
        <p:spPr>
          <a:xfrm>
            <a:off x="5985354" y="3224440"/>
            <a:ext cx="2036597" cy="303610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22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buNone/>
            </a:pPr>
            <a:r>
              <a:rPr lang="en"/>
              <a:t>Scrum Resources</a:t>
            </a:r>
          </a:p>
          <a:p>
            <a:pPr>
              <a:buNone/>
            </a:pPr>
            <a:r>
              <a:rPr lang="en"/>
              <a:t>Online Recommendations</a:t>
            </a:r>
          </a:p>
        </p:txBody>
      </p:sp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/>
              <a:t>The Scrum Guide by Scrum.org. (Online Book)</a:t>
            </a:r>
          </a:p>
          <a:p>
            <a:pPr marL="914400" lvl="1" indent="-381000" rtl="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http://www.scrum.org/Portals/0/Documents/Scrum%20Guides/Scrum_Guide.pdf</a:t>
            </a:r>
          </a:p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 smtClean="0"/>
              <a:t>Scrum </a:t>
            </a:r>
            <a:r>
              <a:rPr lang="en" sz="2400" dirty="0"/>
              <a:t>Alliance </a:t>
            </a:r>
          </a:p>
          <a:p>
            <a:pPr marL="914400" lvl="1" indent="-381000" rtl="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http://www.scrumalliance.org</a:t>
            </a:r>
          </a:p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dirty="0" smtClean="0"/>
              <a:t>Jeff </a:t>
            </a:r>
            <a:r>
              <a:rPr lang="en" sz="2400" dirty="0"/>
              <a:t>Sutherland </a:t>
            </a:r>
          </a:p>
          <a:p>
            <a:pPr marL="914400" lvl="1" indent="-381000" rtl="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http://scrum.jeffsutherland.com</a:t>
            </a:r>
          </a:p>
          <a:p>
            <a:pPr marL="457200" lvl="0" indent="-381000" rtl="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 sz="2400" smtClean="0"/>
              <a:t>Mountain </a:t>
            </a:r>
            <a:r>
              <a:rPr lang="en" sz="2400" dirty="0"/>
              <a:t>Goat Software - Mike Cohn's Blog</a:t>
            </a:r>
          </a:p>
          <a:p>
            <a:pPr marL="914400" lvl="1" indent="-3810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http://www.mountaingoatsoftware.com/blog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6550223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4626E09-388F-4E11-B1BF-4EB2FB07FE07}" type="slidenum">
              <a:rPr lang="en-US" smtClean="0"/>
              <a:pPr algn="ctr"/>
              <a:t>23</a:t>
            </a:fld>
            <a:endParaRPr lang="en-US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1110</Words>
  <Application>Microsoft Office PowerPoint</Application>
  <PresentationFormat>On-screen Show (4:3)</PresentationFormat>
  <Paragraphs>205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/>
      <vt:lpstr>Agile Development Using Scrum</vt:lpstr>
      <vt:lpstr>Objectives</vt:lpstr>
      <vt:lpstr>Traditional Thinking </vt:lpstr>
      <vt:lpstr>Problems with Waterfall Method</vt:lpstr>
      <vt:lpstr>Slide 5</vt:lpstr>
      <vt:lpstr>Agile Thinking</vt:lpstr>
      <vt:lpstr>Agile Manifesto</vt:lpstr>
      <vt:lpstr>Scrum</vt:lpstr>
      <vt:lpstr>Key Scrum Beliefs</vt:lpstr>
      <vt:lpstr>The Scrum Team</vt:lpstr>
      <vt:lpstr>The Product Backlog</vt:lpstr>
      <vt:lpstr>Release Planning</vt:lpstr>
      <vt:lpstr>The Sprint</vt:lpstr>
      <vt:lpstr>The Sprint</vt:lpstr>
      <vt:lpstr>Using Scrum at Wisconsin Department of Public Instruction</vt:lpstr>
      <vt:lpstr>Using Scrum at Wisconsin Department of Public Instruction</vt:lpstr>
      <vt:lpstr>Scrum Storyboards at Wisconsin Department of Public Instruction</vt:lpstr>
      <vt:lpstr>Scrum Buildup Charts at Wisconsin Department of Public Instruction</vt:lpstr>
      <vt:lpstr>Products Released using Scrum (PTP) Wisconsin Department of Public Instruction</vt:lpstr>
      <vt:lpstr>Products Released using Scrum (School Directory) Wisconsin Department of Public Instruction</vt:lpstr>
      <vt:lpstr>Advice for Implementing Scrum</vt:lpstr>
      <vt:lpstr>Scrum Resources  Book Recommendations</vt:lpstr>
      <vt:lpstr>Scrum Resources Online Recommendations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Development Using Scrum</dc:title>
  <dc:creator>Retzlaff, Daniel L.   DPI</dc:creator>
  <cp:lastModifiedBy>Jennifer Bebermeyer</cp:lastModifiedBy>
  <cp:revision>6</cp:revision>
  <dcterms:modified xsi:type="dcterms:W3CDTF">2013-02-28T20:36:06Z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_AdHocReviewCycleID">
    <vt:i4>1843612091</vt:i4>
  </property>
  <property fmtid="{D5CDD505-2E9C-101B-9397-08002B2CF9AE}" pid="4" name="_EmailSubject">
    <vt:lpwstr>26th Annual Management Information Systems (MIS) Conference - Concurrent Session Presentations Needed.</vt:lpwstr>
  </property>
  <property fmtid="{D5CDD505-2E9C-101B-9397-08002B2CF9AE}" pid="5" name="_AuthorEmailDisplayName">
    <vt:lpwstr>Retzlaff, Daniel L.   DPI</vt:lpwstr>
  </property>
</Properties>
</file>